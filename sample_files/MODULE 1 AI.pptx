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6"/>
  </p:notesMasterIdLst>
  <p:sldIdLst>
    <p:sldId id="257" r:id="rId3"/>
    <p:sldId id="584" r:id="rId4"/>
    <p:sldId id="802" r:id="rId5"/>
    <p:sldId id="803" r:id="rId6"/>
    <p:sldId id="348" r:id="rId7"/>
    <p:sldId id="804" r:id="rId8"/>
    <p:sldId id="805" r:id="rId9"/>
    <p:sldId id="806" r:id="rId10"/>
    <p:sldId id="807" r:id="rId11"/>
    <p:sldId id="808" r:id="rId12"/>
    <p:sldId id="809" r:id="rId13"/>
    <p:sldId id="810" r:id="rId14"/>
    <p:sldId id="811" r:id="rId15"/>
    <p:sldId id="812" r:id="rId16"/>
    <p:sldId id="813" r:id="rId17"/>
    <p:sldId id="814" r:id="rId18"/>
    <p:sldId id="815" r:id="rId19"/>
    <p:sldId id="816" r:id="rId20"/>
    <p:sldId id="817" r:id="rId21"/>
    <p:sldId id="818" r:id="rId22"/>
    <p:sldId id="819" r:id="rId23"/>
    <p:sldId id="820" r:id="rId24"/>
    <p:sldId id="821" r:id="rId25"/>
    <p:sldId id="822" r:id="rId26"/>
    <p:sldId id="823" r:id="rId27"/>
    <p:sldId id="824" r:id="rId28"/>
    <p:sldId id="825" r:id="rId29"/>
    <p:sldId id="826" r:id="rId30"/>
    <p:sldId id="827" r:id="rId31"/>
    <p:sldId id="832" r:id="rId32"/>
    <p:sldId id="828" r:id="rId33"/>
    <p:sldId id="829" r:id="rId34"/>
    <p:sldId id="830" r:id="rId35"/>
    <p:sldId id="836" r:id="rId36"/>
    <p:sldId id="845" r:id="rId37"/>
    <p:sldId id="846" r:id="rId38"/>
    <p:sldId id="837" r:id="rId39"/>
    <p:sldId id="838" r:id="rId40"/>
    <p:sldId id="848" r:id="rId41"/>
    <p:sldId id="847" r:id="rId42"/>
    <p:sldId id="849" r:id="rId43"/>
    <p:sldId id="850" r:id="rId44"/>
    <p:sldId id="851" r:id="rId45"/>
    <p:sldId id="852" r:id="rId46"/>
    <p:sldId id="854" r:id="rId47"/>
    <p:sldId id="855" r:id="rId48"/>
    <p:sldId id="856" r:id="rId49"/>
    <p:sldId id="857" r:id="rId50"/>
    <p:sldId id="858" r:id="rId51"/>
    <p:sldId id="859" r:id="rId52"/>
    <p:sldId id="860" r:id="rId53"/>
    <p:sldId id="861" r:id="rId54"/>
    <p:sldId id="862" r:id="rId55"/>
    <p:sldId id="863" r:id="rId56"/>
    <p:sldId id="864" r:id="rId57"/>
    <p:sldId id="865" r:id="rId58"/>
    <p:sldId id="866" r:id="rId59"/>
    <p:sldId id="867" r:id="rId60"/>
    <p:sldId id="868" r:id="rId61"/>
    <p:sldId id="869" r:id="rId62"/>
    <p:sldId id="870" r:id="rId63"/>
    <p:sldId id="871" r:id="rId64"/>
    <p:sldId id="872" r:id="rId65"/>
    <p:sldId id="873" r:id="rId66"/>
    <p:sldId id="874" r:id="rId67"/>
    <p:sldId id="875" r:id="rId68"/>
    <p:sldId id="876" r:id="rId69"/>
    <p:sldId id="877" r:id="rId70"/>
    <p:sldId id="878" r:id="rId71"/>
    <p:sldId id="879" r:id="rId72"/>
    <p:sldId id="880" r:id="rId73"/>
    <p:sldId id="894" r:id="rId74"/>
    <p:sldId id="881" r:id="rId75"/>
    <p:sldId id="882" r:id="rId76"/>
    <p:sldId id="883" r:id="rId77"/>
    <p:sldId id="884" r:id="rId78"/>
    <p:sldId id="885" r:id="rId79"/>
    <p:sldId id="886" r:id="rId80"/>
    <p:sldId id="887" r:id="rId81"/>
    <p:sldId id="888" r:id="rId82"/>
    <p:sldId id="889" r:id="rId83"/>
    <p:sldId id="890" r:id="rId84"/>
    <p:sldId id="891" r:id="rId85"/>
    <p:sldId id="892" r:id="rId86"/>
    <p:sldId id="893" r:id="rId87"/>
    <p:sldId id="896" r:id="rId88"/>
    <p:sldId id="895" r:id="rId89"/>
    <p:sldId id="897" r:id="rId90"/>
    <p:sldId id="898" r:id="rId91"/>
    <p:sldId id="899" r:id="rId92"/>
    <p:sldId id="900" r:id="rId93"/>
    <p:sldId id="901" r:id="rId94"/>
    <p:sldId id="902" r:id="rId9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9191" autoAdjust="0"/>
    <p:restoredTop sz="98252" autoAdjust="0"/>
  </p:normalViewPr>
  <p:slideViewPr>
    <p:cSldViewPr showGuides="1">
      <p:cViewPr>
        <p:scale>
          <a:sx n="55" d="100"/>
          <a:sy n="55" d="100"/>
        </p:scale>
        <p:origin x="-475" y="-29"/>
      </p:cViewPr>
      <p:guideLst>
        <p:guide orient="horz" pos="219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notesMaster" Target="notesMasters/notesMaster1.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06C513-DC3F-4DFA-8728-DAB6AED74028}"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DC72D8-2D7B-4E65-8CB9-DEEA0A1D801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l="1000" r="-9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10.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www.simplilearn.com/what-is-intelligent-agent-in-ai-types-function-article" TargetMode="External"/><Relationship Id="rId1" Type="http://schemas.openxmlformats.org/officeDocument/2006/relationships/tags" Target="../tags/tag1.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implilearn.com/tutorials/mba-preparation-tutorial/what-is-decision-making-explaine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simplilearn.com/risk-management-strategies-and-tactics-article"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GI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838200"/>
            <a:ext cx="7772400" cy="1470025"/>
          </a:xfrm>
        </p:spPr>
        <p:txBody>
          <a:bodyP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altLang="en-IN" dirty="0" smtClean="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ARITIFICAL INTELLIGENCE </a:t>
            </a:r>
            <a:r>
              <a:rPr lang="en-IN" dirty="0" smtClean="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MVJ</a:t>
            </a:r>
            <a:r>
              <a:rPr lang="en-US" altLang="en-IN" dirty="0" smtClean="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22CS552</a:t>
            </a:r>
            <a:endParaRPr lang="en-US" altLang="en-IN" b="1" dirty="0" smtClean="0">
              <a:ln w="11430"/>
              <a:solidFill>
                <a:schemeClr val="accent3">
                  <a:lumMod val="50000"/>
                </a:schemeClr>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1000" y="2286000"/>
            <a:ext cx="8458200" cy="3810000"/>
          </a:xfrm>
        </p:spPr>
        <p:txBody>
          <a:bodyPr>
            <a:norm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MODULE 1</a:t>
            </a: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                                                  </a:t>
            </a: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                                                                  Prepared by:</a:t>
            </a: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                                          Mrs. POSHITHA.M</a:t>
            </a: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                                                                 AP, Dept. of CSE, </a:t>
            </a: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r>
              <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rPr>
              <a:t>                                                               MVJCE, Bangalore</a:t>
            </a: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endParaRPr lang="en-US" sz="2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a:p>
            <a:pPr algn="r"/>
            <a:endParaRPr lang="en-US" sz="2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Course objective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lvl="0" indent="0" algn="just" defTabSz="914400">
              <a:buNone/>
              <a:tabLst>
                <a:tab pos="2596515" algn="l"/>
              </a:tabLst>
            </a:pPr>
            <a:r>
              <a:rPr lang="en-US" altLang="en-US" sz="2000" dirty="0">
                <a:latin typeface="Times New Roman" panose="02020603050405020304" pitchFamily="18" charset="0"/>
                <a:cs typeface="Times New Roman" panose="02020603050405020304" pitchFamily="18" charset="0"/>
              </a:rPr>
              <a:t>This course will give ability to: </a:t>
            </a:r>
            <a:endParaRPr lang="en-US" altLang="en-US" sz="2000" dirty="0">
              <a:latin typeface="Times New Roman" panose="02020603050405020304" pitchFamily="18" charset="0"/>
              <a:cs typeface="Times New Roman" panose="02020603050405020304" pitchFamily="18" charset="0"/>
            </a:endParaRPr>
          </a:p>
          <a:p>
            <a:pPr lvl="0" algn="just" defTabSz="914400">
              <a:tabLst>
                <a:tab pos="2596515" algn="l"/>
              </a:tabLst>
            </a:pPr>
            <a:r>
              <a:rPr lang="en-US" altLang="en-US" sz="2000" dirty="0">
                <a:latin typeface="Times New Roman" panose="02020603050405020304" pitchFamily="18" charset="0"/>
                <a:cs typeface="Times New Roman" panose="02020603050405020304" pitchFamily="18" charset="0"/>
              </a:rPr>
              <a:t>Understand fundamental concepts in Artificial Intelligence.</a:t>
            </a:r>
            <a:endParaRPr lang="en-US" altLang="en-US" sz="2000" dirty="0">
              <a:latin typeface="Times New Roman" panose="02020603050405020304" pitchFamily="18" charset="0"/>
              <a:cs typeface="Times New Roman" panose="02020603050405020304" pitchFamily="18" charset="0"/>
            </a:endParaRPr>
          </a:p>
          <a:p>
            <a:pPr lvl="0" algn="just" defTabSz="914400">
              <a:tabLst>
                <a:tab pos="2596515" algn="l"/>
              </a:tabLst>
            </a:pPr>
            <a:r>
              <a:rPr lang="en-US" altLang="en-US" sz="2000" dirty="0">
                <a:latin typeface="Times New Roman" panose="02020603050405020304" pitchFamily="18" charset="0"/>
                <a:cs typeface="Times New Roman" panose="02020603050405020304" pitchFamily="18" charset="0"/>
              </a:rPr>
              <a:t>Analyse problem-solving techniques and knowledge representation.</a:t>
            </a:r>
            <a:endParaRPr lang="en-US" altLang="en-US" sz="2000" dirty="0">
              <a:latin typeface="Times New Roman" panose="02020603050405020304" pitchFamily="18" charset="0"/>
              <a:cs typeface="Times New Roman" panose="02020603050405020304" pitchFamily="18" charset="0"/>
            </a:endParaRPr>
          </a:p>
          <a:p>
            <a:pPr lvl="0" algn="just" defTabSz="914400">
              <a:tabLst>
                <a:tab pos="2596515" algn="l"/>
              </a:tabLst>
            </a:pPr>
            <a:r>
              <a:rPr lang="en-US" altLang="en-US" sz="2000" dirty="0">
                <a:latin typeface="Times New Roman" panose="02020603050405020304" pitchFamily="18" charset="0"/>
                <a:cs typeface="Times New Roman" panose="02020603050405020304" pitchFamily="18" charset="0"/>
              </a:rPr>
              <a:t>Design intelligent components or programs to meet desired needs.</a:t>
            </a:r>
            <a:endParaRPr lang="en-US" altLang="en-US" sz="2000" dirty="0">
              <a:latin typeface="Times New Roman" panose="02020603050405020304" pitchFamily="18" charset="0"/>
              <a:cs typeface="Times New Roman" panose="02020603050405020304" pitchFamily="18" charset="0"/>
            </a:endParaRPr>
          </a:p>
          <a:p>
            <a:pPr lvl="0" algn="just" defTabSz="914400">
              <a:tabLst>
                <a:tab pos="2596515" algn="l"/>
              </a:tabLst>
            </a:pPr>
            <a:r>
              <a:rPr lang="en-US" altLang="en-US" sz="2000" dirty="0">
                <a:latin typeface="Times New Roman" panose="02020603050405020304" pitchFamily="18" charset="0"/>
                <a:cs typeface="Times New Roman" panose="02020603050405020304" pitchFamily="18" charset="0"/>
              </a:rPr>
              <a:t>Implement and evaluate computer-based intelligent systems.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latin typeface="Times New Roman" panose="02020603050405020304" pitchFamily="18" charset="0"/>
                <a:cs typeface="Times New Roman" panose="02020603050405020304" pitchFamily="18" charset="0"/>
              </a:rPr>
              <a:t>Course </a:t>
            </a:r>
            <a:r>
              <a:rPr lang="en-US" altLang="en-IN" b="1" dirty="0" smtClean="0">
                <a:latin typeface="Times New Roman" panose="02020603050405020304" pitchFamily="18" charset="0"/>
                <a:cs typeface="Times New Roman" panose="02020603050405020304" pitchFamily="18" charset="0"/>
              </a:rPr>
              <a:t>Outcomes</a:t>
            </a:r>
            <a:endParaRPr lang="en-US" altLang="en-IN" b="1" dirty="0" smtClean="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lvl="0" indent="0" algn="just" defTabSz="914400">
              <a:buNone/>
              <a:tabLst>
                <a:tab pos="2596515" algn="l"/>
              </a:tabLst>
            </a:pPr>
            <a:r>
              <a:rPr lang="en-US" altLang="en-US" sz="2000" dirty="0">
                <a:latin typeface="Times New Roman" panose="02020603050405020304" pitchFamily="18" charset="0"/>
                <a:cs typeface="Times New Roman" panose="02020603050405020304" pitchFamily="18" charset="0"/>
              </a:rPr>
              <a:t>At the end of the course, the student will be able to: </a:t>
            </a:r>
            <a:endParaRPr lang="en-US" altLang="en-US" sz="2000" dirty="0">
              <a:latin typeface="Times New Roman" panose="02020603050405020304" pitchFamily="18" charset="0"/>
              <a:cs typeface="Times New Roman" panose="02020603050405020304" pitchFamily="18" charset="0"/>
            </a:endParaRPr>
          </a:p>
          <a:p>
            <a:pPr marL="0" lvl="0" indent="0" algn="just" defTabSz="914400">
              <a:buNone/>
              <a:tabLst>
                <a:tab pos="2596515" algn="l"/>
              </a:tabLst>
            </a:pPr>
            <a:endParaRPr lang="en-US" altLang="en-US" sz="2000" dirty="0">
              <a:latin typeface="Times New Roman" panose="02020603050405020304" pitchFamily="18" charset="0"/>
              <a:cs typeface="Times New Roman" panose="02020603050405020304" pitchFamily="18" charset="0"/>
            </a:endParaRPr>
          </a:p>
          <a:p>
            <a:pPr marL="0" lvl="0" indent="0" algn="just" defTabSz="914400">
              <a:buNone/>
              <a:tabLst>
                <a:tab pos="2596515" algn="l"/>
              </a:tabLst>
            </a:pPr>
            <a:r>
              <a:rPr lang="en-US" altLang="en-US" sz="2000" dirty="0">
                <a:latin typeface="Times New Roman" panose="02020603050405020304" pitchFamily="18" charset="0"/>
                <a:cs typeface="Times New Roman" panose="02020603050405020304" pitchFamily="18" charset="0"/>
              </a:rPr>
              <a:t>CO1:  Understand fundamental concepts in Artificial Intelligence.</a:t>
            </a:r>
            <a:endParaRPr lang="en-US" altLang="en-US" sz="2000" dirty="0">
              <a:latin typeface="Times New Roman" panose="02020603050405020304" pitchFamily="18" charset="0"/>
              <a:cs typeface="Times New Roman" panose="02020603050405020304" pitchFamily="18" charset="0"/>
            </a:endParaRPr>
          </a:p>
          <a:p>
            <a:pPr marL="0" lvl="0" indent="0" algn="just" defTabSz="914400">
              <a:buNone/>
              <a:tabLst>
                <a:tab pos="2596515" algn="l"/>
              </a:tabLst>
            </a:pPr>
            <a:r>
              <a:rPr lang="en-US" altLang="en-US" sz="2000" dirty="0">
                <a:latin typeface="Times New Roman" panose="02020603050405020304" pitchFamily="18" charset="0"/>
                <a:cs typeface="Times New Roman" panose="02020603050405020304" pitchFamily="18" charset="0"/>
              </a:rPr>
              <a:t>CO2:  Analyze the problem-solving techniques and knowledge representation.</a:t>
            </a:r>
            <a:endParaRPr lang="en-US" altLang="en-US" sz="2000" dirty="0">
              <a:latin typeface="Times New Roman" panose="02020603050405020304" pitchFamily="18" charset="0"/>
              <a:cs typeface="Times New Roman" panose="02020603050405020304" pitchFamily="18" charset="0"/>
            </a:endParaRPr>
          </a:p>
          <a:p>
            <a:pPr marL="0" lvl="0" indent="0" algn="just" defTabSz="914400">
              <a:buNone/>
              <a:tabLst>
                <a:tab pos="2596515" algn="l"/>
              </a:tabLst>
            </a:pPr>
            <a:r>
              <a:rPr lang="en-US" altLang="en-US" sz="2000" dirty="0">
                <a:latin typeface="Times New Roman" panose="02020603050405020304" pitchFamily="18" charset="0"/>
                <a:cs typeface="Times New Roman" panose="02020603050405020304" pitchFamily="18" charset="0"/>
              </a:rPr>
              <a:t>CO3:  Design intelligent components or programs to meet desired needs.</a:t>
            </a:r>
            <a:endParaRPr lang="en-US" altLang="en-US" sz="2000" dirty="0">
              <a:latin typeface="Times New Roman" panose="02020603050405020304" pitchFamily="18" charset="0"/>
              <a:cs typeface="Times New Roman" panose="02020603050405020304" pitchFamily="18" charset="0"/>
            </a:endParaRPr>
          </a:p>
          <a:p>
            <a:pPr marL="0" lvl="0" indent="0" algn="just" defTabSz="914400">
              <a:buNone/>
              <a:tabLst>
                <a:tab pos="2596515" algn="l"/>
              </a:tabLst>
            </a:pPr>
            <a:r>
              <a:rPr lang="en-US" altLang="en-US" sz="2000" dirty="0">
                <a:latin typeface="Times New Roman" panose="02020603050405020304" pitchFamily="18" charset="0"/>
                <a:cs typeface="Times New Roman" panose="02020603050405020304" pitchFamily="18" charset="0"/>
              </a:rPr>
              <a:t>CO4:  Implement and evaluate computer-based intelligent systems.</a:t>
            </a: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b="1" dirty="0" smtClean="0">
                <a:latin typeface="Times New Roman" panose="02020603050405020304" pitchFamily="18" charset="0"/>
                <a:cs typeface="Times New Roman" panose="02020603050405020304" pitchFamily="18" charset="0"/>
              </a:rPr>
              <a:t>Textbook and Reference books</a:t>
            </a:r>
            <a:endParaRPr lang="en-US" altLang="en-IN" b="1" dirty="0" smtClean="0">
              <a:latin typeface="Times New Roman" panose="02020603050405020304" pitchFamily="18" charset="0"/>
              <a:cs typeface="Times New Roman" panose="02020603050405020304" pitchFamily="18" charset="0"/>
            </a:endParaRPr>
          </a:p>
        </p:txBody>
      </p:sp>
      <p:sp>
        <p:nvSpPr>
          <p:cNvPr id="6" name="Content Placeholder 5"/>
          <p:cNvSpPr/>
          <p:nvPr>
            <p:ph idx="1"/>
          </p:nvPr>
        </p:nvSpPr>
        <p:spPr/>
        <p:txBody>
          <a:bodyPr>
            <a:normAutofit/>
          </a:bodyPr>
          <a:p>
            <a:pPr marL="0" indent="0">
              <a:buNone/>
            </a:pPr>
            <a:r>
              <a:rPr lang="en-US" altLang="en-US" sz="2000">
                <a:latin typeface="Times New Roman" panose="02020603050405020304" pitchFamily="18" charset="0"/>
                <a:cs typeface="Times New Roman" panose="02020603050405020304" pitchFamily="18" charset="0"/>
              </a:rPr>
              <a:t>Textbooks:</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1.Stuart Russel, Peter Norvig, “Artificial Intelligence – A Modern Approach”, Pearson Education ,3rd Edition, 2009.</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2.E.Rich and K.Knight, “Artificial Intelligence”, Tata McGraw Hill ,3rd Edition, ,2008.</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3. Patterson, “Artificial Intelligence and Expert Systems”, PHI, 2nd Edition, 2009.</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Reference Book:</a:t>
            </a:r>
            <a:endParaRPr lang="en-US" altLang="en-US" sz="2000">
              <a:latin typeface="Times New Roman" panose="02020603050405020304" pitchFamily="18" charset="0"/>
              <a:cs typeface="Times New Roman" panose="02020603050405020304" pitchFamily="18" charset="0"/>
            </a:endParaRPr>
          </a:p>
          <a:p>
            <a:pPr marL="0" indent="0">
              <a:buNone/>
            </a:pPr>
            <a:r>
              <a:rPr lang="en-US" altLang="en-US" sz="2000">
                <a:latin typeface="Times New Roman" panose="02020603050405020304" pitchFamily="18" charset="0"/>
                <a:cs typeface="Times New Roman" panose="02020603050405020304" pitchFamily="18" charset="0"/>
              </a:rPr>
              <a:t>1. Ivan Bratka, “PROLOG Programming for Artificial Intelligence”, Pearson Education, 3rd Edition, 2000.</a:t>
            </a: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anose="02020603050405020304" pitchFamily="18" charset="0"/>
                <a:cs typeface="Times New Roman" panose="02020603050405020304" pitchFamily="18" charset="0"/>
              </a:rPr>
              <a:t>MODULE 1</a:t>
            </a:r>
            <a:br>
              <a:rPr lang="en-US" dirty="0" smtClean="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066800"/>
            <a:ext cx="8229600" cy="5059363"/>
          </a:xfrm>
        </p:spPr>
        <p:txBody>
          <a:bodyPr>
            <a:normAutofit/>
          </a:bodyPr>
          <a:lstStyle/>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Introduction</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AI problems,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foundation of AI and history of AI,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Intelligent agents: Agents and Environments,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the concept of rationality,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the nature of environments,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Structure of agents,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Problem solving agents, </a:t>
            </a:r>
            <a:endParaRPr lang="en-US" altLang="en-US" sz="2400" b="1" dirty="0" smtClean="0">
              <a:latin typeface="Times New Roman" panose="02020603050405020304" pitchFamily="18" charset="0"/>
              <a:cs typeface="Times New Roman" panose="02020603050405020304" pitchFamily="18" charset="0"/>
            </a:endParaRPr>
          </a:p>
          <a:p>
            <a:pPr marL="457200" indent="-457200" algn="just">
              <a:buAutoNum type="arabicPeriod"/>
            </a:pPr>
            <a:r>
              <a:rPr lang="en-US" altLang="en-US" sz="2400" b="1" dirty="0" smtClean="0">
                <a:latin typeface="Times New Roman" panose="02020603050405020304" pitchFamily="18" charset="0"/>
                <a:cs typeface="Times New Roman" panose="02020603050405020304" pitchFamily="18" charset="0"/>
              </a:rPr>
              <a:t>Problem formulation.</a:t>
            </a:r>
            <a:endParaRPr lang="en-US" altLang="en-US" sz="2400" b="1"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pitchFamily="18" charset="0"/>
                <a:cs typeface="Times New Roman" panose="02020603050405020304" pitchFamily="18" charset="0"/>
                <a:sym typeface="+mn-ea"/>
              </a:rPr>
              <a:t>1.1</a:t>
            </a:r>
            <a:r>
              <a:rPr b="1" spc="-2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What</a:t>
            </a:r>
            <a:r>
              <a:rPr b="1" spc="-15"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Is</a:t>
            </a:r>
            <a:r>
              <a:rPr b="1" spc="-15" dirty="0">
                <a:solidFill>
                  <a:srgbClr val="FF0000"/>
                </a:solidFill>
                <a:latin typeface="Times New Roman" panose="02020603050405020304" pitchFamily="18" charset="0"/>
                <a:cs typeface="Times New Roman" panose="02020603050405020304" pitchFamily="18" charset="0"/>
                <a:sym typeface="+mn-ea"/>
              </a:rPr>
              <a:t> </a:t>
            </a:r>
            <a:r>
              <a:rPr b="1" spc="-25" dirty="0">
                <a:solidFill>
                  <a:srgbClr val="FF0000"/>
                </a:solidFill>
                <a:latin typeface="Times New Roman" panose="02020603050405020304" pitchFamily="18" charset="0"/>
                <a:cs typeface="Times New Roman" panose="02020603050405020304" pitchFamily="18" charset="0"/>
                <a:sym typeface="+mn-ea"/>
              </a:rPr>
              <a:t>AI?</a:t>
            </a:r>
            <a:endParaRPr lang="en-US"/>
          </a:p>
        </p:txBody>
      </p:sp>
      <p:sp>
        <p:nvSpPr>
          <p:cNvPr id="5" name="Content Placeholder 4"/>
          <p:cNvSpPr/>
          <p:nvPr>
            <p:ph idx="1"/>
          </p:nvPr>
        </p:nvSpPr>
        <p:spPr/>
        <p:txBody>
          <a:bodyPr>
            <a:normAutofit fontScale="60000"/>
          </a:bodyPr>
          <a:p>
            <a:pPr marR="5715" algn="just">
              <a:lnSpc>
                <a:spcPct val="90000"/>
              </a:lnSpc>
              <a:spcBef>
                <a:spcPts val="385"/>
              </a:spcBef>
              <a:tabLst>
                <a:tab pos="241300" algn="l"/>
              </a:tabLst>
            </a:pPr>
            <a:r>
              <a:rPr dirty="0">
                <a:solidFill>
                  <a:srgbClr val="3E3E3E"/>
                </a:solidFill>
                <a:latin typeface="Times New Roman" panose="02020603050405020304" pitchFamily="18" charset="0"/>
                <a:cs typeface="Times New Roman" panose="02020603050405020304" pitchFamily="18" charset="0"/>
                <a:sym typeface="+mn-ea"/>
              </a:rPr>
              <a:t>The</a:t>
            </a:r>
            <a:r>
              <a:rPr spc="9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field</a:t>
            </a:r>
            <a:r>
              <a:rPr spc="10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artificial</a:t>
            </a:r>
            <a:r>
              <a:rPr spc="9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intelligence,</a:t>
            </a:r>
            <a:r>
              <a:rPr spc="1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or</a:t>
            </a:r>
            <a:r>
              <a:rPr spc="9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AI,</a:t>
            </a:r>
            <a:r>
              <a:rPr spc="10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10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concerned</a:t>
            </a:r>
            <a:r>
              <a:rPr spc="10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with</a:t>
            </a:r>
            <a:r>
              <a:rPr spc="1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not</a:t>
            </a:r>
            <a:r>
              <a:rPr spc="9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just</a:t>
            </a:r>
            <a:r>
              <a:rPr spc="9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understanding 	</a:t>
            </a:r>
            <a:r>
              <a:rPr dirty="0">
                <a:solidFill>
                  <a:srgbClr val="3E3E3E"/>
                </a:solidFill>
                <a:latin typeface="Times New Roman" panose="02020603050405020304" pitchFamily="18" charset="0"/>
                <a:cs typeface="Times New Roman" panose="02020603050405020304" pitchFamily="18" charset="0"/>
                <a:sym typeface="+mn-ea"/>
              </a:rPr>
              <a:t>but</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also</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building</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intelligent</a:t>
            </a:r>
            <a:r>
              <a:rPr spc="2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entities—</a:t>
            </a:r>
            <a:r>
              <a:rPr dirty="0">
                <a:solidFill>
                  <a:srgbClr val="3E3E3E"/>
                </a:solidFill>
                <a:latin typeface="Times New Roman" panose="02020603050405020304" pitchFamily="18" charset="0"/>
                <a:cs typeface="Times New Roman" panose="02020603050405020304" pitchFamily="18" charset="0"/>
                <a:sym typeface="+mn-ea"/>
              </a:rPr>
              <a:t>machines</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that</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can</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compute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how</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25"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act 	</a:t>
            </a:r>
            <a:r>
              <a:rPr dirty="0">
                <a:solidFill>
                  <a:srgbClr val="3E3E3E"/>
                </a:solidFill>
                <a:latin typeface="Times New Roman" panose="02020603050405020304" pitchFamily="18" charset="0"/>
                <a:cs typeface="Times New Roman" panose="02020603050405020304" pitchFamily="18" charset="0"/>
                <a:sym typeface="+mn-ea"/>
              </a:rPr>
              <a:t>effectively</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and</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safely</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 wide</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variety</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novel</a:t>
            </a:r>
            <a:r>
              <a:rPr spc="-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situations.</a:t>
            </a:r>
            <a:r>
              <a:rPr spc="-160" dirty="0">
                <a:solidFill>
                  <a:srgbClr val="3E3E3E"/>
                </a:solidFill>
                <a:latin typeface="Times New Roman" panose="02020603050405020304" pitchFamily="18" charset="0"/>
                <a:cs typeface="Times New Roman" panose="02020603050405020304" pitchFamily="18" charset="0"/>
                <a:sym typeface="+mn-ea"/>
              </a:rPr>
              <a:t> </a:t>
            </a:r>
            <a:endParaRPr spc="-160" dirty="0">
              <a:solidFill>
                <a:srgbClr val="3E3E3E"/>
              </a:solidFill>
              <a:latin typeface="Times New Roman" panose="02020603050405020304" pitchFamily="18" charset="0"/>
              <a:cs typeface="Times New Roman" panose="02020603050405020304" pitchFamily="18" charset="0"/>
              <a:sym typeface="+mn-ea"/>
            </a:endParaRPr>
          </a:p>
          <a:p>
            <a:pPr marR="5715" algn="just">
              <a:lnSpc>
                <a:spcPct val="90000"/>
              </a:lnSpc>
              <a:spcBef>
                <a:spcPts val="385"/>
              </a:spcBef>
              <a:tabLst>
                <a:tab pos="241300" algn="l"/>
              </a:tabLst>
            </a:pPr>
            <a:r>
              <a:rPr spc="-25" dirty="0">
                <a:solidFill>
                  <a:srgbClr val="3E3E3E"/>
                </a:solidFill>
                <a:latin typeface="Times New Roman" panose="02020603050405020304" pitchFamily="18" charset="0"/>
                <a:cs typeface="Times New Roman" panose="02020603050405020304" pitchFamily="18" charset="0"/>
                <a:sym typeface="+mn-ea"/>
              </a:rPr>
              <a:t>AI</a:t>
            </a:r>
            <a:r>
              <a:rPr lang="en-US"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currently</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encompasses</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huge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variety</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subfields,</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ranging</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from</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2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general </a:t>
            </a:r>
            <a:r>
              <a:rPr b="1" dirty="0">
                <a:solidFill>
                  <a:srgbClr val="FF0000"/>
                </a:solidFill>
                <a:latin typeface="Times New Roman" panose="02020603050405020304" pitchFamily="18" charset="0"/>
                <a:cs typeface="Times New Roman" panose="02020603050405020304" pitchFamily="18" charset="0"/>
                <a:sym typeface="+mn-ea"/>
              </a:rPr>
              <a:t>(learning,</a:t>
            </a:r>
            <a:r>
              <a:rPr b="1" spc="434"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reasoning,</a:t>
            </a:r>
            <a:r>
              <a:rPr b="1" spc="445"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perception,</a:t>
            </a:r>
            <a:r>
              <a:rPr b="1" spc="45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and</a:t>
            </a:r>
            <a:r>
              <a:rPr b="1" spc="44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so</a:t>
            </a:r>
            <a:r>
              <a:rPr b="1" spc="455"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on</a:t>
            </a:r>
            <a:r>
              <a:rPr dirty="0">
                <a:solidFill>
                  <a:srgbClr val="3E3E3E"/>
                </a:solidFill>
                <a:latin typeface="Times New Roman" panose="02020603050405020304" pitchFamily="18" charset="0"/>
                <a:cs typeface="Times New Roman" panose="02020603050405020304" pitchFamily="18" charset="0"/>
                <a:sym typeface="+mn-ea"/>
              </a:rPr>
              <a:t>)</a:t>
            </a:r>
            <a:r>
              <a:rPr spc="459"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4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4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specific,</a:t>
            </a:r>
            <a:r>
              <a:rPr spc="434"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such</a:t>
            </a:r>
            <a:r>
              <a:rPr spc="4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as</a:t>
            </a:r>
            <a:r>
              <a:rPr spc="44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playing </a:t>
            </a:r>
            <a:r>
              <a:rPr dirty="0">
                <a:solidFill>
                  <a:srgbClr val="3E3E3E"/>
                </a:solidFill>
                <a:latin typeface="Times New Roman" panose="02020603050405020304" pitchFamily="18" charset="0"/>
                <a:cs typeface="Times New Roman" panose="02020603050405020304" pitchFamily="18" charset="0"/>
                <a:sym typeface="+mn-ea"/>
              </a:rPr>
              <a:t>chess,</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proving</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mathematical</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theorems,</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writing</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poetry,</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driving</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car,</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or </a:t>
            </a:r>
            <a:r>
              <a:rPr spc="-10" dirty="0">
                <a:solidFill>
                  <a:srgbClr val="3E3E3E"/>
                </a:solidFill>
                <a:latin typeface="Times New Roman" panose="02020603050405020304" pitchFamily="18" charset="0"/>
                <a:cs typeface="Times New Roman" panose="02020603050405020304" pitchFamily="18" charset="0"/>
                <a:sym typeface="+mn-ea"/>
              </a:rPr>
              <a:t>diagnosing </a:t>
            </a:r>
            <a:r>
              <a:rPr dirty="0">
                <a:solidFill>
                  <a:srgbClr val="3E3E3E"/>
                </a:solidFill>
                <a:latin typeface="Times New Roman" panose="02020603050405020304" pitchFamily="18" charset="0"/>
                <a:cs typeface="Times New Roman" panose="02020603050405020304" pitchFamily="18" charset="0"/>
                <a:sym typeface="+mn-ea"/>
              </a:rPr>
              <a:t>diseases.</a:t>
            </a:r>
            <a:r>
              <a:rPr spc="335" dirty="0">
                <a:solidFill>
                  <a:srgbClr val="3E3E3E"/>
                </a:solidFill>
                <a:latin typeface="Times New Roman" panose="02020603050405020304" pitchFamily="18" charset="0"/>
                <a:cs typeface="Times New Roman" panose="02020603050405020304" pitchFamily="18" charset="0"/>
                <a:sym typeface="+mn-ea"/>
              </a:rPr>
              <a:t> </a:t>
            </a:r>
            <a:endParaRPr spc="335" dirty="0">
              <a:solidFill>
                <a:srgbClr val="3E3E3E"/>
              </a:solidFill>
              <a:latin typeface="Times New Roman" panose="02020603050405020304" pitchFamily="18" charset="0"/>
              <a:cs typeface="Times New Roman" panose="02020603050405020304" pitchFamily="18" charset="0"/>
              <a:sym typeface="+mn-ea"/>
            </a:endParaRPr>
          </a:p>
          <a:p>
            <a:pPr marR="5715" algn="just">
              <a:lnSpc>
                <a:spcPct val="90000"/>
              </a:lnSpc>
              <a:spcBef>
                <a:spcPts val="385"/>
              </a:spcBef>
              <a:tabLst>
                <a:tab pos="241300" algn="l"/>
              </a:tabLst>
            </a:pPr>
            <a:r>
              <a:rPr dirty="0">
                <a:solidFill>
                  <a:srgbClr val="3E3E3E"/>
                </a:solidFill>
                <a:latin typeface="Times New Roman" panose="02020603050405020304" pitchFamily="18" charset="0"/>
                <a:cs typeface="Times New Roman" panose="02020603050405020304" pitchFamily="18" charset="0"/>
                <a:sym typeface="+mn-ea"/>
              </a:rPr>
              <a:t>AI</a:t>
            </a:r>
            <a:r>
              <a:rPr spc="3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3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relevant</a:t>
            </a:r>
            <a:r>
              <a:rPr spc="3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3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any</a:t>
            </a:r>
            <a:r>
              <a:rPr spc="3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intellectual</a:t>
            </a:r>
            <a:r>
              <a:rPr spc="3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task;</a:t>
            </a:r>
            <a:r>
              <a:rPr spc="3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it</a:t>
            </a:r>
            <a:r>
              <a:rPr spc="3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3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truly</a:t>
            </a:r>
            <a:r>
              <a:rPr spc="3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3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universal</a:t>
            </a:r>
            <a:r>
              <a:rPr spc="3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field.</a:t>
            </a:r>
            <a:r>
              <a:rPr spc="340"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We </a:t>
            </a:r>
            <a:r>
              <a:rPr dirty="0">
                <a:solidFill>
                  <a:srgbClr val="3E3E3E"/>
                </a:solidFill>
                <a:latin typeface="Times New Roman" panose="02020603050405020304" pitchFamily="18" charset="0"/>
                <a:cs typeface="Times New Roman" panose="02020603050405020304" pitchFamily="18" charset="0"/>
                <a:sym typeface="+mn-ea"/>
              </a:rPr>
              <a:t>have</a:t>
            </a:r>
            <a:r>
              <a:rPr spc="229"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claimed</a:t>
            </a:r>
            <a:r>
              <a:rPr spc="2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that</a:t>
            </a:r>
            <a:r>
              <a:rPr spc="2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AI</a:t>
            </a:r>
            <a:r>
              <a:rPr spc="2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229"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interesting,</a:t>
            </a:r>
            <a:r>
              <a:rPr spc="2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but</a:t>
            </a:r>
            <a:r>
              <a:rPr spc="229"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we</a:t>
            </a:r>
            <a:r>
              <a:rPr spc="2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have</a:t>
            </a:r>
            <a:r>
              <a:rPr spc="2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not</a:t>
            </a:r>
            <a:r>
              <a:rPr spc="2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said</a:t>
            </a:r>
            <a:r>
              <a:rPr spc="2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what</a:t>
            </a:r>
            <a:r>
              <a:rPr spc="2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it</a:t>
            </a:r>
            <a:r>
              <a:rPr spc="2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22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Historically, </a:t>
            </a:r>
            <a:r>
              <a:rPr dirty="0">
                <a:solidFill>
                  <a:srgbClr val="3E3E3E"/>
                </a:solidFill>
                <a:latin typeface="Times New Roman" panose="02020603050405020304" pitchFamily="18" charset="0"/>
                <a:cs typeface="Times New Roman" panose="02020603050405020304" pitchFamily="18" charset="0"/>
                <a:sym typeface="+mn-ea"/>
              </a:rPr>
              <a:t>researchers</a:t>
            </a:r>
            <a:r>
              <a:rPr spc="-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have</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pursued</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several</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different</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versions</a:t>
            </a:r>
            <a:r>
              <a:rPr spc="-2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of</a:t>
            </a:r>
            <a:r>
              <a:rPr spc="-140"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AI.</a:t>
            </a:r>
            <a:endParaRPr>
              <a:latin typeface="Times New Roman" panose="02020603050405020304" pitchFamily="18" charset="0"/>
              <a:cs typeface="Times New Roman" panose="02020603050405020304" pitchFamily="18" charset="0"/>
            </a:endParaRPr>
          </a:p>
          <a:p>
            <a:pPr marR="5080" algn="just">
              <a:lnSpc>
                <a:spcPct val="89000"/>
              </a:lnSpc>
              <a:spcBef>
                <a:spcPts val="1040"/>
              </a:spcBef>
              <a:tabLst>
                <a:tab pos="241300" algn="l"/>
              </a:tabLst>
            </a:pPr>
            <a:r>
              <a:rPr dirty="0">
                <a:solidFill>
                  <a:srgbClr val="3E3E3E"/>
                </a:solidFill>
                <a:latin typeface="Times New Roman" panose="02020603050405020304" pitchFamily="18" charset="0"/>
                <a:cs typeface="Times New Roman" panose="02020603050405020304" pitchFamily="18" charset="0"/>
                <a:sym typeface="+mn-ea"/>
              </a:rPr>
              <a:t>Some</a:t>
            </a:r>
            <a:r>
              <a:rPr spc="1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have</a:t>
            </a:r>
            <a:r>
              <a:rPr spc="1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defined</a:t>
            </a:r>
            <a:r>
              <a:rPr spc="1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intelligence</a:t>
            </a:r>
            <a:r>
              <a:rPr spc="1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a:t>
            </a:r>
            <a:r>
              <a:rPr spc="1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terms</a:t>
            </a:r>
            <a:r>
              <a:rPr spc="1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18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fidelity</a:t>
            </a:r>
            <a:r>
              <a:rPr spc="1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1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human</a:t>
            </a:r>
            <a:r>
              <a:rPr spc="18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performance,</a:t>
            </a:r>
            <a:r>
              <a:rPr spc="18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while </a:t>
            </a:r>
            <a:r>
              <a:rPr dirty="0">
                <a:solidFill>
                  <a:srgbClr val="3E3E3E"/>
                </a:solidFill>
                <a:latin typeface="Times New Roman" panose="02020603050405020304" pitchFamily="18" charset="0"/>
                <a:cs typeface="Times New Roman" panose="02020603050405020304" pitchFamily="18" charset="0"/>
                <a:sym typeface="+mn-ea"/>
              </a:rPr>
              <a:t>others</a:t>
            </a:r>
            <a:r>
              <a:rPr spc="5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prefer</a:t>
            </a:r>
            <a:r>
              <a:rPr spc="5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a:t>
            </a:r>
            <a:r>
              <a:rPr spc="5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abstract,</a:t>
            </a:r>
            <a:r>
              <a:rPr spc="5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formal</a:t>
            </a:r>
            <a:r>
              <a:rPr spc="59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definition</a:t>
            </a:r>
            <a:r>
              <a:rPr spc="5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5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intelligence</a:t>
            </a:r>
            <a:r>
              <a:rPr spc="5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called</a:t>
            </a:r>
            <a:r>
              <a:rPr spc="58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rationality— 	</a:t>
            </a:r>
            <a:r>
              <a:rPr dirty="0">
                <a:solidFill>
                  <a:srgbClr val="3E3E3E"/>
                </a:solidFill>
                <a:latin typeface="Times New Roman" panose="02020603050405020304" pitchFamily="18" charset="0"/>
                <a:cs typeface="Times New Roman" panose="02020603050405020304" pitchFamily="18" charset="0"/>
                <a:sym typeface="+mn-ea"/>
              </a:rPr>
              <a:t>loosely</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speaking,</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doing</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“right</a:t>
            </a:r>
            <a:r>
              <a:rPr spc="-1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thing.”</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gn="just">
              <a:lnSpc>
                <a:spcPct val="100000"/>
              </a:lnSpc>
              <a:spcBef>
                <a:spcPts val="100"/>
              </a:spcBef>
              <a:tabLst>
                <a:tab pos="118745" algn="l"/>
              </a:tabLst>
            </a:pPr>
            <a:r>
              <a:rPr sz="2400" dirty="0">
                <a:solidFill>
                  <a:srgbClr val="3E3E3E"/>
                </a:solidFill>
                <a:latin typeface="Times New Roman" panose="02020603050405020304" pitchFamily="18" charset="0"/>
                <a:cs typeface="Times New Roman" panose="02020603050405020304" pitchFamily="18" charset="0"/>
                <a:sym typeface="+mn-ea"/>
              </a:rPr>
              <a:t>Artificial</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Intelligence</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is</a:t>
            </a:r>
            <a:r>
              <a:rPr sz="2400" spc="-4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composed</a:t>
            </a:r>
            <a:r>
              <a:rPr sz="2400" spc="-7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of</a:t>
            </a:r>
            <a:r>
              <a:rPr sz="2400" spc="-4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two</a:t>
            </a:r>
            <a:r>
              <a:rPr sz="2400" spc="-4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words</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FF0000"/>
                </a:solidFill>
                <a:latin typeface="Times New Roman" panose="02020603050405020304" pitchFamily="18" charset="0"/>
                <a:cs typeface="Times New Roman" panose="02020603050405020304" pitchFamily="18" charset="0"/>
                <a:sym typeface="+mn-ea"/>
              </a:rPr>
              <a:t>Artificial</a:t>
            </a:r>
            <a:r>
              <a:rPr sz="2400" spc="-55" dirty="0">
                <a:solidFill>
                  <a:srgbClr val="FF0000"/>
                </a:solidFill>
                <a:latin typeface="Times New Roman" panose="02020603050405020304" pitchFamily="18" charset="0"/>
                <a:cs typeface="Times New Roman" panose="02020603050405020304" pitchFamily="18" charset="0"/>
                <a:sym typeface="+mn-ea"/>
              </a:rPr>
              <a:t> </a:t>
            </a:r>
            <a:r>
              <a:rPr sz="2400" dirty="0">
                <a:solidFill>
                  <a:srgbClr val="FF0000"/>
                </a:solidFill>
                <a:latin typeface="Times New Roman" panose="02020603050405020304" pitchFamily="18" charset="0"/>
                <a:cs typeface="Times New Roman" panose="02020603050405020304" pitchFamily="18" charset="0"/>
                <a:sym typeface="+mn-ea"/>
              </a:rPr>
              <a:t>and</a:t>
            </a:r>
            <a:r>
              <a:rPr sz="2400" spc="-50" dirty="0">
                <a:solidFill>
                  <a:srgbClr val="FF0000"/>
                </a:solidFill>
                <a:latin typeface="Times New Roman" panose="02020603050405020304" pitchFamily="18" charset="0"/>
                <a:cs typeface="Times New Roman" panose="02020603050405020304" pitchFamily="18" charset="0"/>
                <a:sym typeface="+mn-ea"/>
              </a:rPr>
              <a:t> </a:t>
            </a:r>
            <a:r>
              <a:rPr sz="2400" spc="-10" dirty="0">
                <a:solidFill>
                  <a:srgbClr val="FF0000"/>
                </a:solidFill>
                <a:latin typeface="Times New Roman" panose="02020603050405020304" pitchFamily="18" charset="0"/>
                <a:cs typeface="Times New Roman" panose="02020603050405020304" pitchFamily="18" charset="0"/>
                <a:sym typeface="+mn-ea"/>
              </a:rPr>
              <a:t>Intelligence,</a:t>
            </a:r>
            <a:endParaRPr sz="2400" spc="-10" dirty="0">
              <a:solidFill>
                <a:srgbClr val="FF0000"/>
              </a:solidFill>
              <a:latin typeface="Times New Roman" panose="02020603050405020304" pitchFamily="18" charset="0"/>
              <a:cs typeface="Times New Roman" panose="02020603050405020304" pitchFamily="18" charset="0"/>
              <a:sym typeface="+mn-ea"/>
            </a:endParaRPr>
          </a:p>
          <a:p>
            <a:pPr algn="just">
              <a:lnSpc>
                <a:spcPct val="100000"/>
              </a:lnSpc>
              <a:spcBef>
                <a:spcPts val="100"/>
              </a:spcBef>
              <a:tabLst>
                <a:tab pos="118745" algn="l"/>
              </a:tabLst>
            </a:pPr>
            <a:r>
              <a:rPr sz="2400" dirty="0">
                <a:solidFill>
                  <a:srgbClr val="3E3E3E"/>
                </a:solidFill>
                <a:latin typeface="Times New Roman" panose="02020603050405020304" pitchFamily="18" charset="0"/>
                <a:cs typeface="Times New Roman" panose="02020603050405020304" pitchFamily="18" charset="0"/>
                <a:sym typeface="+mn-ea"/>
              </a:rPr>
              <a:t>where</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Artificial</a:t>
            </a:r>
            <a:r>
              <a:rPr sz="2400" spc="-7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defines</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FF0000"/>
                </a:solidFill>
                <a:latin typeface="Times New Roman" panose="02020603050405020304" pitchFamily="18" charset="0"/>
                <a:cs typeface="Times New Roman" panose="02020603050405020304" pitchFamily="18" charset="0"/>
                <a:sym typeface="+mn-ea"/>
              </a:rPr>
              <a:t>"man-</a:t>
            </a:r>
            <a:r>
              <a:rPr sz="2400" dirty="0">
                <a:solidFill>
                  <a:srgbClr val="FF0000"/>
                </a:solidFill>
                <a:latin typeface="Times New Roman" panose="02020603050405020304" pitchFamily="18" charset="0"/>
                <a:cs typeface="Times New Roman" panose="02020603050405020304" pitchFamily="18" charset="0"/>
                <a:sym typeface="+mn-ea"/>
              </a:rPr>
              <a:t>made,</a:t>
            </a:r>
            <a:r>
              <a:rPr sz="2400" dirty="0">
                <a:solidFill>
                  <a:srgbClr val="3E3E3E"/>
                </a:solidFill>
                <a:latin typeface="Times New Roman" panose="02020603050405020304" pitchFamily="18" charset="0"/>
                <a:cs typeface="Times New Roman" panose="02020603050405020304" pitchFamily="18" charset="0"/>
                <a:sym typeface="+mn-ea"/>
              </a:rPr>
              <a:t>"</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spc="-25" dirty="0">
                <a:solidFill>
                  <a:srgbClr val="3E3E3E"/>
                </a:solidFill>
                <a:latin typeface="Times New Roman" panose="02020603050405020304" pitchFamily="18" charset="0"/>
                <a:cs typeface="Times New Roman" panose="02020603050405020304" pitchFamily="18" charset="0"/>
                <a:sym typeface="+mn-ea"/>
              </a:rPr>
              <a:t>and</a:t>
            </a:r>
            <a:r>
              <a:rPr lang="en-US" sz="2400" spc="-25"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intelligence</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defines</a:t>
            </a:r>
            <a:r>
              <a:rPr sz="2400" spc="-7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t>
            </a:r>
            <a:r>
              <a:rPr sz="2400" dirty="0">
                <a:solidFill>
                  <a:srgbClr val="FF0000"/>
                </a:solidFill>
                <a:latin typeface="Times New Roman" panose="02020603050405020304" pitchFamily="18" charset="0"/>
                <a:cs typeface="Times New Roman" panose="02020603050405020304" pitchFamily="18" charset="0"/>
                <a:sym typeface="+mn-ea"/>
              </a:rPr>
              <a:t>thinking</a:t>
            </a:r>
            <a:r>
              <a:rPr sz="2400" spc="-60" dirty="0">
                <a:solidFill>
                  <a:srgbClr val="FF0000"/>
                </a:solidFill>
                <a:latin typeface="Times New Roman" panose="02020603050405020304" pitchFamily="18" charset="0"/>
                <a:cs typeface="Times New Roman" panose="02020603050405020304" pitchFamily="18" charset="0"/>
                <a:sym typeface="+mn-ea"/>
              </a:rPr>
              <a:t> </a:t>
            </a:r>
            <a:r>
              <a:rPr sz="2400" spc="-10" dirty="0">
                <a:solidFill>
                  <a:srgbClr val="FF0000"/>
                </a:solidFill>
                <a:latin typeface="Times New Roman" panose="02020603050405020304" pitchFamily="18" charset="0"/>
                <a:cs typeface="Times New Roman" panose="02020603050405020304" pitchFamily="18" charset="0"/>
                <a:sym typeface="+mn-ea"/>
              </a:rPr>
              <a:t>power",</a:t>
            </a:r>
            <a:r>
              <a:rPr lang="en-US" sz="2400" spc="-10" dirty="0">
                <a:solidFill>
                  <a:srgbClr val="FF0000"/>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hence</a:t>
            </a:r>
            <a:r>
              <a:rPr sz="2400" spc="-4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AI</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means</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a:t>
            </a:r>
            <a:r>
              <a:rPr sz="2400" spc="-45" dirty="0">
                <a:solidFill>
                  <a:srgbClr val="3E3E3E"/>
                </a:solidFill>
                <a:latin typeface="Times New Roman" panose="02020603050405020304" pitchFamily="18" charset="0"/>
                <a:cs typeface="Times New Roman" panose="02020603050405020304" pitchFamily="18" charset="0"/>
                <a:sym typeface="+mn-ea"/>
              </a:rPr>
              <a:t> </a:t>
            </a:r>
            <a:r>
              <a:rPr sz="2400" spc="-20" dirty="0">
                <a:solidFill>
                  <a:srgbClr val="3E3E3E"/>
                </a:solidFill>
                <a:latin typeface="Times New Roman" panose="02020603050405020304" pitchFamily="18" charset="0"/>
                <a:cs typeface="Times New Roman" panose="02020603050405020304" pitchFamily="18" charset="0"/>
                <a:sym typeface="+mn-ea"/>
              </a:rPr>
              <a:t>man-</a:t>
            </a:r>
            <a:r>
              <a:rPr sz="2400" dirty="0">
                <a:solidFill>
                  <a:srgbClr val="3E3E3E"/>
                </a:solidFill>
                <a:latin typeface="Times New Roman" panose="02020603050405020304" pitchFamily="18" charset="0"/>
                <a:cs typeface="Times New Roman" panose="02020603050405020304" pitchFamily="18" charset="0"/>
                <a:sym typeface="+mn-ea"/>
              </a:rPr>
              <a:t>made</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thinking</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power."</a:t>
            </a:r>
            <a:r>
              <a:rPr lang="en-US" sz="2400" spc="-1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So,</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we</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can</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define</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AI</a:t>
            </a:r>
            <a:r>
              <a:rPr sz="2400" spc="-45" dirty="0">
                <a:solidFill>
                  <a:srgbClr val="3E3E3E"/>
                </a:solidFill>
                <a:latin typeface="Times New Roman" panose="02020603050405020304" pitchFamily="18" charset="0"/>
                <a:cs typeface="Times New Roman" panose="02020603050405020304" pitchFamily="18" charset="0"/>
                <a:sym typeface="+mn-ea"/>
              </a:rPr>
              <a:t> </a:t>
            </a:r>
            <a:r>
              <a:rPr sz="2400" spc="-25" dirty="0">
                <a:solidFill>
                  <a:srgbClr val="3E3E3E"/>
                </a:solidFill>
                <a:latin typeface="Times New Roman" panose="02020603050405020304" pitchFamily="18" charset="0"/>
                <a:cs typeface="Times New Roman" panose="02020603050405020304" pitchFamily="18" charset="0"/>
                <a:sym typeface="+mn-ea"/>
              </a:rPr>
              <a:t>as:</a:t>
            </a:r>
            <a:endParaRPr sz="2400">
              <a:latin typeface="Times New Roman" panose="02020603050405020304" pitchFamily="18" charset="0"/>
              <a:cs typeface="Times New Roman" panose="02020603050405020304" pitchFamily="18" charset="0"/>
            </a:endParaRPr>
          </a:p>
          <a:p>
            <a:pPr marL="0" marR="5080" indent="0" algn="just">
              <a:lnSpc>
                <a:spcPts val="2590"/>
              </a:lnSpc>
              <a:spcBef>
                <a:spcPts val="2705"/>
              </a:spcBef>
              <a:buNone/>
              <a:tabLst>
                <a:tab pos="118745" algn="l"/>
              </a:tabLst>
            </a:pPr>
            <a:r>
              <a:rPr sz="2400" u="sng" dirty="0">
                <a:solidFill>
                  <a:srgbClr val="3E3E3E"/>
                </a:solidFill>
                <a:latin typeface="Times New Roman" panose="02020603050405020304" pitchFamily="18" charset="0"/>
                <a:cs typeface="Times New Roman" panose="02020603050405020304" pitchFamily="18" charset="0"/>
                <a:sym typeface="+mn-ea"/>
              </a:rPr>
              <a:t>"It</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is</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a</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branch</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of</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computer</a:t>
            </a:r>
            <a:r>
              <a:rPr sz="2400" u="sng" spc="6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science</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by</a:t>
            </a:r>
            <a:r>
              <a:rPr sz="2400" u="sng" spc="9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which</a:t>
            </a:r>
            <a:r>
              <a:rPr sz="2400" u="sng" spc="9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we</a:t>
            </a:r>
            <a:r>
              <a:rPr sz="2400" u="sng" spc="8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can</a:t>
            </a:r>
            <a:r>
              <a:rPr sz="2400" u="sng" spc="8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create</a:t>
            </a:r>
            <a:r>
              <a:rPr sz="2400" u="sng" spc="90" dirty="0">
                <a:solidFill>
                  <a:srgbClr val="3E3E3E"/>
                </a:solidFill>
                <a:latin typeface="Times New Roman" panose="02020603050405020304" pitchFamily="18" charset="0"/>
                <a:cs typeface="Times New Roman" panose="02020603050405020304" pitchFamily="18" charset="0"/>
                <a:sym typeface="+mn-ea"/>
              </a:rPr>
              <a:t>  </a:t>
            </a:r>
            <a:r>
              <a:rPr sz="2400" u="sng" spc="-10" dirty="0">
                <a:solidFill>
                  <a:srgbClr val="3E3E3E"/>
                </a:solidFill>
                <a:latin typeface="Times New Roman" panose="02020603050405020304" pitchFamily="18" charset="0"/>
                <a:cs typeface="Times New Roman" panose="02020603050405020304" pitchFamily="18" charset="0"/>
                <a:sym typeface="+mn-ea"/>
              </a:rPr>
              <a:t>intelligent </a:t>
            </a:r>
            <a:r>
              <a:rPr sz="2400" u="sng" dirty="0">
                <a:solidFill>
                  <a:srgbClr val="3E3E3E"/>
                </a:solidFill>
                <a:latin typeface="Times New Roman" panose="02020603050405020304" pitchFamily="18" charset="0"/>
                <a:cs typeface="Times New Roman" panose="02020603050405020304" pitchFamily="18" charset="0"/>
                <a:sym typeface="+mn-ea"/>
              </a:rPr>
              <a:t>machines</a:t>
            </a:r>
            <a:r>
              <a:rPr sz="2400" u="sng" spc="2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which</a:t>
            </a:r>
            <a:r>
              <a:rPr sz="2400" u="sng" spc="2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can</a:t>
            </a:r>
            <a:r>
              <a:rPr sz="2400" u="sng" spc="2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behave</a:t>
            </a:r>
            <a:r>
              <a:rPr sz="2400" u="sng" spc="2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like</a:t>
            </a:r>
            <a:r>
              <a:rPr sz="2400" u="sng" spc="1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a</a:t>
            </a:r>
            <a:r>
              <a:rPr sz="2400" u="sng" spc="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human,</a:t>
            </a:r>
            <a:r>
              <a:rPr sz="2400" u="sng" spc="1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think</a:t>
            </a:r>
            <a:r>
              <a:rPr sz="2400" u="sng" spc="3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like</a:t>
            </a:r>
            <a:r>
              <a:rPr sz="2400" u="sng" spc="1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humans,</a:t>
            </a:r>
            <a:r>
              <a:rPr sz="2400" u="sng" spc="15"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and</a:t>
            </a:r>
            <a:r>
              <a:rPr sz="2400" u="sng" spc="2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able</a:t>
            </a:r>
            <a:r>
              <a:rPr sz="2400" u="sng" spc="20" dirty="0">
                <a:solidFill>
                  <a:srgbClr val="3E3E3E"/>
                </a:solidFill>
                <a:latin typeface="Times New Roman" panose="02020603050405020304" pitchFamily="18" charset="0"/>
                <a:cs typeface="Times New Roman" panose="02020603050405020304" pitchFamily="18" charset="0"/>
                <a:sym typeface="+mn-ea"/>
              </a:rPr>
              <a:t> </a:t>
            </a:r>
            <a:r>
              <a:rPr sz="2400" u="sng" dirty="0">
                <a:solidFill>
                  <a:srgbClr val="3E3E3E"/>
                </a:solidFill>
                <a:latin typeface="Times New Roman" panose="02020603050405020304" pitchFamily="18" charset="0"/>
                <a:cs typeface="Times New Roman" panose="02020603050405020304" pitchFamily="18" charset="0"/>
                <a:sym typeface="+mn-ea"/>
              </a:rPr>
              <a:t>to</a:t>
            </a:r>
            <a:r>
              <a:rPr sz="2400" u="sng" spc="5" dirty="0">
                <a:solidFill>
                  <a:srgbClr val="3E3E3E"/>
                </a:solidFill>
                <a:latin typeface="Times New Roman" panose="02020603050405020304" pitchFamily="18" charset="0"/>
                <a:cs typeface="Times New Roman" panose="02020603050405020304" pitchFamily="18" charset="0"/>
                <a:sym typeface="+mn-ea"/>
              </a:rPr>
              <a:t> </a:t>
            </a:r>
            <a:r>
              <a:rPr sz="2400" u="sng" spc="-20" dirty="0">
                <a:solidFill>
                  <a:srgbClr val="3E3E3E"/>
                </a:solidFill>
                <a:latin typeface="Times New Roman" panose="02020603050405020304" pitchFamily="18" charset="0"/>
                <a:cs typeface="Times New Roman" panose="02020603050405020304" pitchFamily="18" charset="0"/>
                <a:sym typeface="+mn-ea"/>
              </a:rPr>
              <a:t>make </a:t>
            </a:r>
            <a:r>
              <a:rPr sz="2400" u="sng" spc="-10" dirty="0">
                <a:solidFill>
                  <a:srgbClr val="3E3E3E"/>
                </a:solidFill>
                <a:latin typeface="Times New Roman" panose="02020603050405020304" pitchFamily="18" charset="0"/>
                <a:cs typeface="Times New Roman" panose="02020603050405020304" pitchFamily="18" charset="0"/>
                <a:sym typeface="+mn-ea"/>
              </a:rPr>
              <a:t>decisions."</a:t>
            </a:r>
            <a:endParaRPr sz="2400" u="sng">
              <a:latin typeface="Times New Roman" panose="02020603050405020304" pitchFamily="18" charset="0"/>
              <a:cs typeface="Times New Roman" panose="02020603050405020304" pitchFamily="18" charset="0"/>
            </a:endParaRPr>
          </a:p>
          <a:p>
            <a:pPr algn="just"/>
            <a:endParaRPr lang="en-US" sz="2400" u="sng">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20000"/>
          </a:bodyPr>
          <a:p>
            <a:pPr marR="5080" algn="just">
              <a:lnSpc>
                <a:spcPct val="90000"/>
              </a:lnSpc>
              <a:spcBef>
                <a:spcPts val="390"/>
              </a:spcBef>
              <a:tabLst>
                <a:tab pos="240665" algn="l"/>
              </a:tabLst>
            </a:pPr>
            <a:r>
              <a:rPr sz="2400" dirty="0">
                <a:solidFill>
                  <a:srgbClr val="3E3E3E"/>
                </a:solidFill>
                <a:latin typeface="Times New Roman" panose="02020603050405020304"/>
                <a:cs typeface="Times New Roman" panose="02020603050405020304"/>
                <a:sym typeface="+mn-ea"/>
              </a:rPr>
              <a:t>The</a:t>
            </a:r>
            <a:r>
              <a:rPr sz="2400" spc="10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methods</a:t>
            </a:r>
            <a:r>
              <a:rPr sz="2400" spc="10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used</a:t>
            </a:r>
            <a:r>
              <a:rPr sz="2400" spc="10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are</a:t>
            </a:r>
            <a:r>
              <a:rPr sz="2400" spc="10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necessarily</a:t>
            </a:r>
            <a:r>
              <a:rPr sz="2400" spc="9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different:</a:t>
            </a:r>
            <a:r>
              <a:rPr sz="2400" spc="10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9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pursuit</a:t>
            </a:r>
            <a:r>
              <a:rPr sz="2400" spc="10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100"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human-</a:t>
            </a:r>
            <a:r>
              <a:rPr sz="2400" dirty="0">
                <a:solidFill>
                  <a:srgbClr val="3E3E3E"/>
                </a:solidFill>
                <a:latin typeface="Times New Roman" panose="02020603050405020304"/>
                <a:cs typeface="Times New Roman" panose="02020603050405020304"/>
                <a:sym typeface="+mn-ea"/>
              </a:rPr>
              <a:t>like</a:t>
            </a:r>
            <a:r>
              <a:rPr sz="2400" spc="10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intelligence </a:t>
            </a:r>
            <a:r>
              <a:rPr sz="2400" dirty="0">
                <a:solidFill>
                  <a:srgbClr val="3E3E3E"/>
                </a:solidFill>
                <a:latin typeface="Times New Roman" panose="02020603050405020304"/>
                <a:cs typeface="Times New Roman" panose="02020603050405020304"/>
                <a:sym typeface="+mn-ea"/>
              </a:rPr>
              <a:t>must</a:t>
            </a:r>
            <a:r>
              <a:rPr sz="2400" spc="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a:t>
            </a:r>
            <a:r>
              <a:rPr sz="2400" spc="6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a:t>
            </a:r>
            <a:r>
              <a:rPr sz="2400" spc="5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part</a:t>
            </a:r>
            <a:r>
              <a:rPr sz="2400" spc="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empirical</a:t>
            </a:r>
            <a:r>
              <a:rPr sz="2400" spc="6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science</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related</a:t>
            </a:r>
            <a:r>
              <a:rPr sz="2400" spc="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psychology,</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involving</a:t>
            </a:r>
            <a:r>
              <a:rPr sz="2400" spc="6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observations 	</a:t>
            </a:r>
            <a:r>
              <a:rPr sz="2400" dirty="0">
                <a:solidFill>
                  <a:srgbClr val="3E3E3E"/>
                </a:solidFill>
                <a:latin typeface="Times New Roman" panose="02020603050405020304"/>
                <a:cs typeface="Times New Roman" panose="02020603050405020304"/>
                <a:sym typeface="+mn-ea"/>
              </a:rPr>
              <a:t>and</a:t>
            </a:r>
            <a:r>
              <a:rPr sz="2400" spc="8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hypotheses</a:t>
            </a:r>
            <a:r>
              <a:rPr sz="2400" spc="7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about</a:t>
            </a:r>
            <a:r>
              <a:rPr sz="2400" spc="7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actual</a:t>
            </a:r>
            <a:r>
              <a:rPr sz="2400" spc="8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human</a:t>
            </a:r>
            <a:r>
              <a:rPr sz="2400" spc="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behaviour</a:t>
            </a:r>
            <a:r>
              <a:rPr sz="2400" spc="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and</a:t>
            </a:r>
            <a:r>
              <a:rPr sz="2400" spc="8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thought</a:t>
            </a:r>
            <a:r>
              <a:rPr sz="2400" spc="7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processes;</a:t>
            </a:r>
            <a:r>
              <a:rPr sz="2400" spc="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a:t>
            </a:r>
            <a:r>
              <a:rPr sz="2400" spc="70"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rationalist </a:t>
            </a:r>
            <a:r>
              <a:rPr sz="2400" dirty="0">
                <a:solidFill>
                  <a:srgbClr val="3E3E3E"/>
                </a:solidFill>
                <a:latin typeface="Times New Roman" panose="02020603050405020304"/>
                <a:cs typeface="Times New Roman" panose="02020603050405020304"/>
                <a:sym typeface="+mn-ea"/>
              </a:rPr>
              <a:t>approach,</a:t>
            </a:r>
            <a:r>
              <a:rPr sz="2400" spc="1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on</a:t>
            </a:r>
            <a:r>
              <a:rPr sz="2400" spc="1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other</a:t>
            </a:r>
            <a:r>
              <a:rPr sz="2400" spc="1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hand,</a:t>
            </a:r>
            <a:r>
              <a:rPr sz="2400" spc="1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involves</a:t>
            </a:r>
            <a:r>
              <a:rPr sz="2400" spc="1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a:t>
            </a:r>
            <a:r>
              <a:rPr sz="2400" spc="1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combination</a:t>
            </a:r>
            <a:r>
              <a:rPr sz="2400" spc="1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1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mathematics</a:t>
            </a:r>
            <a:r>
              <a:rPr sz="2400" spc="195" dirty="0">
                <a:solidFill>
                  <a:srgbClr val="3E3E3E"/>
                </a:solidFill>
                <a:latin typeface="Times New Roman" panose="02020603050405020304"/>
                <a:cs typeface="Times New Roman" panose="02020603050405020304"/>
                <a:sym typeface="+mn-ea"/>
              </a:rPr>
              <a:t>  </a:t>
            </a:r>
            <a:r>
              <a:rPr sz="2400" spc="-25" dirty="0">
                <a:solidFill>
                  <a:srgbClr val="3E3E3E"/>
                </a:solidFill>
                <a:latin typeface="Times New Roman" panose="02020603050405020304"/>
                <a:cs typeface="Times New Roman" panose="02020603050405020304"/>
                <a:sym typeface="+mn-ea"/>
              </a:rPr>
              <a:t>and 	</a:t>
            </a:r>
            <a:r>
              <a:rPr sz="2400" dirty="0">
                <a:solidFill>
                  <a:srgbClr val="3E3E3E"/>
                </a:solidFill>
                <a:latin typeface="Times New Roman" panose="02020603050405020304"/>
                <a:cs typeface="Times New Roman" panose="02020603050405020304"/>
                <a:sym typeface="+mn-ea"/>
              </a:rPr>
              <a:t>engineering,</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and</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connects</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statistics,</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control</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theory,</a:t>
            </a:r>
            <a:r>
              <a:rPr sz="2400" spc="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and</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economics.</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30"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various </a:t>
            </a:r>
            <a:r>
              <a:rPr sz="2400" dirty="0">
                <a:solidFill>
                  <a:srgbClr val="3E3E3E"/>
                </a:solidFill>
                <a:latin typeface="Times New Roman" panose="02020603050405020304"/>
                <a:cs typeface="Times New Roman" panose="02020603050405020304"/>
                <a:sym typeface="+mn-ea"/>
              </a:rPr>
              <a:t>groups</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have  both</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disparaged  and</a:t>
            </a:r>
            <a:r>
              <a:rPr sz="2400" spc="59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helped</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each  other.  </a:t>
            </a:r>
            <a:endParaRPr sz="2400" dirty="0">
              <a:solidFill>
                <a:srgbClr val="3E3E3E"/>
              </a:solidFill>
              <a:latin typeface="Times New Roman" panose="02020603050405020304"/>
              <a:cs typeface="Times New Roman" panose="02020603050405020304"/>
              <a:sym typeface="+mn-ea"/>
            </a:endParaRPr>
          </a:p>
          <a:p>
            <a:pPr>
              <a:lnSpc>
                <a:spcPct val="100000"/>
              </a:lnSpc>
              <a:spcBef>
                <a:spcPts val="1545"/>
              </a:spcBef>
            </a:pPr>
            <a:endParaRPr>
              <a:latin typeface="Times New Roman" panose="02020603050405020304"/>
              <a:cs typeface="Times New Roman" panose="02020603050405020304"/>
            </a:endParaRP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dirty="0">
                <a:solidFill>
                  <a:srgbClr val="3E3E3E"/>
                </a:solidFill>
                <a:latin typeface="Times New Roman" panose="02020603050405020304"/>
                <a:cs typeface="Times New Roman" panose="02020603050405020304"/>
                <a:sym typeface="+mn-ea"/>
              </a:rPr>
              <a:t>Let  us  look</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at</a:t>
            </a:r>
            <a:r>
              <a:rPr spc="6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5" dirty="0">
                <a:solidFill>
                  <a:srgbClr val="3E3E3E"/>
                </a:solidFill>
                <a:latin typeface="Times New Roman" panose="02020603050405020304"/>
                <a:cs typeface="Times New Roman" panose="02020603050405020304"/>
                <a:sym typeface="+mn-ea"/>
              </a:rPr>
              <a:t>  </a:t>
            </a:r>
            <a:r>
              <a:rPr spc="-20" dirty="0">
                <a:solidFill>
                  <a:srgbClr val="3E3E3E"/>
                </a:solidFill>
                <a:latin typeface="Times New Roman" panose="02020603050405020304"/>
                <a:cs typeface="Times New Roman" panose="02020603050405020304"/>
                <a:sym typeface="+mn-ea"/>
              </a:rPr>
              <a:t>four 	</a:t>
            </a:r>
            <a:r>
              <a:rPr dirty="0">
                <a:solidFill>
                  <a:srgbClr val="3E3E3E"/>
                </a:solidFill>
                <a:latin typeface="Times New Roman" panose="02020603050405020304"/>
                <a:cs typeface="Times New Roman" panose="02020603050405020304"/>
                <a:sym typeface="+mn-ea"/>
              </a:rPr>
              <a:t>approaches</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in</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more</a:t>
            </a:r>
            <a:r>
              <a:rPr spc="1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detail.</a:t>
            </a:r>
            <a:endParaRPr lang="en-US"/>
          </a:p>
        </p:txBody>
      </p:sp>
      <p:sp>
        <p:nvSpPr>
          <p:cNvPr id="3" name="Content Placeholder 2"/>
          <p:cNvSpPr>
            <a:spLocks noGrp="1"/>
          </p:cNvSpPr>
          <p:nvPr>
            <p:ph idx="1"/>
          </p:nvPr>
        </p:nvSpPr>
        <p:spPr/>
        <p:txBody>
          <a:bodyPr>
            <a:noAutofit/>
          </a:bodyPr>
          <a:p>
            <a:pPr marL="0" indent="0">
              <a:lnSpc>
                <a:spcPct val="150000"/>
              </a:lnSpc>
              <a:buNone/>
              <a:tabLst>
                <a:tab pos="239395" algn="l"/>
              </a:tabLst>
            </a:pPr>
            <a:r>
              <a:rPr sz="1800" b="1" spc="-140" dirty="0">
                <a:solidFill>
                  <a:srgbClr val="FF0000"/>
                </a:solidFill>
                <a:latin typeface="Times New Roman" panose="02020603050405020304" pitchFamily="18" charset="0"/>
                <a:cs typeface="Times New Roman" panose="02020603050405020304" pitchFamily="18" charset="0"/>
                <a:sym typeface="+mn-ea"/>
              </a:rPr>
              <a:t> </a:t>
            </a:r>
            <a:r>
              <a:rPr sz="1800" b="1" dirty="0">
                <a:solidFill>
                  <a:srgbClr val="FF0000"/>
                </a:solidFill>
                <a:latin typeface="Times New Roman" panose="02020603050405020304" pitchFamily="18" charset="0"/>
                <a:cs typeface="Times New Roman" panose="02020603050405020304" pitchFamily="18" charset="0"/>
                <a:sym typeface="+mn-ea"/>
              </a:rPr>
              <a:t>Acting</a:t>
            </a:r>
            <a:r>
              <a:rPr sz="1800" b="1" spc="-55" dirty="0">
                <a:solidFill>
                  <a:srgbClr val="FF0000"/>
                </a:solidFill>
                <a:latin typeface="Times New Roman" panose="02020603050405020304" pitchFamily="18" charset="0"/>
                <a:cs typeface="Times New Roman" panose="02020603050405020304" pitchFamily="18" charset="0"/>
                <a:sym typeface="+mn-ea"/>
              </a:rPr>
              <a:t> </a:t>
            </a:r>
            <a:r>
              <a:rPr sz="1800" b="1" dirty="0">
                <a:solidFill>
                  <a:srgbClr val="FF0000"/>
                </a:solidFill>
                <a:latin typeface="Times New Roman" panose="02020603050405020304" pitchFamily="18" charset="0"/>
                <a:cs typeface="Times New Roman" panose="02020603050405020304" pitchFamily="18" charset="0"/>
                <a:sym typeface="+mn-ea"/>
              </a:rPr>
              <a:t>humanly:</a:t>
            </a:r>
            <a:r>
              <a:rPr sz="1800" b="1" spc="-70" dirty="0">
                <a:solidFill>
                  <a:srgbClr val="FF0000"/>
                </a:solidFill>
                <a:latin typeface="Times New Roman" panose="02020603050405020304" pitchFamily="18" charset="0"/>
                <a:cs typeface="Times New Roman" panose="02020603050405020304" pitchFamily="18" charset="0"/>
                <a:sym typeface="+mn-ea"/>
              </a:rPr>
              <a:t> </a:t>
            </a:r>
            <a:r>
              <a:rPr sz="1800" b="1" dirty="0">
                <a:solidFill>
                  <a:srgbClr val="FF0000"/>
                </a:solidFill>
                <a:latin typeface="Times New Roman" panose="02020603050405020304" pitchFamily="18" charset="0"/>
                <a:cs typeface="Times New Roman" panose="02020603050405020304" pitchFamily="18" charset="0"/>
                <a:sym typeface="+mn-ea"/>
              </a:rPr>
              <a:t>The</a:t>
            </a:r>
            <a:r>
              <a:rPr sz="1800" b="1" spc="-70" dirty="0">
                <a:solidFill>
                  <a:srgbClr val="FF0000"/>
                </a:solidFill>
                <a:latin typeface="Times New Roman" panose="02020603050405020304" pitchFamily="18" charset="0"/>
                <a:cs typeface="Times New Roman" panose="02020603050405020304" pitchFamily="18" charset="0"/>
                <a:sym typeface="+mn-ea"/>
              </a:rPr>
              <a:t> </a:t>
            </a:r>
            <a:r>
              <a:rPr sz="1800" b="1" spc="-25" dirty="0">
                <a:solidFill>
                  <a:srgbClr val="FF0000"/>
                </a:solidFill>
                <a:latin typeface="Times New Roman" panose="02020603050405020304" pitchFamily="18" charset="0"/>
                <a:cs typeface="Times New Roman" panose="02020603050405020304" pitchFamily="18" charset="0"/>
                <a:sym typeface="+mn-ea"/>
              </a:rPr>
              <a:t>Turing</a:t>
            </a:r>
            <a:r>
              <a:rPr sz="1800" b="1" spc="-45" dirty="0">
                <a:solidFill>
                  <a:srgbClr val="FF0000"/>
                </a:solidFill>
                <a:latin typeface="Times New Roman" panose="02020603050405020304" pitchFamily="18" charset="0"/>
                <a:cs typeface="Times New Roman" panose="02020603050405020304" pitchFamily="18" charset="0"/>
                <a:sym typeface="+mn-ea"/>
              </a:rPr>
              <a:t> </a:t>
            </a:r>
            <a:r>
              <a:rPr sz="1800" b="1" dirty="0">
                <a:solidFill>
                  <a:srgbClr val="FF0000"/>
                </a:solidFill>
                <a:latin typeface="Times New Roman" panose="02020603050405020304" pitchFamily="18" charset="0"/>
                <a:cs typeface="Times New Roman" panose="02020603050405020304" pitchFamily="18" charset="0"/>
                <a:sym typeface="+mn-ea"/>
              </a:rPr>
              <a:t>test</a:t>
            </a:r>
            <a:r>
              <a:rPr sz="1800" b="1" spc="-35" dirty="0">
                <a:solidFill>
                  <a:srgbClr val="FF0000"/>
                </a:solidFill>
                <a:latin typeface="Times New Roman" panose="02020603050405020304" pitchFamily="18" charset="0"/>
                <a:cs typeface="Times New Roman" panose="02020603050405020304" pitchFamily="18" charset="0"/>
                <a:sym typeface="+mn-ea"/>
              </a:rPr>
              <a:t> </a:t>
            </a:r>
            <a:r>
              <a:rPr sz="1800" b="1" dirty="0">
                <a:solidFill>
                  <a:srgbClr val="FF0000"/>
                </a:solidFill>
                <a:latin typeface="Times New Roman" panose="02020603050405020304" pitchFamily="18" charset="0"/>
                <a:cs typeface="Times New Roman" panose="02020603050405020304" pitchFamily="18" charset="0"/>
                <a:sym typeface="+mn-ea"/>
              </a:rPr>
              <a:t>approach</a:t>
            </a:r>
            <a:r>
              <a:rPr sz="1800" b="1" spc="-25" dirty="0">
                <a:solidFill>
                  <a:srgbClr val="FF0000"/>
                </a:solidFill>
                <a:latin typeface="Times New Roman" panose="02020603050405020304" pitchFamily="18" charset="0"/>
                <a:cs typeface="Times New Roman" panose="02020603050405020304" pitchFamily="18" charset="0"/>
                <a:sym typeface="+mn-ea"/>
              </a:rPr>
              <a:t> </a:t>
            </a:r>
            <a:r>
              <a:rPr sz="1800" b="1" spc="-50" dirty="0">
                <a:solidFill>
                  <a:srgbClr val="FF0000"/>
                </a:solidFill>
                <a:latin typeface="Times New Roman" panose="02020603050405020304" pitchFamily="18" charset="0"/>
                <a:cs typeface="Times New Roman" panose="02020603050405020304" pitchFamily="18" charset="0"/>
                <a:sym typeface="+mn-ea"/>
              </a:rPr>
              <a:t>:</a:t>
            </a:r>
            <a:endParaRPr sz="1800">
              <a:latin typeface="Times New Roman" panose="02020603050405020304" pitchFamily="18" charset="0"/>
              <a:cs typeface="Times New Roman" panose="02020603050405020304" pitchFamily="18" charset="0"/>
            </a:endParaRPr>
          </a:p>
          <a:p>
            <a:pPr marR="6985">
              <a:lnSpc>
                <a:spcPct val="150000"/>
              </a:lnSpc>
              <a:spcBef>
                <a:spcPts val="1040"/>
              </a:spcBef>
              <a:tabLst>
                <a:tab pos="240665" algn="l"/>
              </a:tabLst>
            </a:pPr>
            <a:r>
              <a:rPr sz="1800" b="1" dirty="0">
                <a:solidFill>
                  <a:srgbClr val="3E3E3E"/>
                </a:solidFill>
                <a:latin typeface="Times New Roman" panose="02020603050405020304" pitchFamily="18" charset="0"/>
                <a:cs typeface="Times New Roman" panose="02020603050405020304" pitchFamily="18" charset="0"/>
                <a:sym typeface="+mn-ea"/>
              </a:rPr>
              <a:t>The</a:t>
            </a:r>
            <a:r>
              <a:rPr sz="1800" b="1" spc="10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Turing</a:t>
            </a:r>
            <a:r>
              <a:rPr sz="1800" b="1" spc="11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test,</a:t>
            </a:r>
            <a:r>
              <a:rPr sz="1800" b="1" spc="10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proposed</a:t>
            </a:r>
            <a:r>
              <a:rPr sz="1800" b="1" spc="10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by</a:t>
            </a:r>
            <a:r>
              <a:rPr sz="1800" b="1" spc="10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Alan</a:t>
            </a:r>
            <a:r>
              <a:rPr sz="1800" b="1" spc="10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Turing</a:t>
            </a:r>
            <a:r>
              <a:rPr sz="1800" b="1" spc="11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(1950),</a:t>
            </a:r>
            <a:r>
              <a:rPr sz="1800" b="1" spc="10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was</a:t>
            </a:r>
            <a:r>
              <a:rPr sz="1800" b="1" spc="114"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designed</a:t>
            </a:r>
            <a:r>
              <a:rPr sz="1800" b="1" spc="10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as</a:t>
            </a:r>
            <a:r>
              <a:rPr sz="1800" b="1" spc="9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a</a:t>
            </a:r>
            <a:r>
              <a:rPr sz="1800" b="1" spc="105" dirty="0">
                <a:solidFill>
                  <a:srgbClr val="3E3E3E"/>
                </a:solidFill>
                <a:latin typeface="Times New Roman" panose="02020603050405020304" pitchFamily="18" charset="0"/>
                <a:cs typeface="Times New Roman" panose="02020603050405020304" pitchFamily="18" charset="0"/>
                <a:sym typeface="+mn-ea"/>
              </a:rPr>
              <a:t> </a:t>
            </a:r>
            <a:r>
              <a:rPr sz="1800" b="1" spc="-10" dirty="0">
                <a:solidFill>
                  <a:srgbClr val="3E3E3E"/>
                </a:solidFill>
                <a:latin typeface="Times New Roman" panose="02020603050405020304" pitchFamily="18" charset="0"/>
                <a:cs typeface="Times New Roman" panose="02020603050405020304" pitchFamily="18" charset="0"/>
                <a:sym typeface="+mn-ea"/>
              </a:rPr>
              <a:t>thought </a:t>
            </a:r>
            <a:r>
              <a:rPr sz="1800" b="1" dirty="0">
                <a:solidFill>
                  <a:srgbClr val="3E3E3E"/>
                </a:solidFill>
                <a:latin typeface="Times New Roman" panose="02020603050405020304" pitchFamily="18" charset="0"/>
                <a:cs typeface="Times New Roman" panose="02020603050405020304" pitchFamily="18" charset="0"/>
                <a:sym typeface="+mn-ea"/>
              </a:rPr>
              <a:t>experiment</a:t>
            </a:r>
            <a:r>
              <a:rPr sz="1800" b="1" spc="-35" dirty="0">
                <a:solidFill>
                  <a:srgbClr val="3E3E3E"/>
                </a:solidFill>
                <a:latin typeface="Times New Roman" panose="02020603050405020304" pitchFamily="18" charset="0"/>
                <a:cs typeface="Times New Roman" panose="02020603050405020304" pitchFamily="18" charset="0"/>
                <a:sym typeface="+mn-ea"/>
              </a:rPr>
              <a:t> </a:t>
            </a:r>
            <a:r>
              <a:rPr sz="1800" b="1" spc="-20" dirty="0">
                <a:solidFill>
                  <a:srgbClr val="3E3E3E"/>
                </a:solidFill>
                <a:latin typeface="Times New Roman" panose="02020603050405020304" pitchFamily="18" charset="0"/>
                <a:cs typeface="Times New Roman" panose="02020603050405020304" pitchFamily="18" charset="0"/>
                <a:sym typeface="+mn-ea"/>
              </a:rPr>
              <a:t>that</a:t>
            </a:r>
            <a:r>
              <a:rPr lang="en-US" sz="1800" b="1" spc="-2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would</a:t>
            </a:r>
            <a:r>
              <a:rPr sz="1800" b="1" spc="229"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sidestep</a:t>
            </a:r>
            <a:r>
              <a:rPr sz="1800" b="1" spc="23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the</a:t>
            </a:r>
            <a:r>
              <a:rPr sz="1800" b="1" spc="23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philosophical</a:t>
            </a:r>
            <a:r>
              <a:rPr sz="1800" b="1" spc="24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vagueness</a:t>
            </a:r>
            <a:r>
              <a:rPr sz="1800" b="1" spc="240"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of</a:t>
            </a:r>
            <a:r>
              <a:rPr sz="1800" b="1" spc="23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the</a:t>
            </a:r>
            <a:r>
              <a:rPr sz="1800" b="1" spc="235"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3E3E3E"/>
                </a:solidFill>
                <a:latin typeface="Times New Roman" panose="02020603050405020304" pitchFamily="18" charset="0"/>
                <a:cs typeface="Times New Roman" panose="02020603050405020304" pitchFamily="18" charset="0"/>
                <a:sym typeface="+mn-ea"/>
              </a:rPr>
              <a:t>question</a:t>
            </a:r>
            <a:r>
              <a:rPr sz="1800" b="1" spc="229" dirty="0">
                <a:solidFill>
                  <a:srgbClr val="3E3E3E"/>
                </a:solidFill>
                <a:latin typeface="Times New Roman" panose="02020603050405020304" pitchFamily="18" charset="0"/>
                <a:cs typeface="Times New Roman" panose="02020603050405020304" pitchFamily="18" charset="0"/>
                <a:sym typeface="+mn-ea"/>
              </a:rPr>
              <a:t> </a:t>
            </a:r>
            <a:r>
              <a:rPr sz="1800" b="1" dirty="0">
                <a:solidFill>
                  <a:srgbClr val="1CFF82"/>
                </a:solidFill>
                <a:latin typeface="Times New Roman" panose="02020603050405020304" pitchFamily="18" charset="0"/>
                <a:cs typeface="Times New Roman" panose="02020603050405020304" pitchFamily="18" charset="0"/>
                <a:sym typeface="+mn-ea"/>
              </a:rPr>
              <a:t>“Can</a:t>
            </a:r>
            <a:r>
              <a:rPr sz="1800" b="1" spc="225" dirty="0">
                <a:solidFill>
                  <a:srgbClr val="1CFF82"/>
                </a:solidFill>
                <a:latin typeface="Times New Roman" panose="02020603050405020304" pitchFamily="18" charset="0"/>
                <a:cs typeface="Times New Roman" panose="02020603050405020304" pitchFamily="18" charset="0"/>
                <a:sym typeface="+mn-ea"/>
              </a:rPr>
              <a:t> </a:t>
            </a:r>
            <a:r>
              <a:rPr sz="1800" b="1" dirty="0">
                <a:solidFill>
                  <a:srgbClr val="1CFF82"/>
                </a:solidFill>
                <a:latin typeface="Times New Roman" panose="02020603050405020304" pitchFamily="18" charset="0"/>
                <a:cs typeface="Times New Roman" panose="02020603050405020304" pitchFamily="18" charset="0"/>
                <a:sym typeface="+mn-ea"/>
              </a:rPr>
              <a:t>a</a:t>
            </a:r>
            <a:r>
              <a:rPr sz="1800" b="1" spc="245" dirty="0">
                <a:solidFill>
                  <a:srgbClr val="1CFF82"/>
                </a:solidFill>
                <a:latin typeface="Times New Roman" panose="02020603050405020304" pitchFamily="18" charset="0"/>
                <a:cs typeface="Times New Roman" panose="02020603050405020304" pitchFamily="18" charset="0"/>
                <a:sym typeface="+mn-ea"/>
              </a:rPr>
              <a:t> </a:t>
            </a:r>
            <a:r>
              <a:rPr sz="1800" b="1" spc="-10" dirty="0">
                <a:solidFill>
                  <a:srgbClr val="1CFF82"/>
                </a:solidFill>
                <a:latin typeface="Times New Roman" panose="02020603050405020304" pitchFamily="18" charset="0"/>
                <a:cs typeface="Times New Roman" panose="02020603050405020304" pitchFamily="18" charset="0"/>
                <a:sym typeface="+mn-ea"/>
              </a:rPr>
              <a:t>machine</a:t>
            </a:r>
            <a:r>
              <a:rPr lang="en-US" sz="1800" b="1" spc="-10" dirty="0">
                <a:solidFill>
                  <a:srgbClr val="1CFF82"/>
                </a:solidFill>
                <a:latin typeface="Times New Roman" panose="02020603050405020304" pitchFamily="18" charset="0"/>
                <a:cs typeface="Times New Roman" panose="02020603050405020304" pitchFamily="18" charset="0"/>
                <a:sym typeface="+mn-ea"/>
              </a:rPr>
              <a:t> </a:t>
            </a:r>
            <a:r>
              <a:rPr sz="1800" b="1" spc="-10" dirty="0">
                <a:solidFill>
                  <a:srgbClr val="1CFF82"/>
                </a:solidFill>
                <a:latin typeface="Times New Roman" panose="02020603050405020304" pitchFamily="18" charset="0"/>
                <a:cs typeface="Times New Roman" panose="02020603050405020304" pitchFamily="18" charset="0"/>
                <a:sym typeface="+mn-ea"/>
              </a:rPr>
              <a:t>think?”</a:t>
            </a:r>
            <a:endParaRPr sz="1800">
              <a:latin typeface="Times New Roman" panose="02020603050405020304" pitchFamily="18" charset="0"/>
              <a:cs typeface="Times New Roman" panose="02020603050405020304" pitchFamily="18" charset="0"/>
            </a:endParaRPr>
          </a:p>
          <a:p>
            <a:pPr>
              <a:lnSpc>
                <a:spcPct val="150000"/>
              </a:lnSpc>
            </a:pPr>
            <a:r>
              <a:rPr lang="en-US" altLang="en-US" sz="1800">
                <a:latin typeface="Times New Roman" panose="02020603050405020304" pitchFamily="18" charset="0"/>
                <a:cs typeface="Times New Roman" panose="02020603050405020304" pitchFamily="18" charset="0"/>
              </a:rPr>
              <a:t>A computer passes the test if a human interrogator, after posing some written questions, cannot tell whether the written responses come from a person or 	from a computer.</a:t>
            </a:r>
            <a:endParaRPr lang="en-US" altLang="en-US" sz="1800">
              <a:latin typeface="Times New Roman" panose="02020603050405020304" pitchFamily="18" charset="0"/>
              <a:cs typeface="Times New Roman" panose="02020603050405020304" pitchFamily="18" charset="0"/>
            </a:endParaRPr>
          </a:p>
          <a:p>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latin typeface="Times New Roman" panose="02020603050405020304" pitchFamily="18" charset="0"/>
                <a:cs typeface="Times New Roman" panose="02020603050405020304" pitchFamily="18" charset="0"/>
                <a:sym typeface="+mn-ea"/>
              </a:rPr>
              <a:t>The computer would need the following capabilities:</a:t>
            </a:r>
            <a:endParaRPr lang="en-US"/>
          </a:p>
        </p:txBody>
      </p:sp>
      <p:sp>
        <p:nvSpPr>
          <p:cNvPr id="3" name="Content Placeholder 2"/>
          <p:cNvSpPr>
            <a:spLocks noGrp="1"/>
          </p:cNvSpPr>
          <p:nvPr>
            <p:ph idx="1"/>
          </p:nvPr>
        </p:nvSpPr>
        <p:spPr/>
        <p:txBody>
          <a:bodyPr>
            <a:normAutofit fontScale="70000"/>
          </a:bodyPr>
          <a:p>
            <a:pPr marL="0" indent="0">
              <a:lnSpc>
                <a:spcPct val="150000"/>
              </a:lnSpc>
              <a:buNone/>
            </a:pPr>
            <a:r>
              <a:rPr lang="en-US" altLang="en-US">
                <a:latin typeface="Times New Roman" panose="02020603050405020304" pitchFamily="18" charset="0"/>
                <a:cs typeface="Times New Roman" panose="02020603050405020304" pitchFamily="18" charset="0"/>
                <a:sym typeface="+mn-ea"/>
              </a:rPr>
              <a:t>1) Natural language processing: to communicate successfully in a human language;</a:t>
            </a:r>
            <a:endParaRPr lang="en-US" altLang="en-US">
              <a:latin typeface="Times New Roman" panose="02020603050405020304" pitchFamily="18" charset="0"/>
              <a:cs typeface="Times New Roman" panose="02020603050405020304" pitchFamily="18" charset="0"/>
            </a:endParaRPr>
          </a:p>
          <a:p>
            <a:pPr marL="0" indent="0">
              <a:lnSpc>
                <a:spcPct val="150000"/>
              </a:lnSpc>
              <a:buNone/>
            </a:pPr>
            <a:r>
              <a:rPr lang="en-US" altLang="en-US">
                <a:latin typeface="Times New Roman" panose="02020603050405020304" pitchFamily="18" charset="0"/>
                <a:cs typeface="Times New Roman" panose="02020603050405020304" pitchFamily="18" charset="0"/>
                <a:sym typeface="+mn-ea"/>
              </a:rPr>
              <a:t>2) Knowledge representation: to store what it knows or hears;</a:t>
            </a:r>
            <a:endParaRPr lang="en-US" altLang="en-US">
              <a:latin typeface="Times New Roman" panose="02020603050405020304" pitchFamily="18" charset="0"/>
              <a:cs typeface="Times New Roman" panose="02020603050405020304" pitchFamily="18" charset="0"/>
            </a:endParaRPr>
          </a:p>
          <a:p>
            <a:pPr marL="0" indent="0">
              <a:lnSpc>
                <a:spcPct val="150000"/>
              </a:lnSpc>
              <a:buNone/>
            </a:pPr>
            <a:r>
              <a:rPr lang="en-US" altLang="en-US">
                <a:latin typeface="Times New Roman" panose="02020603050405020304" pitchFamily="18" charset="0"/>
                <a:cs typeface="Times New Roman" panose="02020603050405020304" pitchFamily="18" charset="0"/>
                <a:sym typeface="+mn-ea"/>
              </a:rPr>
              <a:t>3) Automated reasoning: to answer questions and to draw new conclusions;</a:t>
            </a:r>
            <a:endParaRPr lang="en-US" altLang="en-US">
              <a:latin typeface="Times New Roman" panose="02020603050405020304" pitchFamily="18" charset="0"/>
              <a:cs typeface="Times New Roman" panose="02020603050405020304" pitchFamily="18" charset="0"/>
            </a:endParaRPr>
          </a:p>
          <a:p>
            <a:pPr marL="0" indent="0" algn="l">
              <a:lnSpc>
                <a:spcPct val="150000"/>
              </a:lnSpc>
              <a:spcBef>
                <a:spcPts val="0"/>
              </a:spcBef>
              <a:spcAft>
                <a:spcPts val="0"/>
              </a:spcAft>
              <a:buNone/>
            </a:pPr>
            <a:r>
              <a:rPr lang="en-US" altLang="en-US">
                <a:latin typeface="Times New Roman" panose="02020603050405020304" pitchFamily="18" charset="0"/>
                <a:cs typeface="Times New Roman" panose="02020603050405020304" pitchFamily="18" charset="0"/>
                <a:sym typeface="+mn-ea"/>
              </a:rPr>
              <a:t>4)Machine learning:to	adapt to	new circumstances and	to detect and  extrapolate patterns.</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R="5080">
              <a:lnSpc>
                <a:spcPts val="2590"/>
              </a:lnSpc>
              <a:spcBef>
                <a:spcPts val="425"/>
              </a:spcBef>
              <a:tabLst>
                <a:tab pos="241300" algn="l"/>
              </a:tabLst>
            </a:pPr>
            <a:r>
              <a:rPr sz="2400" dirty="0">
                <a:solidFill>
                  <a:schemeClr val="tx1"/>
                </a:solidFill>
                <a:latin typeface="Times New Roman" panose="02020603050405020304"/>
                <a:cs typeface="Times New Roman" panose="02020603050405020304"/>
                <a:sym typeface="+mn-ea"/>
              </a:rPr>
              <a:t>Turing</a:t>
            </a:r>
            <a:r>
              <a:rPr sz="2400" spc="12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viewed</a:t>
            </a:r>
            <a:r>
              <a:rPr sz="2400" spc="1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the</a:t>
            </a:r>
            <a:r>
              <a:rPr sz="2400" spc="1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physical</a:t>
            </a:r>
            <a:r>
              <a:rPr sz="2400" spc="1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simulation</a:t>
            </a:r>
            <a:r>
              <a:rPr sz="2400" spc="1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of</a:t>
            </a:r>
            <a:r>
              <a:rPr sz="2400" spc="1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a:t>
            </a:r>
            <a:r>
              <a:rPr sz="2400" spc="1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person</a:t>
            </a:r>
            <a:r>
              <a:rPr sz="2400" spc="1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as</a:t>
            </a:r>
            <a:r>
              <a:rPr sz="2400" spc="1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unnecessary</a:t>
            </a:r>
            <a:r>
              <a:rPr sz="2400" spc="1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to</a:t>
            </a:r>
            <a:r>
              <a:rPr sz="2400" spc="125"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demonstrate </a:t>
            </a:r>
            <a:r>
              <a:rPr sz="2400" dirty="0">
                <a:solidFill>
                  <a:schemeClr val="tx1"/>
                </a:solidFill>
                <a:latin typeface="Times New Roman" panose="02020603050405020304"/>
                <a:cs typeface="Times New Roman" panose="02020603050405020304"/>
                <a:sym typeface="+mn-ea"/>
              </a:rPr>
              <a:t>intelligence.</a:t>
            </a:r>
            <a:r>
              <a:rPr sz="2400" spc="1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However,</a:t>
            </a:r>
            <a:r>
              <a:rPr sz="2400" spc="15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other</a:t>
            </a:r>
            <a:r>
              <a:rPr sz="2400" spc="15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researchers</a:t>
            </a:r>
            <a:r>
              <a:rPr sz="2400" spc="15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have</a:t>
            </a:r>
            <a:r>
              <a:rPr sz="2400" spc="15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proposed</a:t>
            </a:r>
            <a:r>
              <a:rPr sz="2400" spc="15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a:t>
            </a:r>
            <a:r>
              <a:rPr sz="2400" spc="14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total</a:t>
            </a:r>
            <a:r>
              <a:rPr sz="2400" spc="1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Turing</a:t>
            </a:r>
            <a:r>
              <a:rPr sz="2400" spc="1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test,</a:t>
            </a:r>
            <a:r>
              <a:rPr sz="2400" spc="155"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which </a:t>
            </a:r>
            <a:r>
              <a:rPr sz="2400" dirty="0">
                <a:solidFill>
                  <a:schemeClr val="tx1"/>
                </a:solidFill>
                <a:latin typeface="Times New Roman" panose="02020603050405020304"/>
                <a:cs typeface="Times New Roman" panose="02020603050405020304"/>
                <a:sym typeface="+mn-ea"/>
              </a:rPr>
              <a:t>requires</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interaction</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with</a:t>
            </a:r>
            <a:r>
              <a:rPr sz="2400" spc="-1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objects</a:t>
            </a:r>
            <a:r>
              <a:rPr sz="2400" spc="-1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and</a:t>
            </a:r>
            <a:r>
              <a:rPr sz="2400" spc="-1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people in</a:t>
            </a:r>
            <a:r>
              <a:rPr sz="2400" spc="-1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the</a:t>
            </a:r>
            <a:r>
              <a:rPr sz="2400" spc="-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real</a:t>
            </a:r>
            <a:r>
              <a:rPr sz="2400" spc="-30"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world.</a:t>
            </a:r>
            <a:endParaRPr sz="2400">
              <a:solidFill>
                <a:schemeClr val="tx1"/>
              </a:solidFill>
              <a:latin typeface="Times New Roman" panose="02020603050405020304"/>
              <a:cs typeface="Times New Roman" panose="02020603050405020304"/>
            </a:endParaRPr>
          </a:p>
          <a:p>
            <a:pPr>
              <a:lnSpc>
                <a:spcPct val="100000"/>
              </a:lnSpc>
              <a:spcBef>
                <a:spcPts val="680"/>
              </a:spcBef>
              <a:tabLst>
                <a:tab pos="240665" algn="l"/>
              </a:tabLst>
            </a:pPr>
            <a:r>
              <a:rPr sz="2400" spc="-30" dirty="0">
                <a:solidFill>
                  <a:schemeClr val="tx1"/>
                </a:solidFill>
                <a:latin typeface="Times New Roman" panose="02020603050405020304"/>
                <a:cs typeface="Times New Roman" panose="02020603050405020304"/>
                <a:sym typeface="+mn-ea"/>
              </a:rPr>
              <a:t>To </a:t>
            </a:r>
            <a:r>
              <a:rPr sz="2400" dirty="0">
                <a:solidFill>
                  <a:schemeClr val="tx1"/>
                </a:solidFill>
                <a:latin typeface="Times New Roman" panose="02020603050405020304"/>
                <a:cs typeface="Times New Roman" panose="02020603050405020304"/>
                <a:sym typeface="+mn-ea"/>
              </a:rPr>
              <a:t>pass</a:t>
            </a:r>
            <a:r>
              <a:rPr sz="2400" spc="-2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the</a:t>
            </a:r>
            <a:r>
              <a:rPr sz="2400" spc="-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total</a:t>
            </a:r>
            <a:r>
              <a:rPr sz="2400" spc="-8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Turing</a:t>
            </a:r>
            <a:r>
              <a:rPr sz="2400" spc="-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test,</a:t>
            </a:r>
            <a:r>
              <a:rPr sz="2400" spc="-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a:t>
            </a:r>
            <a:r>
              <a:rPr sz="2400" spc="-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robot</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will</a:t>
            </a:r>
            <a:r>
              <a:rPr sz="2400" spc="-2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need</a:t>
            </a:r>
            <a:r>
              <a:rPr sz="2400" spc="-35"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a:t>
            </a:r>
            <a:endParaRPr sz="2400">
              <a:solidFill>
                <a:schemeClr val="tx1"/>
              </a:solidFill>
              <a:latin typeface="Times New Roman" panose="02020603050405020304"/>
              <a:cs typeface="Times New Roman" panose="02020603050405020304"/>
            </a:endParaRPr>
          </a:p>
          <a:p>
            <a:pPr marL="0" indent="0">
              <a:lnSpc>
                <a:spcPct val="100000"/>
              </a:lnSpc>
              <a:spcBef>
                <a:spcPts val="720"/>
              </a:spcBef>
              <a:buNone/>
              <a:tabLst>
                <a:tab pos="240665" algn="l"/>
              </a:tabLst>
            </a:pPr>
            <a:r>
              <a:rPr sz="2400" dirty="0">
                <a:solidFill>
                  <a:schemeClr val="tx1"/>
                </a:solidFill>
                <a:latin typeface="Times New Roman" panose="02020603050405020304"/>
                <a:cs typeface="Times New Roman" panose="02020603050405020304"/>
                <a:sym typeface="+mn-ea"/>
              </a:rPr>
              <a:t>5)</a:t>
            </a:r>
            <a:r>
              <a:rPr sz="2400" spc="-20"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Computer</a:t>
            </a:r>
            <a:r>
              <a:rPr sz="2400" spc="-6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vision</a:t>
            </a:r>
            <a:r>
              <a:rPr sz="2400" spc="-2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and</a:t>
            </a:r>
            <a:r>
              <a:rPr sz="2400" spc="-1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speech</a:t>
            </a:r>
            <a:r>
              <a:rPr sz="2400" spc="-2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recognition</a:t>
            </a:r>
            <a:r>
              <a:rPr sz="2400" spc="-3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to</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perceive</a:t>
            </a:r>
            <a:r>
              <a:rPr sz="2400" spc="-45"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the</a:t>
            </a:r>
            <a:r>
              <a:rPr sz="2400" spc="-30"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world;</a:t>
            </a:r>
            <a:endParaRPr sz="2400">
              <a:solidFill>
                <a:schemeClr val="tx1"/>
              </a:solidFill>
              <a:latin typeface="Times New Roman" panose="02020603050405020304"/>
              <a:cs typeface="Times New Roman" panose="02020603050405020304"/>
            </a:endParaRPr>
          </a:p>
          <a:p>
            <a:pPr marL="0" indent="0">
              <a:lnSpc>
                <a:spcPct val="100000"/>
              </a:lnSpc>
              <a:spcBef>
                <a:spcPts val="705"/>
              </a:spcBef>
              <a:buNone/>
              <a:tabLst>
                <a:tab pos="240665" algn="l"/>
              </a:tabLst>
            </a:pPr>
            <a:r>
              <a:rPr sz="2400" dirty="0">
                <a:solidFill>
                  <a:schemeClr val="tx1"/>
                </a:solidFill>
                <a:latin typeface="Times New Roman" panose="02020603050405020304"/>
                <a:cs typeface="Times New Roman" panose="02020603050405020304"/>
                <a:sym typeface="+mn-ea"/>
              </a:rPr>
              <a:t>6)</a:t>
            </a:r>
            <a:r>
              <a:rPr sz="2400" spc="-2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Robotics</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to</a:t>
            </a:r>
            <a:r>
              <a:rPr sz="2400" spc="-2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manipulate</a:t>
            </a:r>
            <a:r>
              <a:rPr sz="2400" spc="-4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objects</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and</a:t>
            </a:r>
            <a:r>
              <a:rPr sz="2400" spc="-30" dirty="0">
                <a:solidFill>
                  <a:schemeClr val="tx1"/>
                </a:solidFill>
                <a:latin typeface="Times New Roman" panose="02020603050405020304"/>
                <a:cs typeface="Times New Roman" panose="02020603050405020304"/>
                <a:sym typeface="+mn-ea"/>
              </a:rPr>
              <a:t> </a:t>
            </a:r>
            <a:r>
              <a:rPr sz="2400" dirty="0">
                <a:solidFill>
                  <a:schemeClr val="tx1"/>
                </a:solidFill>
                <a:latin typeface="Times New Roman" panose="02020603050405020304"/>
                <a:cs typeface="Times New Roman" panose="02020603050405020304"/>
                <a:sym typeface="+mn-ea"/>
              </a:rPr>
              <a:t>move</a:t>
            </a:r>
            <a:r>
              <a:rPr sz="2400" spc="-5" dirty="0">
                <a:solidFill>
                  <a:schemeClr val="tx1"/>
                </a:solidFill>
                <a:latin typeface="Times New Roman" panose="02020603050405020304"/>
                <a:cs typeface="Times New Roman" panose="02020603050405020304"/>
                <a:sym typeface="+mn-ea"/>
              </a:rPr>
              <a:t> </a:t>
            </a:r>
            <a:r>
              <a:rPr sz="2400" spc="-10" dirty="0">
                <a:solidFill>
                  <a:schemeClr val="tx1"/>
                </a:solidFill>
                <a:latin typeface="Times New Roman" panose="02020603050405020304"/>
                <a:cs typeface="Times New Roman" panose="02020603050405020304"/>
                <a:sym typeface="+mn-ea"/>
              </a:rPr>
              <a:t>about.</a:t>
            </a:r>
            <a:endParaRPr sz="2400">
              <a:solidFill>
                <a:schemeClr val="tx1"/>
              </a:solidFill>
              <a:latin typeface="Times New Roman" panose="02020603050405020304"/>
              <a:cs typeface="Times New Roman" panose="02020603050405020304"/>
            </a:endParaRPr>
          </a:p>
          <a:p>
            <a:pPr marR="5080">
              <a:lnSpc>
                <a:spcPts val="2590"/>
              </a:lnSpc>
              <a:tabLst>
                <a:tab pos="241300" algn="l"/>
              </a:tabLst>
            </a:pPr>
            <a:endParaRPr lang="en-US" sz="2400">
              <a:solidFill>
                <a:schemeClr val="tx1"/>
              </a:solidFill>
              <a:latin typeface="Times New Roman" panose="02020603050405020304"/>
              <a:cs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r>
              <a:rPr dirty="0">
                <a:solidFill>
                  <a:srgbClr val="3E3E3E"/>
                </a:solidFill>
                <a:latin typeface="Times New Roman" panose="02020603050405020304"/>
                <a:cs typeface="Times New Roman" panose="02020603050405020304"/>
                <a:sym typeface="+mn-ea"/>
              </a:rPr>
              <a:t>These</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six</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disciplines</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compose</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most</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1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AI.</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Yet</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AI</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researchers</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have</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devoted</a:t>
            </a:r>
            <a:r>
              <a:rPr spc="13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little 	</a:t>
            </a:r>
            <a:r>
              <a:rPr dirty="0">
                <a:solidFill>
                  <a:srgbClr val="3E3E3E"/>
                </a:solidFill>
                <a:latin typeface="Times New Roman" panose="02020603050405020304"/>
                <a:cs typeface="Times New Roman" panose="02020603050405020304"/>
                <a:sym typeface="+mn-ea"/>
              </a:rPr>
              <a:t>effort</a:t>
            </a:r>
            <a:r>
              <a:rPr spc="25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25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passing</a:t>
            </a:r>
            <a:r>
              <a:rPr spc="2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2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Turing</a:t>
            </a:r>
            <a:r>
              <a:rPr spc="2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test,</a:t>
            </a:r>
            <a:r>
              <a:rPr spc="25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believing</a:t>
            </a:r>
            <a:r>
              <a:rPr spc="2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that</a:t>
            </a:r>
            <a:r>
              <a:rPr spc="2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it</a:t>
            </a:r>
            <a:r>
              <a:rPr spc="2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25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more</a:t>
            </a:r>
            <a:r>
              <a:rPr spc="2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important</a:t>
            </a:r>
            <a:r>
              <a:rPr spc="25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2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study</a:t>
            </a:r>
            <a:r>
              <a:rPr spc="26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the 	</a:t>
            </a:r>
            <a:r>
              <a:rPr dirty="0">
                <a:solidFill>
                  <a:srgbClr val="3E3E3E"/>
                </a:solidFill>
                <a:latin typeface="Times New Roman" panose="02020603050405020304"/>
                <a:cs typeface="Times New Roman" panose="02020603050405020304"/>
                <a:sym typeface="+mn-ea"/>
              </a:rPr>
              <a:t>underlying</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principles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 </a:t>
            </a:r>
            <a:r>
              <a:rPr spc="-10" dirty="0">
                <a:solidFill>
                  <a:srgbClr val="3E3E3E"/>
                </a:solidFill>
                <a:latin typeface="Times New Roman" panose="02020603050405020304"/>
                <a:cs typeface="Times New Roman" panose="02020603050405020304"/>
                <a:sym typeface="+mn-ea"/>
              </a:rPr>
              <a:t>intelligence.</a:t>
            </a:r>
            <a:endParaRPr lang="en-US"/>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a:cs typeface="Times New Roman" panose="02020603050405020304"/>
                <a:sym typeface="+mn-ea"/>
              </a:rPr>
              <a:t>Thinking</a:t>
            </a:r>
            <a:r>
              <a:rPr b="1" spc="-4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humanly</a:t>
            </a:r>
            <a:endParaRPr lang="en-US"/>
          </a:p>
        </p:txBody>
      </p:sp>
      <p:sp>
        <p:nvSpPr>
          <p:cNvPr id="3" name="Content Placeholder 2"/>
          <p:cNvSpPr>
            <a:spLocks noGrp="1"/>
          </p:cNvSpPr>
          <p:nvPr>
            <p:ph idx="1"/>
          </p:nvPr>
        </p:nvSpPr>
        <p:spPr/>
        <p:txBody>
          <a:bodyPr>
            <a:normAutofit/>
          </a:bodyPr>
          <a:p>
            <a:pPr fontAlgn="t">
              <a:lnSpc>
                <a:spcPct val="100000"/>
              </a:lnSpc>
              <a:spcBef>
                <a:spcPts val="720"/>
              </a:spcBef>
              <a:tabLst>
                <a:tab pos="240665" algn="l"/>
              </a:tabLst>
            </a:pPr>
            <a:r>
              <a:rPr sz="2700" dirty="0">
                <a:solidFill>
                  <a:schemeClr val="tx1"/>
                </a:solidFill>
                <a:latin typeface="Times New Roman" panose="02020603050405020304"/>
                <a:cs typeface="Times New Roman" panose="02020603050405020304"/>
                <a:sym typeface="+mn-ea"/>
              </a:rPr>
              <a:t>The</a:t>
            </a:r>
            <a:r>
              <a:rPr sz="2700" spc="-2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cognitive</a:t>
            </a:r>
            <a:r>
              <a:rPr sz="2700" spc="-3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modeling</a:t>
            </a:r>
            <a:r>
              <a:rPr sz="2700" spc="-5" dirty="0">
                <a:solidFill>
                  <a:schemeClr val="tx1"/>
                </a:solidFill>
                <a:latin typeface="Times New Roman" panose="02020603050405020304"/>
                <a:cs typeface="Times New Roman" panose="02020603050405020304"/>
                <a:sym typeface="+mn-ea"/>
              </a:rPr>
              <a:t> </a:t>
            </a:r>
            <a:r>
              <a:rPr sz="2700" spc="-10" dirty="0">
                <a:solidFill>
                  <a:schemeClr val="tx1"/>
                </a:solidFill>
                <a:latin typeface="Times New Roman" panose="02020603050405020304"/>
                <a:cs typeface="Times New Roman" panose="02020603050405020304"/>
                <a:sym typeface="+mn-ea"/>
              </a:rPr>
              <a:t>approach</a:t>
            </a:r>
            <a:endParaRPr sz="2700">
              <a:solidFill>
                <a:schemeClr val="tx1"/>
              </a:solidFill>
              <a:latin typeface="Times New Roman" panose="02020603050405020304"/>
              <a:cs typeface="Times New Roman" panose="02020603050405020304"/>
            </a:endParaRPr>
          </a:p>
          <a:p>
            <a:pPr marR="33655" fontAlgn="t">
              <a:lnSpc>
                <a:spcPts val="2590"/>
              </a:lnSpc>
              <a:spcBef>
                <a:spcPts val="1035"/>
              </a:spcBef>
              <a:tabLst>
                <a:tab pos="241300" algn="l"/>
              </a:tabLst>
            </a:pPr>
            <a:r>
              <a:rPr sz="2700" dirty="0">
                <a:solidFill>
                  <a:schemeClr val="tx1"/>
                </a:solidFill>
                <a:latin typeface="Times New Roman" panose="02020603050405020304"/>
                <a:cs typeface="Times New Roman" panose="02020603050405020304"/>
                <a:sym typeface="+mn-ea"/>
              </a:rPr>
              <a:t>To</a:t>
            </a:r>
            <a:r>
              <a:rPr sz="2700" spc="6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say</a:t>
            </a:r>
            <a:r>
              <a:rPr sz="2700" spc="5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that</a:t>
            </a:r>
            <a:r>
              <a:rPr sz="2700" spc="5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a</a:t>
            </a:r>
            <a:r>
              <a:rPr sz="2700" spc="7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program</a:t>
            </a:r>
            <a:r>
              <a:rPr sz="2700" spc="5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thinks</a:t>
            </a:r>
            <a:r>
              <a:rPr sz="2700" spc="6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like</a:t>
            </a:r>
            <a:r>
              <a:rPr sz="2700" spc="5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a</a:t>
            </a:r>
            <a:r>
              <a:rPr sz="2700" spc="6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human,</a:t>
            </a:r>
            <a:r>
              <a:rPr sz="2700" spc="7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we</a:t>
            </a:r>
            <a:r>
              <a:rPr sz="2700" spc="6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must</a:t>
            </a:r>
            <a:r>
              <a:rPr sz="2700" spc="7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know</a:t>
            </a:r>
            <a:r>
              <a:rPr sz="2700" spc="8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how</a:t>
            </a:r>
            <a:r>
              <a:rPr sz="2700" spc="6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humans</a:t>
            </a:r>
            <a:r>
              <a:rPr sz="2700" spc="7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think.</a:t>
            </a:r>
            <a:r>
              <a:rPr sz="2700" spc="65" dirty="0">
                <a:solidFill>
                  <a:schemeClr val="tx1"/>
                </a:solidFill>
                <a:latin typeface="Times New Roman" panose="02020603050405020304"/>
                <a:cs typeface="Times New Roman" panose="02020603050405020304"/>
                <a:sym typeface="+mn-ea"/>
              </a:rPr>
              <a:t> </a:t>
            </a:r>
            <a:r>
              <a:rPr sz="2700" spc="-85" dirty="0">
                <a:solidFill>
                  <a:schemeClr val="tx1"/>
                </a:solidFill>
                <a:latin typeface="Times New Roman" panose="02020603050405020304"/>
                <a:cs typeface="Times New Roman" panose="02020603050405020304"/>
                <a:sym typeface="+mn-ea"/>
              </a:rPr>
              <a:t>We 	</a:t>
            </a:r>
            <a:r>
              <a:rPr sz="2700" dirty="0">
                <a:solidFill>
                  <a:schemeClr val="tx1"/>
                </a:solidFill>
                <a:latin typeface="Times New Roman" panose="02020603050405020304"/>
                <a:cs typeface="Times New Roman" panose="02020603050405020304"/>
                <a:sym typeface="+mn-ea"/>
              </a:rPr>
              <a:t>can</a:t>
            </a:r>
            <a:r>
              <a:rPr sz="2700" spc="-3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learn</a:t>
            </a:r>
            <a:r>
              <a:rPr sz="2700" spc="-2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about</a:t>
            </a:r>
            <a:r>
              <a:rPr sz="2700" spc="-1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human</a:t>
            </a:r>
            <a:r>
              <a:rPr sz="2700" spc="1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thought</a:t>
            </a:r>
            <a:r>
              <a:rPr sz="2700" spc="-2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in</a:t>
            </a:r>
            <a:r>
              <a:rPr sz="2700" spc="-2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three</a:t>
            </a:r>
            <a:r>
              <a:rPr sz="2700" spc="-15" dirty="0">
                <a:solidFill>
                  <a:schemeClr val="tx1"/>
                </a:solidFill>
                <a:latin typeface="Times New Roman" panose="02020603050405020304"/>
                <a:cs typeface="Times New Roman" panose="02020603050405020304"/>
                <a:sym typeface="+mn-ea"/>
              </a:rPr>
              <a:t> </a:t>
            </a:r>
            <a:r>
              <a:rPr sz="2700" spc="-10" dirty="0">
                <a:solidFill>
                  <a:schemeClr val="tx1"/>
                </a:solidFill>
                <a:latin typeface="Times New Roman" panose="02020603050405020304"/>
                <a:cs typeface="Times New Roman" panose="02020603050405020304"/>
                <a:sym typeface="+mn-ea"/>
              </a:rPr>
              <a:t>ways:</a:t>
            </a:r>
            <a:endParaRPr sz="2700" spc="-10" dirty="0">
              <a:solidFill>
                <a:schemeClr val="tx1"/>
              </a:solidFill>
              <a:latin typeface="Times New Roman" panose="02020603050405020304"/>
              <a:cs typeface="Times New Roman" panose="02020603050405020304"/>
              <a:sym typeface="+mn-ea"/>
            </a:endParaRPr>
          </a:p>
          <a:p>
            <a:pPr fontAlgn="t">
              <a:lnSpc>
                <a:spcPct val="100000"/>
              </a:lnSpc>
              <a:spcBef>
                <a:spcPts val="805"/>
              </a:spcBef>
              <a:tabLst>
                <a:tab pos="240665" algn="l"/>
                <a:tab pos="2437130" algn="l"/>
              </a:tabLst>
            </a:pPr>
            <a:r>
              <a:rPr sz="2700" b="1" spc="-10" dirty="0">
                <a:solidFill>
                  <a:schemeClr val="tx1"/>
                </a:solidFill>
                <a:latin typeface="Times New Roman" panose="02020603050405020304"/>
                <a:cs typeface="Times New Roman" panose="02020603050405020304"/>
                <a:sym typeface="+mn-ea"/>
              </a:rPr>
              <a:t>Introspection</a:t>
            </a:r>
            <a:r>
              <a:rPr sz="2700" spc="-10" dirty="0">
                <a:solidFill>
                  <a:schemeClr val="tx1"/>
                </a:solidFill>
                <a:latin typeface="Times New Roman" panose="02020603050405020304"/>
                <a:cs typeface="Times New Roman" panose="02020603050405020304"/>
                <a:sym typeface="+mn-ea"/>
              </a:rPr>
              <a:t>—</a:t>
            </a:r>
            <a:r>
              <a:rPr sz="2700" dirty="0">
                <a:solidFill>
                  <a:schemeClr val="tx1"/>
                </a:solidFill>
                <a:latin typeface="Times New Roman" panose="02020603050405020304"/>
                <a:cs typeface="Times New Roman" panose="02020603050405020304"/>
                <a:sym typeface="+mn-ea"/>
              </a:rPr>
              <a:t>	trying</a:t>
            </a:r>
            <a:r>
              <a:rPr sz="2700" spc="-3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to</a:t>
            </a:r>
            <a:r>
              <a:rPr sz="2700" spc="-2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catch</a:t>
            </a:r>
            <a:r>
              <a:rPr sz="2700" spc="-3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our</a:t>
            </a:r>
            <a:r>
              <a:rPr sz="2700" spc="-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own</a:t>
            </a:r>
            <a:r>
              <a:rPr sz="2700" spc="-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thoughts</a:t>
            </a:r>
            <a:r>
              <a:rPr sz="2700" spc="-3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as</a:t>
            </a:r>
            <a:r>
              <a:rPr sz="2700" spc="-1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they</a:t>
            </a:r>
            <a:r>
              <a:rPr sz="2700" spc="-1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go</a:t>
            </a:r>
            <a:r>
              <a:rPr sz="2700" spc="-10" dirty="0">
                <a:solidFill>
                  <a:schemeClr val="tx1"/>
                </a:solidFill>
                <a:latin typeface="Times New Roman" panose="02020603050405020304"/>
                <a:cs typeface="Times New Roman" panose="02020603050405020304"/>
                <a:sym typeface="+mn-ea"/>
              </a:rPr>
              <a:t> </a:t>
            </a:r>
            <a:r>
              <a:rPr sz="2700" spc="-25" dirty="0">
                <a:solidFill>
                  <a:schemeClr val="tx1"/>
                </a:solidFill>
                <a:latin typeface="Times New Roman" panose="02020603050405020304"/>
                <a:cs typeface="Times New Roman" panose="02020603050405020304"/>
                <a:sym typeface="+mn-ea"/>
              </a:rPr>
              <a:t>by</a:t>
            </a:r>
            <a:endParaRPr sz="2700">
              <a:solidFill>
                <a:schemeClr val="tx1"/>
              </a:solidFill>
              <a:latin typeface="Times New Roman" panose="02020603050405020304"/>
              <a:cs typeface="Times New Roman" panose="02020603050405020304"/>
            </a:endParaRPr>
          </a:p>
          <a:p>
            <a:pPr fontAlgn="t">
              <a:lnSpc>
                <a:spcPct val="100000"/>
              </a:lnSpc>
              <a:spcBef>
                <a:spcPts val="710"/>
              </a:spcBef>
              <a:tabLst>
                <a:tab pos="240665" algn="l"/>
                <a:tab pos="4307840" algn="l"/>
              </a:tabLst>
            </a:pPr>
            <a:r>
              <a:rPr sz="2700" b="1" dirty="0">
                <a:solidFill>
                  <a:schemeClr val="tx1"/>
                </a:solidFill>
                <a:latin typeface="Times New Roman" panose="02020603050405020304"/>
                <a:cs typeface="Times New Roman" panose="02020603050405020304"/>
                <a:sym typeface="+mn-ea"/>
              </a:rPr>
              <a:t>Psychological</a:t>
            </a:r>
            <a:r>
              <a:rPr sz="2700" b="1" spc="-20" dirty="0">
                <a:solidFill>
                  <a:schemeClr val="tx1"/>
                </a:solidFill>
                <a:latin typeface="Times New Roman" panose="02020603050405020304"/>
                <a:cs typeface="Times New Roman" panose="02020603050405020304"/>
                <a:sym typeface="+mn-ea"/>
              </a:rPr>
              <a:t> </a:t>
            </a:r>
            <a:r>
              <a:rPr sz="2700" b="1" spc="-10" dirty="0">
                <a:solidFill>
                  <a:schemeClr val="tx1"/>
                </a:solidFill>
                <a:latin typeface="Times New Roman" panose="02020603050405020304"/>
                <a:cs typeface="Times New Roman" panose="02020603050405020304"/>
                <a:sym typeface="+mn-ea"/>
              </a:rPr>
              <a:t>experiments</a:t>
            </a:r>
            <a:r>
              <a:rPr sz="2700" spc="-10" dirty="0">
                <a:solidFill>
                  <a:schemeClr val="tx1"/>
                </a:solidFill>
                <a:latin typeface="Times New Roman" panose="02020603050405020304"/>
                <a:cs typeface="Times New Roman" panose="02020603050405020304"/>
                <a:sym typeface="+mn-ea"/>
              </a:rPr>
              <a:t>—</a:t>
            </a:r>
            <a:r>
              <a:rPr sz="2700" dirty="0">
                <a:solidFill>
                  <a:schemeClr val="tx1"/>
                </a:solidFill>
                <a:latin typeface="Times New Roman" panose="02020603050405020304"/>
                <a:cs typeface="Times New Roman" panose="02020603050405020304"/>
                <a:sym typeface="+mn-ea"/>
              </a:rPr>
              <a:t>	observing</a:t>
            </a:r>
            <a:r>
              <a:rPr sz="2700" spc="-3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a</a:t>
            </a:r>
            <a:r>
              <a:rPr sz="2700" spc="-2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person</a:t>
            </a:r>
            <a:r>
              <a:rPr sz="2700" spc="-3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in</a:t>
            </a:r>
            <a:r>
              <a:rPr sz="2700" spc="-35" dirty="0">
                <a:solidFill>
                  <a:schemeClr val="tx1"/>
                </a:solidFill>
                <a:latin typeface="Times New Roman" panose="02020603050405020304"/>
                <a:cs typeface="Times New Roman" panose="02020603050405020304"/>
                <a:sym typeface="+mn-ea"/>
              </a:rPr>
              <a:t> </a:t>
            </a:r>
            <a:r>
              <a:rPr sz="2700" spc="-10" dirty="0">
                <a:solidFill>
                  <a:schemeClr val="tx1"/>
                </a:solidFill>
                <a:latin typeface="Times New Roman" panose="02020603050405020304"/>
                <a:cs typeface="Times New Roman" panose="02020603050405020304"/>
                <a:sym typeface="+mn-ea"/>
              </a:rPr>
              <a:t>action</a:t>
            </a:r>
            <a:endParaRPr sz="2700">
              <a:solidFill>
                <a:schemeClr val="tx1"/>
              </a:solidFill>
              <a:latin typeface="Times New Roman" panose="02020603050405020304"/>
              <a:cs typeface="Times New Roman" panose="02020603050405020304"/>
            </a:endParaRPr>
          </a:p>
          <a:p>
            <a:pPr fontAlgn="t">
              <a:lnSpc>
                <a:spcPct val="100000"/>
              </a:lnSpc>
              <a:spcBef>
                <a:spcPts val="720"/>
              </a:spcBef>
              <a:tabLst>
                <a:tab pos="239395" algn="l"/>
              </a:tabLst>
            </a:pPr>
            <a:r>
              <a:rPr sz="2700" b="1" dirty="0">
                <a:solidFill>
                  <a:schemeClr val="tx1"/>
                </a:solidFill>
                <a:latin typeface="Times New Roman" panose="02020603050405020304"/>
                <a:cs typeface="Times New Roman" panose="02020603050405020304"/>
                <a:sym typeface="+mn-ea"/>
              </a:rPr>
              <a:t>Brain</a:t>
            </a:r>
            <a:r>
              <a:rPr sz="2700" b="1" spc="-25" dirty="0">
                <a:solidFill>
                  <a:schemeClr val="tx1"/>
                </a:solidFill>
                <a:latin typeface="Times New Roman" panose="02020603050405020304"/>
                <a:cs typeface="Times New Roman" panose="02020603050405020304"/>
                <a:sym typeface="+mn-ea"/>
              </a:rPr>
              <a:t> </a:t>
            </a:r>
            <a:r>
              <a:rPr sz="2700" b="1" dirty="0">
                <a:solidFill>
                  <a:schemeClr val="tx1"/>
                </a:solidFill>
                <a:latin typeface="Times New Roman" panose="02020603050405020304"/>
                <a:cs typeface="Times New Roman" panose="02020603050405020304"/>
                <a:sym typeface="+mn-ea"/>
              </a:rPr>
              <a:t>imaging—</a:t>
            </a:r>
            <a:r>
              <a:rPr sz="2700" b="1" spc="-20"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observing</a:t>
            </a:r>
            <a:r>
              <a:rPr sz="2700" spc="-2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the</a:t>
            </a:r>
            <a:r>
              <a:rPr sz="2700" spc="-1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brain</a:t>
            </a:r>
            <a:r>
              <a:rPr sz="2700" spc="-15" dirty="0">
                <a:solidFill>
                  <a:schemeClr val="tx1"/>
                </a:solidFill>
                <a:latin typeface="Times New Roman" panose="02020603050405020304"/>
                <a:cs typeface="Times New Roman" panose="02020603050405020304"/>
                <a:sym typeface="+mn-ea"/>
              </a:rPr>
              <a:t> </a:t>
            </a:r>
            <a:r>
              <a:rPr sz="2700" dirty="0">
                <a:solidFill>
                  <a:schemeClr val="tx1"/>
                </a:solidFill>
                <a:latin typeface="Times New Roman" panose="02020603050405020304"/>
                <a:cs typeface="Times New Roman" panose="02020603050405020304"/>
                <a:sym typeface="+mn-ea"/>
              </a:rPr>
              <a:t>in</a:t>
            </a:r>
            <a:r>
              <a:rPr sz="2700" spc="-20" dirty="0">
                <a:solidFill>
                  <a:schemeClr val="tx1"/>
                </a:solidFill>
                <a:latin typeface="Times New Roman" panose="02020603050405020304"/>
                <a:cs typeface="Times New Roman" panose="02020603050405020304"/>
                <a:sym typeface="+mn-ea"/>
              </a:rPr>
              <a:t> </a:t>
            </a:r>
            <a:r>
              <a:rPr sz="2700" spc="-10" dirty="0">
                <a:solidFill>
                  <a:schemeClr val="tx1"/>
                </a:solidFill>
                <a:latin typeface="Times New Roman" panose="02020603050405020304"/>
                <a:cs typeface="Times New Roman" panose="02020603050405020304"/>
                <a:sym typeface="+mn-ea"/>
              </a:rPr>
              <a:t>action.</a:t>
            </a:r>
            <a:endParaRPr sz="2700">
              <a:solidFill>
                <a:schemeClr val="tx1"/>
              </a:solidFill>
              <a:latin typeface="Times New Roman" panose="02020603050405020304"/>
              <a:cs typeface="Times New Roman" panose="02020603050405020304"/>
            </a:endParaRPr>
          </a:p>
          <a:p>
            <a:pPr marR="33655">
              <a:lnSpc>
                <a:spcPts val="2590"/>
              </a:lnSpc>
              <a:spcBef>
                <a:spcPts val="1035"/>
              </a:spcBef>
              <a:tabLst>
                <a:tab pos="241300" algn="l"/>
              </a:tabLst>
            </a:pPr>
            <a:endParaRPr>
              <a:solidFill>
                <a:schemeClr val="tx1"/>
              </a:solidFill>
              <a:latin typeface="Times New Roman" panose="02020603050405020304"/>
              <a:cs typeface="Times New Roman" panose="02020603050405020304"/>
            </a:endParaRPr>
          </a:p>
          <a:p>
            <a:endParaRPr lang="en-US">
              <a:solidFill>
                <a:schemeClr val="tx1"/>
              </a:solidFill>
              <a:latin typeface="Times New Roman" panose="02020603050405020304"/>
              <a:cs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Autofit/>
          </a:bodyPr>
          <a:p>
            <a:pPr marR="5080" algn="just">
              <a:lnSpc>
                <a:spcPct val="90000"/>
              </a:lnSpc>
              <a:tabLst>
                <a:tab pos="241300" algn="l"/>
              </a:tabLst>
            </a:pPr>
            <a:r>
              <a:rPr sz="2000" dirty="0">
                <a:solidFill>
                  <a:schemeClr val="tx1"/>
                </a:solidFill>
                <a:latin typeface="Times New Roman" panose="02020603050405020304"/>
                <a:cs typeface="Times New Roman" panose="02020603050405020304"/>
                <a:sym typeface="+mn-ea"/>
              </a:rPr>
              <a:t>Once</a:t>
            </a:r>
            <a:r>
              <a:rPr sz="2000" spc="33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we</a:t>
            </a:r>
            <a:r>
              <a:rPr sz="2000" spc="3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have</a:t>
            </a:r>
            <a:r>
              <a:rPr sz="2000" spc="3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a</a:t>
            </a:r>
            <a:r>
              <a:rPr sz="2000" spc="33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sufficiently</a:t>
            </a:r>
            <a:r>
              <a:rPr sz="2000" spc="32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precise</a:t>
            </a:r>
            <a:r>
              <a:rPr sz="2000" spc="33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theory</a:t>
            </a:r>
            <a:r>
              <a:rPr sz="2000" spc="32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of</a:t>
            </a:r>
            <a:r>
              <a:rPr sz="2000" spc="32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a:t>
            </a:r>
            <a:r>
              <a:rPr sz="2000" spc="33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mind,</a:t>
            </a:r>
            <a:r>
              <a:rPr sz="2000" spc="34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it</a:t>
            </a:r>
            <a:r>
              <a:rPr sz="2000" spc="33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becomes</a:t>
            </a:r>
            <a:r>
              <a:rPr sz="2000" spc="34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possible</a:t>
            </a:r>
            <a:r>
              <a:rPr sz="2000" spc="335" dirty="0">
                <a:solidFill>
                  <a:schemeClr val="tx1"/>
                </a:solidFill>
                <a:latin typeface="Times New Roman" panose="02020603050405020304"/>
                <a:cs typeface="Times New Roman" panose="02020603050405020304"/>
                <a:sym typeface="+mn-ea"/>
              </a:rPr>
              <a:t> </a:t>
            </a:r>
            <a:r>
              <a:rPr sz="2000" spc="-25" dirty="0">
                <a:solidFill>
                  <a:schemeClr val="tx1"/>
                </a:solidFill>
                <a:latin typeface="Times New Roman" panose="02020603050405020304"/>
                <a:cs typeface="Times New Roman" panose="02020603050405020304"/>
                <a:sym typeface="+mn-ea"/>
              </a:rPr>
              <a:t>to 	</a:t>
            </a:r>
            <a:r>
              <a:rPr sz="2000" dirty="0">
                <a:solidFill>
                  <a:schemeClr val="tx1"/>
                </a:solidFill>
                <a:latin typeface="Times New Roman" panose="02020603050405020304"/>
                <a:cs typeface="Times New Roman" panose="02020603050405020304"/>
                <a:sym typeface="+mn-ea"/>
              </a:rPr>
              <a:t>express</a:t>
            </a:r>
            <a:r>
              <a:rPr sz="2000" spc="18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a:t>
            </a:r>
            <a:r>
              <a:rPr sz="2000" spc="18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theory</a:t>
            </a:r>
            <a:r>
              <a:rPr sz="2000" spc="18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as</a:t>
            </a:r>
            <a:r>
              <a:rPr sz="2000" spc="17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a</a:t>
            </a:r>
            <a:r>
              <a:rPr sz="2000" spc="18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computer</a:t>
            </a:r>
            <a:r>
              <a:rPr sz="2000" spc="19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program.</a:t>
            </a:r>
            <a:r>
              <a:rPr sz="2000" spc="18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If</a:t>
            </a:r>
            <a:r>
              <a:rPr sz="2000" spc="18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a:t>
            </a:r>
            <a:r>
              <a:rPr sz="2000" spc="19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program’s</a:t>
            </a:r>
            <a:r>
              <a:rPr sz="2000" spc="180" dirty="0">
                <a:solidFill>
                  <a:schemeClr val="tx1"/>
                </a:solidFill>
                <a:latin typeface="Times New Roman" panose="02020603050405020304"/>
                <a:cs typeface="Times New Roman" panose="02020603050405020304"/>
                <a:sym typeface="+mn-ea"/>
              </a:rPr>
              <a:t>  </a:t>
            </a:r>
            <a:r>
              <a:rPr sz="2000" spc="-10" dirty="0">
                <a:solidFill>
                  <a:schemeClr val="tx1"/>
                </a:solidFill>
                <a:latin typeface="Times New Roman" panose="02020603050405020304"/>
                <a:cs typeface="Times New Roman" panose="02020603050405020304"/>
                <a:sym typeface="+mn-ea"/>
              </a:rPr>
              <a:t>input–output 	</a:t>
            </a:r>
            <a:r>
              <a:rPr sz="2000" dirty="0">
                <a:solidFill>
                  <a:schemeClr val="tx1"/>
                </a:solidFill>
                <a:latin typeface="Times New Roman" panose="02020603050405020304"/>
                <a:cs typeface="Times New Roman" panose="02020603050405020304"/>
                <a:sym typeface="+mn-ea"/>
              </a:rPr>
              <a:t>behaviour</a:t>
            </a:r>
            <a:r>
              <a:rPr sz="2000" spc="114"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matches</a:t>
            </a:r>
            <a:r>
              <a:rPr sz="2000" spc="10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corresponding</a:t>
            </a:r>
            <a:r>
              <a:rPr sz="2000" spc="1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human</a:t>
            </a:r>
            <a:r>
              <a:rPr sz="2000" spc="114"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behaviour,</a:t>
            </a:r>
            <a:r>
              <a:rPr sz="2000" spc="114"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that</a:t>
            </a:r>
            <a:r>
              <a:rPr sz="2000" spc="1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is</a:t>
            </a:r>
            <a:r>
              <a:rPr sz="2000" spc="114"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evidence</a:t>
            </a:r>
            <a:r>
              <a:rPr sz="2000" spc="1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that</a:t>
            </a:r>
            <a:r>
              <a:rPr sz="2000" spc="10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some</a:t>
            </a:r>
            <a:r>
              <a:rPr sz="2000" spc="120" dirty="0">
                <a:solidFill>
                  <a:schemeClr val="tx1"/>
                </a:solidFill>
                <a:latin typeface="Times New Roman" panose="02020603050405020304"/>
                <a:cs typeface="Times New Roman" panose="02020603050405020304"/>
                <a:sym typeface="+mn-ea"/>
              </a:rPr>
              <a:t> </a:t>
            </a:r>
            <a:r>
              <a:rPr sz="2000" spc="-25" dirty="0">
                <a:solidFill>
                  <a:schemeClr val="tx1"/>
                </a:solidFill>
                <a:latin typeface="Times New Roman" panose="02020603050405020304"/>
                <a:cs typeface="Times New Roman" panose="02020603050405020304"/>
                <a:sym typeface="+mn-ea"/>
              </a:rPr>
              <a:t>of </a:t>
            </a:r>
            <a:r>
              <a:rPr sz="2000" dirty="0">
                <a:solidFill>
                  <a:schemeClr val="tx1"/>
                </a:solidFill>
                <a:latin typeface="Times New Roman" panose="02020603050405020304"/>
                <a:cs typeface="Times New Roman" panose="02020603050405020304"/>
                <a:sym typeface="+mn-ea"/>
              </a:rPr>
              <a:t>the</a:t>
            </a:r>
            <a:r>
              <a:rPr sz="2000" spc="-15" dirty="0">
                <a:solidFill>
                  <a:schemeClr val="tx1"/>
                </a:solidFill>
                <a:latin typeface="Times New Roman" panose="02020603050405020304"/>
                <a:cs typeface="Times New Roman" panose="02020603050405020304"/>
                <a:sym typeface="+mn-ea"/>
              </a:rPr>
              <a:t> </a:t>
            </a:r>
            <a:r>
              <a:rPr sz="2000" spc="-10" dirty="0">
                <a:solidFill>
                  <a:schemeClr val="tx1"/>
                </a:solidFill>
                <a:latin typeface="Times New Roman" panose="02020603050405020304"/>
                <a:cs typeface="Times New Roman" panose="02020603050405020304"/>
                <a:sym typeface="+mn-ea"/>
              </a:rPr>
              <a:t>program’s</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mechanisms</a:t>
            </a:r>
            <a:r>
              <a:rPr sz="2000" spc="-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could</a:t>
            </a:r>
            <a:r>
              <a:rPr sz="2000" spc="-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also</a:t>
            </a:r>
            <a:r>
              <a:rPr sz="2000" spc="-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be</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operating</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in</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humans.</a:t>
            </a:r>
            <a:r>
              <a:rPr sz="2000" spc="-15" dirty="0">
                <a:solidFill>
                  <a:schemeClr val="tx1"/>
                </a:solidFill>
                <a:latin typeface="Times New Roman" panose="02020603050405020304"/>
                <a:cs typeface="Times New Roman" panose="02020603050405020304"/>
                <a:sym typeface="+mn-ea"/>
              </a:rPr>
              <a:t> </a:t>
            </a:r>
            <a:endParaRPr sz="2000" spc="-15" dirty="0">
              <a:solidFill>
                <a:schemeClr val="tx1"/>
              </a:solidFill>
              <a:latin typeface="Times New Roman" panose="02020603050405020304"/>
              <a:cs typeface="Times New Roman" panose="02020603050405020304"/>
              <a:sym typeface="+mn-ea"/>
            </a:endParaRPr>
          </a:p>
          <a:p>
            <a:pPr marR="5080" algn="just">
              <a:lnSpc>
                <a:spcPct val="90000"/>
              </a:lnSpc>
              <a:tabLst>
                <a:tab pos="241300" algn="l"/>
              </a:tabLst>
            </a:pPr>
            <a:r>
              <a:rPr sz="2000" dirty="0">
                <a:solidFill>
                  <a:schemeClr val="tx1"/>
                </a:solidFill>
                <a:latin typeface="Times New Roman" panose="02020603050405020304"/>
                <a:cs typeface="Times New Roman" panose="02020603050405020304"/>
                <a:sym typeface="+mn-ea"/>
              </a:rPr>
              <a:t>For</a:t>
            </a:r>
            <a:r>
              <a:rPr sz="2000" spc="-2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example,</a:t>
            </a:r>
            <a:r>
              <a:rPr sz="2000" spc="-10" dirty="0">
                <a:solidFill>
                  <a:schemeClr val="tx1"/>
                </a:solidFill>
                <a:latin typeface="Times New Roman" panose="02020603050405020304"/>
                <a:cs typeface="Times New Roman" panose="02020603050405020304"/>
                <a:sym typeface="+mn-ea"/>
              </a:rPr>
              <a:t> Allen 	</a:t>
            </a:r>
            <a:r>
              <a:rPr sz="2000" dirty="0">
                <a:solidFill>
                  <a:schemeClr val="tx1"/>
                </a:solidFill>
                <a:latin typeface="Times New Roman" panose="02020603050405020304"/>
                <a:cs typeface="Times New Roman" panose="02020603050405020304"/>
                <a:sym typeface="+mn-ea"/>
              </a:rPr>
              <a:t>Newell</a:t>
            </a:r>
            <a:r>
              <a:rPr sz="2000" spc="10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and</a:t>
            </a:r>
            <a:r>
              <a:rPr sz="2000" spc="8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Herbert</a:t>
            </a:r>
            <a:r>
              <a:rPr sz="2000" spc="1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Simon,</a:t>
            </a:r>
            <a:r>
              <a:rPr sz="2000" spc="9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who</a:t>
            </a:r>
            <a:r>
              <a:rPr sz="2000" spc="9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developed</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GPS,</a:t>
            </a:r>
            <a:r>
              <a:rPr sz="2000" spc="9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“General</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Problem</a:t>
            </a:r>
            <a:r>
              <a:rPr sz="2000" spc="95" dirty="0">
                <a:solidFill>
                  <a:schemeClr val="tx1"/>
                </a:solidFill>
                <a:latin typeface="Times New Roman" panose="02020603050405020304"/>
                <a:cs typeface="Times New Roman" panose="02020603050405020304"/>
                <a:sym typeface="+mn-ea"/>
              </a:rPr>
              <a:t> </a:t>
            </a:r>
            <a:r>
              <a:rPr sz="2000" spc="-10" dirty="0">
                <a:solidFill>
                  <a:schemeClr val="tx1"/>
                </a:solidFill>
                <a:latin typeface="Times New Roman" panose="02020603050405020304"/>
                <a:cs typeface="Times New Roman" panose="02020603050405020304"/>
                <a:sym typeface="+mn-ea"/>
              </a:rPr>
              <a:t>Solver” </a:t>
            </a:r>
            <a:r>
              <a:rPr lang="en-US" sz="2000" spc="-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(Newell</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and</a:t>
            </a:r>
            <a:r>
              <a:rPr sz="2000" spc="13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Simon</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1961),</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were</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not</a:t>
            </a:r>
            <a:r>
              <a:rPr sz="2000" spc="13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content</a:t>
            </a:r>
            <a:r>
              <a:rPr sz="2000" spc="13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merely</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to</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have</a:t>
            </a:r>
            <a:r>
              <a:rPr sz="2000" spc="13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their</a:t>
            </a:r>
            <a:r>
              <a:rPr sz="2000" spc="14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program</a:t>
            </a:r>
            <a:r>
              <a:rPr sz="2000" spc="150" dirty="0">
                <a:solidFill>
                  <a:schemeClr val="tx1"/>
                </a:solidFill>
                <a:latin typeface="Times New Roman" panose="02020603050405020304"/>
                <a:cs typeface="Times New Roman" panose="02020603050405020304"/>
                <a:sym typeface="+mn-ea"/>
              </a:rPr>
              <a:t> </a:t>
            </a:r>
            <a:r>
              <a:rPr sz="2000" spc="-10" dirty="0">
                <a:solidFill>
                  <a:schemeClr val="tx1"/>
                </a:solidFill>
                <a:latin typeface="Times New Roman" panose="02020603050405020304"/>
                <a:cs typeface="Times New Roman" panose="02020603050405020304"/>
                <a:sym typeface="+mn-ea"/>
              </a:rPr>
              <a:t>solve </a:t>
            </a:r>
            <a:r>
              <a:rPr sz="2000" dirty="0">
                <a:solidFill>
                  <a:schemeClr val="tx1"/>
                </a:solidFill>
                <a:latin typeface="Times New Roman" panose="02020603050405020304"/>
                <a:cs typeface="Times New Roman" panose="02020603050405020304"/>
                <a:sym typeface="+mn-ea"/>
              </a:rPr>
              <a:t>problems</a:t>
            </a:r>
            <a:r>
              <a:rPr sz="2000" spc="9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correctly.</a:t>
            </a:r>
            <a:r>
              <a:rPr sz="2000" spc="9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They</a:t>
            </a:r>
            <a:r>
              <a:rPr sz="2000" spc="10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were</a:t>
            </a:r>
            <a:r>
              <a:rPr sz="2000" spc="10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more</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concerned</a:t>
            </a:r>
            <a:r>
              <a:rPr sz="2000" spc="8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with</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comparing</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a:t>
            </a:r>
            <a:r>
              <a:rPr sz="2000" spc="10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sequence</a:t>
            </a:r>
            <a:r>
              <a:rPr sz="2000" spc="105" dirty="0">
                <a:solidFill>
                  <a:schemeClr val="tx1"/>
                </a:solidFill>
                <a:latin typeface="Times New Roman" panose="02020603050405020304"/>
                <a:cs typeface="Times New Roman" panose="02020603050405020304"/>
                <a:sym typeface="+mn-ea"/>
              </a:rPr>
              <a:t> </a:t>
            </a:r>
            <a:r>
              <a:rPr sz="2000" spc="-25" dirty="0">
                <a:solidFill>
                  <a:schemeClr val="tx1"/>
                </a:solidFill>
                <a:latin typeface="Times New Roman" panose="02020603050405020304"/>
                <a:cs typeface="Times New Roman" panose="02020603050405020304"/>
                <a:sym typeface="+mn-ea"/>
              </a:rPr>
              <a:t>and </a:t>
            </a:r>
            <a:r>
              <a:rPr sz="2000" dirty="0">
                <a:solidFill>
                  <a:schemeClr val="tx1"/>
                </a:solidFill>
                <a:latin typeface="Times New Roman" panose="02020603050405020304"/>
                <a:cs typeface="Times New Roman" panose="02020603050405020304"/>
                <a:sym typeface="+mn-ea"/>
              </a:rPr>
              <a:t>timing</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of</a:t>
            </a:r>
            <a:r>
              <a:rPr sz="2000" spc="-2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its</a:t>
            </a:r>
            <a:r>
              <a:rPr sz="2000" spc="-2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reasoning</a:t>
            </a:r>
            <a:r>
              <a:rPr sz="2000" spc="-3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steps</a:t>
            </a:r>
            <a:r>
              <a:rPr sz="2000" spc="-2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to</a:t>
            </a:r>
            <a:r>
              <a:rPr sz="2000" spc="-2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those</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of</a:t>
            </a:r>
            <a:r>
              <a:rPr sz="2000" spc="-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human</a:t>
            </a:r>
            <a:r>
              <a:rPr sz="2000" spc="5" dirty="0">
                <a:solidFill>
                  <a:schemeClr val="tx1"/>
                </a:solidFill>
                <a:latin typeface="Times New Roman" panose="02020603050405020304"/>
                <a:cs typeface="Times New Roman" panose="02020603050405020304"/>
                <a:sym typeface="+mn-ea"/>
              </a:rPr>
              <a:t> </a:t>
            </a:r>
            <a:r>
              <a:rPr sz="2000" spc="-10" dirty="0">
                <a:solidFill>
                  <a:schemeClr val="tx1"/>
                </a:solidFill>
                <a:latin typeface="Times New Roman" panose="02020603050405020304"/>
                <a:cs typeface="Times New Roman" panose="02020603050405020304"/>
                <a:sym typeface="+mn-ea"/>
              </a:rPr>
              <a:t>subjects</a:t>
            </a:r>
            <a:r>
              <a:rPr lang="en-US" sz="2000" spc="-10"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solving</a:t>
            </a:r>
            <a:r>
              <a:rPr sz="2000" spc="-1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the</a:t>
            </a:r>
            <a:r>
              <a:rPr sz="2000" spc="-25" dirty="0">
                <a:solidFill>
                  <a:schemeClr val="tx1"/>
                </a:solidFill>
                <a:latin typeface="Times New Roman" panose="02020603050405020304"/>
                <a:cs typeface="Times New Roman" panose="02020603050405020304"/>
                <a:sym typeface="+mn-ea"/>
              </a:rPr>
              <a:t> </a:t>
            </a:r>
            <a:r>
              <a:rPr sz="2000" dirty="0">
                <a:solidFill>
                  <a:schemeClr val="tx1"/>
                </a:solidFill>
                <a:latin typeface="Times New Roman" panose="02020603050405020304"/>
                <a:cs typeface="Times New Roman" panose="02020603050405020304"/>
                <a:sym typeface="+mn-ea"/>
              </a:rPr>
              <a:t>same</a:t>
            </a:r>
            <a:r>
              <a:rPr sz="2000" spc="15" dirty="0">
                <a:solidFill>
                  <a:schemeClr val="tx1"/>
                </a:solidFill>
                <a:latin typeface="Times New Roman" panose="02020603050405020304"/>
                <a:cs typeface="Times New Roman" panose="02020603050405020304"/>
                <a:sym typeface="+mn-ea"/>
              </a:rPr>
              <a:t> </a:t>
            </a:r>
            <a:r>
              <a:rPr sz="2000" spc="-10" dirty="0">
                <a:solidFill>
                  <a:schemeClr val="tx1"/>
                </a:solidFill>
                <a:latin typeface="Times New Roman" panose="02020603050405020304"/>
                <a:cs typeface="Times New Roman" panose="02020603050405020304"/>
                <a:sym typeface="+mn-ea"/>
              </a:rPr>
              <a:t>problems.</a:t>
            </a:r>
            <a:endParaRPr sz="2000">
              <a:solidFill>
                <a:schemeClr val="tx1"/>
              </a:solidFill>
              <a:latin typeface="Times New Roman" panose="02020603050405020304"/>
              <a:cs typeface="Times New Roman" panose="02020603050405020304"/>
            </a:endParaRPr>
          </a:p>
          <a:p>
            <a:pPr algn="just"/>
            <a:endParaRPr lang="en-US" sz="2000">
              <a:solidFill>
                <a:schemeClr val="tx1"/>
              </a:solidFill>
              <a:latin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a:cs typeface="Times New Roman" panose="02020603050405020304"/>
                <a:sym typeface="+mn-ea"/>
              </a:rPr>
              <a:t>Thinking</a:t>
            </a:r>
            <a:r>
              <a:rPr b="1" spc="-6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rationally</a:t>
            </a:r>
            <a:endParaRPr lang="en-US"/>
          </a:p>
        </p:txBody>
      </p:sp>
      <p:sp>
        <p:nvSpPr>
          <p:cNvPr id="3" name="Content Placeholder 2"/>
          <p:cNvSpPr>
            <a:spLocks noGrp="1"/>
          </p:cNvSpPr>
          <p:nvPr>
            <p:ph idx="1"/>
          </p:nvPr>
        </p:nvSpPr>
        <p:spPr/>
        <p:txBody>
          <a:bodyPr>
            <a:normAutofit fontScale="90000" lnSpcReduction="10000"/>
          </a:bodyPr>
          <a:p>
            <a:pPr marR="5080" algn="just">
              <a:lnSpc>
                <a:spcPct val="100000"/>
              </a:lnSpc>
              <a:spcBef>
                <a:spcPts val="95"/>
              </a:spcBef>
            </a:pPr>
            <a:r>
              <a:rPr sz="3100" dirty="0">
                <a:solidFill>
                  <a:schemeClr val="tx1"/>
                </a:solidFill>
                <a:latin typeface="Times New Roman" panose="02020603050405020304"/>
                <a:cs typeface="Times New Roman" panose="02020603050405020304"/>
                <a:sym typeface="+mn-ea"/>
              </a:rPr>
              <a:t>The</a:t>
            </a:r>
            <a:r>
              <a:rPr sz="3100" spc="8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“laws</a:t>
            </a:r>
            <a:r>
              <a:rPr sz="3100" spc="9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of</a:t>
            </a:r>
            <a:r>
              <a:rPr sz="3100" spc="9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thought”</a:t>
            </a:r>
            <a:r>
              <a:rPr sz="3100" spc="10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approach</a:t>
            </a:r>
            <a:r>
              <a:rPr sz="3100" spc="9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a:t>
            </a:r>
            <a:r>
              <a:rPr sz="3100" spc="8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Greek</a:t>
            </a:r>
            <a:r>
              <a:rPr sz="3100" spc="9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philosopher</a:t>
            </a:r>
            <a:r>
              <a:rPr sz="3100" spc="9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Aristotle</a:t>
            </a:r>
            <a:r>
              <a:rPr sz="3100" spc="9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was</a:t>
            </a:r>
            <a:r>
              <a:rPr sz="3100" spc="80" dirty="0">
                <a:solidFill>
                  <a:schemeClr val="tx1"/>
                </a:solidFill>
                <a:latin typeface="Times New Roman" panose="02020603050405020304"/>
                <a:cs typeface="Times New Roman" panose="02020603050405020304"/>
                <a:sym typeface="+mn-ea"/>
              </a:rPr>
              <a:t> </a:t>
            </a:r>
            <a:r>
              <a:rPr sz="3100" spc="-25" dirty="0">
                <a:solidFill>
                  <a:schemeClr val="tx1"/>
                </a:solidFill>
                <a:latin typeface="Times New Roman" panose="02020603050405020304"/>
                <a:cs typeface="Times New Roman" panose="02020603050405020304"/>
                <a:sym typeface="+mn-ea"/>
              </a:rPr>
              <a:t>one </a:t>
            </a:r>
            <a:r>
              <a:rPr sz="3100" dirty="0">
                <a:solidFill>
                  <a:schemeClr val="tx1"/>
                </a:solidFill>
                <a:latin typeface="Times New Roman" panose="02020603050405020304"/>
                <a:cs typeface="Times New Roman" panose="02020603050405020304"/>
                <a:sym typeface="+mn-ea"/>
              </a:rPr>
              <a:t>of</a:t>
            </a:r>
            <a:r>
              <a:rPr sz="3100" spc="1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a:t>
            </a:r>
            <a:r>
              <a:rPr sz="3100" spc="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first</a:t>
            </a:r>
            <a:r>
              <a:rPr sz="3100" spc="1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to</a:t>
            </a:r>
            <a:r>
              <a:rPr sz="3100" spc="1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attempt</a:t>
            </a:r>
            <a:r>
              <a:rPr sz="3100" spc="1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to</a:t>
            </a:r>
            <a:r>
              <a:rPr sz="3100" spc="1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codify</a:t>
            </a:r>
            <a:r>
              <a:rPr sz="3100" spc="1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“right</a:t>
            </a:r>
            <a:r>
              <a:rPr sz="3100" spc="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thinking”—</a:t>
            </a:r>
            <a:r>
              <a:rPr sz="3100" spc="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that</a:t>
            </a:r>
            <a:r>
              <a:rPr sz="3100" spc="1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is,</a:t>
            </a:r>
            <a:r>
              <a:rPr sz="3100" spc="10" dirty="0">
                <a:solidFill>
                  <a:schemeClr val="tx1"/>
                </a:solidFill>
                <a:latin typeface="Times New Roman" panose="02020603050405020304"/>
                <a:cs typeface="Times New Roman" panose="02020603050405020304"/>
                <a:sym typeface="+mn-ea"/>
              </a:rPr>
              <a:t>  </a:t>
            </a:r>
            <a:r>
              <a:rPr sz="3100" spc="-10" dirty="0">
                <a:solidFill>
                  <a:schemeClr val="tx1"/>
                </a:solidFill>
                <a:latin typeface="Times New Roman" panose="02020603050405020304"/>
                <a:cs typeface="Times New Roman" panose="02020603050405020304"/>
                <a:sym typeface="+mn-ea"/>
              </a:rPr>
              <a:t>irrefutable </a:t>
            </a:r>
            <a:r>
              <a:rPr sz="3100" dirty="0">
                <a:solidFill>
                  <a:schemeClr val="tx1"/>
                </a:solidFill>
                <a:latin typeface="Times New Roman" panose="02020603050405020304"/>
                <a:cs typeface="Times New Roman" panose="02020603050405020304"/>
                <a:sym typeface="+mn-ea"/>
              </a:rPr>
              <a:t>reasoning</a:t>
            </a:r>
            <a:r>
              <a:rPr sz="3100" spc="33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processes.</a:t>
            </a:r>
            <a:r>
              <a:rPr sz="3100" spc="33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His</a:t>
            </a:r>
            <a:r>
              <a:rPr sz="3100" spc="33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syllogisms</a:t>
            </a:r>
            <a:r>
              <a:rPr sz="3100" spc="34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provided</a:t>
            </a:r>
            <a:r>
              <a:rPr sz="3100" spc="33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patterns</a:t>
            </a:r>
            <a:r>
              <a:rPr sz="3100" spc="33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for</a:t>
            </a:r>
            <a:r>
              <a:rPr sz="3100" spc="335" dirty="0">
                <a:solidFill>
                  <a:schemeClr val="tx1"/>
                </a:solidFill>
                <a:latin typeface="Times New Roman" panose="02020603050405020304"/>
                <a:cs typeface="Times New Roman" panose="02020603050405020304"/>
                <a:sym typeface="+mn-ea"/>
              </a:rPr>
              <a:t>  </a:t>
            </a:r>
            <a:r>
              <a:rPr sz="3100" spc="-10" dirty="0">
                <a:solidFill>
                  <a:schemeClr val="tx1"/>
                </a:solidFill>
                <a:latin typeface="Times New Roman" panose="02020603050405020304"/>
                <a:cs typeface="Times New Roman" panose="02020603050405020304"/>
                <a:sym typeface="+mn-ea"/>
              </a:rPr>
              <a:t>argument </a:t>
            </a:r>
            <a:r>
              <a:rPr sz="3100" dirty="0">
                <a:solidFill>
                  <a:schemeClr val="tx1"/>
                </a:solidFill>
                <a:latin typeface="Times New Roman" panose="02020603050405020304"/>
                <a:cs typeface="Times New Roman" panose="02020603050405020304"/>
                <a:sym typeface="+mn-ea"/>
              </a:rPr>
              <a:t>structures</a:t>
            </a:r>
            <a:r>
              <a:rPr sz="3100" spc="114"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that</a:t>
            </a:r>
            <a:r>
              <a:rPr sz="3100" spc="12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always</a:t>
            </a:r>
            <a:r>
              <a:rPr sz="3100" spc="12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yielded</a:t>
            </a:r>
            <a:r>
              <a:rPr sz="3100" spc="13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correct</a:t>
            </a:r>
            <a:r>
              <a:rPr sz="3100" spc="12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conclusions</a:t>
            </a:r>
            <a:r>
              <a:rPr sz="3100" spc="13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when</a:t>
            </a:r>
            <a:r>
              <a:rPr sz="3100" spc="12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given</a:t>
            </a:r>
            <a:r>
              <a:rPr sz="3100" spc="125" dirty="0">
                <a:solidFill>
                  <a:schemeClr val="tx1"/>
                </a:solidFill>
                <a:latin typeface="Times New Roman" panose="02020603050405020304"/>
                <a:cs typeface="Times New Roman" panose="02020603050405020304"/>
                <a:sym typeface="+mn-ea"/>
              </a:rPr>
              <a:t>  </a:t>
            </a:r>
            <a:r>
              <a:rPr sz="3100" spc="-10" dirty="0">
                <a:solidFill>
                  <a:schemeClr val="tx1"/>
                </a:solidFill>
                <a:latin typeface="Times New Roman" panose="02020603050405020304"/>
                <a:cs typeface="Times New Roman" panose="02020603050405020304"/>
                <a:sym typeface="+mn-ea"/>
              </a:rPr>
              <a:t>correct </a:t>
            </a:r>
            <a:r>
              <a:rPr sz="3100" dirty="0">
                <a:solidFill>
                  <a:schemeClr val="tx1"/>
                </a:solidFill>
                <a:latin typeface="Times New Roman" panose="02020603050405020304"/>
                <a:cs typeface="Times New Roman" panose="02020603050405020304"/>
                <a:sym typeface="+mn-ea"/>
              </a:rPr>
              <a:t>premises.</a:t>
            </a:r>
            <a:r>
              <a:rPr sz="3100" spc="13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a:t>
            </a:r>
            <a:r>
              <a:rPr sz="3100" spc="14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canonical</a:t>
            </a:r>
            <a:r>
              <a:rPr sz="3100" spc="15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example</a:t>
            </a:r>
            <a:r>
              <a:rPr sz="3100" spc="14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starts</a:t>
            </a:r>
            <a:r>
              <a:rPr sz="3100" spc="14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with</a:t>
            </a:r>
            <a:r>
              <a:rPr sz="3100" spc="15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Socrates</a:t>
            </a:r>
            <a:r>
              <a:rPr sz="3100" spc="15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is</a:t>
            </a:r>
            <a:r>
              <a:rPr sz="3100" spc="14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a:t>
            </a:r>
            <a:r>
              <a:rPr sz="3100" spc="14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man</a:t>
            </a:r>
            <a:r>
              <a:rPr sz="3100" spc="15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and</a:t>
            </a:r>
            <a:r>
              <a:rPr sz="3100" spc="15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all</a:t>
            </a:r>
            <a:r>
              <a:rPr sz="3100" spc="135" dirty="0">
                <a:solidFill>
                  <a:schemeClr val="tx1"/>
                </a:solidFill>
                <a:latin typeface="Times New Roman" panose="02020603050405020304"/>
                <a:cs typeface="Times New Roman" panose="02020603050405020304"/>
                <a:sym typeface="+mn-ea"/>
              </a:rPr>
              <a:t> </a:t>
            </a:r>
            <a:r>
              <a:rPr sz="3100" spc="-25" dirty="0">
                <a:solidFill>
                  <a:schemeClr val="tx1"/>
                </a:solidFill>
                <a:latin typeface="Times New Roman" panose="02020603050405020304"/>
                <a:cs typeface="Times New Roman" panose="02020603050405020304"/>
                <a:sym typeface="+mn-ea"/>
              </a:rPr>
              <a:t>men </a:t>
            </a:r>
            <a:r>
              <a:rPr sz="3100" dirty="0">
                <a:solidFill>
                  <a:schemeClr val="tx1"/>
                </a:solidFill>
                <a:latin typeface="Times New Roman" panose="02020603050405020304"/>
                <a:cs typeface="Times New Roman" panose="02020603050405020304"/>
                <a:sym typeface="+mn-ea"/>
              </a:rPr>
              <a:t>are</a:t>
            </a:r>
            <a:r>
              <a:rPr sz="3100" spc="50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mortal</a:t>
            </a:r>
            <a:r>
              <a:rPr sz="3100" spc="49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and</a:t>
            </a:r>
            <a:r>
              <a:rPr sz="3100" spc="50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concludes</a:t>
            </a:r>
            <a:r>
              <a:rPr sz="3100" spc="50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that</a:t>
            </a:r>
            <a:r>
              <a:rPr sz="3100" spc="49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Socrates</a:t>
            </a:r>
            <a:r>
              <a:rPr sz="3100" spc="509"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is</a:t>
            </a:r>
            <a:r>
              <a:rPr sz="3100" spc="50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mortal.</a:t>
            </a:r>
            <a:r>
              <a:rPr sz="3100" spc="49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These</a:t>
            </a:r>
            <a:r>
              <a:rPr sz="3100" spc="49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laws</a:t>
            </a:r>
            <a:r>
              <a:rPr sz="3100" spc="50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of</a:t>
            </a:r>
            <a:r>
              <a:rPr sz="3100" spc="500" dirty="0">
                <a:solidFill>
                  <a:schemeClr val="tx1"/>
                </a:solidFill>
                <a:latin typeface="Times New Roman" panose="02020603050405020304"/>
                <a:cs typeface="Times New Roman" panose="02020603050405020304"/>
                <a:sym typeface="+mn-ea"/>
              </a:rPr>
              <a:t> </a:t>
            </a:r>
            <a:r>
              <a:rPr sz="3100" spc="-10" dirty="0">
                <a:solidFill>
                  <a:schemeClr val="tx1"/>
                </a:solidFill>
                <a:latin typeface="Times New Roman" panose="02020603050405020304"/>
                <a:cs typeface="Times New Roman" panose="02020603050405020304"/>
                <a:sym typeface="+mn-ea"/>
              </a:rPr>
              <a:t>thought </a:t>
            </a:r>
            <a:r>
              <a:rPr sz="3100" dirty="0">
                <a:solidFill>
                  <a:schemeClr val="tx1"/>
                </a:solidFill>
                <a:latin typeface="Times New Roman" panose="02020603050405020304"/>
                <a:cs typeface="Times New Roman" panose="02020603050405020304"/>
                <a:sym typeface="+mn-ea"/>
              </a:rPr>
              <a:t>were</a:t>
            </a:r>
            <a:r>
              <a:rPr sz="3100" spc="8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supposed</a:t>
            </a:r>
            <a:r>
              <a:rPr sz="3100" spc="8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to</a:t>
            </a:r>
            <a:r>
              <a:rPr sz="3100" spc="8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govern</a:t>
            </a:r>
            <a:r>
              <a:rPr sz="3100" spc="9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a:t>
            </a:r>
            <a:r>
              <a:rPr sz="3100" spc="7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operation</a:t>
            </a:r>
            <a:r>
              <a:rPr sz="3100" spc="9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of</a:t>
            </a:r>
            <a:r>
              <a:rPr sz="3100" spc="8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a:t>
            </a:r>
            <a:r>
              <a:rPr sz="3100" spc="8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mind;</a:t>
            </a:r>
            <a:r>
              <a:rPr sz="3100" spc="8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their</a:t>
            </a:r>
            <a:r>
              <a:rPr sz="3100" spc="85"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study</a:t>
            </a:r>
            <a:r>
              <a:rPr sz="3100" spc="8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initiated</a:t>
            </a:r>
            <a:r>
              <a:rPr sz="3100" spc="75" dirty="0">
                <a:solidFill>
                  <a:schemeClr val="tx1"/>
                </a:solidFill>
                <a:latin typeface="Times New Roman" panose="02020603050405020304"/>
                <a:cs typeface="Times New Roman" panose="02020603050405020304"/>
                <a:sym typeface="+mn-ea"/>
              </a:rPr>
              <a:t> </a:t>
            </a:r>
            <a:r>
              <a:rPr sz="3100" spc="-25" dirty="0">
                <a:solidFill>
                  <a:schemeClr val="tx1"/>
                </a:solidFill>
                <a:latin typeface="Times New Roman" panose="02020603050405020304"/>
                <a:cs typeface="Times New Roman" panose="02020603050405020304"/>
                <a:sym typeface="+mn-ea"/>
              </a:rPr>
              <a:t>the </a:t>
            </a:r>
            <a:r>
              <a:rPr sz="3100" dirty="0">
                <a:solidFill>
                  <a:schemeClr val="tx1"/>
                </a:solidFill>
                <a:latin typeface="Times New Roman" panose="02020603050405020304"/>
                <a:cs typeface="Times New Roman" panose="02020603050405020304"/>
                <a:sym typeface="+mn-ea"/>
              </a:rPr>
              <a:t>field</a:t>
            </a:r>
            <a:r>
              <a:rPr sz="3100" spc="-40" dirty="0">
                <a:solidFill>
                  <a:schemeClr val="tx1"/>
                </a:solidFill>
                <a:latin typeface="Times New Roman" panose="02020603050405020304"/>
                <a:cs typeface="Times New Roman" panose="02020603050405020304"/>
                <a:sym typeface="+mn-ea"/>
              </a:rPr>
              <a:t> </a:t>
            </a:r>
            <a:r>
              <a:rPr sz="3100" dirty="0">
                <a:solidFill>
                  <a:schemeClr val="tx1"/>
                </a:solidFill>
                <a:latin typeface="Times New Roman" panose="02020603050405020304"/>
                <a:cs typeface="Times New Roman" panose="02020603050405020304"/>
                <a:sym typeface="+mn-ea"/>
              </a:rPr>
              <a:t>called</a:t>
            </a:r>
            <a:r>
              <a:rPr sz="3100" spc="-35" dirty="0">
                <a:solidFill>
                  <a:schemeClr val="tx1"/>
                </a:solidFill>
                <a:latin typeface="Times New Roman" panose="02020603050405020304"/>
                <a:cs typeface="Times New Roman" panose="02020603050405020304"/>
                <a:sym typeface="+mn-ea"/>
              </a:rPr>
              <a:t> </a:t>
            </a:r>
            <a:r>
              <a:rPr sz="3100" spc="-10" dirty="0">
                <a:solidFill>
                  <a:schemeClr val="tx1"/>
                </a:solidFill>
                <a:latin typeface="Times New Roman" panose="02020603050405020304"/>
                <a:cs typeface="Times New Roman" panose="02020603050405020304"/>
                <a:sym typeface="+mn-ea"/>
              </a:rPr>
              <a:t>logic.</a:t>
            </a:r>
            <a:endParaRPr sz="3100">
              <a:solidFill>
                <a:schemeClr val="tx1"/>
              </a:solidFill>
              <a:latin typeface="Times New Roman" panose="02020603050405020304"/>
              <a:cs typeface="Times New Roman" panose="02020603050405020304"/>
            </a:endParaRPr>
          </a:p>
          <a:p>
            <a:pPr>
              <a:lnSpc>
                <a:spcPct val="100000"/>
              </a:lnSpc>
              <a:spcBef>
                <a:spcPts val="145"/>
              </a:spcBef>
            </a:pPr>
            <a:endParaRPr>
              <a:latin typeface="Times New Roman" panose="02020603050405020304"/>
              <a:cs typeface="Times New Roman" panose="02020603050405020304"/>
            </a:endParaRPr>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b="1" spc="-16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Acting</a:t>
            </a:r>
            <a:r>
              <a:rPr b="1" spc="-10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rationally:</a:t>
            </a:r>
            <a:r>
              <a:rPr b="1" spc="-14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The</a:t>
            </a:r>
            <a:r>
              <a:rPr b="1" spc="-7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rational</a:t>
            </a:r>
            <a:r>
              <a:rPr b="1" spc="-8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agent</a:t>
            </a:r>
            <a:r>
              <a:rPr b="1" spc="-7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approach</a:t>
            </a:r>
            <a:endParaRPr lang="en-US"/>
          </a:p>
        </p:txBody>
      </p:sp>
      <p:sp>
        <p:nvSpPr>
          <p:cNvPr id="3" name="Content Placeholder 2"/>
          <p:cNvSpPr>
            <a:spLocks noGrp="1"/>
          </p:cNvSpPr>
          <p:nvPr>
            <p:ph idx="1"/>
          </p:nvPr>
        </p:nvSpPr>
        <p:spPr/>
        <p:txBody>
          <a:bodyPr/>
          <a:p>
            <a:pPr algn="just"/>
            <a:r>
              <a:rPr sz="2400" dirty="0">
                <a:solidFill>
                  <a:srgbClr val="3E3E3E"/>
                </a:solidFill>
                <a:latin typeface="Times New Roman" panose="02020603050405020304"/>
                <a:cs typeface="Times New Roman" panose="02020603050405020304"/>
                <a:sym typeface="+mn-ea"/>
              </a:rPr>
              <a:t>An</a:t>
            </a:r>
            <a:r>
              <a:rPr sz="2400" spc="2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agent</a:t>
            </a:r>
            <a:r>
              <a:rPr sz="2400" spc="2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a:t>
            </a:r>
            <a:r>
              <a:rPr sz="2400" spc="2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just</a:t>
            </a:r>
            <a:r>
              <a:rPr sz="2400" spc="2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something</a:t>
            </a:r>
            <a:r>
              <a:rPr sz="2400" spc="2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that</a:t>
            </a:r>
            <a:r>
              <a:rPr sz="2400" spc="2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acts</a:t>
            </a:r>
            <a:r>
              <a:rPr sz="2400" spc="2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(agent</a:t>
            </a:r>
            <a:r>
              <a:rPr sz="2400" spc="2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comes</a:t>
            </a:r>
            <a:r>
              <a:rPr sz="2400" spc="2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from</a:t>
            </a:r>
            <a:r>
              <a:rPr sz="2400" spc="204"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2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Latin</a:t>
            </a:r>
            <a:r>
              <a:rPr sz="2400" spc="229"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agere,</a:t>
            </a:r>
            <a:r>
              <a:rPr sz="2400" spc="204" dirty="0">
                <a:solidFill>
                  <a:srgbClr val="3E3E3E"/>
                </a:solidFill>
                <a:latin typeface="Times New Roman" panose="02020603050405020304"/>
                <a:cs typeface="Times New Roman" panose="02020603050405020304"/>
                <a:sym typeface="+mn-ea"/>
              </a:rPr>
              <a:t> </a:t>
            </a:r>
            <a:r>
              <a:rPr sz="2400" spc="-25" dirty="0">
                <a:solidFill>
                  <a:srgbClr val="3E3E3E"/>
                </a:solidFill>
                <a:latin typeface="Times New Roman" panose="02020603050405020304"/>
                <a:cs typeface="Times New Roman" panose="02020603050405020304"/>
                <a:sym typeface="+mn-ea"/>
              </a:rPr>
              <a:t>to </a:t>
            </a:r>
            <a:r>
              <a:rPr sz="2400" dirty="0">
                <a:solidFill>
                  <a:srgbClr val="3E3E3E"/>
                </a:solidFill>
                <a:latin typeface="Times New Roman" panose="02020603050405020304"/>
                <a:cs typeface="Times New Roman" panose="02020603050405020304"/>
                <a:sym typeface="+mn-ea"/>
              </a:rPr>
              <a:t>do).</a:t>
            </a:r>
            <a:r>
              <a:rPr sz="2400" spc="220" dirty="0">
                <a:solidFill>
                  <a:srgbClr val="3E3E3E"/>
                </a:solidFill>
                <a:latin typeface="Times New Roman" panose="02020603050405020304"/>
                <a:cs typeface="Times New Roman" panose="02020603050405020304"/>
                <a:sym typeface="+mn-ea"/>
              </a:rPr>
              <a:t> </a:t>
            </a:r>
            <a:endParaRPr sz="2400" spc="220" dirty="0">
              <a:solidFill>
                <a:srgbClr val="3E3E3E"/>
              </a:solidFill>
              <a:latin typeface="Times New Roman" panose="02020603050405020304"/>
              <a:cs typeface="Times New Roman" panose="02020603050405020304"/>
              <a:sym typeface="+mn-ea"/>
            </a:endParaRPr>
          </a:p>
          <a:p>
            <a:pPr algn="just"/>
            <a:r>
              <a:rPr sz="2400" dirty="0">
                <a:solidFill>
                  <a:srgbClr val="3E3E3E"/>
                </a:solidFill>
                <a:latin typeface="Times New Roman" panose="02020603050405020304"/>
                <a:cs typeface="Times New Roman" panose="02020603050405020304"/>
                <a:sym typeface="+mn-ea"/>
              </a:rPr>
              <a:t>Of</a:t>
            </a:r>
            <a:r>
              <a:rPr sz="2400" spc="2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course,</a:t>
            </a:r>
            <a:r>
              <a:rPr sz="2400" spc="229"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all</a:t>
            </a:r>
            <a:r>
              <a:rPr sz="2400" spc="2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computer</a:t>
            </a:r>
            <a:r>
              <a:rPr sz="2400" spc="2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programs</a:t>
            </a:r>
            <a:r>
              <a:rPr sz="2400" spc="2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do</a:t>
            </a:r>
            <a:r>
              <a:rPr sz="2400" spc="229"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something,</a:t>
            </a:r>
            <a:r>
              <a:rPr sz="2400" spc="2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but</a:t>
            </a:r>
            <a:r>
              <a:rPr sz="2400" spc="229"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computer</a:t>
            </a:r>
            <a:r>
              <a:rPr sz="2400" spc="23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agents </a:t>
            </a:r>
            <a:r>
              <a:rPr sz="2400" dirty="0">
                <a:solidFill>
                  <a:srgbClr val="3E3E3E"/>
                </a:solidFill>
                <a:latin typeface="Times New Roman" panose="02020603050405020304"/>
                <a:cs typeface="Times New Roman" panose="02020603050405020304"/>
                <a:sym typeface="+mn-ea"/>
              </a:rPr>
              <a:t>are</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expected</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do</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more:</a:t>
            </a:r>
            <a:r>
              <a:rPr sz="2400" spc="5" dirty="0">
                <a:solidFill>
                  <a:srgbClr val="3E3E3E"/>
                </a:solidFill>
                <a:latin typeface="Times New Roman" panose="02020603050405020304"/>
                <a:cs typeface="Times New Roman" panose="02020603050405020304"/>
                <a:sym typeface="+mn-ea"/>
              </a:rPr>
              <a:t> </a:t>
            </a:r>
            <a:endParaRPr sz="2400" spc="5" dirty="0">
              <a:solidFill>
                <a:srgbClr val="3E3E3E"/>
              </a:solidFill>
              <a:latin typeface="Times New Roman" panose="02020603050405020304"/>
              <a:cs typeface="Times New Roman" panose="02020603050405020304"/>
              <a:sym typeface="+mn-ea"/>
            </a:endParaRPr>
          </a:p>
          <a:p>
            <a:pPr algn="just"/>
            <a:r>
              <a:rPr lang="en-US" sz="2400" dirty="0">
                <a:solidFill>
                  <a:srgbClr val="3E3E3E"/>
                </a:solidFill>
                <a:latin typeface="Times New Roman" panose="02020603050405020304"/>
                <a:cs typeface="Times New Roman" panose="02020603050405020304"/>
                <a:sym typeface="+mn-ea"/>
              </a:rPr>
              <a:t>O</a:t>
            </a:r>
            <a:r>
              <a:rPr sz="2400" dirty="0">
                <a:solidFill>
                  <a:srgbClr val="3E3E3E"/>
                </a:solidFill>
                <a:latin typeface="Times New Roman" panose="02020603050405020304"/>
                <a:cs typeface="Times New Roman" panose="02020603050405020304"/>
                <a:sym typeface="+mn-ea"/>
              </a:rPr>
              <a:t>perate autonomously,</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perceive their</a:t>
            </a:r>
            <a:r>
              <a:rPr sz="2400" spc="10"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environment,</a:t>
            </a:r>
            <a:r>
              <a:rPr sz="2400" dirty="0">
                <a:solidFill>
                  <a:srgbClr val="3E3E3E"/>
                </a:solidFill>
                <a:latin typeface="Times New Roman" panose="02020603050405020304"/>
                <a:cs typeface="Times New Roman" panose="02020603050405020304"/>
                <a:sym typeface="+mn-ea"/>
              </a:rPr>
              <a:t>persist over</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prolonged time</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period,</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adapt</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change, and</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create and</a:t>
            </a:r>
            <a:r>
              <a:rPr sz="2400" spc="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pursue</a:t>
            </a:r>
            <a:r>
              <a:rPr lang="en-US" sz="2400" spc="-10" dirty="0">
                <a:solidFill>
                  <a:srgbClr val="3E3E3E"/>
                </a:solidFill>
                <a:latin typeface="Times New Roman" panose="02020603050405020304"/>
                <a:cs typeface="Times New Roman" panose="02020603050405020304"/>
                <a:sym typeface="+mn-ea"/>
              </a:rPr>
              <a:t> goals</a:t>
            </a:r>
            <a:endParaRPr lang="en-US" sz="2400" spc="-10" dirty="0">
              <a:solidFill>
                <a:srgbClr val="3E3E3E"/>
              </a:solidFill>
              <a:latin typeface="Times New Roman" panose="02020603050405020304"/>
              <a:cs typeface="Times New Roman" panose="02020603050405020304"/>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marR="5080" algn="just">
              <a:lnSpc>
                <a:spcPct val="90000"/>
              </a:lnSpc>
              <a:spcBef>
                <a:spcPts val="385"/>
              </a:spcBef>
              <a:tabLst>
                <a:tab pos="241300" algn="l"/>
              </a:tabLst>
            </a:pPr>
            <a:r>
              <a:rPr sz="2400" dirty="0">
                <a:solidFill>
                  <a:srgbClr val="3E3E3E"/>
                </a:solidFill>
                <a:latin typeface="Times New Roman" panose="02020603050405020304"/>
                <a:cs typeface="Times New Roman" panose="02020603050405020304"/>
                <a:sym typeface="+mn-ea"/>
              </a:rPr>
              <a:t>A</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rational</a:t>
            </a:r>
            <a:r>
              <a:rPr sz="2400" spc="-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agent</a:t>
            </a:r>
            <a:r>
              <a:rPr sz="2400" spc="-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one</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that</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acts</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so</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as</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achieve</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best</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outcome</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or,</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when</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there</a:t>
            </a:r>
            <a:r>
              <a:rPr sz="2400" spc="-40" dirty="0">
                <a:solidFill>
                  <a:srgbClr val="3E3E3E"/>
                </a:solidFill>
                <a:latin typeface="Times New Roman" panose="02020603050405020304"/>
                <a:cs typeface="Times New Roman" panose="02020603050405020304"/>
                <a:sym typeface="+mn-ea"/>
              </a:rPr>
              <a:t> </a:t>
            </a:r>
            <a:r>
              <a:rPr sz="2400" spc="-25" dirty="0">
                <a:solidFill>
                  <a:srgbClr val="3E3E3E"/>
                </a:solidFill>
                <a:latin typeface="Times New Roman" panose="02020603050405020304"/>
                <a:cs typeface="Times New Roman" panose="02020603050405020304"/>
                <a:sym typeface="+mn-ea"/>
              </a:rPr>
              <a:t>is </a:t>
            </a:r>
            <a:r>
              <a:rPr sz="2400" spc="-10" dirty="0">
                <a:solidFill>
                  <a:srgbClr val="3E3E3E"/>
                </a:solidFill>
                <a:latin typeface="Times New Roman" panose="02020603050405020304"/>
                <a:cs typeface="Times New Roman" panose="02020603050405020304"/>
                <a:sym typeface="+mn-ea"/>
              </a:rPr>
              <a:t>uncertainty,</a:t>
            </a:r>
            <a:r>
              <a:rPr sz="2400" spc="-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best</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expected</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outcome.</a:t>
            </a:r>
            <a:r>
              <a:rPr sz="2400" spc="-20" dirty="0">
                <a:solidFill>
                  <a:srgbClr val="3E3E3E"/>
                </a:solidFill>
                <a:latin typeface="Times New Roman" panose="02020603050405020304"/>
                <a:cs typeface="Times New Roman" panose="02020603050405020304"/>
                <a:sym typeface="+mn-ea"/>
              </a:rPr>
              <a:t> </a:t>
            </a:r>
            <a:endParaRPr sz="2400" spc="-20" dirty="0">
              <a:solidFill>
                <a:srgbClr val="3E3E3E"/>
              </a:solidFill>
              <a:latin typeface="Times New Roman" panose="02020603050405020304"/>
              <a:cs typeface="Times New Roman" panose="02020603050405020304"/>
              <a:sym typeface="+mn-ea"/>
            </a:endParaRPr>
          </a:p>
          <a:p>
            <a:pPr marR="5080" algn="just">
              <a:lnSpc>
                <a:spcPct val="90000"/>
              </a:lnSpc>
              <a:spcBef>
                <a:spcPts val="385"/>
              </a:spcBef>
              <a:tabLst>
                <a:tab pos="241300" algn="l"/>
              </a:tabLst>
            </a:pPr>
            <a:r>
              <a:rPr sz="2400" dirty="0">
                <a:solidFill>
                  <a:srgbClr val="3E3E3E"/>
                </a:solidFill>
                <a:latin typeface="Times New Roman" panose="02020603050405020304"/>
                <a:cs typeface="Times New Roman" panose="02020603050405020304"/>
                <a:sym typeface="+mn-ea"/>
              </a:rPr>
              <a:t>In</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“laws</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thought”</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approach</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145" dirty="0">
                <a:solidFill>
                  <a:srgbClr val="3E3E3E"/>
                </a:solidFill>
                <a:latin typeface="Times New Roman" panose="02020603050405020304"/>
                <a:cs typeface="Times New Roman" panose="02020603050405020304"/>
                <a:sym typeface="+mn-ea"/>
              </a:rPr>
              <a:t> </a:t>
            </a:r>
            <a:r>
              <a:rPr sz="2400" spc="-25" dirty="0">
                <a:solidFill>
                  <a:srgbClr val="3E3E3E"/>
                </a:solidFill>
                <a:latin typeface="Times New Roman" panose="02020603050405020304"/>
                <a:cs typeface="Times New Roman" panose="02020603050405020304"/>
                <a:sym typeface="+mn-ea"/>
              </a:rPr>
              <a:t>AI, </a:t>
            </a:r>
            <a:r>
              <a:rPr sz="2400" dirty="0">
                <a:solidFill>
                  <a:srgbClr val="3E3E3E"/>
                </a:solidFill>
                <a:latin typeface="Times New Roman" panose="02020603050405020304"/>
                <a:cs typeface="Times New Roman" panose="02020603050405020304"/>
                <a:sym typeface="+mn-ea"/>
              </a:rPr>
              <a:t>the</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emphasis</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was</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on</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correct</a:t>
            </a:r>
            <a:r>
              <a:rPr sz="2400" spc="-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inferences.</a:t>
            </a:r>
            <a:r>
              <a:rPr sz="2400" spc="-30" dirty="0">
                <a:solidFill>
                  <a:srgbClr val="3E3E3E"/>
                </a:solidFill>
                <a:latin typeface="Times New Roman" panose="02020603050405020304"/>
                <a:cs typeface="Times New Roman" panose="02020603050405020304"/>
                <a:sym typeface="+mn-ea"/>
              </a:rPr>
              <a:t> </a:t>
            </a:r>
            <a:endParaRPr sz="2400" spc="-30" dirty="0">
              <a:solidFill>
                <a:srgbClr val="3E3E3E"/>
              </a:solidFill>
              <a:latin typeface="Times New Roman" panose="02020603050405020304"/>
              <a:cs typeface="Times New Roman" panose="02020603050405020304"/>
              <a:sym typeface="+mn-ea"/>
            </a:endParaRPr>
          </a:p>
          <a:p>
            <a:pPr marR="5080" algn="just">
              <a:lnSpc>
                <a:spcPct val="90000"/>
              </a:lnSpc>
              <a:spcBef>
                <a:spcPts val="385"/>
              </a:spcBef>
              <a:tabLst>
                <a:tab pos="241300" algn="l"/>
              </a:tabLst>
            </a:pPr>
            <a:r>
              <a:rPr sz="2400" dirty="0">
                <a:solidFill>
                  <a:srgbClr val="3E3E3E"/>
                </a:solidFill>
                <a:latin typeface="Times New Roman" panose="02020603050405020304"/>
                <a:cs typeface="Times New Roman" panose="02020603050405020304"/>
                <a:sym typeface="+mn-ea"/>
              </a:rPr>
              <a:t>Making</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correct</a:t>
            </a:r>
            <a:r>
              <a:rPr sz="2400" spc="-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inferences</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a:t>
            </a:r>
            <a:r>
              <a:rPr sz="2400" spc="-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sometimes </a:t>
            </a:r>
            <a:r>
              <a:rPr sz="2400" dirty="0">
                <a:solidFill>
                  <a:srgbClr val="3E3E3E"/>
                </a:solidFill>
                <a:latin typeface="Times New Roman" panose="02020603050405020304"/>
                <a:cs typeface="Times New Roman" panose="02020603050405020304"/>
                <a:sym typeface="+mn-ea"/>
              </a:rPr>
              <a:t>part</a:t>
            </a:r>
            <a:r>
              <a:rPr sz="2400" spc="-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being</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rational</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agent,</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because</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one</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way</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rationally</a:t>
            </a:r>
            <a:r>
              <a:rPr sz="2400" spc="-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deduce</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that</a:t>
            </a:r>
            <a:r>
              <a:rPr sz="2400" spc="-15" dirty="0">
                <a:solidFill>
                  <a:srgbClr val="3E3E3E"/>
                </a:solidFill>
                <a:latin typeface="Times New Roman" panose="02020603050405020304"/>
                <a:cs typeface="Times New Roman" panose="02020603050405020304"/>
                <a:sym typeface="+mn-ea"/>
              </a:rPr>
              <a:t> </a:t>
            </a:r>
            <a:r>
              <a:rPr sz="2400" spc="-50" dirty="0">
                <a:solidFill>
                  <a:srgbClr val="3E3E3E"/>
                </a:solidFill>
                <a:latin typeface="Times New Roman" panose="02020603050405020304"/>
                <a:cs typeface="Times New Roman" panose="02020603050405020304"/>
                <a:sym typeface="+mn-ea"/>
              </a:rPr>
              <a:t>a </a:t>
            </a:r>
            <a:r>
              <a:rPr sz="2400" dirty="0">
                <a:solidFill>
                  <a:srgbClr val="3E3E3E"/>
                </a:solidFill>
                <a:latin typeface="Times New Roman" panose="02020603050405020304"/>
                <a:cs typeface="Times New Roman" panose="02020603050405020304"/>
                <a:sym typeface="+mn-ea"/>
              </a:rPr>
              <a:t>given</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action</a:t>
            </a:r>
            <a:r>
              <a:rPr sz="2400" spc="-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 best</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and then</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on that</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conclusion.</a:t>
            </a:r>
            <a:r>
              <a:rPr sz="2400" spc="-25" dirty="0">
                <a:solidFill>
                  <a:srgbClr val="3E3E3E"/>
                </a:solidFill>
                <a:latin typeface="Times New Roman" panose="02020603050405020304"/>
                <a:cs typeface="Times New Roman" panose="02020603050405020304"/>
                <a:sym typeface="+mn-ea"/>
              </a:rPr>
              <a:t> </a:t>
            </a:r>
            <a:endParaRPr sz="2400" spc="-25" dirty="0">
              <a:solidFill>
                <a:srgbClr val="3E3E3E"/>
              </a:solidFill>
              <a:latin typeface="Times New Roman" panose="02020603050405020304"/>
              <a:cs typeface="Times New Roman" panose="02020603050405020304"/>
              <a:sym typeface="+mn-ea"/>
            </a:endParaRPr>
          </a:p>
          <a:p>
            <a:pPr marR="5080" algn="just">
              <a:lnSpc>
                <a:spcPct val="90000"/>
              </a:lnSpc>
              <a:spcBef>
                <a:spcPts val="385"/>
              </a:spcBef>
              <a:tabLst>
                <a:tab pos="241300" algn="l"/>
              </a:tabLst>
            </a:pPr>
            <a:r>
              <a:rPr sz="2400" dirty="0">
                <a:solidFill>
                  <a:srgbClr val="3E3E3E"/>
                </a:solidFill>
                <a:latin typeface="Times New Roman" panose="02020603050405020304"/>
                <a:cs typeface="Times New Roman" panose="02020603050405020304"/>
                <a:sym typeface="+mn-ea"/>
              </a:rPr>
              <a:t>On the</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other</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hand,</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there</a:t>
            </a:r>
            <a:r>
              <a:rPr sz="2400" spc="-25" dirty="0">
                <a:solidFill>
                  <a:srgbClr val="3E3E3E"/>
                </a:solidFill>
                <a:latin typeface="Times New Roman" panose="02020603050405020304"/>
                <a:cs typeface="Times New Roman" panose="02020603050405020304"/>
                <a:sym typeface="+mn-ea"/>
              </a:rPr>
              <a:t> are </a:t>
            </a:r>
            <a:r>
              <a:rPr sz="2400" dirty="0">
                <a:solidFill>
                  <a:srgbClr val="3E3E3E"/>
                </a:solidFill>
                <a:latin typeface="Times New Roman" panose="02020603050405020304"/>
                <a:cs typeface="Times New Roman" panose="02020603050405020304"/>
                <a:sym typeface="+mn-ea"/>
              </a:rPr>
              <a:t>ways</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acting</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rationally</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that</a:t>
            </a:r>
            <a:r>
              <a:rPr sz="2400" spc="-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cannot</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said</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involve</a:t>
            </a:r>
            <a:r>
              <a:rPr sz="2400" spc="-30"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inference.</a:t>
            </a:r>
            <a:endParaRPr lang="en-US" sz="2400" spc="-10" dirty="0">
              <a:solidFill>
                <a:srgbClr val="3E3E3E"/>
              </a:solidFill>
              <a:latin typeface="Times New Roman" panose="02020603050405020304"/>
              <a:cs typeface="Times New Roman" panose="02020603050405020304"/>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b="1" dirty="0">
                <a:solidFill>
                  <a:srgbClr val="FF0000"/>
                </a:solidFill>
                <a:latin typeface="Times New Roman" panose="02020603050405020304"/>
                <a:cs typeface="Times New Roman" panose="02020603050405020304"/>
                <a:sym typeface="+mn-ea"/>
              </a:rPr>
              <a:t>The</a:t>
            </a:r>
            <a:r>
              <a:rPr b="1" spc="-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Foundations</a:t>
            </a:r>
            <a:r>
              <a:rPr b="1" spc="-1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of</a:t>
            </a:r>
            <a:r>
              <a:rPr b="1" spc="-14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Artificial</a:t>
            </a:r>
            <a:r>
              <a:rPr b="1" spc="-5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Intelligence</a:t>
            </a:r>
            <a:endParaRPr lang="en-US"/>
          </a:p>
        </p:txBody>
      </p:sp>
      <p:sp>
        <p:nvSpPr>
          <p:cNvPr id="3" name="Content Placeholder 2"/>
          <p:cNvSpPr>
            <a:spLocks noGrp="1"/>
          </p:cNvSpPr>
          <p:nvPr>
            <p:ph idx="1"/>
          </p:nvPr>
        </p:nvSpPr>
        <p:spPr/>
        <p:txBody>
          <a:bodyPr>
            <a:normAutofit fontScale="80000"/>
          </a:bodyPr>
          <a:p>
            <a:pPr marL="0" indent="0" algn="just">
              <a:lnSpc>
                <a:spcPct val="100000"/>
              </a:lnSpc>
              <a:spcBef>
                <a:spcPts val="100"/>
              </a:spcBef>
              <a:buNone/>
              <a:tabLst>
                <a:tab pos="239395" algn="l"/>
              </a:tabLst>
            </a:pPr>
            <a:r>
              <a:rPr lang="en-US" dirty="0">
                <a:solidFill>
                  <a:srgbClr val="3E3E3E"/>
                </a:solidFill>
                <a:latin typeface="Times New Roman" panose="02020603050405020304"/>
                <a:cs typeface="Times New Roman" panose="02020603050405020304"/>
                <a:sym typeface="+mn-ea"/>
              </a:rPr>
              <a:t>I</a:t>
            </a:r>
            <a:r>
              <a:rPr dirty="0">
                <a:solidFill>
                  <a:srgbClr val="3E3E3E"/>
                </a:solidFill>
                <a:latin typeface="Times New Roman" panose="02020603050405020304"/>
                <a:cs typeface="Times New Roman" panose="02020603050405020304"/>
                <a:sym typeface="+mn-ea"/>
              </a:rPr>
              <a:t>n</a:t>
            </a:r>
            <a:r>
              <a:rPr spc="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this</a:t>
            </a:r>
            <a:r>
              <a:rPr spc="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section,</a:t>
            </a:r>
            <a:r>
              <a:rPr spc="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we</a:t>
            </a:r>
            <a:r>
              <a:rPr spc="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provide</a:t>
            </a:r>
            <a:r>
              <a:rPr spc="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brief</a:t>
            </a:r>
            <a:r>
              <a:rPr spc="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history</a:t>
            </a:r>
            <a:r>
              <a:rPr spc="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disciplines</a:t>
            </a:r>
            <a:r>
              <a:rPr spc="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that</a:t>
            </a:r>
            <a:r>
              <a:rPr spc="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contributed</a:t>
            </a:r>
            <a:r>
              <a:rPr spc="8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ideas, </a:t>
            </a:r>
            <a:r>
              <a:rPr dirty="0">
                <a:solidFill>
                  <a:srgbClr val="3E3E3E"/>
                </a:solidFill>
                <a:latin typeface="Times New Roman" panose="02020603050405020304"/>
                <a:cs typeface="Times New Roman" panose="02020603050405020304"/>
                <a:sym typeface="+mn-ea"/>
              </a:rPr>
              <a:t>viewpoints,</a:t>
            </a:r>
            <a:r>
              <a:rPr spc="3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4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techniques</a:t>
            </a:r>
            <a:r>
              <a:rPr spc="4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4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AI.</a:t>
            </a:r>
            <a:r>
              <a:rPr spc="3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Like</a:t>
            </a:r>
            <a:r>
              <a:rPr spc="3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any</a:t>
            </a:r>
            <a:r>
              <a:rPr spc="40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history,</a:t>
            </a:r>
            <a:r>
              <a:rPr spc="3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this</a:t>
            </a:r>
            <a:r>
              <a:rPr spc="40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one</a:t>
            </a:r>
            <a:r>
              <a:rPr spc="4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concentrates</a:t>
            </a:r>
            <a:r>
              <a:rPr spc="40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on</a:t>
            </a:r>
            <a:r>
              <a:rPr spc="405" dirty="0">
                <a:solidFill>
                  <a:srgbClr val="3E3E3E"/>
                </a:solidFill>
                <a:latin typeface="Times New Roman" panose="02020603050405020304"/>
                <a:cs typeface="Times New Roman" panose="02020603050405020304"/>
                <a:sym typeface="+mn-ea"/>
              </a:rPr>
              <a:t> </a:t>
            </a:r>
            <a:r>
              <a:rPr spc="-50" dirty="0">
                <a:solidFill>
                  <a:srgbClr val="3E3E3E"/>
                </a:solidFill>
                <a:latin typeface="Times New Roman" panose="02020603050405020304"/>
                <a:cs typeface="Times New Roman" panose="02020603050405020304"/>
                <a:sym typeface="+mn-ea"/>
              </a:rPr>
              <a:t>a </a:t>
            </a:r>
            <a:r>
              <a:rPr dirty="0">
                <a:solidFill>
                  <a:srgbClr val="3E3E3E"/>
                </a:solidFill>
                <a:latin typeface="Times New Roman" panose="02020603050405020304"/>
                <a:cs typeface="Times New Roman" panose="02020603050405020304"/>
                <a:sym typeface="+mn-ea"/>
              </a:rPr>
              <a:t>small</a:t>
            </a:r>
            <a:r>
              <a:rPr spc="5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number</a:t>
            </a:r>
            <a:r>
              <a:rPr spc="5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5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people,</a:t>
            </a:r>
            <a:r>
              <a:rPr spc="5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events,</a:t>
            </a:r>
            <a:r>
              <a:rPr spc="5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5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ideas</a:t>
            </a:r>
            <a:r>
              <a:rPr spc="5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5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ignores</a:t>
            </a:r>
            <a:r>
              <a:rPr spc="5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others</a:t>
            </a:r>
            <a:r>
              <a:rPr spc="5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that</a:t>
            </a:r>
            <a:r>
              <a:rPr spc="5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also</a:t>
            </a:r>
            <a:r>
              <a:rPr spc="585" dirty="0">
                <a:solidFill>
                  <a:srgbClr val="3E3E3E"/>
                </a:solidFill>
                <a:latin typeface="Times New Roman" panose="02020603050405020304"/>
                <a:cs typeface="Times New Roman" panose="02020603050405020304"/>
                <a:sym typeface="+mn-ea"/>
              </a:rPr>
              <a:t> </a:t>
            </a:r>
            <a:r>
              <a:rPr spc="-20" dirty="0">
                <a:solidFill>
                  <a:srgbClr val="3E3E3E"/>
                </a:solidFill>
                <a:latin typeface="Times New Roman" panose="02020603050405020304"/>
                <a:cs typeface="Times New Roman" panose="02020603050405020304"/>
                <a:sym typeface="+mn-ea"/>
              </a:rPr>
              <a:t>were </a:t>
            </a:r>
            <a:r>
              <a:rPr spc="-10" dirty="0">
                <a:solidFill>
                  <a:srgbClr val="3E3E3E"/>
                </a:solidFill>
                <a:latin typeface="Times New Roman" panose="02020603050405020304"/>
                <a:cs typeface="Times New Roman" panose="02020603050405020304"/>
                <a:sym typeface="+mn-ea"/>
              </a:rPr>
              <a:t>important.</a:t>
            </a:r>
            <a:endParaRPr>
              <a:latin typeface="Times New Roman" panose="02020603050405020304"/>
              <a:cs typeface="Times New Roman" panose="02020603050405020304"/>
            </a:endParaRPr>
          </a:p>
          <a:p>
            <a:pPr marL="0" indent="0">
              <a:lnSpc>
                <a:spcPct val="100000"/>
              </a:lnSpc>
              <a:buNone/>
              <a:tabLst>
                <a:tab pos="316865" algn="l"/>
              </a:tabLst>
            </a:pPr>
            <a:r>
              <a:rPr b="1" spc="-10" dirty="0">
                <a:solidFill>
                  <a:srgbClr val="3E3E3E"/>
                </a:solidFill>
                <a:latin typeface="Times New Roman" panose="02020603050405020304"/>
                <a:cs typeface="Times New Roman" panose="02020603050405020304"/>
                <a:sym typeface="+mn-ea"/>
              </a:rPr>
              <a:t>Philosophy</a:t>
            </a:r>
            <a:endParaRPr>
              <a:latin typeface="Times New Roman" panose="02020603050405020304"/>
              <a:cs typeface="Times New Roman" panose="02020603050405020304"/>
            </a:endParaRPr>
          </a:p>
          <a:p>
            <a:pPr marL="0" indent="0">
              <a:lnSpc>
                <a:spcPct val="100000"/>
              </a:lnSpc>
              <a:spcBef>
                <a:spcPts val="720"/>
              </a:spcBef>
              <a:buNone/>
              <a:tabLst>
                <a:tab pos="239395" algn="l"/>
              </a:tabLst>
            </a:pPr>
            <a:r>
              <a:rPr b="1" dirty="0">
                <a:solidFill>
                  <a:srgbClr val="3E3E3E"/>
                </a:solidFill>
                <a:latin typeface="Times New Roman" panose="02020603050405020304"/>
                <a:cs typeface="Times New Roman" panose="02020603050405020304"/>
                <a:sym typeface="+mn-ea"/>
              </a:rPr>
              <a:t>•</a:t>
            </a:r>
            <a:r>
              <a:rPr b="1"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formal</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rules</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used</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draw</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valid</a:t>
            </a:r>
            <a:r>
              <a:rPr spc="-3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conclusions?</a:t>
            </a:r>
            <a:endParaRPr>
              <a:latin typeface="Times New Roman" panose="02020603050405020304"/>
              <a:cs typeface="Times New Roman" panose="02020603050405020304"/>
            </a:endParaRPr>
          </a:p>
          <a:p>
            <a:pPr marL="0" indent="0">
              <a:lnSpc>
                <a:spcPct val="100000"/>
              </a:lnSpc>
              <a:spcBef>
                <a:spcPts val="710"/>
              </a:spcBef>
              <a:buNone/>
              <a:tabLst>
                <a:tab pos="239395" algn="l"/>
              </a:tabLst>
            </a:pPr>
            <a:r>
              <a:rPr dirty="0">
                <a:solidFill>
                  <a:srgbClr val="3E3E3E"/>
                </a:solidFill>
                <a:latin typeface="Times New Roman" panose="02020603050405020304"/>
                <a:cs typeface="Times New Roman" panose="02020603050405020304"/>
                <a:sym typeface="+mn-ea"/>
              </a:rPr>
              <a:t>•</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How</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does</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mind</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arise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from</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physical</a:t>
            </a:r>
            <a:r>
              <a:rPr spc="-3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brain?</a:t>
            </a:r>
            <a:endParaRPr>
              <a:latin typeface="Times New Roman" panose="02020603050405020304"/>
              <a:cs typeface="Times New Roman" panose="02020603050405020304"/>
            </a:endParaRPr>
          </a:p>
          <a:p>
            <a:pPr marL="0" indent="0">
              <a:lnSpc>
                <a:spcPct val="100000"/>
              </a:lnSpc>
              <a:spcBef>
                <a:spcPts val="710"/>
              </a:spcBef>
              <a:buNone/>
              <a:tabLst>
                <a:tab pos="239395" algn="l"/>
              </a:tabLst>
            </a:pPr>
            <a:r>
              <a:rPr dirty="0">
                <a:solidFill>
                  <a:srgbClr val="3E3E3E"/>
                </a:solidFill>
                <a:latin typeface="Times New Roman" panose="02020603050405020304"/>
                <a:cs typeface="Times New Roman" panose="02020603050405020304"/>
                <a:sym typeface="+mn-ea"/>
              </a:rPr>
              <a:t>•</a:t>
            </a:r>
            <a:r>
              <a:rPr spc="-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Where</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does</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knowledge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come </a:t>
            </a:r>
            <a:r>
              <a:rPr spc="-10" dirty="0">
                <a:solidFill>
                  <a:srgbClr val="3E3E3E"/>
                </a:solidFill>
                <a:latin typeface="Times New Roman" panose="02020603050405020304"/>
                <a:cs typeface="Times New Roman" panose="02020603050405020304"/>
                <a:sym typeface="+mn-ea"/>
              </a:rPr>
              <a:t>from?</a:t>
            </a:r>
            <a:endParaRPr>
              <a:latin typeface="Times New Roman" panose="02020603050405020304"/>
              <a:cs typeface="Times New Roman" panose="02020603050405020304"/>
            </a:endParaRPr>
          </a:p>
          <a:p>
            <a:pPr marL="0" indent="0">
              <a:lnSpc>
                <a:spcPct val="100000"/>
              </a:lnSpc>
              <a:spcBef>
                <a:spcPts val="660"/>
              </a:spcBef>
              <a:buNone/>
              <a:tabLst>
                <a:tab pos="239395" algn="l"/>
              </a:tabLst>
            </a:pPr>
            <a:r>
              <a:rPr dirty="0">
                <a:solidFill>
                  <a:srgbClr val="3E3E3E"/>
                </a:solidFill>
                <a:latin typeface="Times New Roman" panose="02020603050405020304"/>
                <a:cs typeface="Times New Roman" panose="02020603050405020304"/>
                <a:sym typeface="+mn-ea"/>
              </a:rPr>
              <a:t>•</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How</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does</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knowledge</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lead</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action?</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381000" y="838200"/>
            <a:ext cx="8229600" cy="4525963"/>
          </a:xfrm>
        </p:spPr>
        <p:txBody>
          <a:bodyPr/>
          <a:p>
            <a:pPr marL="0" indent="0">
              <a:lnSpc>
                <a:spcPct val="100000"/>
              </a:lnSpc>
              <a:spcBef>
                <a:spcPts val="810"/>
              </a:spcBef>
              <a:buNone/>
              <a:tabLst>
                <a:tab pos="239395" algn="l"/>
              </a:tabLst>
            </a:pPr>
            <a:r>
              <a:rPr sz="2000" spc="-25"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Mathematics</a:t>
            </a:r>
            <a:endParaRPr sz="2000">
              <a:latin typeface="Times New Roman" panose="02020603050405020304"/>
              <a:cs typeface="Times New Roman" panose="02020603050405020304"/>
            </a:endParaRPr>
          </a:p>
          <a:p>
            <a:pPr marL="0" indent="0">
              <a:lnSpc>
                <a:spcPct val="100000"/>
              </a:lnSpc>
              <a:spcBef>
                <a:spcPts val="715"/>
              </a:spcBef>
              <a:buNone/>
              <a:tabLst>
                <a:tab pos="317500" algn="l"/>
              </a:tabLst>
            </a:pPr>
            <a:r>
              <a:rPr sz="2000" dirty="0">
                <a:solidFill>
                  <a:srgbClr val="3E3E3E"/>
                </a:solidFill>
                <a:latin typeface="Times New Roman" panose="02020603050405020304"/>
                <a:cs typeface="Times New Roman" panose="02020603050405020304"/>
                <a:sym typeface="+mn-ea"/>
              </a:rPr>
              <a:t>•</a:t>
            </a:r>
            <a:r>
              <a:rPr sz="2000" spc="-6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What</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are</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formal rules</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to</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draw</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valid</a:t>
            </a:r>
            <a:r>
              <a:rPr sz="2000" spc="-30"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conclusions?</a:t>
            </a:r>
            <a:endParaRPr sz="2000">
              <a:latin typeface="Times New Roman" panose="02020603050405020304"/>
              <a:cs typeface="Times New Roman" panose="02020603050405020304"/>
            </a:endParaRPr>
          </a:p>
          <a:p>
            <a:pPr marL="0" indent="0">
              <a:lnSpc>
                <a:spcPct val="100000"/>
              </a:lnSpc>
              <a:spcBef>
                <a:spcPts val="720"/>
              </a:spcBef>
              <a:buNone/>
              <a:tabLst>
                <a:tab pos="240665" algn="l"/>
              </a:tabLst>
            </a:pPr>
            <a:r>
              <a:rPr sz="2000" dirty="0">
                <a:solidFill>
                  <a:srgbClr val="3E3E3E"/>
                </a:solidFill>
                <a:latin typeface="Times New Roman" panose="02020603050405020304"/>
                <a:cs typeface="Times New Roman" panose="02020603050405020304"/>
                <a:sym typeface="+mn-ea"/>
              </a:rPr>
              <a:t>•</a:t>
            </a:r>
            <a:r>
              <a:rPr sz="2000" spc="-6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What can</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be</a:t>
            </a:r>
            <a:r>
              <a:rPr sz="2000" spc="-15"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computed?</a:t>
            </a:r>
            <a:endParaRPr sz="2000">
              <a:latin typeface="Times New Roman" panose="02020603050405020304"/>
              <a:cs typeface="Times New Roman" panose="02020603050405020304"/>
            </a:endParaRPr>
          </a:p>
          <a:p>
            <a:pPr marL="0" indent="0">
              <a:lnSpc>
                <a:spcPct val="100000"/>
              </a:lnSpc>
              <a:spcBef>
                <a:spcPts val="705"/>
              </a:spcBef>
              <a:buNone/>
              <a:tabLst>
                <a:tab pos="240665" algn="l"/>
              </a:tabLst>
            </a:pPr>
            <a:r>
              <a:rPr sz="2000" dirty="0">
                <a:solidFill>
                  <a:srgbClr val="3E3E3E"/>
                </a:solidFill>
                <a:latin typeface="Times New Roman" panose="02020603050405020304"/>
                <a:cs typeface="Times New Roman" panose="02020603050405020304"/>
                <a:sym typeface="+mn-ea"/>
              </a:rPr>
              <a:t>•</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How</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do</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we</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reason</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with</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uncertain</a:t>
            </a:r>
            <a:r>
              <a:rPr sz="2000" spc="-45"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information?</a:t>
            </a:r>
            <a:endParaRPr sz="2000">
              <a:latin typeface="Times New Roman" panose="02020603050405020304"/>
              <a:cs typeface="Times New Roman" panose="02020603050405020304"/>
            </a:endParaRPr>
          </a:p>
          <a:p>
            <a:pPr marL="0" marR="5080" indent="0">
              <a:lnSpc>
                <a:spcPts val="2590"/>
              </a:lnSpc>
              <a:spcBef>
                <a:spcPts val="1040"/>
              </a:spcBef>
              <a:buNone/>
              <a:tabLst>
                <a:tab pos="241300" algn="l"/>
              </a:tabLst>
            </a:pPr>
            <a:r>
              <a:rPr sz="2000" dirty="0">
                <a:solidFill>
                  <a:srgbClr val="3E3E3E"/>
                </a:solidFill>
                <a:latin typeface="Times New Roman" panose="02020603050405020304"/>
                <a:cs typeface="Times New Roman" panose="02020603050405020304"/>
                <a:sym typeface="+mn-ea"/>
              </a:rPr>
              <a:t>Philosophers</a:t>
            </a:r>
            <a:r>
              <a:rPr sz="2000" spc="3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staked</a:t>
            </a:r>
            <a:r>
              <a:rPr sz="2000" spc="3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out</a:t>
            </a:r>
            <a:r>
              <a:rPr sz="2000" spc="30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some</a:t>
            </a:r>
            <a:r>
              <a:rPr sz="2000" spc="3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30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3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fundamental</a:t>
            </a:r>
            <a:r>
              <a:rPr sz="2000" spc="3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ideas</a:t>
            </a:r>
            <a:r>
              <a:rPr sz="2000" spc="3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30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AI,</a:t>
            </a:r>
            <a:r>
              <a:rPr sz="2000" spc="3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but</a:t>
            </a:r>
            <a:r>
              <a:rPr sz="2000" spc="30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30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leap</a:t>
            </a:r>
            <a:r>
              <a:rPr sz="2000" spc="30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to</a:t>
            </a:r>
            <a:r>
              <a:rPr sz="2000" spc="300" dirty="0">
                <a:solidFill>
                  <a:srgbClr val="3E3E3E"/>
                </a:solidFill>
                <a:latin typeface="Times New Roman" panose="02020603050405020304"/>
                <a:cs typeface="Times New Roman" panose="02020603050405020304"/>
                <a:sym typeface="+mn-ea"/>
              </a:rPr>
              <a:t> </a:t>
            </a:r>
            <a:r>
              <a:rPr sz="2000" spc="-50" dirty="0">
                <a:solidFill>
                  <a:srgbClr val="3E3E3E"/>
                </a:solidFill>
                <a:latin typeface="Times New Roman" panose="02020603050405020304"/>
                <a:cs typeface="Times New Roman" panose="02020603050405020304"/>
                <a:sym typeface="+mn-ea"/>
              </a:rPr>
              <a:t>a </a:t>
            </a:r>
            <a:r>
              <a:rPr lang="en-US" sz="2000" spc="-5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formal</a:t>
            </a:r>
            <a:r>
              <a:rPr sz="2000" spc="59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science</a:t>
            </a:r>
            <a:r>
              <a:rPr sz="2000" spc="59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required</a:t>
            </a:r>
            <a:r>
              <a:rPr sz="2000" spc="59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58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mathematization</a:t>
            </a:r>
            <a:r>
              <a:rPr sz="2000" spc="58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58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logic</a:t>
            </a:r>
            <a:r>
              <a:rPr sz="2000" spc="58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and</a:t>
            </a:r>
            <a:r>
              <a:rPr sz="2000" spc="59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probability  and</a:t>
            </a:r>
            <a:r>
              <a:rPr sz="2000" spc="580" dirty="0">
                <a:solidFill>
                  <a:srgbClr val="3E3E3E"/>
                </a:solidFill>
                <a:latin typeface="Times New Roman" panose="02020603050405020304"/>
                <a:cs typeface="Times New Roman" panose="02020603050405020304"/>
                <a:sym typeface="+mn-ea"/>
              </a:rPr>
              <a:t> </a:t>
            </a:r>
            <a:r>
              <a:rPr sz="2000" spc="-25" dirty="0">
                <a:solidFill>
                  <a:srgbClr val="3E3E3E"/>
                </a:solidFill>
                <a:latin typeface="Times New Roman" panose="02020603050405020304"/>
                <a:cs typeface="Times New Roman" panose="02020603050405020304"/>
                <a:sym typeface="+mn-ea"/>
              </a:rPr>
              <a:t>the </a:t>
            </a:r>
            <a:r>
              <a:rPr sz="2000" dirty="0">
                <a:solidFill>
                  <a:srgbClr val="3E3E3E"/>
                </a:solidFill>
                <a:latin typeface="Times New Roman" panose="02020603050405020304"/>
                <a:cs typeface="Times New Roman" panose="02020603050405020304"/>
                <a:sym typeface="+mn-ea"/>
              </a:rPr>
              <a:t>introduction</a:t>
            </a:r>
            <a:r>
              <a:rPr sz="2000" spc="-5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new</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branch</a:t>
            </a:r>
            <a:r>
              <a:rPr sz="2000" spc="-3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mathematics:</a:t>
            </a:r>
            <a:r>
              <a:rPr sz="2000" spc="-35"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computation.</a:t>
            </a:r>
            <a:endParaRPr sz="2000">
              <a:latin typeface="Times New Roman" panose="02020603050405020304"/>
              <a:cs typeface="Times New Roman" panose="02020603050405020304"/>
            </a:endParaRPr>
          </a:p>
          <a:p>
            <a:pPr marL="0" indent="0">
              <a:lnSpc>
                <a:spcPct val="100000"/>
              </a:lnSpc>
              <a:spcBef>
                <a:spcPts val="1515"/>
              </a:spcBef>
              <a:buNone/>
            </a:pPr>
            <a:r>
              <a:rPr sz="2000" spc="-10" dirty="0">
                <a:solidFill>
                  <a:srgbClr val="3E3E3E"/>
                </a:solidFill>
                <a:latin typeface="Times New Roman" panose="02020603050405020304"/>
                <a:cs typeface="Times New Roman" panose="02020603050405020304"/>
                <a:sym typeface="+mn-ea"/>
              </a:rPr>
              <a:t>Economics</a:t>
            </a:r>
            <a:endParaRPr sz="2000">
              <a:latin typeface="Times New Roman" panose="02020603050405020304"/>
              <a:cs typeface="Times New Roman" panose="02020603050405020304"/>
            </a:endParaRPr>
          </a:p>
          <a:p>
            <a:pPr marL="0" indent="0">
              <a:lnSpc>
                <a:spcPct val="100000"/>
              </a:lnSpc>
              <a:spcBef>
                <a:spcPts val="710"/>
              </a:spcBef>
              <a:buNone/>
              <a:tabLst>
                <a:tab pos="240665" algn="l"/>
              </a:tabLst>
            </a:pPr>
            <a:r>
              <a:rPr sz="2000" dirty="0">
                <a:solidFill>
                  <a:srgbClr val="3E3E3E"/>
                </a:solidFill>
                <a:latin typeface="Times New Roman" panose="02020603050405020304"/>
                <a:cs typeface="Times New Roman" panose="02020603050405020304"/>
                <a:sym typeface="+mn-ea"/>
              </a:rPr>
              <a:t>•</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How</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should</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we</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make</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decisions</a:t>
            </a:r>
            <a:r>
              <a:rPr sz="2000" spc="-3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in</a:t>
            </a:r>
            <a:r>
              <a:rPr sz="2000" spc="-3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accordance</a:t>
            </a:r>
            <a:r>
              <a:rPr sz="2000" spc="-4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with</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our</a:t>
            </a:r>
            <a:r>
              <a:rPr sz="2000" spc="-20"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preferences?</a:t>
            </a:r>
            <a:endParaRPr sz="2000">
              <a:latin typeface="Times New Roman" panose="02020603050405020304"/>
              <a:cs typeface="Times New Roman" panose="02020603050405020304"/>
            </a:endParaRPr>
          </a:p>
          <a:p>
            <a:pPr marL="0" indent="0">
              <a:lnSpc>
                <a:spcPct val="100000"/>
              </a:lnSpc>
              <a:spcBef>
                <a:spcPts val="720"/>
              </a:spcBef>
              <a:buNone/>
              <a:tabLst>
                <a:tab pos="240665" algn="l"/>
              </a:tabLst>
            </a:pPr>
            <a:r>
              <a:rPr sz="2000" dirty="0">
                <a:solidFill>
                  <a:srgbClr val="3E3E3E"/>
                </a:solidFill>
                <a:latin typeface="Times New Roman" panose="02020603050405020304"/>
                <a:cs typeface="Times New Roman" panose="02020603050405020304"/>
                <a:sym typeface="+mn-ea"/>
              </a:rPr>
              <a:t>•</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How</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should</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we</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do</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this</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when</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others</a:t>
            </a:r>
            <a:r>
              <a:rPr sz="2000" spc="-3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may</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not</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go</a:t>
            </a:r>
            <a:r>
              <a:rPr sz="2000" spc="-15"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along?</a:t>
            </a:r>
            <a:endParaRPr sz="2000">
              <a:latin typeface="Times New Roman" panose="02020603050405020304"/>
              <a:cs typeface="Times New Roman" panose="02020603050405020304"/>
            </a:endParaRPr>
          </a:p>
          <a:p>
            <a:pPr marL="0" indent="0">
              <a:lnSpc>
                <a:spcPct val="100000"/>
              </a:lnSpc>
              <a:spcBef>
                <a:spcPts val="645"/>
              </a:spcBef>
              <a:buNone/>
              <a:tabLst>
                <a:tab pos="239395" algn="l"/>
              </a:tabLst>
            </a:pPr>
            <a:r>
              <a:rPr sz="2000" dirty="0">
                <a:solidFill>
                  <a:srgbClr val="3E3E3E"/>
                </a:solidFill>
                <a:latin typeface="Times New Roman" panose="02020603050405020304"/>
                <a:cs typeface="Times New Roman" panose="02020603050405020304"/>
                <a:sym typeface="+mn-ea"/>
              </a:rPr>
              <a:t>•</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How</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should</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we</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do</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this</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when</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payoff</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may</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be</a:t>
            </a:r>
            <a:r>
              <a:rPr sz="2000" spc="-3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far</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in</a:t>
            </a:r>
            <a:r>
              <a:rPr sz="2000" spc="-3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20"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future?</a:t>
            </a:r>
            <a:endParaRPr sz="2000">
              <a:latin typeface="Times New Roman" panose="02020603050405020304"/>
              <a:cs typeface="Times New Roman" panose="02020603050405020304"/>
            </a:endParaRPr>
          </a:p>
          <a:p>
            <a:endParaRPr lang="en-US" sz="2000">
              <a:latin typeface="Times New Roman" panose="02020603050405020304"/>
              <a:cs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533400" y="990600"/>
            <a:ext cx="8229600" cy="4525963"/>
          </a:xfrm>
        </p:spPr>
        <p:txBody>
          <a:bodyPr>
            <a:noAutofit/>
          </a:bodyPr>
          <a:p>
            <a:pPr marL="0" indent="0">
              <a:lnSpc>
                <a:spcPct val="100000"/>
              </a:lnSpc>
              <a:spcBef>
                <a:spcPts val="805"/>
              </a:spcBef>
              <a:buNone/>
              <a:tabLst>
                <a:tab pos="239395" algn="l"/>
              </a:tabLst>
            </a:pPr>
            <a:r>
              <a:rPr sz="2400" b="1" spc="-10" dirty="0">
                <a:solidFill>
                  <a:srgbClr val="3E3E3E"/>
                </a:solidFill>
                <a:latin typeface="Times New Roman" panose="02020603050405020304"/>
                <a:cs typeface="Times New Roman" panose="02020603050405020304"/>
                <a:sym typeface="+mn-ea"/>
              </a:rPr>
              <a:t>Neuroscience</a:t>
            </a:r>
            <a:endParaRPr sz="2400">
              <a:latin typeface="Times New Roman" panose="02020603050405020304"/>
              <a:cs typeface="Times New Roman" panose="02020603050405020304"/>
            </a:endParaRPr>
          </a:p>
          <a:p>
            <a:pPr>
              <a:lnSpc>
                <a:spcPct val="100000"/>
              </a:lnSpc>
              <a:spcBef>
                <a:spcPts val="710"/>
              </a:spcBef>
              <a:tabLst>
                <a:tab pos="239395" algn="l"/>
              </a:tabLst>
            </a:pPr>
            <a:r>
              <a:rPr sz="2400" dirty="0">
                <a:solidFill>
                  <a:srgbClr val="3E3E3E"/>
                </a:solidFill>
                <a:latin typeface="Times New Roman" panose="02020603050405020304"/>
                <a:cs typeface="Times New Roman" panose="02020603050405020304"/>
                <a:sym typeface="+mn-ea"/>
              </a:rPr>
              <a:t>How</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do</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brains</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process</a:t>
            </a:r>
            <a:r>
              <a:rPr sz="2400" spc="-20"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information?</a:t>
            </a:r>
            <a:endParaRPr sz="2400">
              <a:latin typeface="Times New Roman" panose="02020603050405020304"/>
              <a:cs typeface="Times New Roman" panose="02020603050405020304"/>
            </a:endParaRPr>
          </a:p>
          <a:p>
            <a:pPr marR="5080" algn="just">
              <a:lnSpc>
                <a:spcPct val="90000"/>
              </a:lnSpc>
              <a:spcBef>
                <a:spcPts val="1010"/>
              </a:spcBef>
              <a:tabLst>
                <a:tab pos="241300" algn="l"/>
              </a:tabLst>
            </a:pPr>
            <a:r>
              <a:rPr sz="2400" dirty="0">
                <a:solidFill>
                  <a:srgbClr val="3E3E3E"/>
                </a:solidFill>
                <a:latin typeface="Times New Roman" panose="02020603050405020304"/>
                <a:cs typeface="Times New Roman" panose="02020603050405020304"/>
                <a:sym typeface="+mn-ea"/>
              </a:rPr>
              <a:t>Neuroscience</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a:t>
            </a:r>
            <a:r>
              <a:rPr sz="2400" spc="13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5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study</a:t>
            </a:r>
            <a:r>
              <a:rPr sz="2400" spc="1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5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nervous</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system,</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particularly</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6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brain.</a:t>
            </a:r>
            <a:r>
              <a:rPr sz="2400" spc="13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Although 	</a:t>
            </a:r>
            <a:r>
              <a:rPr sz="2400" dirty="0">
                <a:solidFill>
                  <a:srgbClr val="3E3E3E"/>
                </a:solidFill>
                <a:latin typeface="Times New Roman" panose="02020603050405020304"/>
                <a:cs typeface="Times New Roman" panose="02020603050405020304"/>
                <a:sym typeface="+mn-ea"/>
              </a:rPr>
              <a:t>the</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exact</a:t>
            </a:r>
            <a:r>
              <a:rPr sz="2400" spc="16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way</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in</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which</a:t>
            </a:r>
            <a:r>
              <a:rPr sz="2400" spc="1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6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brain</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enables</a:t>
            </a:r>
            <a:r>
              <a:rPr sz="2400" spc="15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thought</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is</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one</a:t>
            </a:r>
            <a:r>
              <a:rPr sz="2400" spc="15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15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great</a:t>
            </a:r>
            <a:r>
              <a:rPr sz="2400" spc="1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mysteries</a:t>
            </a:r>
            <a:r>
              <a:rPr sz="2400" spc="155" dirty="0">
                <a:solidFill>
                  <a:srgbClr val="3E3E3E"/>
                </a:solidFill>
                <a:latin typeface="Times New Roman" panose="02020603050405020304"/>
                <a:cs typeface="Times New Roman" panose="02020603050405020304"/>
                <a:sym typeface="+mn-ea"/>
              </a:rPr>
              <a:t> </a:t>
            </a:r>
            <a:r>
              <a:rPr sz="2400" spc="-25" dirty="0">
                <a:solidFill>
                  <a:srgbClr val="3E3E3E"/>
                </a:solidFill>
                <a:latin typeface="Times New Roman" panose="02020603050405020304"/>
                <a:cs typeface="Times New Roman" panose="02020603050405020304"/>
                <a:sym typeface="+mn-ea"/>
              </a:rPr>
              <a:t>of </a:t>
            </a:r>
            <a:r>
              <a:rPr sz="2400" dirty="0">
                <a:solidFill>
                  <a:srgbClr val="3E3E3E"/>
                </a:solidFill>
                <a:latin typeface="Times New Roman" panose="02020603050405020304"/>
                <a:cs typeface="Times New Roman" panose="02020603050405020304"/>
                <a:sym typeface="+mn-ea"/>
              </a:rPr>
              <a:t>science,</a:t>
            </a:r>
            <a:r>
              <a:rPr sz="2400" spc="10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fact</a:t>
            </a:r>
            <a:r>
              <a:rPr sz="2400" spc="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that</a:t>
            </a:r>
            <a:r>
              <a:rPr sz="2400" spc="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it</a:t>
            </a:r>
            <a:r>
              <a:rPr sz="2400" spc="10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does</a:t>
            </a:r>
            <a:r>
              <a:rPr sz="2400" spc="10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enable</a:t>
            </a:r>
            <a:r>
              <a:rPr sz="2400" spc="8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thought</a:t>
            </a:r>
            <a:r>
              <a:rPr sz="2400" spc="10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has</a:t>
            </a:r>
            <a:r>
              <a:rPr sz="2400" spc="9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been</a:t>
            </a:r>
            <a:r>
              <a:rPr sz="2400" spc="8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appreciated</a:t>
            </a:r>
            <a:r>
              <a:rPr sz="2400" spc="10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for</a:t>
            </a:r>
            <a:r>
              <a:rPr sz="2400" spc="10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thousands</a:t>
            </a:r>
            <a:r>
              <a:rPr sz="2400" spc="105" dirty="0">
                <a:solidFill>
                  <a:srgbClr val="3E3E3E"/>
                </a:solidFill>
                <a:latin typeface="Times New Roman" panose="02020603050405020304"/>
                <a:cs typeface="Times New Roman" panose="02020603050405020304"/>
                <a:sym typeface="+mn-ea"/>
              </a:rPr>
              <a:t> </a:t>
            </a:r>
            <a:r>
              <a:rPr sz="2400" spc="-25" dirty="0">
                <a:solidFill>
                  <a:srgbClr val="3E3E3E"/>
                </a:solidFill>
                <a:latin typeface="Times New Roman" panose="02020603050405020304"/>
                <a:cs typeface="Times New Roman" panose="02020603050405020304"/>
                <a:sym typeface="+mn-ea"/>
              </a:rPr>
              <a:t>of </a:t>
            </a:r>
            <a:r>
              <a:rPr sz="2400" dirty="0">
                <a:solidFill>
                  <a:srgbClr val="3E3E3E"/>
                </a:solidFill>
                <a:latin typeface="Times New Roman" panose="02020603050405020304"/>
                <a:cs typeface="Times New Roman" panose="02020603050405020304"/>
                <a:sym typeface="+mn-ea"/>
              </a:rPr>
              <a:t>years</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because</a:t>
            </a:r>
            <a:r>
              <a:rPr sz="2400" spc="3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of</a:t>
            </a:r>
            <a:r>
              <a:rPr sz="2400" spc="3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evidence</a:t>
            </a:r>
            <a:r>
              <a:rPr sz="2400" spc="3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that</a:t>
            </a:r>
            <a:r>
              <a:rPr sz="2400" spc="3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strong</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blows</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the</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head</a:t>
            </a:r>
            <a:r>
              <a:rPr sz="2400" spc="3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can</a:t>
            </a:r>
            <a:r>
              <a:rPr sz="2400" spc="32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lead</a:t>
            </a:r>
            <a:r>
              <a:rPr sz="2400" spc="31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to</a:t>
            </a:r>
            <a:r>
              <a:rPr sz="2400" spc="32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mental incapacitation.</a:t>
            </a:r>
            <a:endParaRPr sz="2400">
              <a:latin typeface="Times New Roman" panose="02020603050405020304"/>
              <a:cs typeface="Times New Roman" panose="02020603050405020304"/>
            </a:endParaRPr>
          </a:p>
          <a:p>
            <a:pPr marL="0" indent="0">
              <a:lnSpc>
                <a:spcPct val="100000"/>
              </a:lnSpc>
              <a:buNone/>
              <a:tabLst>
                <a:tab pos="239395" algn="l"/>
              </a:tabLst>
            </a:pPr>
            <a:r>
              <a:rPr sz="2400" b="1" dirty="0">
                <a:solidFill>
                  <a:srgbClr val="3E3E3E"/>
                </a:solidFill>
                <a:latin typeface="Times New Roman" panose="02020603050405020304"/>
                <a:cs typeface="Times New Roman" panose="02020603050405020304"/>
                <a:sym typeface="+mn-ea"/>
              </a:rPr>
              <a:t> </a:t>
            </a:r>
            <a:r>
              <a:rPr sz="2400" b="1" spc="-10" dirty="0">
                <a:solidFill>
                  <a:srgbClr val="3E3E3E"/>
                </a:solidFill>
                <a:latin typeface="Times New Roman" panose="02020603050405020304"/>
                <a:cs typeface="Times New Roman" panose="02020603050405020304"/>
                <a:sym typeface="+mn-ea"/>
              </a:rPr>
              <a:t>Psychology</a:t>
            </a:r>
            <a:endParaRPr sz="2400">
              <a:latin typeface="Times New Roman" panose="02020603050405020304"/>
              <a:cs typeface="Times New Roman" panose="02020603050405020304"/>
            </a:endParaRPr>
          </a:p>
          <a:p>
            <a:pPr>
              <a:lnSpc>
                <a:spcPct val="100000"/>
              </a:lnSpc>
              <a:spcBef>
                <a:spcPts val="720"/>
              </a:spcBef>
              <a:tabLst>
                <a:tab pos="239395" algn="l"/>
              </a:tabLst>
            </a:pPr>
            <a:r>
              <a:rPr sz="2400" dirty="0">
                <a:solidFill>
                  <a:srgbClr val="3E3E3E"/>
                </a:solidFill>
                <a:latin typeface="Times New Roman" panose="02020603050405020304"/>
                <a:cs typeface="Times New Roman" panose="02020603050405020304"/>
                <a:sym typeface="+mn-ea"/>
              </a:rPr>
              <a:t>How</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do</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humans</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and</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animals</a:t>
            </a:r>
            <a:r>
              <a:rPr sz="2400" spc="-1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think</a:t>
            </a:r>
            <a:r>
              <a:rPr sz="2400" spc="-4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and</a:t>
            </a:r>
            <a:r>
              <a:rPr sz="2400" spc="-10" dirty="0">
                <a:solidFill>
                  <a:srgbClr val="3E3E3E"/>
                </a:solidFill>
                <a:latin typeface="Times New Roman" panose="02020603050405020304"/>
                <a:cs typeface="Times New Roman" panose="02020603050405020304"/>
                <a:sym typeface="+mn-ea"/>
              </a:rPr>
              <a:t> </a:t>
            </a:r>
            <a:r>
              <a:rPr sz="2400" spc="-20" dirty="0">
                <a:solidFill>
                  <a:srgbClr val="3E3E3E"/>
                </a:solidFill>
                <a:latin typeface="Times New Roman" panose="02020603050405020304"/>
                <a:cs typeface="Times New Roman" panose="02020603050405020304"/>
                <a:sym typeface="+mn-ea"/>
              </a:rPr>
              <a:t>act?</a:t>
            </a:r>
            <a:endParaRPr sz="2400">
              <a:latin typeface="Times New Roman" panose="02020603050405020304"/>
              <a:cs typeface="Times New Roman" panose="02020603050405020304"/>
            </a:endParaRPr>
          </a:p>
          <a:p>
            <a:pPr marL="0" indent="0">
              <a:lnSpc>
                <a:spcPct val="100000"/>
              </a:lnSpc>
              <a:buNone/>
              <a:tabLst>
                <a:tab pos="239395" algn="l"/>
              </a:tabLst>
            </a:pPr>
            <a:r>
              <a:rPr sz="2400" b="1" spc="-40" dirty="0">
                <a:solidFill>
                  <a:srgbClr val="3E3E3E"/>
                </a:solidFill>
                <a:latin typeface="Times New Roman" panose="02020603050405020304"/>
                <a:cs typeface="Times New Roman" panose="02020603050405020304"/>
                <a:sym typeface="+mn-ea"/>
              </a:rPr>
              <a:t> </a:t>
            </a:r>
            <a:r>
              <a:rPr sz="2400" b="1" dirty="0">
                <a:solidFill>
                  <a:srgbClr val="3E3E3E"/>
                </a:solidFill>
                <a:latin typeface="Times New Roman" panose="02020603050405020304"/>
                <a:cs typeface="Times New Roman" panose="02020603050405020304"/>
                <a:sym typeface="+mn-ea"/>
              </a:rPr>
              <a:t>Computer</a:t>
            </a:r>
            <a:r>
              <a:rPr sz="2400" b="1" spc="-60" dirty="0">
                <a:solidFill>
                  <a:srgbClr val="3E3E3E"/>
                </a:solidFill>
                <a:latin typeface="Times New Roman" panose="02020603050405020304"/>
                <a:cs typeface="Times New Roman" panose="02020603050405020304"/>
                <a:sym typeface="+mn-ea"/>
              </a:rPr>
              <a:t> </a:t>
            </a:r>
            <a:r>
              <a:rPr sz="2400" b="1" spc="-10" dirty="0">
                <a:solidFill>
                  <a:srgbClr val="3E3E3E"/>
                </a:solidFill>
                <a:latin typeface="Times New Roman" panose="02020603050405020304"/>
                <a:cs typeface="Times New Roman" panose="02020603050405020304"/>
                <a:sym typeface="+mn-ea"/>
              </a:rPr>
              <a:t>engineering</a:t>
            </a:r>
            <a:endParaRPr sz="2400">
              <a:latin typeface="Times New Roman" panose="02020603050405020304"/>
              <a:cs typeface="Times New Roman" panose="02020603050405020304"/>
            </a:endParaRPr>
          </a:p>
          <a:p>
            <a:pPr>
              <a:lnSpc>
                <a:spcPct val="100000"/>
              </a:lnSpc>
              <a:spcBef>
                <a:spcPts val="725"/>
              </a:spcBef>
              <a:tabLst>
                <a:tab pos="239395" algn="l"/>
              </a:tabLst>
            </a:pPr>
            <a:r>
              <a:rPr sz="2400" dirty="0">
                <a:solidFill>
                  <a:srgbClr val="3E3E3E"/>
                </a:solidFill>
                <a:latin typeface="Times New Roman" panose="02020603050405020304"/>
                <a:cs typeface="Times New Roman" panose="02020603050405020304"/>
                <a:sym typeface="+mn-ea"/>
              </a:rPr>
              <a:t>How</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can</a:t>
            </a:r>
            <a:r>
              <a:rPr sz="2400" spc="-3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we</a:t>
            </a:r>
            <a:r>
              <a:rPr sz="2400" spc="-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build</a:t>
            </a:r>
            <a:r>
              <a:rPr sz="2400" spc="-45"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an</a:t>
            </a:r>
            <a:r>
              <a:rPr sz="2400" spc="-20" dirty="0">
                <a:solidFill>
                  <a:srgbClr val="3E3E3E"/>
                </a:solidFill>
                <a:latin typeface="Times New Roman" panose="02020603050405020304"/>
                <a:cs typeface="Times New Roman" panose="02020603050405020304"/>
                <a:sym typeface="+mn-ea"/>
              </a:rPr>
              <a:t> </a:t>
            </a:r>
            <a:r>
              <a:rPr sz="2400" dirty="0">
                <a:solidFill>
                  <a:srgbClr val="3E3E3E"/>
                </a:solidFill>
                <a:latin typeface="Times New Roman" panose="02020603050405020304"/>
                <a:cs typeface="Times New Roman" panose="02020603050405020304"/>
                <a:sym typeface="+mn-ea"/>
              </a:rPr>
              <a:t>efficient</a:t>
            </a:r>
            <a:r>
              <a:rPr sz="2400" spc="-25" dirty="0">
                <a:solidFill>
                  <a:srgbClr val="3E3E3E"/>
                </a:solidFill>
                <a:latin typeface="Times New Roman" panose="02020603050405020304"/>
                <a:cs typeface="Times New Roman" panose="02020603050405020304"/>
                <a:sym typeface="+mn-ea"/>
              </a:rPr>
              <a:t> </a:t>
            </a:r>
            <a:r>
              <a:rPr sz="2400" spc="-10" dirty="0">
                <a:solidFill>
                  <a:srgbClr val="3E3E3E"/>
                </a:solidFill>
                <a:latin typeface="Times New Roman" panose="02020603050405020304"/>
                <a:cs typeface="Times New Roman" panose="02020603050405020304"/>
                <a:sym typeface="+mn-ea"/>
              </a:rPr>
              <a:t>computer?</a:t>
            </a:r>
            <a:endParaRPr sz="2400">
              <a:latin typeface="Times New Roman" panose="02020603050405020304"/>
              <a:cs typeface="Times New Roman" panose="02020603050405020304"/>
            </a:endParaRPr>
          </a:p>
          <a:p>
            <a:endParaRPr lang="en-US" sz="2400">
              <a:latin typeface="Times New Roman" panose="02020603050405020304"/>
              <a:cs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AI</a:t>
            </a:r>
            <a:r>
              <a:rPr b="1" spc="-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Applications</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p>
            <a:pPr>
              <a:lnSpc>
                <a:spcPct val="50000"/>
              </a:lnSpc>
              <a:spcBef>
                <a:spcPct val="0"/>
              </a:spcBef>
              <a:spcAft>
                <a:spcPts val="0"/>
              </a:spcAft>
              <a:tabLst>
                <a:tab pos="259715" algn="l"/>
              </a:tabLst>
            </a:pPr>
            <a:r>
              <a:rPr dirty="0">
                <a:solidFill>
                  <a:srgbClr val="3E3E3E"/>
                </a:solidFill>
                <a:latin typeface="Times New Roman" panose="02020603050405020304" pitchFamily="18" charset="0"/>
                <a:cs typeface="Times New Roman" panose="02020603050405020304" pitchFamily="18" charset="0"/>
                <a:sym typeface="+mn-ea"/>
              </a:rPr>
              <a:t>AI</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a:t>
            </a:r>
            <a:r>
              <a:rPr spc="-10" dirty="0">
                <a:solidFill>
                  <a:srgbClr val="3E3E3E"/>
                </a:solidFill>
                <a:latin typeface="Times New Roman" panose="02020603050405020304" pitchFamily="18" charset="0"/>
                <a:cs typeface="Times New Roman" panose="02020603050405020304" pitchFamily="18" charset="0"/>
                <a:sym typeface="+mn-ea"/>
              </a:rPr>
              <a:t> Marketing</a:t>
            </a: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pP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tabLst>
                <a:tab pos="259715" algn="l"/>
              </a:tabLst>
            </a:pPr>
            <a:r>
              <a:rPr dirty="0">
                <a:solidFill>
                  <a:srgbClr val="3E3E3E"/>
                </a:solidFill>
                <a:latin typeface="Times New Roman" panose="02020603050405020304" pitchFamily="18" charset="0"/>
                <a:cs typeface="Times New Roman" panose="02020603050405020304" pitchFamily="18" charset="0"/>
                <a:sym typeface="+mn-ea"/>
              </a:rPr>
              <a:t>AI</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 </a:t>
            </a:r>
            <a:r>
              <a:rPr spc="-10" dirty="0">
                <a:solidFill>
                  <a:srgbClr val="3E3E3E"/>
                </a:solidFill>
                <a:latin typeface="Times New Roman" panose="02020603050405020304" pitchFamily="18" charset="0"/>
                <a:cs typeface="Times New Roman" panose="02020603050405020304" pitchFamily="18" charset="0"/>
                <a:sym typeface="+mn-ea"/>
              </a:rPr>
              <a:t>Banking</a:t>
            </a: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pP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tabLst>
                <a:tab pos="259715" algn="l"/>
              </a:tabLst>
            </a:pPr>
            <a:r>
              <a:rPr dirty="0">
                <a:solidFill>
                  <a:srgbClr val="3E3E3E"/>
                </a:solidFill>
                <a:latin typeface="Times New Roman" panose="02020603050405020304" pitchFamily="18" charset="0"/>
                <a:cs typeface="Times New Roman" panose="02020603050405020304" pitchFamily="18" charset="0"/>
                <a:sym typeface="+mn-ea"/>
              </a:rPr>
              <a:t>AI</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a:t>
            </a:r>
            <a:r>
              <a:rPr spc="-10" dirty="0">
                <a:solidFill>
                  <a:srgbClr val="3E3E3E"/>
                </a:solidFill>
                <a:latin typeface="Times New Roman" panose="02020603050405020304" pitchFamily="18" charset="0"/>
                <a:cs typeface="Times New Roman" panose="02020603050405020304" pitchFamily="18" charset="0"/>
                <a:sym typeface="+mn-ea"/>
              </a:rPr>
              <a:t> Finance</a:t>
            </a: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pP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tabLst>
                <a:tab pos="259715" algn="l"/>
              </a:tabLst>
            </a:pPr>
            <a:r>
              <a:rPr dirty="0">
                <a:solidFill>
                  <a:srgbClr val="3E3E3E"/>
                </a:solidFill>
                <a:latin typeface="Times New Roman" panose="02020603050405020304" pitchFamily="18" charset="0"/>
                <a:cs typeface="Times New Roman" panose="02020603050405020304" pitchFamily="18" charset="0"/>
                <a:sym typeface="+mn-ea"/>
              </a:rPr>
              <a:t>AI</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 </a:t>
            </a:r>
            <a:r>
              <a:rPr spc="-10" dirty="0">
                <a:solidFill>
                  <a:srgbClr val="3E3E3E"/>
                </a:solidFill>
                <a:latin typeface="Times New Roman" panose="02020603050405020304" pitchFamily="18" charset="0"/>
                <a:cs typeface="Times New Roman" panose="02020603050405020304" pitchFamily="18" charset="0"/>
                <a:sym typeface="+mn-ea"/>
              </a:rPr>
              <a:t>Agriculture</a:t>
            </a: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pPr>
            <a:endParaRPr>
              <a:latin typeface="Times New Roman" panose="02020603050405020304" pitchFamily="18" charset="0"/>
              <a:cs typeface="Times New Roman" panose="02020603050405020304" pitchFamily="18" charset="0"/>
            </a:endParaRPr>
          </a:p>
          <a:p>
            <a:pPr>
              <a:lnSpc>
                <a:spcPct val="50000"/>
              </a:lnSpc>
              <a:spcBef>
                <a:spcPct val="0"/>
              </a:spcBef>
              <a:spcAft>
                <a:spcPts val="0"/>
              </a:spcAft>
              <a:tabLst>
                <a:tab pos="259715" algn="l"/>
              </a:tabLst>
            </a:pPr>
            <a:r>
              <a:rPr dirty="0">
                <a:solidFill>
                  <a:srgbClr val="3E3E3E"/>
                </a:solidFill>
                <a:latin typeface="Times New Roman" panose="02020603050405020304" pitchFamily="18" charset="0"/>
                <a:cs typeface="Times New Roman" panose="02020603050405020304" pitchFamily="18" charset="0"/>
                <a:sym typeface="+mn-ea"/>
              </a:rPr>
              <a:t>AI</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a:t>
            </a:r>
            <a:r>
              <a:rPr spc="-10" dirty="0">
                <a:solidFill>
                  <a:srgbClr val="3E3E3E"/>
                </a:solidFill>
                <a:latin typeface="Times New Roman" panose="02020603050405020304" pitchFamily="18" charset="0"/>
                <a:cs typeface="Times New Roman" panose="02020603050405020304" pitchFamily="18" charset="0"/>
                <a:sym typeface="+mn-ea"/>
              </a:rPr>
              <a:t> HealthCare</a:t>
            </a:r>
            <a:endParaRPr>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AI</a:t>
            </a:r>
            <a:r>
              <a:rPr b="1" spc="-2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in</a:t>
            </a:r>
            <a:r>
              <a:rPr b="1" spc="-2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Marketing</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5857875" cy="4526280"/>
          </a:xfrm>
        </p:spPr>
        <p:txBody>
          <a:bodyPr>
            <a:normAutofit fontScale="60000"/>
          </a:bodyPr>
          <a:p>
            <a:pPr algn="just">
              <a:lnSpc>
                <a:spcPct val="100000"/>
              </a:lnSpc>
              <a:spcBef>
                <a:spcPts val="100"/>
              </a:spcBef>
            </a:pPr>
            <a:r>
              <a:rPr dirty="0">
                <a:solidFill>
                  <a:schemeClr val="tx1"/>
                </a:solidFill>
                <a:latin typeface="Times New Roman" panose="02020603050405020304" pitchFamily="18" charset="0"/>
                <a:cs typeface="Times New Roman" panose="02020603050405020304" pitchFamily="18" charset="0"/>
                <a:sym typeface="+mn-ea"/>
              </a:rPr>
              <a:t>What</a:t>
            </a:r>
            <a:r>
              <a:rPr spc="42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if</a:t>
            </a:r>
            <a:r>
              <a:rPr spc="43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an</a:t>
            </a:r>
            <a:r>
              <a:rPr spc="434"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algorithm</a:t>
            </a:r>
            <a:r>
              <a:rPr spc="42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or</a:t>
            </a:r>
            <a:r>
              <a:rPr spc="42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a:t>
            </a:r>
            <a:r>
              <a:rPr spc="42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bot</a:t>
            </a:r>
            <a:r>
              <a:rPr spc="42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is</a:t>
            </a:r>
            <a:r>
              <a:rPr spc="434" dirty="0">
                <a:solidFill>
                  <a:schemeClr val="tx1"/>
                </a:solidFill>
                <a:latin typeface="Times New Roman" panose="02020603050405020304" pitchFamily="18" charset="0"/>
                <a:cs typeface="Times New Roman" panose="02020603050405020304" pitchFamily="18" charset="0"/>
                <a:sym typeface="+mn-ea"/>
              </a:rPr>
              <a:t> </a:t>
            </a:r>
            <a:r>
              <a:rPr spc="-10" dirty="0">
                <a:solidFill>
                  <a:schemeClr val="tx1"/>
                </a:solidFill>
                <a:latin typeface="Times New Roman" panose="02020603050405020304" pitchFamily="18" charset="0"/>
                <a:cs typeface="Times New Roman" panose="02020603050405020304" pitchFamily="18" charset="0"/>
                <a:sym typeface="+mn-ea"/>
              </a:rPr>
              <a:t>built</a:t>
            </a:r>
            <a:r>
              <a:rPr lang="en-US" spc="-1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solely</a:t>
            </a:r>
            <a:r>
              <a:rPr spc="47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for</a:t>
            </a:r>
            <a:r>
              <a:rPr spc="47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the</a:t>
            </a:r>
            <a:r>
              <a:rPr spc="484"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purpose</a:t>
            </a:r>
            <a:r>
              <a:rPr spc="47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of</a:t>
            </a:r>
            <a:r>
              <a:rPr spc="48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marketing</a:t>
            </a:r>
            <a:r>
              <a:rPr spc="475" dirty="0">
                <a:solidFill>
                  <a:schemeClr val="tx1"/>
                </a:solidFill>
                <a:latin typeface="Times New Roman" panose="02020603050405020304" pitchFamily="18" charset="0"/>
                <a:cs typeface="Times New Roman" panose="02020603050405020304" pitchFamily="18" charset="0"/>
                <a:sym typeface="+mn-ea"/>
              </a:rPr>
              <a:t> </a:t>
            </a:r>
            <a:r>
              <a:rPr spc="-50" dirty="0">
                <a:solidFill>
                  <a:schemeClr val="tx1"/>
                </a:solidFill>
                <a:latin typeface="Times New Roman" panose="02020603050405020304" pitchFamily="18" charset="0"/>
                <a:cs typeface="Times New Roman" panose="02020603050405020304" pitchFamily="18" charset="0"/>
                <a:sym typeface="+mn-ea"/>
              </a:rPr>
              <a:t>a</a:t>
            </a:r>
            <a:r>
              <a:rPr lang="en-US" spc="-50" dirty="0">
                <a:solidFill>
                  <a:schemeClr val="tx1"/>
                </a:solidFill>
                <a:latin typeface="Times New Roman" panose="02020603050405020304" pitchFamily="18" charset="0"/>
                <a:cs typeface="Times New Roman" panose="02020603050405020304" pitchFamily="18" charset="0"/>
                <a:sym typeface="+mn-ea"/>
              </a:rPr>
              <a:t> </a:t>
            </a:r>
            <a:r>
              <a:rPr spc="-10" dirty="0">
                <a:solidFill>
                  <a:schemeClr val="tx1"/>
                </a:solidFill>
                <a:latin typeface="Times New Roman" panose="02020603050405020304" pitchFamily="18" charset="0"/>
                <a:cs typeface="Times New Roman" panose="02020603050405020304" pitchFamily="18" charset="0"/>
                <a:sym typeface="+mn-ea"/>
              </a:rPr>
              <a:t>brand</a:t>
            </a:r>
            <a:r>
              <a:rPr lang="en-US" spc="-10" dirty="0">
                <a:solidFill>
                  <a:schemeClr val="tx1"/>
                </a:solidFill>
                <a:latin typeface="Times New Roman" panose="02020603050405020304" pitchFamily="18" charset="0"/>
                <a:cs typeface="Times New Roman" panose="02020603050405020304" pitchFamily="18" charset="0"/>
                <a:sym typeface="+mn-ea"/>
              </a:rPr>
              <a:t> or </a:t>
            </a:r>
            <a:r>
              <a:rPr spc="-50" dirty="0">
                <a:solidFill>
                  <a:schemeClr val="tx1"/>
                </a:solidFill>
                <a:latin typeface="Times New Roman" panose="02020603050405020304" pitchFamily="18" charset="0"/>
                <a:cs typeface="Times New Roman" panose="02020603050405020304" pitchFamily="18" charset="0"/>
                <a:sym typeface="+mn-ea"/>
              </a:rPr>
              <a:t>a</a:t>
            </a:r>
            <a:r>
              <a:rPr spc="-10" dirty="0">
                <a:solidFill>
                  <a:schemeClr val="tx1"/>
                </a:solidFill>
                <a:latin typeface="Times New Roman" panose="02020603050405020304" pitchFamily="18" charset="0"/>
                <a:cs typeface="Times New Roman" panose="02020603050405020304" pitchFamily="18" charset="0"/>
                <a:sym typeface="+mn-ea"/>
              </a:rPr>
              <a:t>company?</a:t>
            </a:r>
            <a:r>
              <a:rPr lang="en-US" spc="-10" dirty="0">
                <a:solidFill>
                  <a:schemeClr val="tx1"/>
                </a:solidFill>
                <a:latin typeface="Times New Roman" panose="02020603050405020304" pitchFamily="18" charset="0"/>
                <a:cs typeface="Times New Roman" panose="02020603050405020304" pitchFamily="18" charset="0"/>
                <a:sym typeface="+mn-ea"/>
              </a:rPr>
              <a:t> </a:t>
            </a:r>
            <a:r>
              <a:rPr spc="-25" dirty="0">
                <a:solidFill>
                  <a:schemeClr val="tx1"/>
                </a:solidFill>
                <a:latin typeface="Times New Roman" panose="02020603050405020304" pitchFamily="18" charset="0"/>
                <a:cs typeface="Times New Roman" panose="02020603050405020304" pitchFamily="18" charset="0"/>
                <a:sym typeface="+mn-ea"/>
              </a:rPr>
              <a:t>It</a:t>
            </a:r>
            <a:r>
              <a:rPr lang="en-US" spc="-25" dirty="0">
                <a:solidFill>
                  <a:schemeClr val="tx1"/>
                </a:solidFill>
                <a:latin typeface="Times New Roman" panose="02020603050405020304" pitchFamily="18" charset="0"/>
                <a:cs typeface="Times New Roman" panose="02020603050405020304" pitchFamily="18" charset="0"/>
                <a:sym typeface="+mn-ea"/>
              </a:rPr>
              <a:t> </a:t>
            </a:r>
            <a:r>
              <a:rPr spc="-20" dirty="0">
                <a:solidFill>
                  <a:schemeClr val="tx1"/>
                </a:solidFill>
                <a:latin typeface="Times New Roman" panose="02020603050405020304" pitchFamily="18" charset="0"/>
                <a:cs typeface="Times New Roman" panose="02020603050405020304" pitchFamily="18" charset="0"/>
                <a:sym typeface="+mn-ea"/>
              </a:rPr>
              <a:t>would</a:t>
            </a:r>
            <a:r>
              <a:rPr lang="en-US" spc="-20" dirty="0">
                <a:solidFill>
                  <a:schemeClr val="tx1"/>
                </a:solidFill>
                <a:latin typeface="Times New Roman" panose="02020603050405020304" pitchFamily="18" charset="0"/>
                <a:cs typeface="Times New Roman" panose="02020603050405020304" pitchFamily="18" charset="0"/>
                <a:sym typeface="+mn-ea"/>
              </a:rPr>
              <a:t> </a:t>
            </a:r>
            <a:r>
              <a:rPr spc="-25" dirty="0">
                <a:solidFill>
                  <a:schemeClr val="tx1"/>
                </a:solidFill>
                <a:latin typeface="Times New Roman" panose="02020603050405020304" pitchFamily="18" charset="0"/>
                <a:cs typeface="Times New Roman" panose="02020603050405020304" pitchFamily="18" charset="0"/>
                <a:sym typeface="+mn-ea"/>
              </a:rPr>
              <a:t>do</a:t>
            </a:r>
            <a:r>
              <a:rPr lang="en-US" spc="-25" dirty="0">
                <a:solidFill>
                  <a:schemeClr val="tx1"/>
                </a:solidFill>
                <a:latin typeface="Times New Roman" panose="02020603050405020304" pitchFamily="18" charset="0"/>
                <a:cs typeface="Times New Roman" panose="02020603050405020304" pitchFamily="18" charset="0"/>
                <a:sym typeface="+mn-ea"/>
              </a:rPr>
              <a:t> </a:t>
            </a:r>
            <a:r>
              <a:rPr spc="-50" dirty="0">
                <a:solidFill>
                  <a:schemeClr val="tx1"/>
                </a:solidFill>
                <a:latin typeface="Times New Roman" panose="02020603050405020304" pitchFamily="18" charset="0"/>
                <a:cs typeface="Times New Roman" panose="02020603050405020304" pitchFamily="18" charset="0"/>
                <a:sym typeface="+mn-ea"/>
              </a:rPr>
              <a:t>a </a:t>
            </a:r>
            <a:r>
              <a:rPr dirty="0">
                <a:solidFill>
                  <a:schemeClr val="tx1"/>
                </a:solidFill>
                <a:latin typeface="Times New Roman" panose="02020603050405020304" pitchFamily="18" charset="0"/>
                <a:cs typeface="Times New Roman" panose="02020603050405020304" pitchFamily="18" charset="0"/>
                <a:sym typeface="+mn-ea"/>
              </a:rPr>
              <a:t>pretty</a:t>
            </a:r>
            <a:r>
              <a:rPr spc="-10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awesome</a:t>
            </a:r>
            <a:r>
              <a:rPr lang="en-US" dirty="0">
                <a:solidFill>
                  <a:schemeClr val="tx1"/>
                </a:solidFill>
                <a:latin typeface="Times New Roman" panose="02020603050405020304" pitchFamily="18" charset="0"/>
                <a:cs typeface="Times New Roman" panose="02020603050405020304" pitchFamily="18" charset="0"/>
                <a:sym typeface="+mn-ea"/>
              </a:rPr>
              <a:t> </a:t>
            </a:r>
            <a:r>
              <a:rPr spc="-20" dirty="0">
                <a:solidFill>
                  <a:schemeClr val="tx1"/>
                </a:solidFill>
                <a:latin typeface="Times New Roman" panose="02020603050405020304" pitchFamily="18" charset="0"/>
                <a:cs typeface="Times New Roman" panose="02020603050405020304" pitchFamily="18" charset="0"/>
                <a:sym typeface="+mn-ea"/>
              </a:rPr>
              <a:t>job!</a:t>
            </a:r>
            <a:endParaRPr spc="-20" dirty="0">
              <a:solidFill>
                <a:schemeClr val="tx1"/>
              </a:solidFill>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lang="en-US" altLang="en-US">
                <a:solidFill>
                  <a:schemeClr val="tx1"/>
                </a:solidFill>
                <a:latin typeface="Times New Roman" panose="02020603050405020304" pitchFamily="18" charset="0"/>
                <a:cs typeface="Times New Roman" panose="02020603050405020304" pitchFamily="18" charset="0"/>
              </a:rPr>
              <a:t>AI in marketing refers to the application of artificial intelligence technologies to enhance marketing strategies and improve overall marketing performance.</a:t>
            </a:r>
            <a:endParaRPr lang="en-US" altLang="en-US">
              <a:solidFill>
                <a:schemeClr val="tx1"/>
              </a:solidFill>
              <a:latin typeface="Times New Roman" panose="02020603050405020304" pitchFamily="18" charset="0"/>
              <a:cs typeface="Times New Roman" panose="02020603050405020304" pitchFamily="18" charset="0"/>
            </a:endParaRPr>
          </a:p>
          <a:p>
            <a:pPr algn="just">
              <a:lnSpc>
                <a:spcPct val="100000"/>
              </a:lnSpc>
              <a:spcBef>
                <a:spcPts val="100"/>
              </a:spcBef>
            </a:pPr>
            <a:r>
              <a:rPr lang="en-US" altLang="en-US">
                <a:solidFill>
                  <a:schemeClr val="tx1"/>
                </a:solidFill>
                <a:latin typeface="Times New Roman" panose="02020603050405020304" pitchFamily="18" charset="0"/>
                <a:cs typeface="Times New Roman" panose="02020603050405020304" pitchFamily="18" charset="0"/>
              </a:rPr>
              <a:t> AI tools and techniques are used to analyze data, automate tasks, personalize customer experiences, and optimize marketing campaigns. </a:t>
            </a:r>
            <a:endParaRPr lang="en-US" altLang="en-US">
              <a:solidFill>
                <a:schemeClr val="tx1"/>
              </a:solidFill>
              <a:latin typeface="Times New Roman" panose="02020603050405020304" pitchFamily="18" charset="0"/>
              <a:cs typeface="Times New Roman" panose="02020603050405020304" pitchFamily="18" charset="0"/>
            </a:endParaRPr>
          </a:p>
          <a:p>
            <a:pPr algn="just">
              <a:lnSpc>
                <a:spcPct val="100000"/>
              </a:lnSpc>
              <a:spcBef>
                <a:spcPts val="100"/>
              </a:spcBef>
            </a:pPr>
            <a:r>
              <a:rPr lang="en-US" altLang="en-US">
                <a:solidFill>
                  <a:schemeClr val="tx1"/>
                </a:solidFill>
                <a:latin typeface="Times New Roman" panose="02020603050405020304" pitchFamily="18" charset="0"/>
                <a:cs typeface="Times New Roman" panose="02020603050405020304" pitchFamily="18" charset="0"/>
              </a:rPr>
              <a:t>This can lead to increased efficiency, better targeting, and improved ROI for marketing efforts. </a:t>
            </a:r>
            <a:endParaRPr lang="en-US" altLang="en-US">
              <a:solidFill>
                <a:schemeClr val="tx1"/>
              </a:solidFill>
              <a:latin typeface="Times New Roman" panose="02020603050405020304" pitchFamily="18" charset="0"/>
              <a:cs typeface="Times New Roman" panose="02020603050405020304" pitchFamily="18" charset="0"/>
            </a:endParaRPr>
          </a:p>
          <a:p>
            <a:pPr algn="just">
              <a:lnSpc>
                <a:spcPct val="100000"/>
              </a:lnSpc>
            </a:pPr>
            <a:endParaRPr lang="en-US" altLang="en-US">
              <a:solidFill>
                <a:schemeClr val="tx1"/>
              </a:solidFill>
              <a:latin typeface="Times New Roman" panose="02020603050405020304" pitchFamily="18" charset="0"/>
              <a:cs typeface="Times New Roman" panose="02020603050405020304" pitchFamily="18" charset="0"/>
            </a:endParaRPr>
          </a:p>
        </p:txBody>
      </p:sp>
      <p:pic>
        <p:nvPicPr>
          <p:cNvPr id="9" name="object 9"/>
          <p:cNvPicPr/>
          <p:nvPr/>
        </p:nvPicPr>
        <p:blipFill>
          <a:blip r:embed="rId1" cstate="print"/>
          <a:stretch>
            <a:fillRect/>
          </a:stretch>
        </p:blipFill>
        <p:spPr>
          <a:xfrm>
            <a:off x="6781800" y="2863215"/>
            <a:ext cx="1759585" cy="2000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AI</a:t>
            </a:r>
            <a:r>
              <a:rPr b="1" spc="-2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in</a:t>
            </a:r>
            <a:r>
              <a:rPr b="1" spc="-2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Banking</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5022215" cy="4526280"/>
          </a:xfrm>
        </p:spPr>
        <p:txBody>
          <a:bodyPr>
            <a:normAutofit fontScale="70000"/>
          </a:bodyPr>
          <a:p>
            <a:pPr algn="just">
              <a:lnSpc>
                <a:spcPct val="100000"/>
              </a:lnSpc>
              <a:spcBef>
                <a:spcPts val="100"/>
              </a:spcBef>
            </a:pPr>
            <a:r>
              <a:rPr spc="-10" dirty="0">
                <a:solidFill>
                  <a:schemeClr val="tx1"/>
                </a:solidFill>
                <a:latin typeface="Times New Roman" panose="02020603050405020304" pitchFamily="18" charset="0"/>
                <a:cs typeface="Times New Roman" panose="02020603050405020304" pitchFamily="18" charset="0"/>
                <a:sym typeface="+mn-ea"/>
              </a:rPr>
              <a:t>AI-</a:t>
            </a:r>
            <a:r>
              <a:rPr dirty="0">
                <a:solidFill>
                  <a:schemeClr val="tx1"/>
                </a:solidFill>
                <a:latin typeface="Times New Roman" panose="02020603050405020304" pitchFamily="18" charset="0"/>
                <a:cs typeface="Times New Roman" panose="02020603050405020304" pitchFamily="18" charset="0"/>
                <a:sym typeface="+mn-ea"/>
              </a:rPr>
              <a:t>based</a:t>
            </a:r>
            <a:r>
              <a:rPr lang="en-US"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systems</a:t>
            </a:r>
            <a:r>
              <a:rPr spc="55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to</a:t>
            </a:r>
            <a:r>
              <a:rPr spc="54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provide</a:t>
            </a:r>
            <a:r>
              <a:rPr spc="555" dirty="0">
                <a:solidFill>
                  <a:schemeClr val="tx1"/>
                </a:solidFill>
                <a:latin typeface="Times New Roman" panose="02020603050405020304" pitchFamily="18" charset="0"/>
                <a:cs typeface="Times New Roman" panose="02020603050405020304" pitchFamily="18" charset="0"/>
                <a:sym typeface="+mn-ea"/>
              </a:rPr>
              <a:t> </a:t>
            </a:r>
            <a:r>
              <a:rPr spc="-10" dirty="0">
                <a:solidFill>
                  <a:schemeClr val="tx1"/>
                </a:solidFill>
                <a:latin typeface="Times New Roman" panose="02020603050405020304" pitchFamily="18" charset="0"/>
                <a:cs typeface="Times New Roman" panose="02020603050405020304" pitchFamily="18" charset="0"/>
                <a:sym typeface="+mn-ea"/>
              </a:rPr>
              <a:t>customer</a:t>
            </a:r>
            <a:r>
              <a:rPr lang="en-US" spc="-1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support,</a:t>
            </a:r>
            <a:r>
              <a:rPr spc="15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detect</a:t>
            </a:r>
            <a:r>
              <a:rPr spc="15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anomalies</a:t>
            </a:r>
            <a:r>
              <a:rPr spc="16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and</a:t>
            </a:r>
            <a:r>
              <a:rPr spc="160" dirty="0">
                <a:solidFill>
                  <a:schemeClr val="tx1"/>
                </a:solidFill>
                <a:latin typeface="Times New Roman" panose="02020603050405020304" pitchFamily="18" charset="0"/>
                <a:cs typeface="Times New Roman" panose="02020603050405020304" pitchFamily="18" charset="0"/>
                <a:sym typeface="+mn-ea"/>
              </a:rPr>
              <a:t>  </a:t>
            </a:r>
            <a:r>
              <a:rPr spc="-10" dirty="0">
                <a:solidFill>
                  <a:schemeClr val="tx1"/>
                </a:solidFill>
                <a:latin typeface="Times New Roman" panose="02020603050405020304" pitchFamily="18" charset="0"/>
                <a:cs typeface="Times New Roman" panose="02020603050405020304" pitchFamily="18" charset="0"/>
                <a:sym typeface="+mn-ea"/>
              </a:rPr>
              <a:t>credit </a:t>
            </a:r>
            <a:r>
              <a:rPr dirty="0">
                <a:solidFill>
                  <a:schemeClr val="tx1"/>
                </a:solidFill>
                <a:latin typeface="Times New Roman" panose="02020603050405020304" pitchFamily="18" charset="0"/>
                <a:cs typeface="Times New Roman" panose="02020603050405020304" pitchFamily="18" charset="0"/>
                <a:sym typeface="+mn-ea"/>
              </a:rPr>
              <a:t>card</a:t>
            </a:r>
            <a:r>
              <a:rPr spc="170"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frauds.</a:t>
            </a:r>
            <a:r>
              <a:rPr spc="170" dirty="0">
                <a:solidFill>
                  <a:schemeClr val="tx1"/>
                </a:solidFill>
                <a:latin typeface="Times New Roman" panose="02020603050405020304" pitchFamily="18" charset="0"/>
                <a:cs typeface="Times New Roman" panose="02020603050405020304" pitchFamily="18" charset="0"/>
                <a:sym typeface="+mn-ea"/>
              </a:rPr>
              <a:t> </a:t>
            </a:r>
            <a:endParaRPr spc="170" dirty="0">
              <a:solidFill>
                <a:schemeClr val="tx1"/>
              </a:solidFill>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dirty="0">
                <a:solidFill>
                  <a:schemeClr val="tx1"/>
                </a:solidFill>
                <a:latin typeface="Times New Roman" panose="02020603050405020304" pitchFamily="18" charset="0"/>
                <a:cs typeface="Times New Roman" panose="02020603050405020304" pitchFamily="18" charset="0"/>
                <a:sym typeface="+mn-ea"/>
              </a:rPr>
              <a:t>An</a:t>
            </a:r>
            <a:r>
              <a:rPr spc="17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example</a:t>
            </a:r>
            <a:r>
              <a:rPr spc="17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of</a:t>
            </a:r>
            <a:r>
              <a:rPr spc="17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this</a:t>
            </a:r>
            <a:r>
              <a:rPr spc="17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is</a:t>
            </a:r>
            <a:r>
              <a:rPr spc="175" dirty="0">
                <a:solidFill>
                  <a:schemeClr val="tx1"/>
                </a:solidFill>
                <a:latin typeface="Times New Roman" panose="02020603050405020304" pitchFamily="18" charset="0"/>
                <a:cs typeface="Times New Roman" panose="02020603050405020304" pitchFamily="18" charset="0"/>
                <a:sym typeface="+mn-ea"/>
              </a:rPr>
              <a:t> </a:t>
            </a:r>
            <a:r>
              <a:rPr spc="-20" dirty="0">
                <a:solidFill>
                  <a:schemeClr val="tx1"/>
                </a:solidFill>
                <a:latin typeface="Times New Roman" panose="02020603050405020304" pitchFamily="18" charset="0"/>
                <a:cs typeface="Times New Roman" panose="02020603050405020304" pitchFamily="18" charset="0"/>
                <a:sym typeface="+mn-ea"/>
              </a:rPr>
              <a:t>HDFC </a:t>
            </a:r>
            <a:r>
              <a:rPr dirty="0">
                <a:solidFill>
                  <a:schemeClr val="tx1"/>
                </a:solidFill>
                <a:latin typeface="Times New Roman" panose="02020603050405020304" pitchFamily="18" charset="0"/>
                <a:cs typeface="Times New Roman" panose="02020603050405020304" pitchFamily="18" charset="0"/>
                <a:sym typeface="+mn-ea"/>
              </a:rPr>
              <a:t>Bank</a:t>
            </a:r>
            <a:r>
              <a:rPr spc="-45" dirty="0">
                <a:solidFill>
                  <a:schemeClr val="tx1"/>
                </a:solidFill>
                <a:latin typeface="Times New Roman" panose="02020603050405020304" pitchFamily="18" charset="0"/>
                <a:cs typeface="Times New Roman" panose="02020603050405020304" pitchFamily="18" charset="0"/>
                <a:sym typeface="+mn-ea"/>
              </a:rPr>
              <a:t> </a:t>
            </a:r>
            <a:r>
              <a:rPr dirty="0">
                <a:solidFill>
                  <a:schemeClr val="tx1"/>
                </a:solidFill>
                <a:latin typeface="Times New Roman" panose="02020603050405020304" pitchFamily="18" charset="0"/>
                <a:cs typeface="Times New Roman" panose="02020603050405020304" pitchFamily="18" charset="0"/>
                <a:sym typeface="+mn-ea"/>
              </a:rPr>
              <a:t>&amp;</a:t>
            </a:r>
            <a:r>
              <a:rPr spc="-30" dirty="0">
                <a:solidFill>
                  <a:schemeClr val="tx1"/>
                </a:solidFill>
                <a:latin typeface="Times New Roman" panose="02020603050405020304" pitchFamily="18" charset="0"/>
                <a:cs typeface="Times New Roman" panose="02020603050405020304" pitchFamily="18" charset="0"/>
                <a:sym typeface="+mn-ea"/>
              </a:rPr>
              <a:t> </a:t>
            </a:r>
            <a:r>
              <a:rPr spc="-75" dirty="0">
                <a:solidFill>
                  <a:schemeClr val="tx1"/>
                </a:solidFill>
                <a:latin typeface="Times New Roman" panose="02020603050405020304" pitchFamily="18" charset="0"/>
                <a:cs typeface="Times New Roman" panose="02020603050405020304" pitchFamily="18" charset="0"/>
                <a:sym typeface="+mn-ea"/>
              </a:rPr>
              <a:t>KOTAK</a:t>
            </a:r>
            <a:r>
              <a:rPr spc="-15" dirty="0">
                <a:solidFill>
                  <a:schemeClr val="tx1"/>
                </a:solidFill>
                <a:latin typeface="Times New Roman" panose="02020603050405020304" pitchFamily="18" charset="0"/>
                <a:cs typeface="Times New Roman" panose="02020603050405020304" pitchFamily="18" charset="0"/>
                <a:sym typeface="+mn-ea"/>
              </a:rPr>
              <a:t> </a:t>
            </a:r>
            <a:r>
              <a:rPr spc="-10" dirty="0">
                <a:solidFill>
                  <a:schemeClr val="tx1"/>
                </a:solidFill>
                <a:latin typeface="Times New Roman" panose="02020603050405020304" pitchFamily="18" charset="0"/>
                <a:cs typeface="Times New Roman" panose="02020603050405020304" pitchFamily="18" charset="0"/>
                <a:sym typeface="+mn-ea"/>
              </a:rPr>
              <a:t>Bank</a:t>
            </a:r>
            <a:endParaRPr spc="-10" dirty="0">
              <a:solidFill>
                <a:schemeClr val="tx1"/>
              </a:solidFill>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lang="en-US" altLang="en-US">
                <a:solidFill>
                  <a:schemeClr val="tx1"/>
                </a:solidFill>
                <a:latin typeface="Times New Roman" panose="02020603050405020304" pitchFamily="18" charset="0"/>
                <a:cs typeface="Times New Roman" panose="02020603050405020304" pitchFamily="18" charset="0"/>
              </a:rPr>
              <a:t>AI can help banks minimize manual errors in data processing, analytics, document processing, onboarding, customer interactions, and other tasks through automation and algorithms that follow the same processes every single time</a:t>
            </a:r>
            <a:r>
              <a:rPr lang="en-US" altLang="en-US">
                <a:latin typeface="Times New Roman" panose="02020603050405020304" pitchFamily="18" charset="0"/>
                <a:cs typeface="Times New Roman" panose="02020603050405020304" pitchFamily="18" charset="0"/>
              </a:rPr>
              <a:t>.</a:t>
            </a:r>
            <a:endParaRPr lang="en-US" altLang="en-US">
              <a:latin typeface="Times New Roman" panose="02020603050405020304" pitchFamily="18" charset="0"/>
              <a:cs typeface="Times New Roman" panose="02020603050405020304" pitchFamily="18" charset="0"/>
            </a:endParaRPr>
          </a:p>
        </p:txBody>
      </p:sp>
      <p:pic>
        <p:nvPicPr>
          <p:cNvPr id="10" name="object 10"/>
          <p:cNvPicPr/>
          <p:nvPr/>
        </p:nvPicPr>
        <p:blipFill>
          <a:blip r:embed="rId1" cstate="print"/>
          <a:stretch>
            <a:fillRect/>
          </a:stretch>
        </p:blipFill>
        <p:spPr>
          <a:xfrm>
            <a:off x="5715000" y="1371600"/>
            <a:ext cx="3365500" cy="340487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AI</a:t>
            </a:r>
            <a:r>
              <a:rPr b="1" spc="-2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in</a:t>
            </a:r>
            <a:r>
              <a:rPr b="1" spc="-2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Finance</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5727700" cy="4526280"/>
          </a:xfrm>
        </p:spPr>
        <p:txBody>
          <a:bodyPr>
            <a:normAutofit fontScale="80000"/>
          </a:bodyPr>
          <a:p>
            <a:pPr algn="just">
              <a:lnSpc>
                <a:spcPct val="100000"/>
              </a:lnSpc>
              <a:spcBef>
                <a:spcPts val="100"/>
              </a:spcBef>
              <a:tabLst>
                <a:tab pos="354965" algn="l"/>
              </a:tabLst>
            </a:pPr>
            <a:r>
              <a:rPr dirty="0">
                <a:solidFill>
                  <a:srgbClr val="3E3E3E"/>
                </a:solidFill>
                <a:latin typeface="Times New Roman" panose="02020603050405020304" pitchFamily="18" charset="0"/>
                <a:cs typeface="Times New Roman" panose="02020603050405020304" pitchFamily="18" charset="0"/>
                <a:sym typeface="+mn-ea"/>
              </a:rPr>
              <a:t>The</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Financial</a:t>
            </a:r>
            <a:r>
              <a:rPr spc="-20" dirty="0">
                <a:solidFill>
                  <a:srgbClr val="3E3E3E"/>
                </a:solidFill>
                <a:latin typeface="Times New Roman" panose="02020603050405020304" pitchFamily="18" charset="0"/>
                <a:cs typeface="Times New Roman" panose="02020603050405020304" pitchFamily="18" charset="0"/>
                <a:sym typeface="+mn-ea"/>
              </a:rPr>
              <a:t> organizations</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are</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turning</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30"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AI</a:t>
            </a:r>
            <a:r>
              <a:rPr lang="en-US"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improve</a:t>
            </a:r>
            <a:r>
              <a:rPr spc="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their</a:t>
            </a:r>
            <a:r>
              <a:rPr spc="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stock</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trading</a:t>
            </a:r>
            <a:r>
              <a:rPr spc="6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performance</a:t>
            </a:r>
            <a:r>
              <a:rPr lang="en-US"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and</a:t>
            </a:r>
            <a:r>
              <a:rPr spc="-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boost</a:t>
            </a:r>
            <a:r>
              <a:rPr spc="-5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profit.</a:t>
            </a:r>
            <a:endParaRPr spc="-10" dirty="0">
              <a:solidFill>
                <a:srgbClr val="3E3E3E"/>
              </a:solidFill>
              <a:latin typeface="Times New Roman" panose="02020603050405020304" pitchFamily="18" charset="0"/>
              <a:cs typeface="Times New Roman" panose="02020603050405020304" pitchFamily="18" charset="0"/>
              <a:sym typeface="+mn-ea"/>
            </a:endParaRPr>
          </a:p>
          <a:p>
            <a:pPr algn="just">
              <a:lnSpc>
                <a:spcPct val="100000"/>
              </a:lnSpc>
              <a:spcBef>
                <a:spcPts val="100"/>
              </a:spcBef>
              <a:tabLst>
                <a:tab pos="354965" algn="l"/>
              </a:tabLst>
            </a:pPr>
            <a:r>
              <a:rPr lang="en-US" altLang="en-US">
                <a:latin typeface="Times New Roman" panose="02020603050405020304" pitchFamily="18" charset="0"/>
                <a:cs typeface="Times New Roman" panose="02020603050405020304" pitchFamily="18" charset="0"/>
              </a:rPr>
              <a:t>AI in finance is the use of technology like machine learning (ML) that mimics human intelligence and decision-making to enhance how financial institutions analyze, manage, invest, and protect money.</a:t>
            </a:r>
            <a:endParaRPr lang="en-US" alt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p:txBody>
      </p:sp>
      <p:grpSp>
        <p:nvGrpSpPr>
          <p:cNvPr id="14" name="object 2"/>
          <p:cNvGrpSpPr/>
          <p:nvPr/>
        </p:nvGrpSpPr>
        <p:grpSpPr>
          <a:xfrm>
            <a:off x="6485890" y="1371600"/>
            <a:ext cx="2442210" cy="3669665"/>
            <a:chOff x="0" y="0"/>
            <a:chExt cx="6242685" cy="6858000"/>
          </a:xfrm>
        </p:grpSpPr>
        <p:sp>
          <p:nvSpPr>
            <p:cNvPr id="15" name="object 3"/>
            <p:cNvSpPr/>
            <p:nvPr/>
          </p:nvSpPr>
          <p:spPr>
            <a:xfrm>
              <a:off x="0" y="0"/>
              <a:ext cx="6242685" cy="6858000"/>
            </a:xfrm>
            <a:custGeom>
              <a:avLst/>
              <a:gdLst/>
              <a:ahLst/>
              <a:cxnLst/>
              <a:rect l="l" t="t" r="r" b="b"/>
              <a:pathLst>
                <a:path w="6242685" h="6858000">
                  <a:moveTo>
                    <a:pt x="0" y="6858000"/>
                  </a:moveTo>
                  <a:lnTo>
                    <a:pt x="6242304" y="6858000"/>
                  </a:lnTo>
                  <a:lnTo>
                    <a:pt x="6242304" y="0"/>
                  </a:lnTo>
                  <a:lnTo>
                    <a:pt x="0" y="0"/>
                  </a:lnTo>
                  <a:lnTo>
                    <a:pt x="0" y="6858000"/>
                  </a:lnTo>
                  <a:close/>
                </a:path>
              </a:pathLst>
            </a:custGeom>
            <a:solidFill>
              <a:srgbClr val="D9D9D9"/>
            </a:solidFill>
          </p:spPr>
          <p:txBody>
            <a:bodyPr wrap="square" lIns="0" tIns="0" rIns="0" bIns="0" rtlCol="0"/>
            <a:lstStyle/>
            <a:p/>
          </p:txBody>
        </p:sp>
        <p:pic>
          <p:nvPicPr>
            <p:cNvPr id="16" name="object 4"/>
            <p:cNvPicPr/>
            <p:nvPr/>
          </p:nvPicPr>
          <p:blipFill>
            <a:blip r:embed="rId1" cstate="print"/>
            <a:stretch>
              <a:fillRect/>
            </a:stretch>
          </p:blipFill>
          <p:spPr>
            <a:xfrm>
              <a:off x="0" y="0"/>
              <a:ext cx="6242303" cy="6277356"/>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AI</a:t>
            </a:r>
            <a:r>
              <a:rPr b="1" spc="-2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in</a:t>
            </a:r>
            <a:r>
              <a:rPr b="1" spc="-2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Agriculture</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165860"/>
            <a:ext cx="5023485" cy="4526280"/>
          </a:xfrm>
        </p:spPr>
        <p:txBody>
          <a:bodyPr>
            <a:normAutofit/>
          </a:bodyPr>
          <a:p>
            <a:pPr algn="just"/>
            <a:r>
              <a:rPr lang="en-US" altLang="en-US" sz="2400">
                <a:latin typeface="Times New Roman" panose="02020603050405020304" pitchFamily="18" charset="0"/>
                <a:cs typeface="Times New Roman" panose="02020603050405020304" pitchFamily="18" charset="0"/>
              </a:rPr>
              <a:t>AI is transforming agriculture by offering solutions for precision farming, crop monitoring, and supply chain optimization. </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AI-powered tools analyze data from various sources like drones, sensors, and satellite imagery to help farmers make informed decisions about irrigation, fertilization, and pest control.</a:t>
            </a:r>
            <a:r>
              <a:rPr lang="en-US" altLang="en-US" sz="3600">
                <a:latin typeface="Times New Roman" panose="02020603050405020304" pitchFamily="18" charset="0"/>
                <a:cs typeface="Times New Roman" panose="02020603050405020304" pitchFamily="18" charset="0"/>
              </a:rPr>
              <a:t> </a:t>
            </a:r>
            <a:endParaRPr lang="en-US" altLang="en-US" sz="3600">
              <a:latin typeface="Times New Roman" panose="02020603050405020304" pitchFamily="18" charset="0"/>
              <a:cs typeface="Times New Roman" panose="02020603050405020304" pitchFamily="18" charset="0"/>
            </a:endParaRPr>
          </a:p>
        </p:txBody>
      </p:sp>
      <p:pic>
        <p:nvPicPr>
          <p:cNvPr id="24" name="object 11"/>
          <p:cNvPicPr/>
          <p:nvPr/>
        </p:nvPicPr>
        <p:blipFill>
          <a:blip r:embed="rId1" cstate="print"/>
          <a:stretch>
            <a:fillRect/>
          </a:stretch>
        </p:blipFill>
        <p:spPr>
          <a:xfrm>
            <a:off x="5805170" y="1066800"/>
            <a:ext cx="3431540" cy="4086860"/>
          </a:xfrm>
          <a:prstGeom prst="rect">
            <a:avLst/>
          </a:prstGeom>
        </p:spPr>
      </p:pic>
      <p:sp>
        <p:nvSpPr>
          <p:cNvPr id="25"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fld id="{81D60167-4931-47E6-BA6A-407CBD079E47}" type="slidenum">
              <a:rPr spc="-25" dirty="0"/>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AI</a:t>
            </a:r>
            <a:r>
              <a:rPr b="1" spc="-2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in</a:t>
            </a:r>
            <a:r>
              <a:rPr b="1" spc="-20"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Health</a:t>
            </a:r>
            <a:r>
              <a:rPr b="1" spc="-35" dirty="0">
                <a:latin typeface="Times New Roman" panose="02020603050405020304" pitchFamily="18" charset="0"/>
                <a:cs typeface="Times New Roman" panose="02020603050405020304" pitchFamily="18" charset="0"/>
                <a:sym typeface="+mn-ea"/>
              </a:rPr>
              <a:t> </a:t>
            </a:r>
            <a:r>
              <a:rPr b="1" spc="-20" dirty="0">
                <a:latin typeface="Times New Roman" panose="02020603050405020304" pitchFamily="18" charset="0"/>
                <a:cs typeface="Times New Roman" panose="02020603050405020304" pitchFamily="18" charset="0"/>
                <a:sym typeface="+mn-ea"/>
              </a:rPr>
              <a:t>Care</a:t>
            </a:r>
            <a:endParaRPr lang="en-US"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4703445" cy="4526280"/>
          </a:xfrm>
        </p:spPr>
        <p:txBody>
          <a:bodyPr>
            <a:noAutofit/>
          </a:bodyPr>
          <a:p>
            <a:pPr algn="just">
              <a:lnSpc>
                <a:spcPct val="100000"/>
              </a:lnSpc>
            </a:pPr>
            <a:r>
              <a:rPr lang="en-US" altLang="en-US" sz="4000" baseline="30000">
                <a:latin typeface="Times New Roman" panose="02020603050405020304" pitchFamily="18" charset="0"/>
                <a:cs typeface="Times New Roman" panose="02020603050405020304" pitchFamily="18" charset="0"/>
              </a:rPr>
              <a:t>AI in healthcare refers to the application of artificial intelligence technologies to improve various aspects of healthcare delivery, diagnosis, treatment, and research. AI can analyze vast amounts of medical data, identify patterns, and offer insights that can enhance patient care and streamline processes. </a:t>
            </a:r>
            <a:endParaRPr lang="en-US" altLang="en-US" sz="4000" baseline="30000">
              <a:latin typeface="Times New Roman" panose="02020603050405020304" pitchFamily="18" charset="0"/>
              <a:cs typeface="Times New Roman" panose="02020603050405020304" pitchFamily="18" charset="0"/>
            </a:endParaRPr>
          </a:p>
        </p:txBody>
      </p:sp>
      <p:pic>
        <p:nvPicPr>
          <p:cNvPr id="8" name="object 8"/>
          <p:cNvPicPr/>
          <p:nvPr/>
        </p:nvPicPr>
        <p:blipFill>
          <a:blip r:embed="rId1" cstate="print"/>
          <a:stretch>
            <a:fillRect/>
          </a:stretch>
        </p:blipFill>
        <p:spPr>
          <a:xfrm>
            <a:off x="5562600" y="1676400"/>
            <a:ext cx="3042920" cy="343027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latin typeface="Times New Roman" panose="02020603050405020304" pitchFamily="18" charset="0"/>
                <a:cs typeface="Times New Roman" panose="02020603050405020304" pitchFamily="18" charset="0"/>
              </a:rPr>
              <a:t>AI, Machine Learning, and Deep Learning</a:t>
            </a:r>
            <a:endParaRPr lang="en-US"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endParaRPr lang="en-US"/>
          </a:p>
        </p:txBody>
      </p:sp>
      <p:grpSp>
        <p:nvGrpSpPr>
          <p:cNvPr id="4" name="object 2"/>
          <p:cNvGrpSpPr/>
          <p:nvPr/>
        </p:nvGrpSpPr>
        <p:grpSpPr>
          <a:xfrm>
            <a:off x="1217295" y="1737995"/>
            <a:ext cx="6823075" cy="4725670"/>
            <a:chOff x="-3175" y="-3175"/>
            <a:chExt cx="12198350" cy="6317615"/>
          </a:xfrm>
        </p:grpSpPr>
        <p:sp>
          <p:nvSpPr>
            <p:cNvPr id="5" name="object 3"/>
            <p:cNvSpPr/>
            <p:nvPr/>
          </p:nvSpPr>
          <p:spPr>
            <a:xfrm>
              <a:off x="0" y="0"/>
              <a:ext cx="10625455" cy="5404485"/>
            </a:xfrm>
            <a:custGeom>
              <a:avLst/>
              <a:gdLst/>
              <a:ahLst/>
              <a:cxnLst/>
              <a:rect l="l" t="t" r="r" b="b"/>
              <a:pathLst>
                <a:path w="10625455" h="5404485">
                  <a:moveTo>
                    <a:pt x="10625328" y="0"/>
                  </a:moveTo>
                  <a:lnTo>
                    <a:pt x="0" y="0"/>
                  </a:lnTo>
                  <a:lnTo>
                    <a:pt x="0" y="5404104"/>
                  </a:lnTo>
                  <a:lnTo>
                    <a:pt x="10625328" y="0"/>
                  </a:lnTo>
                  <a:close/>
                </a:path>
              </a:pathLst>
            </a:custGeom>
            <a:solidFill>
              <a:srgbClr val="F1F1F1"/>
            </a:solidFill>
          </p:spPr>
          <p:txBody>
            <a:bodyPr wrap="square" lIns="0" tIns="0" rIns="0" bIns="0" rtlCol="0"/>
            <a:p/>
          </p:txBody>
        </p:sp>
        <p:sp>
          <p:nvSpPr>
            <p:cNvPr id="6" name="object 4"/>
            <p:cNvSpPr/>
            <p:nvPr/>
          </p:nvSpPr>
          <p:spPr>
            <a:xfrm>
              <a:off x="0" y="0"/>
              <a:ext cx="6031230" cy="3004820"/>
            </a:xfrm>
            <a:custGeom>
              <a:avLst/>
              <a:gdLst/>
              <a:ahLst/>
              <a:cxnLst/>
              <a:rect l="l" t="t" r="r" b="b"/>
              <a:pathLst>
                <a:path w="6031230" h="3004820">
                  <a:moveTo>
                    <a:pt x="0" y="3004439"/>
                  </a:moveTo>
                  <a:lnTo>
                    <a:pt x="6030722" y="0"/>
                  </a:lnTo>
                </a:path>
              </a:pathLst>
            </a:custGeom>
            <a:ln w="6350">
              <a:solidFill>
                <a:srgbClr val="A6A6A6"/>
              </a:solidFill>
            </a:ln>
          </p:spPr>
          <p:txBody>
            <a:bodyPr wrap="square" lIns="0" tIns="0" rIns="0" bIns="0" rtlCol="0"/>
            <a:p/>
          </p:txBody>
        </p:sp>
        <p:sp>
          <p:nvSpPr>
            <p:cNvPr id="7" name="object 5"/>
            <p:cNvSpPr/>
            <p:nvPr/>
          </p:nvSpPr>
          <p:spPr>
            <a:xfrm>
              <a:off x="9003792" y="3924300"/>
              <a:ext cx="3187700" cy="1689100"/>
            </a:xfrm>
            <a:custGeom>
              <a:avLst/>
              <a:gdLst/>
              <a:ahLst/>
              <a:cxnLst/>
              <a:rect l="l" t="t" r="r" b="b"/>
              <a:pathLst>
                <a:path w="3187700" h="1689100">
                  <a:moveTo>
                    <a:pt x="0" y="1689100"/>
                  </a:moveTo>
                  <a:lnTo>
                    <a:pt x="3187700" y="0"/>
                  </a:lnTo>
                </a:path>
              </a:pathLst>
            </a:custGeom>
            <a:ln w="6350">
              <a:solidFill>
                <a:srgbClr val="EAB100"/>
              </a:solidFill>
            </a:ln>
          </p:spPr>
          <p:txBody>
            <a:bodyPr wrap="square" lIns="0" tIns="0" rIns="0" bIns="0" rtlCol="0"/>
            <a:p/>
          </p:txBody>
        </p:sp>
        <p:sp>
          <p:nvSpPr>
            <p:cNvPr id="8" name="object 6"/>
            <p:cNvSpPr/>
            <p:nvPr/>
          </p:nvSpPr>
          <p:spPr>
            <a:xfrm>
              <a:off x="0" y="4700015"/>
              <a:ext cx="1901825" cy="991869"/>
            </a:xfrm>
            <a:custGeom>
              <a:avLst/>
              <a:gdLst/>
              <a:ahLst/>
              <a:cxnLst/>
              <a:rect l="l" t="t" r="r" b="b"/>
              <a:pathLst>
                <a:path w="1901825" h="991870">
                  <a:moveTo>
                    <a:pt x="0" y="991515"/>
                  </a:moveTo>
                  <a:lnTo>
                    <a:pt x="1901444" y="0"/>
                  </a:lnTo>
                </a:path>
              </a:pathLst>
            </a:custGeom>
            <a:ln w="6350">
              <a:solidFill>
                <a:srgbClr val="00184B"/>
              </a:solidFill>
            </a:ln>
          </p:spPr>
          <p:txBody>
            <a:bodyPr wrap="square" lIns="0" tIns="0" rIns="0" bIns="0" rtlCol="0"/>
            <a:p/>
          </p:txBody>
        </p:sp>
        <p:pic>
          <p:nvPicPr>
            <p:cNvPr id="9" name="object 7"/>
            <p:cNvPicPr/>
            <p:nvPr/>
          </p:nvPicPr>
          <p:blipFill>
            <a:blip r:embed="rId1" cstate="print"/>
            <a:stretch>
              <a:fillRect/>
            </a:stretch>
          </p:blipFill>
          <p:spPr>
            <a:xfrm>
              <a:off x="0" y="321563"/>
              <a:ext cx="12191999" cy="5992367"/>
            </a:xfrm>
            <a:prstGeom prst="rect">
              <a:avLst/>
            </a:prstGeom>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atin typeface="Times New Roman" panose="02020603050405020304" pitchFamily="18" charset="0"/>
                <a:cs typeface="Times New Roman" panose="02020603050405020304" pitchFamily="18" charset="0"/>
              </a:rPr>
              <a:t>Machine Learning</a:t>
            </a:r>
            <a:endParaRPr lang="en-US"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r>
              <a:rPr lang="en-US" altLang="en-US">
                <a:latin typeface="Times New Roman" panose="02020603050405020304" pitchFamily="18" charset="0"/>
                <a:cs typeface="Times New Roman" panose="02020603050405020304" pitchFamily="18" charset="0"/>
              </a:rPr>
              <a:t>“Machine  Learning  is  a  subset  of  artificial intelligence. It allows the machines to learn and make predictions based on its experience(data)“</a:t>
            </a:r>
            <a:endParaRPr lang="en-US" altLang="en-US">
              <a:latin typeface="Times New Roman" panose="02020603050405020304" pitchFamily="18" charset="0"/>
              <a:cs typeface="Times New Roman" panose="02020603050405020304" pitchFamily="18" charset="0"/>
            </a:endParaRPr>
          </a:p>
          <a:p>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atin typeface="Times New Roman" panose="02020603050405020304" pitchFamily="18" charset="0"/>
                <a:cs typeface="Times New Roman" panose="02020603050405020304" pitchFamily="18" charset="0"/>
              </a:rPr>
              <a:t>Deep Learning</a:t>
            </a:r>
            <a:endParaRPr lang="en-US" alt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1165860"/>
            <a:ext cx="8229600" cy="4525963"/>
          </a:xfrm>
        </p:spPr>
        <p:txBody>
          <a:bodyPr/>
          <a:p>
            <a:pPr marL="349250" indent="0" algn="just">
              <a:buNone/>
            </a:pPr>
            <a:r>
              <a:rPr lang="en-US" altLang="en-US">
                <a:latin typeface="Times New Roman" panose="02020603050405020304" pitchFamily="18" charset="0"/>
                <a:cs typeface="Times New Roman" panose="02020603050405020304" pitchFamily="18" charset="0"/>
              </a:rPr>
              <a:t>Deep learning	is a particular kind of machine learning that achieves great power and flexibility by learning to represent the world as nested hierarchy of concepts or abstraction”</a:t>
            </a:r>
            <a:endParaRPr lang="en-US" altLang="en-US">
              <a:latin typeface="Times New Roman" panose="02020603050405020304" pitchFamily="18" charset="0"/>
              <a:cs typeface="Times New Roman" panose="02020603050405020304" pitchFamily="18" charset="0"/>
            </a:endParaRPr>
          </a:p>
          <a:p>
            <a:pPr algn="just"/>
            <a:endParaRPr lang="en-US" altLang="en-US"/>
          </a:p>
          <a:p>
            <a:endParaRPr lang="en-US" altLang="en-US"/>
          </a:p>
        </p:txBody>
      </p:sp>
      <p:pic>
        <p:nvPicPr>
          <p:cNvPr id="4" name="object 2"/>
          <p:cNvPicPr/>
          <p:nvPr/>
        </p:nvPicPr>
        <p:blipFill>
          <a:blip r:embed="rId1" cstate="print"/>
          <a:stretch>
            <a:fillRect/>
          </a:stretch>
        </p:blipFill>
        <p:spPr>
          <a:xfrm>
            <a:off x="1417320" y="3170555"/>
            <a:ext cx="6990715" cy="330327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atin typeface="Times New Roman" panose="02020603050405020304" pitchFamily="18" charset="0"/>
                <a:cs typeface="Times New Roman" panose="02020603050405020304" pitchFamily="18" charset="0"/>
                <a:sym typeface="+mn-ea"/>
              </a:rPr>
              <a:t>The Birth of AI: 1950-1956</a:t>
            </a:r>
            <a:endParaRPr lang="en-US" altLang="en-US">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57200" y="1417955"/>
            <a:ext cx="8229600" cy="4525963"/>
          </a:xfrm>
        </p:spPr>
        <p:txBody>
          <a:bodyPr>
            <a:noAutofit/>
          </a:bodyPr>
          <a:p>
            <a:pPr algn="just"/>
            <a:r>
              <a:rPr lang="en-US" altLang="en-US" sz="1800">
                <a:latin typeface="Times New Roman" panose="02020603050405020304" pitchFamily="18" charset="0"/>
                <a:cs typeface="Times New Roman" panose="02020603050405020304" pitchFamily="18" charset="0"/>
              </a:rPr>
              <a:t>The genesis of Artificial Intelligence as a discernible field of study occurred in the early 1950s. This period was marked by the pioneering work of Alan Turing, a British mathematician and logician.</a:t>
            </a:r>
            <a:endParaRPr lang="en-US" altLang="en-US" sz="1800">
              <a:latin typeface="Times New Roman" panose="02020603050405020304" pitchFamily="18" charset="0"/>
              <a:cs typeface="Times New Roman" panose="02020603050405020304" pitchFamily="18" charset="0"/>
            </a:endParaRPr>
          </a:p>
          <a:p>
            <a:pPr algn="just"/>
            <a:r>
              <a:rPr lang="en-US" altLang="en-US" sz="1800">
                <a:latin typeface="Times New Roman" panose="02020603050405020304" pitchFamily="18" charset="0"/>
                <a:cs typeface="Times New Roman" panose="02020603050405020304" pitchFamily="18" charset="0"/>
              </a:rPr>
              <a:t>Alan Turing and the Turing Test: Alan Turing introduced the concept of machine intelligence in 1950 with his seminal paper "Computing Machinery and Intelligence," where he proposed a criterion of intelligence that came to be known as the Turing Test. The test was designed to evaluate a machine's ability to exhibit intelligent behavior equivalent to or indistinguishable from that of a human. Turing's ideas laid the groundwork for the development of artificial intelligence as a scientific discipline.</a:t>
            </a:r>
            <a:endParaRPr lang="en-US" altLang="en-US" sz="1800">
              <a:latin typeface="Times New Roman" panose="02020603050405020304" pitchFamily="18" charset="0"/>
              <a:cs typeface="Times New Roman" panose="02020603050405020304" pitchFamily="18" charset="0"/>
            </a:endParaRPr>
          </a:p>
          <a:p>
            <a:pPr algn="just"/>
            <a:r>
              <a:rPr lang="en-US" altLang="en-US" sz="1800">
                <a:latin typeface="Times New Roman" panose="02020603050405020304" pitchFamily="18" charset="0"/>
                <a:cs typeface="Times New Roman" panose="02020603050405020304" pitchFamily="18" charset="0"/>
              </a:rPr>
              <a:t>The Dartmouth Conference: The Dartmouth Conference in 1956 is often considered the birth of AI as a field. Organized by John McCarthy, Marvin Minsky, Nathaniel Rochester, and Claude Shannon, the conference brought together researchers interested in neural networks and the automation of intelligent behavior. It was at this conference that the term "Artificial Intelligence" was coined and adopted.</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latin typeface="Times New Roman" panose="02020603050405020304" pitchFamily="18" charset="0"/>
                <a:cs typeface="Times New Roman" panose="02020603050405020304" pitchFamily="18" charset="0"/>
              </a:rPr>
              <a:t>HISTORY OF AI</a:t>
            </a:r>
            <a:br>
              <a:rPr lang="en-US" altLang="en-US"/>
            </a:br>
            <a:endParaRPr lang="en-US" altLang="en-US"/>
          </a:p>
        </p:txBody>
      </p:sp>
      <p:pic>
        <p:nvPicPr>
          <p:cNvPr id="10" name="object 10"/>
          <p:cNvPicPr>
            <a:picLocks noChangeAspect="1"/>
          </p:cNvPicPr>
          <p:nvPr>
            <p:ph idx="1"/>
          </p:nvPr>
        </p:nvPicPr>
        <p:blipFill>
          <a:blip r:embed="rId1" cstate="print"/>
          <a:stretch>
            <a:fillRect/>
          </a:stretch>
        </p:blipFill>
        <p:spPr>
          <a:xfrm>
            <a:off x="844550" y="1273810"/>
            <a:ext cx="7566025" cy="444182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atin typeface="Times New Roman" panose="02020603050405020304" pitchFamily="18" charset="0"/>
                <a:cs typeface="Times New Roman" panose="02020603050405020304" pitchFamily="18" charset="0"/>
                <a:sym typeface="+mn-ea"/>
              </a:rPr>
              <a:t>HISTORY OF AI</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0000"/>
          </a:bodyPr>
          <a:p>
            <a:pPr marL="514350" indent="-514350" algn="just">
              <a:buAutoNum type="arabicPeriod"/>
            </a:pPr>
            <a:r>
              <a:rPr lang="en-US" altLang="en-US">
                <a:latin typeface="Times New Roman" panose="02020603050405020304" pitchFamily="18" charset="0"/>
                <a:cs typeface="Times New Roman" panose="02020603050405020304" pitchFamily="18" charset="0"/>
              </a:rPr>
              <a:t>1921: Czech playwright Karel </a:t>
            </a:r>
            <a:r>
              <a:rPr lang="en-US" altLang="en-US">
                <a:latin typeface="Times New Roman" panose="02020603050405020304" pitchFamily="18" charset="0"/>
                <a:cs typeface="Times New Roman" panose="02020603050405020304" pitchFamily="18" charset="0"/>
              </a:rPr>
              <a:t>Č</a:t>
            </a:r>
            <a:r>
              <a:rPr lang="en-US" altLang="en-US">
                <a:latin typeface="Times New Roman" panose="02020603050405020304" pitchFamily="18" charset="0"/>
                <a:cs typeface="Times New Roman" panose="02020603050405020304" pitchFamily="18" charset="0"/>
              </a:rPr>
              <a:t>apek released a science fiction play “Rossum’s Universal Robots” which introduced the idea of “artificial people” which he named robots. This was the first known use of the word.</a:t>
            </a:r>
            <a:endParaRPr lang="en-US" altLang="en-US">
              <a:latin typeface="Times New Roman" panose="02020603050405020304" pitchFamily="18" charset="0"/>
              <a:cs typeface="Times New Roman" panose="02020603050405020304" pitchFamily="18" charset="0"/>
            </a:endParaRPr>
          </a:p>
          <a:p>
            <a:pPr marL="514350" indent="-514350" algn="just">
              <a:buAutoNum type="arabicPeriod"/>
            </a:pPr>
            <a:r>
              <a:rPr lang="en-US" altLang="en-US">
                <a:latin typeface="Times New Roman" panose="02020603050405020304" pitchFamily="18" charset="0"/>
                <a:cs typeface="Times New Roman" panose="02020603050405020304" pitchFamily="18" charset="0"/>
              </a:rPr>
              <a:t>1929: Japanese professor Makoto Nishimura built the first Japanese robot, named Gakutensoku.</a:t>
            </a:r>
            <a:endParaRPr lang="en-US" altLang="en-US">
              <a:latin typeface="Times New Roman" panose="02020603050405020304" pitchFamily="18" charset="0"/>
              <a:cs typeface="Times New Roman" panose="02020603050405020304" pitchFamily="18" charset="0"/>
            </a:endParaRPr>
          </a:p>
          <a:p>
            <a:pPr marL="514350" indent="-514350" algn="just">
              <a:buAutoNum type="arabicPeriod"/>
            </a:pPr>
            <a:r>
              <a:rPr lang="en-US" altLang="en-US">
                <a:latin typeface="Times New Roman" panose="02020603050405020304" pitchFamily="18" charset="0"/>
                <a:cs typeface="Times New Roman" panose="02020603050405020304" pitchFamily="18" charset="0"/>
              </a:rPr>
              <a:t>1949: Computer scientist Edmund Callis Berkley published the book “Giant Brains, or Machines that Think” which compared the newer models of computers to human brains.</a:t>
            </a:r>
            <a:endParaRPr lang="en-US" altLang="en-US">
              <a:latin typeface="Times New Roman" panose="02020603050405020304" pitchFamily="18" charset="0"/>
              <a:cs typeface="Times New Roman" panose="02020603050405020304" pitchFamily="18" charset="0"/>
            </a:endParaRPr>
          </a:p>
          <a:p>
            <a:pPr marL="514350" indent="-514350" algn="just">
              <a:buAutoNum type="arabicPeriod"/>
            </a:pP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80000"/>
          </a:bodyPr>
          <a:p>
            <a:pPr marL="523875" indent="-499745" algn="just">
              <a:buFont typeface="+mj-lt"/>
              <a:buNone/>
            </a:pPr>
            <a:r>
              <a:rPr lang="en-US" altLang="en-US">
                <a:latin typeface="Times New Roman" panose="02020603050405020304" pitchFamily="18" charset="0"/>
                <a:cs typeface="Times New Roman" panose="02020603050405020304" pitchFamily="18" charset="0"/>
              </a:rPr>
              <a:t>4</a:t>
            </a:r>
            <a:r>
              <a:rPr lang="en-US" altLang="en-US"/>
              <a:t>.	</a:t>
            </a:r>
            <a:r>
              <a:rPr lang="en-US" altLang="en-US">
                <a:latin typeface="Times New Roman" panose="02020603050405020304" pitchFamily="18" charset="0"/>
                <a:cs typeface="Times New Roman" panose="02020603050405020304" pitchFamily="18" charset="0"/>
              </a:rPr>
              <a:t>1950: Alan Turing published “Computer Machinery and Intelligence” which proposed a test of machine intelligence called “The Imitation  Game”.</a:t>
            </a:r>
            <a:endParaRPr lang="en-US" altLang="en-US">
              <a:latin typeface="Times New Roman" panose="02020603050405020304" pitchFamily="18" charset="0"/>
              <a:cs typeface="Times New Roman" panose="02020603050405020304" pitchFamily="18" charset="0"/>
            </a:endParaRPr>
          </a:p>
          <a:p>
            <a:pPr marL="523875" indent="-499745" algn="just">
              <a:buFont typeface="+mj-lt"/>
              <a:buNone/>
            </a:pPr>
            <a:r>
              <a:rPr lang="en-US" altLang="en-US">
                <a:latin typeface="Times New Roman" panose="02020603050405020304" pitchFamily="18" charset="0"/>
                <a:cs typeface="Times New Roman" panose="02020603050405020304" pitchFamily="18" charset="0"/>
              </a:rPr>
              <a:t>5.	1952: A computer scientist named ArthurSamuel developed a program to play checkers, which is the first to ever learn the game 	independently.</a:t>
            </a:r>
            <a:endParaRPr lang="en-US" altLang="en-US">
              <a:latin typeface="Times New Roman" panose="02020603050405020304" pitchFamily="18" charset="0"/>
              <a:cs typeface="Times New Roman" panose="02020603050405020304" pitchFamily="18" charset="0"/>
            </a:endParaRPr>
          </a:p>
          <a:p>
            <a:pPr marL="523875" indent="-499745" algn="just">
              <a:buFont typeface="+mj-lt"/>
              <a:buNone/>
            </a:pPr>
            <a:r>
              <a:rPr lang="en-US" altLang="en-US">
                <a:latin typeface="Times New Roman" panose="02020603050405020304" pitchFamily="18" charset="0"/>
                <a:cs typeface="Times New Roman" panose="02020603050405020304" pitchFamily="18" charset="0"/>
              </a:rPr>
              <a:t>6. 	1955: John McCarthy held a workshop at Dartmouth on “artificial intelligence” which is the first use of the 	word, and how it came into popular usage</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latin typeface="Times New Roman" panose="02020603050405020304" pitchFamily="18" charset="0"/>
                <a:cs typeface="Times New Roman" panose="02020603050405020304" pitchFamily="18" charset="0"/>
                <a:sym typeface="+mn-ea"/>
              </a:rPr>
              <a:t>AI</a:t>
            </a:r>
            <a:r>
              <a:rPr spc="-75" dirty="0">
                <a:latin typeface="Times New Roman" panose="02020603050405020304" pitchFamily="18" charset="0"/>
                <a:cs typeface="Times New Roman" panose="02020603050405020304" pitchFamily="18" charset="0"/>
                <a:sym typeface="+mn-ea"/>
              </a:rPr>
              <a:t> </a:t>
            </a:r>
            <a:r>
              <a:rPr spc="-10" dirty="0">
                <a:latin typeface="Times New Roman" panose="02020603050405020304" pitchFamily="18" charset="0"/>
                <a:cs typeface="Times New Roman" panose="02020603050405020304" pitchFamily="18" charset="0"/>
                <a:sym typeface="+mn-ea"/>
              </a:rPr>
              <a:t>maturation:</a:t>
            </a:r>
            <a:r>
              <a:rPr spc="-85" dirty="0">
                <a:latin typeface="Times New Roman" panose="02020603050405020304" pitchFamily="18" charset="0"/>
                <a:cs typeface="Times New Roman" panose="02020603050405020304" pitchFamily="18" charset="0"/>
                <a:sym typeface="+mn-ea"/>
              </a:rPr>
              <a:t> </a:t>
            </a:r>
            <a:r>
              <a:rPr spc="-10" dirty="0">
                <a:latin typeface="Times New Roman" panose="02020603050405020304" pitchFamily="18" charset="0"/>
                <a:cs typeface="Times New Roman" panose="02020603050405020304" pitchFamily="18" charset="0"/>
                <a:sym typeface="+mn-ea"/>
              </a:rPr>
              <a:t>1957-</a:t>
            </a:r>
            <a:r>
              <a:rPr spc="-20" dirty="0">
                <a:latin typeface="Times New Roman" panose="02020603050405020304" pitchFamily="18" charset="0"/>
                <a:cs typeface="Times New Roman" panose="02020603050405020304" pitchFamily="18" charset="0"/>
                <a:sym typeface="+mn-ea"/>
              </a:rPr>
              <a:t>1979</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50000"/>
          </a:bodyPr>
          <a:p>
            <a:pPr algn="just"/>
            <a:r>
              <a:rPr lang="en-US" altLang="en-US">
                <a:latin typeface="Times New Roman" panose="02020603050405020304" pitchFamily="18" charset="0"/>
                <a:cs typeface="Times New Roman" panose="02020603050405020304" pitchFamily="18" charset="0"/>
              </a:rPr>
              <a:t>1958: John McCarthy created LISP (acronym for List Processing), the first programming language for AI research, which is still in popular use to this day.</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1959: Arthur Samuel created the term “machine learning” when doing a speech about teaching machines to play chess better than the humans who programmed them.</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1961: The first industrial robot Unimate started working on an assembly line at General Motors in New Jersey, tasked with transporting die casings and welding parts on cars (which was deemed too dangerous for humans).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1965: Edward Feigenbaum and Joshua Lederberg created the first “expert system” which was a form of AI programmed to replicate the thinking and decision-making abilities of human experts.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1966: Joseph Weizenbaum created the first “chatterbot” (later shortened to chatbot), ELIZA, a mock psychotherapist, that used natural language processing (NLP) to converse with humans.1968: Soviet mathematician Alexey Ivakhnenko published “Group Method of Data Handling” in the journal “Avtomatika,” which proposed a new approach to AI that would later become what we now know as “Deep Learning.”</a:t>
            </a:r>
            <a:endParaRPr lang="en-US" altLang="en-US">
              <a:latin typeface="Times New Roman" panose="02020603050405020304" pitchFamily="18" charset="0"/>
              <a:cs typeface="Times New Roman" panose="02020603050405020304" pitchFamily="18" charset="0"/>
            </a:endParaRPr>
          </a:p>
          <a:p>
            <a:pPr algn="just"/>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pPr algn="just"/>
            <a:r>
              <a:rPr lang="en-US" altLang="en-US">
                <a:latin typeface="Times New Roman" panose="02020603050405020304" pitchFamily="18" charset="0"/>
                <a:cs typeface="Times New Roman" panose="02020603050405020304" pitchFamily="18" charset="0"/>
                <a:sym typeface="+mn-ea"/>
              </a:rPr>
              <a:t>1973: An applied mathematician named James Lighthill gave a report to the British Science Council, underlining that strides were not as impressive as those that had been promised by scientists, which led to much-reduced support and funding for AI research from the British government.</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1979: James L. Adams created The Standford Cart in 1961, which became one of the first examples of an autonomous vehicle. In ‘79, it successfully navigated a room full of chairs without human interference.</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1979: The American Association of Artificial Intelligence which is now known as the Association for the Advancement of Artificial Intelligence (AAAI) was founded.</a:t>
            </a:r>
            <a:endParaRPr lang="en-US" altLang="en-US">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AI boom: 1980-1987</a:t>
            </a:r>
            <a:endParaRPr lang="en-US"/>
          </a:p>
        </p:txBody>
      </p:sp>
      <p:sp>
        <p:nvSpPr>
          <p:cNvPr id="3" name="Content Placeholder 2"/>
          <p:cNvSpPr>
            <a:spLocks noGrp="1"/>
          </p:cNvSpPr>
          <p:nvPr>
            <p:ph idx="1"/>
          </p:nvPr>
        </p:nvSpPr>
        <p:spPr>
          <a:xfrm>
            <a:off x="533400" y="1219200"/>
            <a:ext cx="8229600" cy="4525963"/>
          </a:xfrm>
        </p:spPr>
        <p:txBody>
          <a:bodyPr>
            <a:noAutofit/>
          </a:bodyPr>
          <a:p>
            <a:pPr algn="just"/>
            <a:r>
              <a:rPr lang="en-US" altLang="en-US" sz="1400">
                <a:latin typeface="Times New Roman" panose="02020603050405020304" pitchFamily="18" charset="0"/>
                <a:cs typeface="Times New Roman" panose="02020603050405020304" pitchFamily="18" charset="0"/>
              </a:rPr>
              <a:t>Most of the 1980s showed a period of rapid growth and interest in AI, now labeled as the “AI boom.” This came from both breakthroughs in research, and additional government funding to support the researchers. Deep Learning techniques and the use of Expert System became more popular, both of which allowed computers to learn from their mistakes and make independent decisions.</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Notable dates in this time period include:</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1980: First conference of the AAAI was held at Stanford.</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1980: The first expert system came into the commercial market, known as XCON (expert configurer). It was designed to assist in the ordering of computer systems by automatically picking components based on the customer’s needs.</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1981: The Japanese government allocated $850 million (over $2 billion dollars in today’s money) to the Fifth Generation Computer project. Their aim was to create computers that could translate, converse in human language, and express reasoning on a human level.</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1984: The AAAI warns of an incoming “AI Winter” where funding and interest would decrease, and make research significantly more difficult.</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1985: An autonomous drawing program known as AARON is demonstrated at the AAAI conference.</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1986: Ernst Dickmann and his team at Bundeswehr University of Munich created and demonstrated the first driverless car (or robot car). It could drive up to 55 mph on roads that didn’t have other obstacles or human drivers.</a:t>
            </a:r>
            <a:endParaRPr lang="en-US" altLang="en-US" sz="1400">
              <a:latin typeface="Times New Roman" panose="02020603050405020304" pitchFamily="18" charset="0"/>
              <a:cs typeface="Times New Roman" panose="02020603050405020304" pitchFamily="18" charset="0"/>
            </a:endParaRPr>
          </a:p>
          <a:p>
            <a:pPr algn="just"/>
            <a:r>
              <a:rPr lang="en-US" altLang="en-US" sz="1400">
                <a:latin typeface="Times New Roman" panose="02020603050405020304" pitchFamily="18" charset="0"/>
                <a:cs typeface="Times New Roman" panose="02020603050405020304" pitchFamily="18" charset="0"/>
              </a:rPr>
              <a:t>1987: Commercial launch of Alacrity by Alactrious Inc. Alacrity was the first strategy managerial advisory system, and used a complex expert system with 3,000+ rules.</a:t>
            </a:r>
            <a:endParaRPr lang="en-US" altLang="en-US"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AI winter: 1987-1993</a:t>
            </a:r>
            <a:endParaRPr lang="en-US"/>
          </a:p>
        </p:txBody>
      </p:sp>
      <p:sp>
        <p:nvSpPr>
          <p:cNvPr id="3" name="Content Placeholder 2"/>
          <p:cNvSpPr>
            <a:spLocks noGrp="1"/>
          </p:cNvSpPr>
          <p:nvPr>
            <p:ph idx="1"/>
          </p:nvPr>
        </p:nvSpPr>
        <p:spPr/>
        <p:txBody>
          <a:bodyPr>
            <a:normAutofit fontScale="50000"/>
          </a:bodyPr>
          <a:p>
            <a:pPr algn="just"/>
            <a:r>
              <a:rPr lang="en-US" altLang="en-US">
                <a:latin typeface="Times New Roman" panose="02020603050405020304" pitchFamily="18" charset="0"/>
                <a:cs typeface="Times New Roman" panose="02020603050405020304" pitchFamily="18" charset="0"/>
              </a:rPr>
              <a:t>As the AAAI warned, an AI Winter came. The term describes a period of low consumer, public, and private interest in AI which leads to decreased research funding, which, in turn, leads to few breakthroughs. Both private investors and the government lost interest in AI and halted their funding due to high cost versus seemingly low return. This AI Winter came about because of some setbacks in the machine market and expert systems, including the end of the Fifth Generation project, cutbacks in strategic computing initiatives, and a slowdown in the deployment of expert systems.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Notable dates include:</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1987: The market for specialized LISP-based hardware collapsed due to cheaper and more accessible competitors that could run LISP software, including those offered by IBM and Apple. This caused many specialized LISP companies to fail as the technology was now easily accessible.</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rPr>
              <a:t>1988: A computer programmer named Rollo Carpenter invented the chatbot Jabberwacky, which he programmed to provide interesting and entertaining conversation to humans.</a:t>
            </a:r>
            <a:endParaRPr lang="en-US"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717"/>
            <a:ext cx="8229600" cy="1143000"/>
          </a:xfrm>
        </p:spPr>
        <p:txBody>
          <a:bodyPr/>
          <a:p>
            <a:r>
              <a:rPr lang="en-US" altLang="en-US">
                <a:sym typeface="+mn-ea"/>
              </a:rPr>
              <a:t>AI agents: 1993-2011</a:t>
            </a:r>
            <a:endParaRPr lang="en-US"/>
          </a:p>
        </p:txBody>
      </p:sp>
      <p:sp>
        <p:nvSpPr>
          <p:cNvPr id="3" name="Content Placeholder 2"/>
          <p:cNvSpPr>
            <a:spLocks noGrp="1"/>
          </p:cNvSpPr>
          <p:nvPr>
            <p:ph idx="1"/>
          </p:nvPr>
        </p:nvSpPr>
        <p:spPr>
          <a:xfrm>
            <a:off x="381000" y="1165860"/>
            <a:ext cx="8229600" cy="4525963"/>
          </a:xfrm>
        </p:spPr>
        <p:txBody>
          <a:bodyPr>
            <a:noAutofit/>
          </a:bodyPr>
          <a:p>
            <a:pPr algn="just"/>
            <a:r>
              <a:rPr lang="en-US" altLang="en-US" sz="1600">
                <a:latin typeface="Times New Roman" panose="02020603050405020304" pitchFamily="18" charset="0"/>
                <a:cs typeface="Times New Roman" panose="02020603050405020304" pitchFamily="18" charset="0"/>
              </a:rPr>
              <a:t>Despite the lack of funding during the AI Winter, the early 90s showed some impressive strides forward in AI research, including the introduction of the first AI system that could beat a reigning world champion chess player. This era also saw early examples of AI agents in research settings, as well as the introduction of AI into everyday life via innovations such as the first Roomba and the first commercially-available speech recognition software on Windows computers. </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The surge in interest was followed by a surge in funding for research, which allowed even more progress to be made.</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Notable dates include:</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1997: Deep Blue (developed by IBM) beat the world chess champion, Gary Kasparov, in a highly-publicized match, becoming the first program to beat a human chess champion.</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1997: Windows released a speech recognition software (developed by Dragon Systems).</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2000: Professor Cynthia Breazeal developed the first robot that could simulate human emotions with its face,which included eyes, eyebrows, ears, and a mouth. It was called Kismet.</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2002: The first Roomba was released.</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2003: Nasa landed two rovers onto Mars (Spirit and Opportunity) and they navigated the surface of the planet without human intervention.</a:t>
            </a:r>
            <a:endParaRPr lang="en-US" altLang="en-US" sz="1600">
              <a:latin typeface="Times New Roman" panose="02020603050405020304" pitchFamily="18" charset="0"/>
              <a:cs typeface="Times New Roman" panose="02020603050405020304" pitchFamily="18" charset="0"/>
            </a:endParaRPr>
          </a:p>
          <a:p>
            <a:pPr algn="just"/>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pPr algn="just"/>
            <a:r>
              <a:rPr lang="en-US" altLang="en-US">
                <a:latin typeface="Times New Roman" panose="02020603050405020304" pitchFamily="18" charset="0"/>
                <a:cs typeface="Times New Roman" panose="02020603050405020304" pitchFamily="18" charset="0"/>
                <a:sym typeface="+mn-ea"/>
              </a:rPr>
              <a:t>2006: Companies such as Twitter, Facebook, and Netflix started utilizing AI as a part of their advertising and user experience (UX) algorithms.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2010: Microsoft launched the Xbox 360 Kinect, the first gaming hardware designed to track body movement and translate it into gaming directions.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2011: An NLP computer programmed to answer questions named Watson (created by IBM) won Jeopardy against two former champions in a televised game.</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2011: Apple released Siri, the first popular virtual assistant. </a:t>
            </a:r>
            <a:endParaRPr lang="en-US" altLang="en-US">
              <a:latin typeface="Times New Roman" panose="02020603050405020304" pitchFamily="18" charset="0"/>
              <a:cs typeface="Times New Roman" panose="02020603050405020304" pitchFamily="18" charset="0"/>
            </a:endParaRPr>
          </a:p>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680085"/>
          </a:xfrm>
        </p:spPr>
        <p:txBody>
          <a:bodyPr>
            <a:normAutofit fontScale="90000"/>
          </a:bodyPr>
          <a:p>
            <a:r>
              <a:rPr lang="en-US" altLang="en-US">
                <a:sym typeface="+mn-ea"/>
              </a:rPr>
              <a:t>Artificial General Intelligence: 2012-present</a:t>
            </a:r>
            <a:endParaRPr lang="en-US"/>
          </a:p>
        </p:txBody>
      </p:sp>
      <p:sp>
        <p:nvSpPr>
          <p:cNvPr id="3" name="Content Placeholder 2"/>
          <p:cNvSpPr>
            <a:spLocks noGrp="1"/>
          </p:cNvSpPr>
          <p:nvPr>
            <p:ph idx="1"/>
          </p:nvPr>
        </p:nvSpPr>
        <p:spPr>
          <a:xfrm>
            <a:off x="533400" y="1752600"/>
            <a:ext cx="8229600" cy="4525963"/>
          </a:xfrm>
        </p:spPr>
        <p:txBody>
          <a:bodyPr>
            <a:noAutofit/>
          </a:bodyPr>
          <a:p>
            <a:pPr algn="just"/>
            <a:r>
              <a:rPr lang="en-US" altLang="en-US" sz="1600">
                <a:latin typeface="Times New Roman" panose="02020603050405020304" pitchFamily="18" charset="0"/>
                <a:cs typeface="Times New Roman" panose="02020603050405020304" pitchFamily="18" charset="0"/>
              </a:rPr>
              <a:t>That brings us to the most recent developments in AI, up to the present day. We’ve seen a surge in common-use AI tools, such as virtual assistants, search engines, etc. This time period also popularized Deep Learning and Big Data..</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Notable dates include:</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2012: Two researchers from Google (Jeff Dean and Andrew Ng) trained a neural network to recognize cats by showing it unlabeled images and no background information.</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2015: Elon Musk, Stephen Hawking, and Steve Wozniak (and over 3,000 others) signed an open letter to the worlds’ government systems banning the development of (and later, use of) autonomous weapons for purposes of war.</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2016: Hanson Robotics created a humanoid robot named Sophia, who became known as the first “robot citizen” and was the first robot created with a realistic human appearance and the ability to see and replicate emotions, as well as to communicate.</a:t>
            </a:r>
            <a:endParaRPr lang="en-US" altLang="en-US" sz="1600">
              <a:latin typeface="Times New Roman" panose="02020603050405020304" pitchFamily="18" charset="0"/>
              <a:cs typeface="Times New Roman" panose="02020603050405020304" pitchFamily="18" charset="0"/>
            </a:endParaRPr>
          </a:p>
          <a:p>
            <a:pPr algn="just"/>
            <a:r>
              <a:rPr lang="en-US" altLang="en-US" sz="1600">
                <a:latin typeface="Times New Roman" panose="02020603050405020304" pitchFamily="18" charset="0"/>
                <a:cs typeface="Times New Roman" panose="02020603050405020304" pitchFamily="18" charset="0"/>
              </a:rPr>
              <a:t>2017: Facebook programmed two AI chatbots to converse and learn how to negotiate, but as they went back and forth they ended up forgoing English and developing their own language, completely autonomously.</a:t>
            </a:r>
            <a:endParaRPr lang="en-US" altLang="en-US" sz="1600">
              <a:latin typeface="Times New Roman" panose="02020603050405020304" pitchFamily="18" charset="0"/>
              <a:cs typeface="Times New Roman" panose="02020603050405020304" pitchFamily="18" charset="0"/>
            </a:endParaRPr>
          </a:p>
          <a:p>
            <a:pPr algn="just"/>
            <a:endParaRPr lang="en-US" alt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pPr algn="just"/>
            <a:r>
              <a:rPr lang="en-US" altLang="en-US">
                <a:latin typeface="Times New Roman" panose="02020603050405020304" pitchFamily="18" charset="0"/>
                <a:cs typeface="Times New Roman" panose="02020603050405020304" pitchFamily="18" charset="0"/>
                <a:sym typeface="+mn-ea"/>
              </a:rPr>
              <a:t>2018: A Chinese tech group called Alibaba’s language-processing AI beat human intellect on a Stanford reading and comprehension test.</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2019: Google’s AlphaStar reached Grandmaster on the video game StarCraft 2, outperforming all but .2% of human players.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2020: OpenAI started beta testing GPT-3, a model that uses Deep Learning to create code, poetry, and other such language and writing tasks. While not the first of its kind, it is the first that creates content almost indistinguishable from those created by humans.</a:t>
            </a:r>
            <a:endParaRPr lang="en-US" altLang="en-US">
              <a:latin typeface="Times New Roman" panose="02020603050405020304" pitchFamily="18" charset="0"/>
              <a:cs typeface="Times New Roman" panose="02020603050405020304" pitchFamily="18" charset="0"/>
            </a:endParaRPr>
          </a:p>
          <a:p>
            <a:pPr algn="just"/>
            <a:r>
              <a:rPr lang="en-US" altLang="en-US">
                <a:latin typeface="Times New Roman" panose="02020603050405020304" pitchFamily="18" charset="0"/>
                <a:cs typeface="Times New Roman" panose="02020603050405020304" pitchFamily="18" charset="0"/>
                <a:sym typeface="+mn-ea"/>
              </a:rPr>
              <a:t>2021: OpenAI developed DALL-E, which can process and understand images enough to produce accurate captions, moving AI one step closer to understanding the visual world.</a:t>
            </a:r>
            <a:endParaRPr lang="en-US" alt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Agents</a:t>
            </a:r>
            <a:r>
              <a:rPr b="1" spc="-80"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in</a:t>
            </a:r>
            <a:r>
              <a:rPr b="1" spc="-70" dirty="0">
                <a:latin typeface="Times New Roman" panose="02020603050405020304" pitchFamily="18" charset="0"/>
                <a:cs typeface="Times New Roman" panose="02020603050405020304" pitchFamily="18" charset="0"/>
                <a:sym typeface="+mn-ea"/>
              </a:rPr>
              <a:t> </a:t>
            </a:r>
            <a:r>
              <a:rPr b="1" spc="-25" dirty="0">
                <a:latin typeface="Times New Roman" panose="02020603050405020304" pitchFamily="18" charset="0"/>
                <a:cs typeface="Times New Roman" panose="02020603050405020304" pitchFamily="18" charset="0"/>
                <a:sym typeface="+mn-ea"/>
              </a:rPr>
              <a:t>AI</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p>
            <a:pPr marR="5080" lvl="0" algn="just" fontAlgn="t">
              <a:lnSpc>
                <a:spcPct val="100000"/>
              </a:lnSpc>
              <a:spcBef>
                <a:spcPts val="425"/>
              </a:spcBef>
              <a:tabLst>
                <a:tab pos="152400" algn="l"/>
                <a:tab pos="671195" algn="l"/>
                <a:tab pos="698500" algn="l"/>
                <a:tab pos="1104900" algn="l"/>
                <a:tab pos="1207770" algn="l"/>
                <a:tab pos="2296160" algn="l"/>
                <a:tab pos="2947035" algn="l"/>
                <a:tab pos="3441065" algn="l"/>
                <a:tab pos="4758690" algn="l"/>
                <a:tab pos="5205730" algn="l"/>
                <a:tab pos="5840095" algn="l"/>
                <a:tab pos="6810375" algn="l"/>
                <a:tab pos="7247255" algn="l"/>
                <a:tab pos="7879715" algn="l"/>
                <a:tab pos="9239250" algn="l"/>
              </a:tabLst>
            </a:pPr>
            <a:r>
              <a:rPr lang="en-US" altLang="en-US" sz="3200">
                <a:solidFill>
                  <a:schemeClr val="tx1"/>
                </a:solidFill>
                <a:latin typeface="Times New Roman" panose="02020603050405020304" pitchFamily="18" charset="0"/>
                <a:cs typeface="Times New Roman" panose="02020603050405020304" pitchFamily="18" charset="0"/>
                <a:sym typeface="+mn-ea"/>
              </a:rPr>
              <a:t>A n	A I system	can be defined as the studyof  the rational	agent and its environment. </a:t>
            </a:r>
            <a:br>
              <a:rPr lang="en-US" altLang="en-US" sz="3200">
                <a:solidFill>
                  <a:schemeClr val="tx1"/>
                </a:solidFill>
                <a:latin typeface="Times New Roman" panose="02020603050405020304" pitchFamily="18" charset="0"/>
                <a:cs typeface="Times New Roman" panose="02020603050405020304" pitchFamily="18" charset="0"/>
                <a:sym typeface="+mn-ea"/>
              </a:rPr>
            </a:br>
            <a:r>
              <a:rPr lang="en-US" altLang="en-US" sz="3200">
                <a:solidFill>
                  <a:schemeClr val="tx1"/>
                </a:solidFill>
                <a:latin typeface="Times New Roman" panose="02020603050405020304" pitchFamily="18" charset="0"/>
                <a:cs typeface="Times New Roman" panose="02020603050405020304" pitchFamily="18" charset="0"/>
                <a:sym typeface="+mn-ea"/>
              </a:rPr>
              <a:t>What is an	Agent?</a:t>
            </a:r>
            <a:endParaRPr lang="en-US" altLang="en-US" sz="3200">
              <a:solidFill>
                <a:schemeClr val="tx1"/>
              </a:solidFill>
              <a:latin typeface="Times New Roman" panose="02020603050405020304" pitchFamily="18" charset="0"/>
              <a:cs typeface="Times New Roman" panose="02020603050405020304" pitchFamily="18" charset="0"/>
            </a:endParaRPr>
          </a:p>
          <a:p>
            <a:pPr lvl="0" algn="just" fontAlgn="t">
              <a:lnSpc>
                <a:spcPct val="100000"/>
              </a:lnSpc>
              <a:tabLst>
                <a:tab pos="152400" algn="l"/>
                <a:tab pos="429895" algn="l"/>
                <a:tab pos="1118870" algn="l"/>
                <a:tab pos="2287270" algn="l"/>
                <a:tab pos="3298825" algn="l"/>
                <a:tab pos="3941445" algn="l"/>
                <a:tab pos="6094730" algn="l"/>
                <a:tab pos="7473950" algn="l"/>
                <a:tab pos="8797925" algn="l"/>
                <a:tab pos="9495155" algn="l"/>
              </a:tabLst>
            </a:pPr>
            <a:r>
              <a:rPr lang="en-US" altLang="en-US" sz="3200">
                <a:solidFill>
                  <a:schemeClr val="tx1"/>
                </a:solidFill>
                <a:latin typeface="Times New Roman" panose="02020603050405020304" pitchFamily="18" charset="0"/>
                <a:cs typeface="Times New Roman" panose="02020603050405020304" pitchFamily="18" charset="0"/>
                <a:sym typeface="+mn-ea"/>
              </a:rPr>
              <a:t>“The agents sense the environment	through    sensors and act on their environment	through actuators”.</a:t>
            </a:r>
            <a:endParaRPr lang="en-US" altLang="en-US" sz="3200">
              <a:solidFill>
                <a:schemeClr val="tx1"/>
              </a:solidFill>
              <a:latin typeface="Times New Roman" panose="02020603050405020304" pitchFamily="18" charset="0"/>
              <a:cs typeface="Times New Roman" panose="02020603050405020304" pitchFamily="18" charset="0"/>
            </a:endParaRPr>
          </a:p>
          <a:p>
            <a:pPr marR="368935" lvl="0" algn="just" fontAlgn="t">
              <a:lnSpc>
                <a:spcPct val="100000"/>
              </a:lnSpc>
              <a:tabLst>
                <a:tab pos="258445" algn="l"/>
                <a:tab pos="776605" algn="l"/>
                <a:tab pos="1136015" algn="l"/>
                <a:tab pos="1211580" algn="l"/>
                <a:tab pos="2204720" algn="l"/>
                <a:tab pos="2824480" algn="l"/>
                <a:tab pos="2855595" algn="l"/>
                <a:tab pos="3701415" algn="l"/>
                <a:tab pos="4902200" algn="l"/>
                <a:tab pos="6669405" algn="l"/>
                <a:tab pos="7495540" algn="l"/>
                <a:tab pos="7957820" algn="l"/>
              </a:tabLst>
            </a:pPr>
            <a:r>
              <a:rPr lang="en-US" altLang="en-US" sz="3200">
                <a:solidFill>
                  <a:schemeClr val="tx1"/>
                </a:solidFill>
                <a:latin typeface="Times New Roman" panose="02020603050405020304" pitchFamily="18" charset="0"/>
                <a:cs typeface="Times New Roman" panose="02020603050405020304" pitchFamily="18" charset="0"/>
                <a:sym typeface="+mn-ea"/>
              </a:rPr>
              <a:t>An AI  agent can have mental properties such as knowledge, belief, intention,</a:t>
            </a:r>
            <a:r>
              <a:rPr lang="en-US" altLang="en-US" sz="3200">
                <a:latin typeface="Times New Roman" panose="02020603050405020304" pitchFamily="18" charset="0"/>
                <a:cs typeface="Times New Roman" panose="02020603050405020304" pitchFamily="18" charset="0"/>
                <a:sym typeface="+mn-ea"/>
              </a:rPr>
              <a:t> etc .</a:t>
            </a:r>
            <a:endParaRPr lang="en-US" altLang="en-US" sz="3200">
              <a:latin typeface="Times New Roman" panose="02020603050405020304" pitchFamily="18" charset="0"/>
              <a:cs typeface="Times New Roman" panose="02020603050405020304" pitchFamily="18" charset="0"/>
            </a:endParaRPr>
          </a:p>
          <a:p>
            <a:pPr algn="dist"/>
            <a:endParaRPr lang="en-US" sz="150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sym typeface="+mn-ea"/>
              </a:rPr>
              <a:t>Agents and Their Interaction with the Environment</a:t>
            </a:r>
            <a:endParaRPr lang="en-US"/>
          </a:p>
        </p:txBody>
      </p:sp>
      <p:sp>
        <p:nvSpPr>
          <p:cNvPr id="3" name="Content Placeholder 2"/>
          <p:cNvSpPr>
            <a:spLocks noGrp="1"/>
          </p:cNvSpPr>
          <p:nvPr>
            <p:ph idx="1"/>
          </p:nvPr>
        </p:nvSpPr>
        <p:spPr/>
        <p:txBody>
          <a:bodyPr>
            <a:normAutofit fontScale="40000"/>
          </a:bodyPr>
          <a:p>
            <a:pPr marL="0" indent="0">
              <a:buNone/>
            </a:pPr>
            <a:r>
              <a:rPr lang="en-US" altLang="en-US" sz="4000">
                <a:latin typeface="Times New Roman" panose="02020603050405020304" pitchFamily="18" charset="0"/>
                <a:cs typeface="Times New Roman" panose="02020603050405020304" pitchFamily="18" charset="0"/>
              </a:rPr>
              <a:t>An agent perceives its environment through sensors and acts upon it through actuators. There are different types of agents:</a:t>
            </a:r>
            <a:endParaRPr lang="en-US" altLang="en-US" sz="4000">
              <a:latin typeface="Times New Roman" panose="02020603050405020304" pitchFamily="18" charset="0"/>
              <a:cs typeface="Times New Roman" panose="02020603050405020304" pitchFamily="18" charset="0"/>
            </a:endParaRPr>
          </a:p>
          <a:p>
            <a:pPr marL="0" indent="0">
              <a:buNone/>
            </a:pPr>
            <a:r>
              <a:rPr lang="en-US" altLang="en-US" sz="4000">
                <a:latin typeface="Times New Roman" panose="02020603050405020304" pitchFamily="18" charset="0"/>
                <a:cs typeface="Times New Roman" panose="02020603050405020304" pitchFamily="18" charset="0"/>
              </a:rPr>
              <a:t>Types of Agents</a:t>
            </a:r>
            <a:endParaRPr lang="en-US" altLang="en-US" sz="4000">
              <a:latin typeface="Times New Roman" panose="02020603050405020304" pitchFamily="18" charset="0"/>
              <a:cs typeface="Times New Roman" panose="02020603050405020304" pitchFamily="18" charset="0"/>
            </a:endParaRPr>
          </a:p>
          <a:p>
            <a:pPr marL="0" indent="0">
              <a:buNone/>
            </a:pPr>
            <a:r>
              <a:rPr lang="en-US" altLang="en-US" sz="4000">
                <a:latin typeface="Times New Roman" panose="02020603050405020304" pitchFamily="18" charset="0"/>
                <a:cs typeface="Times New Roman" panose="02020603050405020304" pitchFamily="18" charset="0"/>
              </a:rPr>
              <a:t>1. Human Agent</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    - Sensors: Eyes, ears, and other sensory organs</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    - Actuators: Hands, legs, vocal tract</a:t>
            </a:r>
            <a:endParaRPr lang="en-US" altLang="en-US" sz="4000">
              <a:latin typeface="Times New Roman" panose="02020603050405020304" pitchFamily="18" charset="0"/>
              <a:cs typeface="Times New Roman" panose="02020603050405020304" pitchFamily="18" charset="0"/>
            </a:endParaRPr>
          </a:p>
          <a:p>
            <a:pPr marL="0" indent="0">
              <a:buNone/>
            </a:pPr>
            <a:r>
              <a:rPr lang="en-US" altLang="en-US" sz="4000">
                <a:latin typeface="Times New Roman" panose="02020603050405020304" pitchFamily="18" charset="0"/>
                <a:cs typeface="Times New Roman" panose="02020603050405020304" pitchFamily="18" charset="0"/>
              </a:rPr>
              <a:t>2. Robotic Agent</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    - Sensors: Cameras, infrared range finders, natural language processing (NLP)</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    - Actuators: Motors, mechanical limbs</a:t>
            </a:r>
            <a:endParaRPr lang="en-US" altLang="en-US" sz="4000">
              <a:latin typeface="Times New Roman" panose="02020603050405020304" pitchFamily="18" charset="0"/>
              <a:cs typeface="Times New Roman" panose="02020603050405020304" pitchFamily="18" charset="0"/>
            </a:endParaRPr>
          </a:p>
          <a:p>
            <a:pPr marL="0" indent="0">
              <a:buNone/>
            </a:pPr>
            <a:r>
              <a:rPr lang="en-US" altLang="en-US" sz="4000">
                <a:latin typeface="Times New Roman" panose="02020603050405020304" pitchFamily="18" charset="0"/>
                <a:cs typeface="Times New Roman" panose="02020603050405020304" pitchFamily="18" charset="0"/>
              </a:rPr>
              <a:t>3. Software Agent</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    - Sensors: Keystrokes, file contents, network packets</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    - Actuators: Display output on screen, write to files, send network packets</a:t>
            </a:r>
            <a:endParaRPr lang="en-US" altLang="en-US" sz="4000">
              <a:latin typeface="Times New Roman" panose="02020603050405020304" pitchFamily="18" charset="0"/>
              <a:cs typeface="Times New Roman" panose="02020603050405020304" pitchFamily="18" charset="0"/>
            </a:endParaRPr>
          </a:p>
          <a:p>
            <a:r>
              <a:rPr lang="en-US" altLang="en-US" sz="4000">
                <a:latin typeface="Times New Roman" panose="02020603050405020304" pitchFamily="18" charset="0"/>
                <a:cs typeface="Times New Roman" panose="02020603050405020304" pitchFamily="18" charset="0"/>
              </a:rPr>
              <a:t>In each case, the agent uses its sensors to perceive the environment</a:t>
            </a:r>
            <a:r>
              <a:rPr lang="en-US" altLang="en-US" sz="4500">
                <a:latin typeface="Times New Roman" panose="02020603050405020304" pitchFamily="18" charset="0"/>
                <a:cs typeface="Times New Roman" panose="02020603050405020304" pitchFamily="18" charset="0"/>
              </a:rPr>
              <a:t> and its actuators to take action, enabling it to interact with and influence its surroundings.</a:t>
            </a:r>
            <a:endParaRPr lang="en-US" altLang="en-US" sz="450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latin typeface="Times New Roman" panose="02020603050405020304" pitchFamily="18" charset="0"/>
                <a:cs typeface="Times New Roman" panose="02020603050405020304" pitchFamily="18" charset="0"/>
                <a:sym typeface="+mn-ea"/>
              </a:rPr>
              <a:t>Examples</a:t>
            </a:r>
            <a:r>
              <a:rPr b="1" spc="-13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of</a:t>
            </a:r>
            <a:r>
              <a:rPr b="1" spc="-14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Agents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endParaRPr lang="en-US"/>
          </a:p>
        </p:txBody>
      </p:sp>
      <p:grpSp>
        <p:nvGrpSpPr>
          <p:cNvPr id="8" name="object 8"/>
          <p:cNvGrpSpPr/>
          <p:nvPr/>
        </p:nvGrpSpPr>
        <p:grpSpPr>
          <a:xfrm>
            <a:off x="1662430" y="1856105"/>
            <a:ext cx="5590540" cy="1388745"/>
            <a:chOff x="1662683" y="1856232"/>
            <a:chExt cx="9287510" cy="1839595"/>
          </a:xfrm>
        </p:grpSpPr>
        <p:pic>
          <p:nvPicPr>
            <p:cNvPr id="9" name="object 9"/>
            <p:cNvPicPr/>
            <p:nvPr/>
          </p:nvPicPr>
          <p:blipFill>
            <a:blip r:embed="rId1" cstate="print"/>
            <a:stretch>
              <a:fillRect/>
            </a:stretch>
          </p:blipFill>
          <p:spPr>
            <a:xfrm>
              <a:off x="1662683" y="1856232"/>
              <a:ext cx="2257044" cy="1839468"/>
            </a:xfrm>
            <a:prstGeom prst="rect">
              <a:avLst/>
            </a:prstGeom>
          </p:spPr>
        </p:pic>
        <p:pic>
          <p:nvPicPr>
            <p:cNvPr id="10" name="object 10"/>
            <p:cNvPicPr/>
            <p:nvPr/>
          </p:nvPicPr>
          <p:blipFill>
            <a:blip r:embed="rId2" cstate="print"/>
            <a:stretch>
              <a:fillRect/>
            </a:stretch>
          </p:blipFill>
          <p:spPr>
            <a:xfrm>
              <a:off x="4998719" y="1914144"/>
              <a:ext cx="2142744" cy="1723643"/>
            </a:xfrm>
            <a:prstGeom prst="rect">
              <a:avLst/>
            </a:prstGeom>
          </p:spPr>
        </p:pic>
        <p:pic>
          <p:nvPicPr>
            <p:cNvPr id="11" name="object 11"/>
            <p:cNvPicPr/>
            <p:nvPr/>
          </p:nvPicPr>
          <p:blipFill>
            <a:blip r:embed="rId3" cstate="print"/>
            <a:stretch>
              <a:fillRect/>
            </a:stretch>
          </p:blipFill>
          <p:spPr>
            <a:xfrm>
              <a:off x="8321040" y="2093976"/>
              <a:ext cx="2628900" cy="1495044"/>
            </a:xfrm>
            <a:prstGeom prst="rect">
              <a:avLst/>
            </a:prstGeom>
          </p:spPr>
        </p:pic>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57200" y="3752215"/>
            <a:ext cx="8229600" cy="2374265"/>
          </a:xfrm>
        </p:spPr>
        <p:txBody>
          <a:bodyPr>
            <a:normAutofit fontScale="70000"/>
          </a:bodyPr>
          <a:p>
            <a:pPr marL="0" marR="1061720" indent="0" algn="ctr">
              <a:lnSpc>
                <a:spcPct val="100000"/>
              </a:lnSpc>
              <a:spcBef>
                <a:spcPts val="1735"/>
              </a:spcBef>
              <a:buNone/>
            </a:pPr>
            <a:r>
              <a:rPr dirty="0">
                <a:solidFill>
                  <a:srgbClr val="3E3E3E"/>
                </a:solidFill>
                <a:latin typeface="Times New Roman" panose="02020603050405020304"/>
                <a:cs typeface="Times New Roman" panose="02020603050405020304"/>
                <a:sym typeface="+mn-ea"/>
              </a:rPr>
              <a:t>Fly</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by wire</a:t>
            </a:r>
            <a:r>
              <a:rPr spc="-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system</a:t>
            </a:r>
            <a:endParaRPr>
              <a:latin typeface="Times New Roman" panose="02020603050405020304"/>
              <a:cs typeface="Times New Roman" panose="02020603050405020304"/>
            </a:endParaRPr>
          </a:p>
          <a:p>
            <a:pPr marR="5080">
              <a:lnSpc>
                <a:spcPct val="100000"/>
              </a:lnSpc>
              <a:spcBef>
                <a:spcPts val="1635"/>
              </a:spcBef>
            </a:pPr>
            <a:r>
              <a:rPr b="1" spc="-10" dirty="0">
                <a:solidFill>
                  <a:srgbClr val="3E3E3E"/>
                </a:solidFill>
                <a:latin typeface="Times New Roman" panose="02020603050405020304"/>
                <a:cs typeface="Times New Roman" panose="02020603050405020304"/>
                <a:sym typeface="+mn-ea"/>
              </a:rPr>
              <a:t>Fly-</a:t>
            </a:r>
            <a:r>
              <a:rPr b="1" spc="-20" dirty="0">
                <a:solidFill>
                  <a:srgbClr val="3E3E3E"/>
                </a:solidFill>
                <a:latin typeface="Times New Roman" panose="02020603050405020304"/>
                <a:cs typeface="Times New Roman" panose="02020603050405020304"/>
                <a:sym typeface="+mn-ea"/>
              </a:rPr>
              <a:t>by-</a:t>
            </a:r>
            <a:r>
              <a:rPr b="1" dirty="0">
                <a:solidFill>
                  <a:srgbClr val="3E3E3E"/>
                </a:solidFill>
                <a:latin typeface="Times New Roman" panose="02020603050405020304"/>
                <a:cs typeface="Times New Roman" panose="02020603050405020304"/>
                <a:sym typeface="+mn-ea"/>
              </a:rPr>
              <a:t>wire</a:t>
            </a:r>
            <a:r>
              <a:rPr b="1" spc="23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control</a:t>
            </a:r>
            <a:r>
              <a:rPr b="1" spc="2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systems</a:t>
            </a:r>
            <a:r>
              <a:rPr b="1" spc="2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allow</a:t>
            </a:r>
            <a:r>
              <a:rPr b="1" spc="22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aircraft</a:t>
            </a:r>
            <a:r>
              <a:rPr b="1" spc="23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computers</a:t>
            </a:r>
            <a:r>
              <a:rPr b="1" spc="2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to</a:t>
            </a:r>
            <a:r>
              <a:rPr b="1" spc="229"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perform</a:t>
            </a:r>
            <a:r>
              <a:rPr b="1" spc="2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tasks</a:t>
            </a:r>
            <a:r>
              <a:rPr b="1" spc="245" dirty="0">
                <a:solidFill>
                  <a:srgbClr val="3E3E3E"/>
                </a:solidFill>
                <a:latin typeface="Times New Roman" panose="02020603050405020304"/>
                <a:cs typeface="Times New Roman" panose="02020603050405020304"/>
                <a:sym typeface="+mn-ea"/>
              </a:rPr>
              <a:t> </a:t>
            </a:r>
            <a:r>
              <a:rPr b="1" spc="-10" dirty="0">
                <a:solidFill>
                  <a:srgbClr val="0837C8"/>
                </a:solidFill>
                <a:latin typeface="Times New Roman" panose="02020603050405020304"/>
                <a:cs typeface="Times New Roman" panose="02020603050405020304"/>
                <a:sym typeface="+mn-ea"/>
              </a:rPr>
              <a:t>without </a:t>
            </a:r>
            <a:r>
              <a:rPr b="1" dirty="0">
                <a:solidFill>
                  <a:srgbClr val="0837C8"/>
                </a:solidFill>
                <a:latin typeface="Times New Roman" panose="02020603050405020304"/>
                <a:cs typeface="Times New Roman" panose="02020603050405020304"/>
                <a:sym typeface="+mn-ea"/>
              </a:rPr>
              <a:t>pilot</a:t>
            </a:r>
            <a:r>
              <a:rPr b="1" spc="459"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input</a:t>
            </a:r>
            <a:r>
              <a:rPr b="1" dirty="0">
                <a:solidFill>
                  <a:srgbClr val="3E3E3E"/>
                </a:solidFill>
                <a:latin typeface="Times New Roman" panose="02020603050405020304"/>
                <a:cs typeface="Times New Roman" panose="02020603050405020304"/>
                <a:sym typeface="+mn-ea"/>
              </a:rPr>
              <a:t>.</a:t>
            </a:r>
            <a:r>
              <a:rPr b="1" spc="47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Automatic</a:t>
            </a:r>
            <a:r>
              <a:rPr b="1" spc="46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stability</a:t>
            </a:r>
            <a:r>
              <a:rPr b="1" spc="48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systems</a:t>
            </a:r>
            <a:r>
              <a:rPr b="1" spc="47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operate</a:t>
            </a:r>
            <a:r>
              <a:rPr b="1" spc="46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in</a:t>
            </a:r>
            <a:r>
              <a:rPr b="1" spc="46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this</a:t>
            </a:r>
            <a:r>
              <a:rPr b="1" spc="48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way.</a:t>
            </a:r>
            <a:r>
              <a:rPr b="1" spc="470" dirty="0">
                <a:solidFill>
                  <a:srgbClr val="3E3E3E"/>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Gyroscopes</a:t>
            </a:r>
            <a:r>
              <a:rPr b="1" spc="465" dirty="0">
                <a:solidFill>
                  <a:srgbClr val="0837C8"/>
                </a:solidFill>
                <a:latin typeface="Times New Roman" panose="02020603050405020304"/>
                <a:cs typeface="Times New Roman" panose="02020603050405020304"/>
                <a:sym typeface="+mn-ea"/>
              </a:rPr>
              <a:t> </a:t>
            </a:r>
            <a:r>
              <a:rPr b="1" spc="-25" dirty="0">
                <a:solidFill>
                  <a:srgbClr val="0837C8"/>
                </a:solidFill>
                <a:latin typeface="Times New Roman" panose="02020603050405020304"/>
                <a:cs typeface="Times New Roman" panose="02020603050405020304"/>
                <a:sym typeface="+mn-ea"/>
              </a:rPr>
              <a:t>and </a:t>
            </a:r>
            <a:r>
              <a:rPr b="1" dirty="0">
                <a:solidFill>
                  <a:srgbClr val="0837C8"/>
                </a:solidFill>
                <a:latin typeface="Times New Roman" panose="02020603050405020304"/>
                <a:cs typeface="Times New Roman" panose="02020603050405020304"/>
                <a:sym typeface="+mn-ea"/>
              </a:rPr>
              <a:t>sensors</a:t>
            </a:r>
            <a:r>
              <a:rPr b="1" spc="215"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such</a:t>
            </a:r>
            <a:r>
              <a:rPr b="1" spc="225"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as</a:t>
            </a:r>
            <a:r>
              <a:rPr b="1" spc="235"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accelerometers</a:t>
            </a:r>
            <a:r>
              <a:rPr b="1" spc="229"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are</a:t>
            </a:r>
            <a:r>
              <a:rPr b="1" spc="229"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mounted</a:t>
            </a:r>
            <a:r>
              <a:rPr b="1" spc="220"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in</a:t>
            </a:r>
            <a:r>
              <a:rPr b="1" spc="229"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an</a:t>
            </a:r>
            <a:r>
              <a:rPr b="1" spc="220" dirty="0">
                <a:solidFill>
                  <a:srgbClr val="0837C8"/>
                </a:solidFill>
                <a:latin typeface="Times New Roman" panose="02020603050405020304"/>
                <a:cs typeface="Times New Roman" panose="02020603050405020304"/>
                <a:sym typeface="+mn-ea"/>
              </a:rPr>
              <a:t> </a:t>
            </a:r>
            <a:r>
              <a:rPr b="1" dirty="0">
                <a:solidFill>
                  <a:srgbClr val="0837C8"/>
                </a:solidFill>
                <a:latin typeface="Times New Roman" panose="02020603050405020304"/>
                <a:cs typeface="Times New Roman" panose="02020603050405020304"/>
                <a:sym typeface="+mn-ea"/>
              </a:rPr>
              <a:t>aircraft</a:t>
            </a:r>
            <a:r>
              <a:rPr b="1" spc="235" dirty="0">
                <a:solidFill>
                  <a:srgbClr val="0837C8"/>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to</a:t>
            </a:r>
            <a:r>
              <a:rPr b="1" spc="229"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sense</a:t>
            </a:r>
            <a:r>
              <a:rPr b="1" spc="22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rotation</a:t>
            </a:r>
            <a:r>
              <a:rPr b="1" spc="215" dirty="0">
                <a:solidFill>
                  <a:srgbClr val="3E3E3E"/>
                </a:solidFill>
                <a:latin typeface="Times New Roman" panose="02020603050405020304"/>
                <a:cs typeface="Times New Roman" panose="02020603050405020304"/>
                <a:sym typeface="+mn-ea"/>
              </a:rPr>
              <a:t> </a:t>
            </a:r>
            <a:r>
              <a:rPr b="1" spc="-25" dirty="0">
                <a:solidFill>
                  <a:srgbClr val="3E3E3E"/>
                </a:solidFill>
                <a:latin typeface="Times New Roman" panose="02020603050405020304"/>
                <a:cs typeface="Times New Roman" panose="02020603050405020304"/>
                <a:sym typeface="+mn-ea"/>
              </a:rPr>
              <a:t>on </a:t>
            </a:r>
            <a:r>
              <a:rPr b="1" dirty="0">
                <a:solidFill>
                  <a:srgbClr val="3E3E3E"/>
                </a:solidFill>
                <a:latin typeface="Times New Roman" panose="02020603050405020304"/>
                <a:cs typeface="Times New Roman" panose="02020603050405020304"/>
                <a:sym typeface="+mn-ea"/>
              </a:rPr>
              <a:t>the</a:t>
            </a:r>
            <a:r>
              <a:rPr b="1" spc="-3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pitch,</a:t>
            </a:r>
            <a:r>
              <a:rPr b="1" spc="-4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roll</a:t>
            </a:r>
            <a:r>
              <a:rPr b="1" spc="-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and</a:t>
            </a:r>
            <a:r>
              <a:rPr b="1" spc="-2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yaw</a:t>
            </a:r>
            <a:r>
              <a:rPr b="1" spc="-25"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axes.</a:t>
            </a:r>
            <a:endParaRPr>
              <a:latin typeface="Times New Roman" panose="02020603050405020304"/>
              <a:cs typeface="Times New Roman" panose="02020603050405020304"/>
            </a:endParaRPr>
          </a:p>
          <a:p>
            <a:endParaRPr lang="en-US"/>
          </a:p>
        </p:txBody>
      </p:sp>
      <p:pic>
        <p:nvPicPr>
          <p:cNvPr id="8" name="object 8"/>
          <p:cNvPicPr>
            <a:picLocks noChangeAspect="1"/>
          </p:cNvPicPr>
          <p:nvPr/>
        </p:nvPicPr>
        <p:blipFill>
          <a:blip r:embed="rId1" cstate="print"/>
          <a:stretch>
            <a:fillRect/>
          </a:stretch>
        </p:blipFill>
        <p:spPr>
          <a:xfrm>
            <a:off x="990600" y="304800"/>
            <a:ext cx="7458710" cy="351980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57200" y="4590415"/>
            <a:ext cx="8229600" cy="1536065"/>
          </a:xfrm>
        </p:spPr>
        <p:txBody>
          <a:bodyPr>
            <a:normAutofit fontScale="90000"/>
          </a:bodyPr>
          <a:p>
            <a:r>
              <a:rPr dirty="0">
                <a:solidFill>
                  <a:srgbClr val="464646"/>
                </a:solidFill>
                <a:latin typeface="Times New Roman" panose="02020603050405020304" pitchFamily="18" charset="0"/>
                <a:cs typeface="Times New Roman" panose="02020603050405020304" pitchFamily="18" charset="0"/>
                <a:sym typeface="+mn-ea"/>
              </a:rPr>
              <a:t>A</a:t>
            </a:r>
            <a:r>
              <a:rPr spc="-40" dirty="0">
                <a:solidFill>
                  <a:srgbClr val="464646"/>
                </a:solidFill>
                <a:latin typeface="Times New Roman" panose="02020603050405020304" pitchFamily="18" charset="0"/>
                <a:cs typeface="Times New Roman" panose="02020603050405020304" pitchFamily="18" charset="0"/>
                <a:sym typeface="+mn-ea"/>
              </a:rPr>
              <a:t> </a:t>
            </a:r>
            <a:r>
              <a:rPr spc="-20" dirty="0">
                <a:solidFill>
                  <a:srgbClr val="464646"/>
                </a:solidFill>
                <a:latin typeface="Times New Roman" panose="02020603050405020304" pitchFamily="18" charset="0"/>
                <a:cs typeface="Times New Roman" panose="02020603050405020304" pitchFamily="18" charset="0"/>
                <a:sym typeface="+mn-ea"/>
              </a:rPr>
              <a:t>Human-</a:t>
            </a:r>
            <a:r>
              <a:rPr dirty="0">
                <a:solidFill>
                  <a:srgbClr val="464646"/>
                </a:solidFill>
                <a:latin typeface="Times New Roman" panose="02020603050405020304" pitchFamily="18" charset="0"/>
                <a:cs typeface="Times New Roman" panose="02020603050405020304" pitchFamily="18" charset="0"/>
                <a:sym typeface="+mn-ea"/>
              </a:rPr>
              <a:t>agent</a:t>
            </a:r>
            <a:r>
              <a:rPr spc="-50" dirty="0">
                <a:solidFill>
                  <a:srgbClr val="464646"/>
                </a:solidFill>
                <a:latin typeface="Times New Roman" panose="02020603050405020304" pitchFamily="18" charset="0"/>
                <a:cs typeface="Times New Roman" panose="02020603050405020304" pitchFamily="18" charset="0"/>
                <a:sym typeface="+mn-ea"/>
              </a:rPr>
              <a:t> </a:t>
            </a:r>
            <a:r>
              <a:rPr dirty="0">
                <a:solidFill>
                  <a:srgbClr val="464646"/>
                </a:solidFill>
                <a:latin typeface="Times New Roman" panose="02020603050405020304" pitchFamily="18" charset="0"/>
                <a:cs typeface="Times New Roman" panose="02020603050405020304" pitchFamily="18" charset="0"/>
                <a:sym typeface="+mn-ea"/>
              </a:rPr>
              <a:t>has</a:t>
            </a:r>
            <a:r>
              <a:rPr spc="-40" dirty="0">
                <a:solidFill>
                  <a:srgbClr val="464646"/>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eyes,</a:t>
            </a:r>
            <a:r>
              <a:rPr spc="-5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ears,</a:t>
            </a:r>
            <a:r>
              <a:rPr spc="-4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and</a:t>
            </a:r>
            <a:r>
              <a:rPr spc="-5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other</a:t>
            </a:r>
            <a:r>
              <a:rPr spc="-5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organs</a:t>
            </a:r>
            <a:r>
              <a:rPr spc="-5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which</a:t>
            </a:r>
            <a:r>
              <a:rPr spc="-5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act</a:t>
            </a:r>
            <a:r>
              <a:rPr spc="-5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as</a:t>
            </a:r>
            <a:r>
              <a:rPr spc="-3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sensors,</a:t>
            </a:r>
            <a:r>
              <a:rPr spc="-50" dirty="0">
                <a:solidFill>
                  <a:srgbClr val="040B28"/>
                </a:solidFill>
                <a:latin typeface="Times New Roman" panose="02020603050405020304" pitchFamily="18" charset="0"/>
                <a:cs typeface="Times New Roman" panose="02020603050405020304" pitchFamily="18" charset="0"/>
                <a:sym typeface="+mn-ea"/>
              </a:rPr>
              <a:t> </a:t>
            </a:r>
            <a:r>
              <a:rPr spc="-25" dirty="0">
                <a:solidFill>
                  <a:srgbClr val="040B28"/>
                </a:solidFill>
                <a:latin typeface="Times New Roman" panose="02020603050405020304" pitchFamily="18" charset="0"/>
                <a:cs typeface="Times New Roman" panose="02020603050405020304" pitchFamily="18" charset="0"/>
                <a:sym typeface="+mn-ea"/>
              </a:rPr>
              <a:t>and </a:t>
            </a:r>
            <a:r>
              <a:rPr dirty="0">
                <a:solidFill>
                  <a:srgbClr val="040B28"/>
                </a:solidFill>
                <a:latin typeface="Times New Roman" panose="02020603050405020304" pitchFamily="18" charset="0"/>
                <a:cs typeface="Times New Roman" panose="02020603050405020304" pitchFamily="18" charset="0"/>
                <a:sym typeface="+mn-ea"/>
              </a:rPr>
              <a:t>hands,</a:t>
            </a:r>
            <a:r>
              <a:rPr spc="-3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legs,</a:t>
            </a:r>
            <a:r>
              <a:rPr spc="-4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mouth,</a:t>
            </a:r>
            <a:r>
              <a:rPr spc="-4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and</a:t>
            </a:r>
            <a:r>
              <a:rPr spc="-3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other</a:t>
            </a:r>
            <a:r>
              <a:rPr spc="-5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body</a:t>
            </a:r>
            <a:r>
              <a:rPr spc="-4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parts</a:t>
            </a:r>
            <a:r>
              <a:rPr spc="-45"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act</a:t>
            </a:r>
            <a:r>
              <a:rPr spc="-60" dirty="0">
                <a:solidFill>
                  <a:srgbClr val="040B28"/>
                </a:solidFill>
                <a:latin typeface="Times New Roman" panose="02020603050405020304" pitchFamily="18" charset="0"/>
                <a:cs typeface="Times New Roman" panose="02020603050405020304" pitchFamily="18" charset="0"/>
                <a:sym typeface="+mn-ea"/>
              </a:rPr>
              <a:t> </a:t>
            </a:r>
            <a:r>
              <a:rPr dirty="0">
                <a:solidFill>
                  <a:srgbClr val="040B28"/>
                </a:solidFill>
                <a:latin typeface="Times New Roman" panose="02020603050405020304" pitchFamily="18" charset="0"/>
                <a:cs typeface="Times New Roman" panose="02020603050405020304" pitchFamily="18" charset="0"/>
                <a:sym typeface="+mn-ea"/>
              </a:rPr>
              <a:t>as</a:t>
            </a:r>
            <a:r>
              <a:rPr spc="-50" dirty="0">
                <a:solidFill>
                  <a:srgbClr val="040B28"/>
                </a:solidFill>
                <a:latin typeface="Times New Roman" panose="02020603050405020304" pitchFamily="18" charset="0"/>
                <a:cs typeface="Times New Roman" panose="02020603050405020304" pitchFamily="18" charset="0"/>
                <a:sym typeface="+mn-ea"/>
              </a:rPr>
              <a:t> </a:t>
            </a:r>
            <a:r>
              <a:rPr spc="-10" dirty="0">
                <a:solidFill>
                  <a:srgbClr val="040B28"/>
                </a:solidFill>
                <a:latin typeface="Times New Roman" panose="02020603050405020304" pitchFamily="18" charset="0"/>
                <a:cs typeface="Times New Roman" panose="02020603050405020304" pitchFamily="18" charset="0"/>
                <a:sym typeface="+mn-ea"/>
              </a:rPr>
              <a:t>actuators</a:t>
            </a:r>
            <a:r>
              <a:rPr spc="-10" dirty="0">
                <a:solidFill>
                  <a:srgbClr val="464646"/>
                </a:solidFill>
                <a:latin typeface="Times New Roman" panose="02020603050405020304" pitchFamily="18" charset="0"/>
                <a:cs typeface="Times New Roman" panose="02020603050405020304" pitchFamily="18" charset="0"/>
                <a:sym typeface="+mn-ea"/>
              </a:rPr>
              <a:t>.</a:t>
            </a:r>
            <a:endParaRPr>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pic>
        <p:nvPicPr>
          <p:cNvPr id="7" name="object 7"/>
          <p:cNvPicPr/>
          <p:nvPr/>
        </p:nvPicPr>
        <p:blipFill>
          <a:blip r:embed="rId1" cstate="print"/>
          <a:stretch>
            <a:fillRect/>
          </a:stretch>
        </p:blipFill>
        <p:spPr>
          <a:xfrm>
            <a:off x="1981453" y="457454"/>
            <a:ext cx="5782056" cy="373075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spc="-10" dirty="0">
                <a:latin typeface="Times New Roman" panose="02020603050405020304" pitchFamily="18" charset="0"/>
                <a:cs typeface="Times New Roman" panose="02020603050405020304" pitchFamily="18" charset="0"/>
                <a:sym typeface="+mn-ea"/>
              </a:rPr>
              <a:t>Components</a:t>
            </a:r>
            <a:r>
              <a:rPr b="1" dirty="0">
                <a:latin typeface="Times New Roman" panose="02020603050405020304" pitchFamily="18" charset="0"/>
                <a:cs typeface="Times New Roman" panose="02020603050405020304" pitchFamily="18" charset="0"/>
                <a:sym typeface="+mn-ea"/>
              </a:rPr>
              <a:t>	of</a:t>
            </a:r>
            <a:r>
              <a:rPr b="1" spc="-50"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Agents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a:bodyPr>
          <a:p>
            <a:pPr marR="5080" algn="just">
              <a:lnSpc>
                <a:spcPct val="100000"/>
              </a:lnSpc>
              <a:spcBef>
                <a:spcPts val="100"/>
              </a:spcBef>
            </a:pPr>
            <a:r>
              <a:rPr b="1" dirty="0">
                <a:solidFill>
                  <a:srgbClr val="3E3E3E"/>
                </a:solidFill>
                <a:latin typeface="Times New Roman" panose="02020603050405020304" pitchFamily="18" charset="0"/>
                <a:cs typeface="Times New Roman" panose="02020603050405020304" pitchFamily="18" charset="0"/>
                <a:sym typeface="+mn-ea"/>
              </a:rPr>
              <a:t>Sensor:</a:t>
            </a:r>
            <a:r>
              <a:rPr b="1"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Sensor</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device</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which</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detects</a:t>
            </a:r>
            <a:r>
              <a:rPr spc="-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change</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3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environment</a:t>
            </a:r>
            <a:r>
              <a:rPr dirty="0">
                <a:solidFill>
                  <a:srgbClr val="3E3E3E"/>
                </a:solidFill>
                <a:latin typeface="Times New Roman" panose="02020603050405020304" pitchFamily="18" charset="0"/>
                <a:cs typeface="Times New Roman" panose="02020603050405020304" pitchFamily="18" charset="0"/>
                <a:sym typeface="+mn-ea"/>
              </a:rPr>
              <a:t> and</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sends the</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information</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other</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electronic</a:t>
            </a:r>
            <a:r>
              <a:rPr spc="-3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devices.</a:t>
            </a:r>
            <a:r>
              <a:rPr spc="-1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agent</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observes </a:t>
            </a:r>
            <a:r>
              <a:rPr spc="-25" dirty="0">
                <a:solidFill>
                  <a:srgbClr val="3E3E3E"/>
                </a:solidFill>
                <a:latin typeface="Times New Roman" panose="02020603050405020304" pitchFamily="18" charset="0"/>
                <a:cs typeface="Times New Roman" panose="02020603050405020304" pitchFamily="18" charset="0"/>
                <a:sym typeface="+mn-ea"/>
              </a:rPr>
              <a:t>its </a:t>
            </a:r>
            <a:r>
              <a:rPr dirty="0">
                <a:solidFill>
                  <a:srgbClr val="3E3E3E"/>
                </a:solidFill>
                <a:latin typeface="Times New Roman" panose="02020603050405020304" pitchFamily="18" charset="0"/>
                <a:cs typeface="Times New Roman" panose="02020603050405020304" pitchFamily="18" charset="0"/>
                <a:sym typeface="+mn-ea"/>
              </a:rPr>
              <a:t>environment</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through</a:t>
            </a:r>
            <a:r>
              <a:rPr spc="-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sensors.</a:t>
            </a:r>
            <a:endParaRPr>
              <a:latin typeface="Times New Roman" panose="02020603050405020304" pitchFamily="18" charset="0"/>
              <a:cs typeface="Times New Roman" panose="02020603050405020304" pitchFamily="18" charset="0"/>
            </a:endParaRPr>
          </a:p>
          <a:p>
            <a:pPr marR="86995" algn="just">
              <a:lnSpc>
                <a:spcPct val="100000"/>
              </a:lnSpc>
              <a:spcBef>
                <a:spcPts val="2160"/>
              </a:spcBef>
            </a:pPr>
            <a:r>
              <a:rPr b="1" spc="-20" dirty="0">
                <a:solidFill>
                  <a:srgbClr val="3E3E3E"/>
                </a:solidFill>
                <a:latin typeface="Times New Roman" panose="02020603050405020304" pitchFamily="18" charset="0"/>
                <a:cs typeface="Times New Roman" panose="02020603050405020304" pitchFamily="18" charset="0"/>
                <a:sym typeface="+mn-ea"/>
              </a:rPr>
              <a:t>Actuators:</a:t>
            </a:r>
            <a:r>
              <a:rPr b="1" spc="-1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Actuators</a:t>
            </a:r>
            <a:r>
              <a:rPr spc="-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are</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 component of machines</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that</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converts</a:t>
            </a:r>
            <a:r>
              <a:rPr spc="-2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energy </a:t>
            </a:r>
            <a:r>
              <a:rPr dirty="0">
                <a:solidFill>
                  <a:srgbClr val="3E3E3E"/>
                </a:solidFill>
                <a:latin typeface="Times New Roman" panose="02020603050405020304" pitchFamily="18" charset="0"/>
                <a:cs typeface="Times New Roman" panose="02020603050405020304" pitchFamily="18" charset="0"/>
                <a:sym typeface="+mn-ea"/>
              </a:rPr>
              <a:t>into</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motion.</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 actuators</a:t>
            </a:r>
            <a:r>
              <a:rPr spc="-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only</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responsible</a:t>
            </a:r>
            <a:r>
              <a:rPr spc="-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for</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moving</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and</a:t>
            </a:r>
            <a:r>
              <a:rPr spc="-1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controlling </a:t>
            </a:r>
            <a:r>
              <a:rPr dirty="0">
                <a:solidFill>
                  <a:srgbClr val="3E3E3E"/>
                </a:solidFill>
                <a:latin typeface="Times New Roman" panose="02020603050405020304" pitchFamily="18" charset="0"/>
                <a:cs typeface="Times New Roman" panose="02020603050405020304" pitchFamily="18" charset="0"/>
                <a:sym typeface="+mn-ea"/>
              </a:rPr>
              <a:t>a</a:t>
            </a:r>
            <a:r>
              <a:rPr spc="-10" dirty="0">
                <a:solidFill>
                  <a:srgbClr val="3E3E3E"/>
                </a:solidFill>
                <a:latin typeface="Times New Roman" panose="02020603050405020304" pitchFamily="18" charset="0"/>
                <a:cs typeface="Times New Roman" panose="02020603050405020304" pitchFamily="18" charset="0"/>
                <a:sym typeface="+mn-ea"/>
              </a:rPr>
              <a:t> system.</a:t>
            </a:r>
            <a:r>
              <a:rPr spc="-1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 actuator</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can</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be</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electric</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motor,</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gears,</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rails,</a:t>
            </a:r>
            <a:r>
              <a:rPr spc="-35" dirty="0">
                <a:solidFill>
                  <a:srgbClr val="3E3E3E"/>
                </a:solidFill>
                <a:latin typeface="Times New Roman" panose="02020603050405020304" pitchFamily="18" charset="0"/>
                <a:cs typeface="Times New Roman" panose="02020603050405020304" pitchFamily="18" charset="0"/>
                <a:sym typeface="+mn-ea"/>
              </a:rPr>
              <a:t> </a:t>
            </a:r>
            <a:r>
              <a:rPr spc="-20" dirty="0">
                <a:solidFill>
                  <a:srgbClr val="3E3E3E"/>
                </a:solidFill>
                <a:latin typeface="Times New Roman" panose="02020603050405020304" pitchFamily="18" charset="0"/>
                <a:cs typeface="Times New Roman" panose="02020603050405020304" pitchFamily="18" charset="0"/>
                <a:sym typeface="+mn-ea"/>
              </a:rPr>
              <a:t>etc.</a:t>
            </a:r>
            <a:endParaRPr>
              <a:latin typeface="Times New Roman" panose="02020603050405020304" pitchFamily="18" charset="0"/>
              <a:cs typeface="Times New Roman" panose="02020603050405020304" pitchFamily="18" charset="0"/>
            </a:endParaRPr>
          </a:p>
          <a:p>
            <a:pPr algn="just">
              <a:lnSpc>
                <a:spcPct val="100000"/>
              </a:lnSpc>
              <a:spcBef>
                <a:spcPts val="125"/>
              </a:spcBef>
            </a:pPr>
            <a:endParaRPr>
              <a:latin typeface="Times New Roman" panose="02020603050405020304" pitchFamily="18" charset="0"/>
              <a:cs typeface="Times New Roman" panose="02020603050405020304" pitchFamily="18" charset="0"/>
            </a:endParaRPr>
          </a:p>
          <a:p>
            <a:pPr marR="866775" algn="just">
              <a:lnSpc>
                <a:spcPct val="100000"/>
              </a:lnSpc>
            </a:pPr>
            <a:r>
              <a:rPr b="1" dirty="0">
                <a:solidFill>
                  <a:srgbClr val="3E3E3E"/>
                </a:solidFill>
                <a:latin typeface="Times New Roman" panose="02020603050405020304" pitchFamily="18" charset="0"/>
                <a:cs typeface="Times New Roman" panose="02020603050405020304" pitchFamily="18" charset="0"/>
                <a:sym typeface="+mn-ea"/>
              </a:rPr>
              <a:t>Effectors:</a:t>
            </a:r>
            <a:r>
              <a:rPr b="1" spc="-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Effectors</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devices</a:t>
            </a:r>
            <a:r>
              <a:rPr spc="-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which</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affect</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3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environment. </a:t>
            </a:r>
            <a:r>
              <a:rPr dirty="0">
                <a:solidFill>
                  <a:srgbClr val="3E3E3E"/>
                </a:solidFill>
                <a:latin typeface="Times New Roman" panose="02020603050405020304" pitchFamily="18" charset="0"/>
                <a:cs typeface="Times New Roman" panose="02020603050405020304" pitchFamily="18" charset="0"/>
                <a:sym typeface="+mn-ea"/>
              </a:rPr>
              <a:t>Effectors</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can</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be</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legs,</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wheels,</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arms,</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fingers,</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wings,</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fins,</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and</a:t>
            </a:r>
            <a:r>
              <a:rPr spc="-1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display screen.</a:t>
            </a:r>
            <a:endParaRPr>
              <a:latin typeface="Times New Roman" panose="02020603050405020304" pitchFamily="18" charset="0"/>
              <a:cs typeface="Times New Roman" panose="02020603050405020304" pitchFamily="18" charset="0"/>
            </a:endParaRPr>
          </a:p>
          <a:p>
            <a:pPr algn="just">
              <a:lnSpc>
                <a:spcPct val="100000"/>
              </a:lnSpc>
            </a:pP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b="1" dirty="0">
                <a:latin typeface="Times New Roman" panose="02020603050405020304" pitchFamily="18" charset="0"/>
                <a:cs typeface="Times New Roman" panose="02020603050405020304" pitchFamily="18" charset="0"/>
                <a:sym typeface="+mn-ea"/>
              </a:rPr>
              <a:t>Good</a:t>
            </a:r>
            <a:r>
              <a:rPr b="1" spc="-3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Behavior:</a:t>
            </a:r>
            <a:r>
              <a:rPr b="1" spc="-40"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The</a:t>
            </a:r>
            <a:r>
              <a:rPr b="1" spc="-25"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Concept</a:t>
            </a:r>
            <a:r>
              <a:rPr b="1" spc="-50" dirty="0">
                <a:latin typeface="Times New Roman" panose="02020603050405020304" pitchFamily="18" charset="0"/>
                <a:cs typeface="Times New Roman" panose="02020603050405020304" pitchFamily="18" charset="0"/>
                <a:sym typeface="+mn-ea"/>
              </a:rPr>
              <a:t> </a:t>
            </a:r>
            <a:r>
              <a:rPr b="1" dirty="0">
                <a:latin typeface="Times New Roman" panose="02020603050405020304" pitchFamily="18" charset="0"/>
                <a:cs typeface="Times New Roman" panose="02020603050405020304" pitchFamily="18" charset="0"/>
                <a:sym typeface="+mn-ea"/>
              </a:rPr>
              <a:t>of</a:t>
            </a:r>
            <a:r>
              <a:rPr b="1" spc="-35" dirty="0">
                <a:latin typeface="Times New Roman" panose="02020603050405020304" pitchFamily="18" charset="0"/>
                <a:cs typeface="Times New Roman" panose="02020603050405020304" pitchFamily="18" charset="0"/>
                <a:sym typeface="+mn-ea"/>
              </a:rPr>
              <a:t> </a:t>
            </a:r>
            <a:r>
              <a:rPr b="1" spc="-10" dirty="0">
                <a:latin typeface="Times New Roman" panose="02020603050405020304" pitchFamily="18" charset="0"/>
                <a:cs typeface="Times New Roman" panose="02020603050405020304" pitchFamily="18" charset="0"/>
                <a:sym typeface="+mn-ea"/>
              </a:rPr>
              <a:t>Rationality</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pPr marL="0" indent="0" algn="just">
              <a:lnSpc>
                <a:spcPct val="100000"/>
              </a:lnSpc>
              <a:spcBef>
                <a:spcPts val="105"/>
              </a:spcBef>
              <a:buNone/>
            </a:pPr>
            <a:r>
              <a:rPr sz="2400" b="1" dirty="0">
                <a:solidFill>
                  <a:srgbClr val="FF0000"/>
                </a:solidFill>
                <a:latin typeface="Times New Roman" panose="02020603050405020304" pitchFamily="18" charset="0"/>
                <a:cs typeface="Times New Roman" panose="02020603050405020304" pitchFamily="18" charset="0"/>
                <a:sym typeface="+mn-ea"/>
              </a:rPr>
              <a:t>Rational</a:t>
            </a:r>
            <a:r>
              <a:rPr sz="2400" b="1" spc="-70" dirty="0">
                <a:solidFill>
                  <a:srgbClr val="FF0000"/>
                </a:solidFill>
                <a:latin typeface="Times New Roman" panose="02020603050405020304" pitchFamily="18" charset="0"/>
                <a:cs typeface="Times New Roman" panose="02020603050405020304" pitchFamily="18" charset="0"/>
                <a:sym typeface="+mn-ea"/>
              </a:rPr>
              <a:t> </a:t>
            </a:r>
            <a:r>
              <a:rPr sz="2400" b="1" spc="-20" dirty="0">
                <a:solidFill>
                  <a:srgbClr val="FF0000"/>
                </a:solidFill>
                <a:latin typeface="Times New Roman" panose="02020603050405020304" pitchFamily="18" charset="0"/>
                <a:cs typeface="Times New Roman" panose="02020603050405020304" pitchFamily="18" charset="0"/>
                <a:sym typeface="+mn-ea"/>
              </a:rPr>
              <a:t>agent</a:t>
            </a:r>
            <a:endParaRPr sz="2400" b="1" spc="-20" dirty="0">
              <a:solidFill>
                <a:srgbClr val="FF0000"/>
              </a:solidFill>
              <a:latin typeface="Times New Roman" panose="02020603050405020304" pitchFamily="18" charset="0"/>
              <a:cs typeface="Times New Roman" panose="02020603050405020304" pitchFamily="18" charset="0"/>
              <a:sym typeface="+mn-ea"/>
            </a:endParaRPr>
          </a:p>
          <a:p>
            <a:pPr marL="0" marR="5080" indent="0" algn="just">
              <a:lnSpc>
                <a:spcPts val="2590"/>
              </a:lnSpc>
              <a:spcBef>
                <a:spcPts val="425"/>
              </a:spcBef>
              <a:buNone/>
              <a:tabLst>
                <a:tab pos="7646670" algn="l"/>
              </a:tabLst>
            </a:pPr>
            <a:r>
              <a:rPr sz="2400" dirty="0">
                <a:solidFill>
                  <a:srgbClr val="3E3E3E"/>
                </a:solidFill>
                <a:latin typeface="Times New Roman" panose="02020603050405020304" pitchFamily="18" charset="0"/>
                <a:cs typeface="Times New Roman" panose="02020603050405020304" pitchFamily="18" charset="0"/>
                <a:sym typeface="+mn-ea"/>
              </a:rPr>
              <a:t>A</a:t>
            </a:r>
            <a:r>
              <a:rPr sz="2400" spc="18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rational</a:t>
            </a:r>
            <a:r>
              <a:rPr sz="2400" spc="18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agent</a:t>
            </a:r>
            <a:r>
              <a:rPr sz="2400" spc="18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is</a:t>
            </a:r>
            <a:r>
              <a:rPr sz="2400" spc="18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one</a:t>
            </a:r>
            <a:r>
              <a:rPr sz="2400" spc="19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that</a:t>
            </a:r>
            <a:r>
              <a:rPr sz="2400" spc="18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does</a:t>
            </a:r>
            <a:r>
              <a:rPr sz="2400" spc="18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the</a:t>
            </a:r>
            <a:r>
              <a:rPr sz="2400" spc="19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right</a:t>
            </a:r>
            <a:r>
              <a:rPr sz="2400" spc="19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thing.</a:t>
            </a:r>
            <a:r>
              <a:rPr sz="2400" spc="18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Obviously,</a:t>
            </a:r>
            <a:r>
              <a:rPr sz="2400" spc="19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doing</a:t>
            </a:r>
            <a:r>
              <a:rPr sz="2400" spc="17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the</a:t>
            </a:r>
            <a:r>
              <a:rPr sz="2400" spc="20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right </a:t>
            </a:r>
            <a:r>
              <a:rPr sz="2400" dirty="0">
                <a:solidFill>
                  <a:srgbClr val="3E3E3E"/>
                </a:solidFill>
                <a:latin typeface="Times New Roman" panose="02020603050405020304" pitchFamily="18" charset="0"/>
                <a:cs typeface="Times New Roman" panose="02020603050405020304" pitchFamily="18" charset="0"/>
                <a:sym typeface="+mn-ea"/>
              </a:rPr>
              <a:t>than</a:t>
            </a:r>
            <a:r>
              <a:rPr sz="2400" spc="-2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doing</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the</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wrong</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thing,</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but</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what</a:t>
            </a:r>
            <a:r>
              <a:rPr sz="2400" spc="-2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does</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it</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mean</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to</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do</a:t>
            </a:r>
            <a:r>
              <a:rPr sz="2400" spc="-30" dirty="0">
                <a:solidFill>
                  <a:srgbClr val="3E3E3E"/>
                </a:solidFill>
                <a:latin typeface="Times New Roman" panose="02020603050405020304" pitchFamily="18" charset="0"/>
                <a:cs typeface="Times New Roman" panose="02020603050405020304" pitchFamily="18" charset="0"/>
                <a:sym typeface="+mn-ea"/>
              </a:rPr>
              <a:t> </a:t>
            </a:r>
            <a:r>
              <a:rPr sz="2400" spc="-25" dirty="0">
                <a:solidFill>
                  <a:srgbClr val="3E3E3E"/>
                </a:solidFill>
                <a:latin typeface="Times New Roman" panose="02020603050405020304" pitchFamily="18" charset="0"/>
                <a:cs typeface="Times New Roman" panose="02020603050405020304" pitchFamily="18" charset="0"/>
                <a:sym typeface="+mn-ea"/>
              </a:rPr>
              <a:t>th</a:t>
            </a:r>
            <a:r>
              <a:rPr lang="en-US" sz="2400" spc="-25" dirty="0">
                <a:solidFill>
                  <a:srgbClr val="3E3E3E"/>
                </a:solidFill>
                <a:latin typeface="Times New Roman" panose="02020603050405020304" pitchFamily="18" charset="0"/>
                <a:cs typeface="Times New Roman" panose="02020603050405020304" pitchFamily="18" charset="0"/>
                <a:sym typeface="+mn-ea"/>
              </a:rPr>
              <a:t>e rig</a:t>
            </a:r>
            <a:r>
              <a:rPr sz="2400" dirty="0">
                <a:solidFill>
                  <a:srgbClr val="3E3E3E"/>
                </a:solidFill>
                <a:latin typeface="Times New Roman" panose="02020603050405020304" pitchFamily="18" charset="0"/>
                <a:cs typeface="Times New Roman" panose="02020603050405020304" pitchFamily="18" charset="0"/>
                <a:sym typeface="+mn-ea"/>
              </a:rPr>
              <a:t>ht</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thing?</a:t>
            </a:r>
            <a:endParaRPr sz="2400">
              <a:latin typeface="Times New Roman" panose="02020603050405020304" pitchFamily="18" charset="0"/>
              <a:cs typeface="Times New Roman" panose="02020603050405020304" pitchFamily="18" charset="0"/>
            </a:endParaRPr>
          </a:p>
          <a:p>
            <a:pPr algn="just">
              <a:lnSpc>
                <a:spcPct val="100000"/>
              </a:lnSpc>
              <a:spcBef>
                <a:spcPts val="675"/>
              </a:spcBef>
            </a:pPr>
            <a:r>
              <a:rPr sz="2400" b="1" spc="-10" dirty="0">
                <a:solidFill>
                  <a:srgbClr val="3E3E3E"/>
                </a:solidFill>
                <a:latin typeface="Times New Roman" panose="02020603050405020304" pitchFamily="18" charset="0"/>
                <a:cs typeface="Times New Roman" panose="02020603050405020304" pitchFamily="18" charset="0"/>
                <a:sym typeface="+mn-ea"/>
              </a:rPr>
              <a:t>Rationality</a:t>
            </a:r>
            <a:endParaRPr sz="2400">
              <a:latin typeface="Times New Roman" panose="02020603050405020304" pitchFamily="18" charset="0"/>
              <a:cs typeface="Times New Roman" panose="02020603050405020304" pitchFamily="18" charset="0"/>
            </a:endParaRPr>
          </a:p>
          <a:p>
            <a:pPr algn="just">
              <a:lnSpc>
                <a:spcPct val="100000"/>
              </a:lnSpc>
              <a:spcBef>
                <a:spcPts val="710"/>
              </a:spcBef>
            </a:pPr>
            <a:r>
              <a:rPr sz="2400" dirty="0">
                <a:solidFill>
                  <a:srgbClr val="3E3E3E"/>
                </a:solidFill>
                <a:latin typeface="Times New Roman" panose="02020603050405020304" pitchFamily="18" charset="0"/>
                <a:cs typeface="Times New Roman" panose="02020603050405020304" pitchFamily="18" charset="0"/>
                <a:sym typeface="+mn-ea"/>
              </a:rPr>
              <a:t>What</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is</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rational</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at</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any</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given</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time</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depends</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on</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four</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things:</a:t>
            </a:r>
            <a:endParaRPr sz="2400">
              <a:latin typeface="Times New Roman" panose="02020603050405020304" pitchFamily="18" charset="0"/>
              <a:cs typeface="Times New Roman" panose="02020603050405020304" pitchFamily="18" charset="0"/>
            </a:endParaRPr>
          </a:p>
          <a:p>
            <a:pPr algn="just">
              <a:lnSpc>
                <a:spcPct val="100000"/>
              </a:lnSpc>
              <a:spcBef>
                <a:spcPts val="720"/>
              </a:spcBef>
              <a:tabLst>
                <a:tab pos="239395" algn="l"/>
              </a:tabLst>
            </a:pPr>
            <a:r>
              <a:rPr sz="2400" dirty="0">
                <a:solidFill>
                  <a:srgbClr val="3E3E3E"/>
                </a:solidFill>
                <a:latin typeface="Times New Roman" panose="02020603050405020304" pitchFamily="18" charset="0"/>
                <a:cs typeface="Times New Roman" panose="02020603050405020304" pitchFamily="18" charset="0"/>
                <a:sym typeface="+mn-ea"/>
              </a:rPr>
              <a:t>The</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performance</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measure</a:t>
            </a:r>
            <a:r>
              <a:rPr sz="2400" spc="-7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that</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defines</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the</a:t>
            </a:r>
            <a:r>
              <a:rPr sz="2400" spc="-6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criterion</a:t>
            </a:r>
            <a:r>
              <a:rPr sz="2400" spc="-8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of</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success.</a:t>
            </a:r>
            <a:endParaRPr sz="2400">
              <a:latin typeface="Times New Roman" panose="02020603050405020304" pitchFamily="18" charset="0"/>
              <a:cs typeface="Times New Roman" panose="02020603050405020304" pitchFamily="18" charset="0"/>
            </a:endParaRPr>
          </a:p>
          <a:p>
            <a:pPr algn="just">
              <a:lnSpc>
                <a:spcPct val="100000"/>
              </a:lnSpc>
              <a:spcBef>
                <a:spcPts val="705"/>
              </a:spcBef>
              <a:tabLst>
                <a:tab pos="239395" algn="l"/>
              </a:tabLst>
            </a:pPr>
            <a:r>
              <a:rPr sz="2400" spc="-150" dirty="0">
                <a:solidFill>
                  <a:srgbClr val="3E3E3E"/>
                </a:solidFill>
                <a:latin typeface="Times New Roman" panose="02020603050405020304" pitchFamily="18" charset="0"/>
                <a:cs typeface="Times New Roman" panose="02020603050405020304" pitchFamily="18" charset="0"/>
                <a:sym typeface="+mn-ea"/>
              </a:rPr>
              <a:t>agent’s</a:t>
            </a:r>
            <a:r>
              <a:rPr sz="2400" spc="-18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prior</a:t>
            </a:r>
            <a:r>
              <a:rPr sz="2400" spc="-5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knowledge</a:t>
            </a:r>
            <a:r>
              <a:rPr sz="2400" spc="-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of</a:t>
            </a:r>
            <a:r>
              <a:rPr sz="2400" spc="-1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the</a:t>
            </a:r>
            <a:r>
              <a:rPr sz="2400" spc="-25"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environment.</a:t>
            </a:r>
            <a:endParaRPr sz="2400">
              <a:latin typeface="Times New Roman" panose="02020603050405020304" pitchFamily="18" charset="0"/>
              <a:cs typeface="Times New Roman" panose="02020603050405020304" pitchFamily="18" charset="0"/>
            </a:endParaRPr>
          </a:p>
          <a:p>
            <a:pPr algn="just">
              <a:lnSpc>
                <a:spcPct val="100000"/>
              </a:lnSpc>
              <a:spcBef>
                <a:spcPts val="715"/>
              </a:spcBef>
              <a:tabLst>
                <a:tab pos="239395" algn="l"/>
              </a:tabLst>
            </a:pPr>
            <a:r>
              <a:rPr sz="2400" dirty="0">
                <a:solidFill>
                  <a:srgbClr val="3E3E3E"/>
                </a:solidFill>
                <a:latin typeface="Times New Roman" panose="02020603050405020304" pitchFamily="18" charset="0"/>
                <a:cs typeface="Times New Roman" panose="02020603050405020304" pitchFamily="18" charset="0"/>
                <a:sym typeface="+mn-ea"/>
              </a:rPr>
              <a:t>The</a:t>
            </a:r>
            <a:r>
              <a:rPr sz="2400" spc="-4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actions</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that</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the</a:t>
            </a:r>
            <a:r>
              <a:rPr sz="2400" spc="-40"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agent</a:t>
            </a:r>
            <a:r>
              <a:rPr sz="2400" spc="-4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can</a:t>
            </a:r>
            <a:r>
              <a:rPr sz="2400" spc="-55"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perform.</a:t>
            </a:r>
            <a:endParaRPr sz="2400">
              <a:latin typeface="Times New Roman" panose="02020603050405020304" pitchFamily="18" charset="0"/>
              <a:cs typeface="Times New Roman" panose="02020603050405020304" pitchFamily="18" charset="0"/>
            </a:endParaRPr>
          </a:p>
          <a:p>
            <a:pPr algn="just">
              <a:lnSpc>
                <a:spcPct val="100000"/>
              </a:lnSpc>
              <a:spcBef>
                <a:spcPts val="720"/>
              </a:spcBef>
              <a:tabLst>
                <a:tab pos="239395" algn="l"/>
              </a:tabLst>
            </a:pPr>
            <a:r>
              <a:rPr sz="2400" dirty="0">
                <a:solidFill>
                  <a:srgbClr val="3E3E3E"/>
                </a:solidFill>
                <a:latin typeface="Times New Roman" panose="02020603050405020304" pitchFamily="18" charset="0"/>
                <a:cs typeface="Times New Roman" panose="02020603050405020304" pitchFamily="18" charset="0"/>
                <a:sym typeface="+mn-ea"/>
              </a:rPr>
              <a:t>The</a:t>
            </a:r>
            <a:r>
              <a:rPr sz="2400" spc="-75" dirty="0">
                <a:solidFill>
                  <a:srgbClr val="3E3E3E"/>
                </a:solidFill>
                <a:latin typeface="Times New Roman" panose="02020603050405020304" pitchFamily="18" charset="0"/>
                <a:cs typeface="Times New Roman" panose="02020603050405020304" pitchFamily="18" charset="0"/>
                <a:sym typeface="+mn-ea"/>
              </a:rPr>
              <a:t> </a:t>
            </a:r>
            <a:r>
              <a:rPr sz="2400" spc="-150" dirty="0">
                <a:solidFill>
                  <a:srgbClr val="3E3E3E"/>
                </a:solidFill>
                <a:latin typeface="Times New Roman" panose="02020603050405020304" pitchFamily="18" charset="0"/>
                <a:cs typeface="Times New Roman" panose="02020603050405020304" pitchFamily="18" charset="0"/>
                <a:sym typeface="+mn-ea"/>
              </a:rPr>
              <a:t>agent’s</a:t>
            </a:r>
            <a:r>
              <a:rPr sz="2400" spc="-19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percept</a:t>
            </a:r>
            <a:r>
              <a:rPr sz="2400" spc="-4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sequence</a:t>
            </a:r>
            <a:r>
              <a:rPr sz="2400" spc="-35" dirty="0">
                <a:solidFill>
                  <a:srgbClr val="3E3E3E"/>
                </a:solidFill>
                <a:latin typeface="Times New Roman" panose="02020603050405020304" pitchFamily="18" charset="0"/>
                <a:cs typeface="Times New Roman" panose="02020603050405020304" pitchFamily="18" charset="0"/>
                <a:sym typeface="+mn-ea"/>
              </a:rPr>
              <a:t> </a:t>
            </a:r>
            <a:r>
              <a:rPr sz="2400" dirty="0">
                <a:solidFill>
                  <a:srgbClr val="3E3E3E"/>
                </a:solidFill>
                <a:latin typeface="Times New Roman" panose="02020603050405020304" pitchFamily="18" charset="0"/>
                <a:cs typeface="Times New Roman" panose="02020603050405020304" pitchFamily="18" charset="0"/>
                <a:sym typeface="+mn-ea"/>
              </a:rPr>
              <a:t>to</a:t>
            </a:r>
            <a:r>
              <a:rPr sz="2400" spc="-6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date.</a:t>
            </a:r>
            <a:endParaRPr sz="2400">
              <a:latin typeface="Times New Roman" panose="02020603050405020304" pitchFamily="18" charset="0"/>
              <a:cs typeface="Times New Roman" panose="02020603050405020304" pitchFamily="18" charset="0"/>
            </a:endParaRPr>
          </a:p>
          <a:p>
            <a:pPr algn="just">
              <a:lnSpc>
                <a:spcPct val="100000"/>
              </a:lnSpc>
              <a:spcBef>
                <a:spcPts val="105"/>
              </a:spcBef>
            </a:pPr>
            <a:endParaRPr 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algn="l"/>
            <a:r>
              <a:rPr sz="2800" dirty="0">
                <a:solidFill>
                  <a:schemeClr val="tx1"/>
                </a:solidFill>
                <a:latin typeface="Times New Roman" panose="02020603050405020304" pitchFamily="18" charset="0"/>
                <a:cs typeface="Times New Roman" panose="02020603050405020304" pitchFamily="18" charset="0"/>
                <a:sym typeface="+mn-ea"/>
              </a:rPr>
              <a:t>This</a:t>
            </a:r>
            <a:r>
              <a:rPr sz="2800" spc="425"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leads</a:t>
            </a:r>
            <a:r>
              <a:rPr sz="2800" spc="434"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to</a:t>
            </a:r>
            <a:r>
              <a:rPr sz="2800" spc="430"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a</a:t>
            </a:r>
            <a:r>
              <a:rPr sz="2800" spc="434"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definition</a:t>
            </a:r>
            <a:r>
              <a:rPr sz="2800" spc="425"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of</a:t>
            </a:r>
            <a:r>
              <a:rPr sz="2800" spc="430"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a</a:t>
            </a:r>
            <a:r>
              <a:rPr sz="2800" spc="434"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rational</a:t>
            </a:r>
            <a:r>
              <a:rPr sz="2800" spc="430" dirty="0">
                <a:solidFill>
                  <a:schemeClr val="tx1"/>
                </a:solidFill>
                <a:latin typeface="Times New Roman" panose="02020603050405020304" pitchFamily="18" charset="0"/>
                <a:cs typeface="Times New Roman" panose="02020603050405020304" pitchFamily="18" charset="0"/>
                <a:sym typeface="+mn-ea"/>
              </a:rPr>
              <a:t> </a:t>
            </a:r>
            <a:r>
              <a:rPr sz="2800" dirty="0">
                <a:solidFill>
                  <a:schemeClr val="tx1"/>
                </a:solidFill>
                <a:latin typeface="Times New Roman" panose="02020603050405020304" pitchFamily="18" charset="0"/>
                <a:cs typeface="Times New Roman" panose="02020603050405020304" pitchFamily="18" charset="0"/>
                <a:sym typeface="+mn-ea"/>
              </a:rPr>
              <a:t>agent:</a:t>
            </a:r>
            <a:r>
              <a:rPr sz="2800" spc="425" dirty="0">
                <a:solidFill>
                  <a:schemeClr val="tx1"/>
                </a:solidFill>
                <a:latin typeface="Times New Roman" panose="02020603050405020304" pitchFamily="18" charset="0"/>
                <a:cs typeface="Times New Roman" panose="02020603050405020304" pitchFamily="18" charset="0"/>
                <a:sym typeface="+mn-ea"/>
              </a:rPr>
              <a:t> </a:t>
            </a:r>
            <a:endParaRPr sz="2800" spc="425" dirty="0">
              <a:solidFill>
                <a:schemeClr val="tx1"/>
              </a:solidFill>
              <a:latin typeface="Times New Roman" panose="02020603050405020304" pitchFamily="18" charset="0"/>
              <a:cs typeface="Times New Roman" panose="02020603050405020304" pitchFamily="18" charset="0"/>
              <a:sym typeface="+mn-ea"/>
            </a:endParaRPr>
          </a:p>
          <a:p>
            <a:pPr algn="l"/>
            <a:r>
              <a:rPr sz="2800" b="1" dirty="0">
                <a:solidFill>
                  <a:schemeClr val="tx1"/>
                </a:solidFill>
                <a:latin typeface="Times New Roman" panose="02020603050405020304" pitchFamily="18" charset="0"/>
                <a:cs typeface="Times New Roman" panose="02020603050405020304" pitchFamily="18" charset="0"/>
                <a:sym typeface="+mn-ea"/>
              </a:rPr>
              <a:t>“For</a:t>
            </a:r>
            <a:r>
              <a:rPr sz="2800" b="1" spc="45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each</a:t>
            </a:r>
            <a:r>
              <a:rPr sz="2800" b="1" spc="41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possible</a:t>
            </a:r>
            <a:r>
              <a:rPr sz="2800" b="1" spc="44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percept</a:t>
            </a:r>
            <a:r>
              <a:rPr sz="2800" b="1" spc="44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sequence,</a:t>
            </a:r>
            <a:r>
              <a:rPr sz="2800" b="1" spc="445" dirty="0">
                <a:solidFill>
                  <a:schemeClr val="tx1"/>
                </a:solidFill>
                <a:latin typeface="Times New Roman" panose="02020603050405020304" pitchFamily="18" charset="0"/>
                <a:cs typeface="Times New Roman" panose="02020603050405020304" pitchFamily="18" charset="0"/>
                <a:sym typeface="+mn-ea"/>
              </a:rPr>
              <a:t> </a:t>
            </a:r>
            <a:r>
              <a:rPr sz="2800" b="1" spc="-50" dirty="0">
                <a:solidFill>
                  <a:schemeClr val="tx1"/>
                </a:solidFill>
                <a:latin typeface="Times New Roman" panose="02020603050405020304" pitchFamily="18" charset="0"/>
                <a:cs typeface="Times New Roman" panose="02020603050405020304" pitchFamily="18" charset="0"/>
                <a:sym typeface="+mn-ea"/>
              </a:rPr>
              <a:t>a</a:t>
            </a:r>
            <a:r>
              <a:rPr lang="en-US" sz="2800" b="1" spc="-5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rational</a:t>
            </a:r>
            <a:r>
              <a:rPr sz="2800" b="1" spc="38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agent</a:t>
            </a:r>
            <a:r>
              <a:rPr sz="2800" b="1" spc="39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should</a:t>
            </a:r>
            <a:r>
              <a:rPr sz="2800" b="1" spc="38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select</a:t>
            </a:r>
            <a:r>
              <a:rPr sz="2800" b="1" spc="39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an</a:t>
            </a:r>
            <a:r>
              <a:rPr sz="2800" b="1" spc="39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action</a:t>
            </a:r>
            <a:r>
              <a:rPr sz="2800" b="1" spc="39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that</a:t>
            </a:r>
            <a:r>
              <a:rPr sz="2800" b="1" spc="38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is</a:t>
            </a:r>
            <a:r>
              <a:rPr sz="2800" b="1" spc="395" dirty="0">
                <a:solidFill>
                  <a:schemeClr val="tx1"/>
                </a:solidFill>
                <a:latin typeface="Times New Roman" panose="02020603050405020304" pitchFamily="18" charset="0"/>
                <a:cs typeface="Times New Roman" panose="02020603050405020304" pitchFamily="18" charset="0"/>
                <a:sym typeface="+mn-ea"/>
              </a:rPr>
              <a:t> </a:t>
            </a:r>
            <a:r>
              <a:rPr lang="en-US" sz="2800" b="1" spc="39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expected</a:t>
            </a:r>
            <a:r>
              <a:rPr sz="2800" b="1" spc="37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to</a:t>
            </a:r>
            <a:r>
              <a:rPr sz="2800" b="1" spc="39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maximize</a:t>
            </a:r>
            <a:r>
              <a:rPr sz="2800" b="1" spc="39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its</a:t>
            </a:r>
            <a:r>
              <a:rPr sz="2800" b="1" spc="395" dirty="0">
                <a:solidFill>
                  <a:schemeClr val="tx1"/>
                </a:solidFill>
                <a:latin typeface="Times New Roman" panose="02020603050405020304" pitchFamily="18" charset="0"/>
                <a:cs typeface="Times New Roman" panose="02020603050405020304" pitchFamily="18" charset="0"/>
                <a:sym typeface="+mn-ea"/>
              </a:rPr>
              <a:t> </a:t>
            </a:r>
            <a:r>
              <a:rPr sz="2800" b="1" spc="-10" dirty="0">
                <a:solidFill>
                  <a:schemeClr val="tx1"/>
                </a:solidFill>
                <a:latin typeface="Times New Roman" panose="02020603050405020304" pitchFamily="18" charset="0"/>
                <a:cs typeface="Times New Roman" panose="02020603050405020304" pitchFamily="18" charset="0"/>
                <a:sym typeface="+mn-ea"/>
              </a:rPr>
              <a:t>performance 	</a:t>
            </a:r>
            <a:r>
              <a:rPr sz="2800" b="1" dirty="0">
                <a:solidFill>
                  <a:schemeClr val="tx1"/>
                </a:solidFill>
                <a:latin typeface="Times New Roman" panose="02020603050405020304" pitchFamily="18" charset="0"/>
                <a:cs typeface="Times New Roman" panose="02020603050405020304" pitchFamily="18" charset="0"/>
                <a:sym typeface="+mn-ea"/>
              </a:rPr>
              <a:t>measure,</a:t>
            </a:r>
            <a:r>
              <a:rPr sz="2800" b="1" spc="27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given</a:t>
            </a:r>
            <a:r>
              <a:rPr sz="2800" b="1" spc="26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the</a:t>
            </a:r>
            <a:r>
              <a:rPr sz="2800" b="1" spc="27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evidence</a:t>
            </a:r>
            <a:r>
              <a:rPr sz="2800" b="1" spc="27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provided</a:t>
            </a:r>
            <a:r>
              <a:rPr sz="2800" b="1" spc="26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by</a:t>
            </a:r>
            <a:r>
              <a:rPr sz="2800" b="1" spc="28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the</a:t>
            </a:r>
            <a:r>
              <a:rPr sz="2800" b="1" spc="29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percept</a:t>
            </a:r>
            <a:r>
              <a:rPr sz="2800" b="1" spc="27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sequence</a:t>
            </a:r>
            <a:r>
              <a:rPr lang="en-US" sz="2800" b="1"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and</a:t>
            </a:r>
            <a:r>
              <a:rPr lang="en-US" sz="2800" b="1"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whatever</a:t>
            </a:r>
            <a:r>
              <a:rPr sz="2800" b="1" spc="280" dirty="0">
                <a:solidFill>
                  <a:schemeClr val="tx1"/>
                </a:solidFill>
                <a:latin typeface="Times New Roman" panose="02020603050405020304" pitchFamily="18" charset="0"/>
                <a:cs typeface="Times New Roman" panose="02020603050405020304" pitchFamily="18" charset="0"/>
                <a:sym typeface="+mn-ea"/>
              </a:rPr>
              <a:t> </a:t>
            </a:r>
            <a:r>
              <a:rPr sz="2800" b="1" spc="-10" dirty="0">
                <a:solidFill>
                  <a:schemeClr val="tx1"/>
                </a:solidFill>
                <a:latin typeface="Times New Roman" panose="02020603050405020304" pitchFamily="18" charset="0"/>
                <a:cs typeface="Times New Roman" panose="02020603050405020304" pitchFamily="18" charset="0"/>
                <a:sym typeface="+mn-ea"/>
              </a:rPr>
              <a:t>built-</a:t>
            </a:r>
            <a:r>
              <a:rPr sz="2800" b="1" spc="-25" dirty="0">
                <a:solidFill>
                  <a:schemeClr val="tx1"/>
                </a:solidFill>
                <a:latin typeface="Times New Roman" panose="02020603050405020304" pitchFamily="18" charset="0"/>
                <a:cs typeface="Times New Roman" panose="02020603050405020304" pitchFamily="18" charset="0"/>
                <a:sym typeface="+mn-ea"/>
              </a:rPr>
              <a:t>in </a:t>
            </a:r>
            <a:r>
              <a:rPr sz="2800" b="1" dirty="0">
                <a:solidFill>
                  <a:schemeClr val="tx1"/>
                </a:solidFill>
                <a:latin typeface="Times New Roman" panose="02020603050405020304" pitchFamily="18" charset="0"/>
                <a:cs typeface="Times New Roman" panose="02020603050405020304" pitchFamily="18" charset="0"/>
                <a:sym typeface="+mn-ea"/>
              </a:rPr>
              <a:t>knowledge</a:t>
            </a:r>
            <a:r>
              <a:rPr sz="2800" b="1" spc="-85"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the</a:t>
            </a:r>
            <a:r>
              <a:rPr sz="2800" b="1" spc="-60" dirty="0">
                <a:solidFill>
                  <a:schemeClr val="tx1"/>
                </a:solidFill>
                <a:latin typeface="Times New Roman" panose="02020603050405020304" pitchFamily="18" charset="0"/>
                <a:cs typeface="Times New Roman" panose="02020603050405020304" pitchFamily="18" charset="0"/>
                <a:sym typeface="+mn-ea"/>
              </a:rPr>
              <a:t> </a:t>
            </a:r>
            <a:r>
              <a:rPr sz="2800" b="1" dirty="0">
                <a:solidFill>
                  <a:schemeClr val="tx1"/>
                </a:solidFill>
                <a:latin typeface="Times New Roman" panose="02020603050405020304" pitchFamily="18" charset="0"/>
                <a:cs typeface="Times New Roman" panose="02020603050405020304" pitchFamily="18" charset="0"/>
                <a:sym typeface="+mn-ea"/>
              </a:rPr>
              <a:t>agent</a:t>
            </a:r>
            <a:r>
              <a:rPr sz="2800" b="1" spc="-90" dirty="0">
                <a:solidFill>
                  <a:schemeClr val="tx1"/>
                </a:solidFill>
                <a:latin typeface="Times New Roman" panose="02020603050405020304" pitchFamily="18" charset="0"/>
                <a:cs typeface="Times New Roman" panose="02020603050405020304" pitchFamily="18" charset="0"/>
                <a:sym typeface="+mn-ea"/>
              </a:rPr>
              <a:t> </a:t>
            </a:r>
            <a:r>
              <a:rPr sz="2800" b="1" spc="-20" dirty="0">
                <a:solidFill>
                  <a:schemeClr val="tx1"/>
                </a:solidFill>
                <a:latin typeface="Times New Roman" panose="02020603050405020304" pitchFamily="18" charset="0"/>
                <a:cs typeface="Times New Roman" panose="02020603050405020304" pitchFamily="18" charset="0"/>
                <a:sym typeface="+mn-ea"/>
              </a:rPr>
              <a:t>has”</a:t>
            </a:r>
            <a:endParaRPr sz="2800">
              <a:solidFill>
                <a:schemeClr val="tx1"/>
              </a:solidFill>
              <a:latin typeface="Times New Roman" panose="02020603050405020304" pitchFamily="18" charset="0"/>
              <a:cs typeface="Times New Roman" panose="02020603050405020304" pitchFamily="18" charset="0"/>
            </a:endParaRPr>
          </a:p>
          <a:p>
            <a:pPr algn="l"/>
            <a:endParaRPr lang="en-US" sz="28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graphicFrame>
        <p:nvGraphicFramePr>
          <p:cNvPr id="7" name="object 7"/>
          <p:cNvGraphicFramePr>
            <a:graphicFrameLocks noGrp="1"/>
          </p:cNvGraphicFramePr>
          <p:nvPr>
            <p:custDataLst>
              <p:tags r:id="rId1"/>
            </p:custDataLst>
          </p:nvPr>
        </p:nvGraphicFramePr>
        <p:xfrm>
          <a:off x="145415" y="549910"/>
          <a:ext cx="8998585" cy="5236210"/>
        </p:xfrm>
        <a:graphic>
          <a:graphicData uri="http://schemas.openxmlformats.org/drawingml/2006/table">
            <a:tbl>
              <a:tblPr firstRow="1" bandRow="1">
                <a:tableStyleId>{2D5ABB26-0587-4C30-8999-92F81FD0307C}</a:tableStyleId>
              </a:tblPr>
              <a:tblGrid>
                <a:gridCol w="4656455"/>
                <a:gridCol w="4342130"/>
              </a:tblGrid>
              <a:tr h="375920">
                <a:tc>
                  <a:txBody>
                    <a:bodyPr/>
                    <a:p>
                      <a:pPr marL="1296670">
                        <a:lnSpc>
                          <a:spcPct val="100000"/>
                        </a:lnSpc>
                        <a:spcBef>
                          <a:spcPts val="240"/>
                        </a:spcBef>
                      </a:pPr>
                      <a:r>
                        <a:rPr sz="1600" b="1" dirty="0">
                          <a:solidFill>
                            <a:srgbClr val="FFFFFF"/>
                          </a:solidFill>
                          <a:latin typeface="Times New Roman" panose="02020603050405020304" pitchFamily="18" charset="0"/>
                          <a:cs typeface="Times New Roman" panose="02020603050405020304" pitchFamily="18" charset="0"/>
                        </a:rPr>
                        <a:t>Intelligent</a:t>
                      </a:r>
                      <a:r>
                        <a:rPr sz="1600" b="1" spc="275" dirty="0">
                          <a:solidFill>
                            <a:srgbClr val="FFFFFF"/>
                          </a:solidFill>
                          <a:latin typeface="Times New Roman" panose="02020603050405020304" pitchFamily="18" charset="0"/>
                          <a:cs typeface="Times New Roman" panose="02020603050405020304" pitchFamily="18" charset="0"/>
                        </a:rPr>
                        <a:t> </a:t>
                      </a:r>
                      <a:r>
                        <a:rPr sz="1600" b="1" spc="-20" dirty="0">
                          <a:solidFill>
                            <a:srgbClr val="FFFFFF"/>
                          </a:solidFill>
                          <a:latin typeface="Times New Roman" panose="02020603050405020304" pitchFamily="18" charset="0"/>
                          <a:cs typeface="Times New Roman" panose="02020603050405020304" pitchFamily="18" charset="0"/>
                        </a:rPr>
                        <a:t>Agent</a:t>
                      </a:r>
                      <a:endParaRPr sz="1600" b="1" spc="-20" dirty="0">
                        <a:solidFill>
                          <a:srgbClr val="FFFFFF"/>
                        </a:solidFill>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c>
                  <a:txBody>
                    <a:bodyPr/>
                    <a:p>
                      <a:pPr marL="1035685">
                        <a:lnSpc>
                          <a:spcPct val="100000"/>
                        </a:lnSpc>
                        <a:spcBef>
                          <a:spcPts val="240"/>
                        </a:spcBef>
                      </a:pPr>
                      <a:r>
                        <a:rPr sz="1600" b="1" dirty="0">
                          <a:solidFill>
                            <a:srgbClr val="FFFFFF"/>
                          </a:solidFill>
                          <a:latin typeface="Times New Roman" panose="02020603050405020304" pitchFamily="18" charset="0"/>
                          <a:cs typeface="Times New Roman" panose="02020603050405020304" pitchFamily="18" charset="0"/>
                        </a:rPr>
                        <a:t>Rational</a:t>
                      </a:r>
                      <a:r>
                        <a:rPr sz="1600" b="1" spc="-65" dirty="0">
                          <a:solidFill>
                            <a:srgbClr val="FFFFFF"/>
                          </a:solidFill>
                          <a:latin typeface="Times New Roman" panose="02020603050405020304" pitchFamily="18" charset="0"/>
                          <a:cs typeface="Times New Roman" panose="02020603050405020304" pitchFamily="18" charset="0"/>
                        </a:rPr>
                        <a:t> </a:t>
                      </a:r>
                      <a:r>
                        <a:rPr sz="1600" b="1" spc="-20" dirty="0">
                          <a:solidFill>
                            <a:srgbClr val="FFFFFF"/>
                          </a:solidFill>
                          <a:latin typeface="Times New Roman" panose="02020603050405020304" pitchFamily="18" charset="0"/>
                          <a:cs typeface="Times New Roman" panose="02020603050405020304" pitchFamily="18" charset="0"/>
                        </a:rPr>
                        <a:t>Agent</a:t>
                      </a:r>
                      <a:endParaRPr sz="1600" b="1" spc="-20" dirty="0">
                        <a:solidFill>
                          <a:srgbClr val="FFFFFF"/>
                        </a:solidFill>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r>
              <a:tr h="953770">
                <a:tc>
                  <a:txBody>
                    <a:bodyPr/>
                    <a:p>
                      <a:pPr marL="90805" marR="382905">
                        <a:lnSpc>
                          <a:spcPct val="100000"/>
                        </a:lnSpc>
                        <a:spcBef>
                          <a:spcPts val="240"/>
                        </a:spcBef>
                      </a:pPr>
                      <a:r>
                        <a:rPr sz="1600" dirty="0">
                          <a:solidFill>
                            <a:srgbClr val="3E3E3E"/>
                          </a:solidFill>
                          <a:latin typeface="Times New Roman" panose="02020603050405020304" pitchFamily="18" charset="0"/>
                          <a:cs typeface="Times New Roman" panose="02020603050405020304" pitchFamily="18" charset="0"/>
                        </a:rPr>
                        <a:t>1.</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a:t>
                      </a:r>
                      <a:r>
                        <a:rPr sz="1600" spc="-35" dirty="0">
                          <a:solidFill>
                            <a:srgbClr val="3E3E3E"/>
                          </a:solidFill>
                          <a:latin typeface="Times New Roman" panose="02020603050405020304" pitchFamily="18" charset="0"/>
                          <a:cs typeface="Times New Roman" panose="02020603050405020304" pitchFamily="18" charset="0"/>
                        </a:rPr>
                        <a:t> </a:t>
                      </a:r>
                      <a:r>
                        <a:rPr sz="1600" u="sng" spc="-10" dirty="0">
                          <a:solidFill>
                            <a:srgbClr val="00184B"/>
                          </a:solidFill>
                          <a:uFill>
                            <a:solidFill>
                              <a:srgbClr val="00184B"/>
                            </a:solidFill>
                          </a:uFill>
                          <a:latin typeface="Times New Roman" panose="02020603050405020304" pitchFamily="18" charset="0"/>
                          <a:cs typeface="Times New Roman" panose="02020603050405020304" pitchFamily="18" charset="0"/>
                          <a:hlinkClick r:id="rId2"/>
                        </a:rPr>
                        <a:t>Intelligent</a:t>
                      </a:r>
                      <a:r>
                        <a:rPr sz="1600" u="sng" spc="-45" dirty="0">
                          <a:solidFill>
                            <a:srgbClr val="00184B"/>
                          </a:solidFill>
                          <a:uFill>
                            <a:solidFill>
                              <a:srgbClr val="00184B"/>
                            </a:solidFill>
                          </a:uFill>
                          <a:latin typeface="Times New Roman" panose="02020603050405020304" pitchFamily="18" charset="0"/>
                          <a:cs typeface="Times New Roman" panose="02020603050405020304" pitchFamily="18" charset="0"/>
                          <a:hlinkClick r:id="rId2"/>
                        </a:rPr>
                        <a:t> </a:t>
                      </a:r>
                      <a:r>
                        <a:rPr sz="1600" u="sng" dirty="0">
                          <a:solidFill>
                            <a:srgbClr val="00184B"/>
                          </a:solidFill>
                          <a:uFill>
                            <a:solidFill>
                              <a:srgbClr val="00184B"/>
                            </a:solidFill>
                          </a:uFill>
                          <a:latin typeface="Times New Roman" panose="02020603050405020304" pitchFamily="18" charset="0"/>
                          <a:cs typeface="Times New Roman" panose="02020603050405020304" pitchFamily="18" charset="0"/>
                          <a:hlinkClick r:id="rId2"/>
                        </a:rPr>
                        <a:t>Agent</a:t>
                      </a:r>
                      <a:r>
                        <a:rPr sz="1600" u="none" spc="-35" dirty="0">
                          <a:solidFill>
                            <a:srgbClr val="00184B"/>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is</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a:t>
                      </a:r>
                      <a:r>
                        <a:rPr sz="1600" u="none" spc="-45" dirty="0">
                          <a:solidFill>
                            <a:srgbClr val="3E3E3E"/>
                          </a:solidFill>
                          <a:latin typeface="Times New Roman" panose="02020603050405020304" pitchFamily="18" charset="0"/>
                          <a:cs typeface="Times New Roman" panose="02020603050405020304" pitchFamily="18" charset="0"/>
                        </a:rPr>
                        <a:t> </a:t>
                      </a:r>
                      <a:r>
                        <a:rPr sz="1600" u="none" spc="-10" dirty="0">
                          <a:solidFill>
                            <a:srgbClr val="3E3E3E"/>
                          </a:solidFill>
                          <a:latin typeface="Times New Roman" panose="02020603050405020304" pitchFamily="18" charset="0"/>
                          <a:cs typeface="Times New Roman" panose="02020603050405020304" pitchFamily="18" charset="0"/>
                        </a:rPr>
                        <a:t>system</a:t>
                      </a:r>
                      <a:r>
                        <a:rPr sz="1600" u="none" spc="-4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that</a:t>
                      </a:r>
                      <a:r>
                        <a:rPr sz="1600" u="none" spc="-4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can</a:t>
                      </a:r>
                      <a:r>
                        <a:rPr sz="1600" u="none" spc="-2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perceive</a:t>
                      </a:r>
                      <a:r>
                        <a:rPr sz="1600" u="none" spc="-20" dirty="0">
                          <a:solidFill>
                            <a:srgbClr val="3E3E3E"/>
                          </a:solidFill>
                          <a:latin typeface="Times New Roman" panose="02020603050405020304" pitchFamily="18" charset="0"/>
                          <a:cs typeface="Times New Roman" panose="02020603050405020304" pitchFamily="18" charset="0"/>
                        </a:rPr>
                        <a:t> </a:t>
                      </a:r>
                      <a:r>
                        <a:rPr sz="1600" u="none" spc="-25" dirty="0">
                          <a:solidFill>
                            <a:srgbClr val="3E3E3E"/>
                          </a:solidFill>
                          <a:latin typeface="Times New Roman" panose="02020603050405020304" pitchFamily="18" charset="0"/>
                          <a:cs typeface="Times New Roman" panose="02020603050405020304" pitchFamily="18" charset="0"/>
                        </a:rPr>
                        <a:t>its </a:t>
                      </a:r>
                      <a:r>
                        <a:rPr sz="1600" u="none" spc="-10" dirty="0">
                          <a:solidFill>
                            <a:srgbClr val="3E3E3E"/>
                          </a:solidFill>
                          <a:latin typeface="Times New Roman" panose="02020603050405020304" pitchFamily="18" charset="0"/>
                          <a:cs typeface="Times New Roman" panose="02020603050405020304" pitchFamily="18" charset="0"/>
                        </a:rPr>
                        <a:t>environment</a:t>
                      </a:r>
                      <a:r>
                        <a:rPr sz="1600" u="none" spc="-5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and</a:t>
                      </a:r>
                      <a:r>
                        <a:rPr sz="1600" u="none" spc="-5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take</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actions</a:t>
                      </a:r>
                      <a:r>
                        <a:rPr sz="1600" u="none" spc="-4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to</a:t>
                      </a:r>
                      <a:r>
                        <a:rPr sz="1600" u="none" spc="-4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achieve</a:t>
                      </a:r>
                      <a:r>
                        <a:rPr sz="1600" u="none" spc="-5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specific</a:t>
                      </a:r>
                      <a:r>
                        <a:rPr sz="1600" u="none" spc="-50" dirty="0">
                          <a:solidFill>
                            <a:srgbClr val="3E3E3E"/>
                          </a:solidFill>
                          <a:latin typeface="Times New Roman" panose="02020603050405020304" pitchFamily="18" charset="0"/>
                          <a:cs typeface="Times New Roman" panose="02020603050405020304" pitchFamily="18" charset="0"/>
                        </a:rPr>
                        <a:t> </a:t>
                      </a:r>
                      <a:r>
                        <a:rPr sz="1600" u="none" spc="-10" dirty="0">
                          <a:solidFill>
                            <a:srgbClr val="3E3E3E"/>
                          </a:solidFill>
                          <a:latin typeface="Times New Roman" panose="02020603050405020304" pitchFamily="18" charset="0"/>
                          <a:cs typeface="Times New Roman" panose="02020603050405020304" pitchFamily="18" charset="0"/>
                        </a:rPr>
                        <a:t>goal.</a:t>
                      </a:r>
                      <a:endParaRPr sz="1600" u="none" spc="-10" dirty="0">
                        <a:solidFill>
                          <a:srgbClr val="3E3E3E"/>
                        </a:solidFill>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c>
                  <a:txBody>
                    <a:bodyPr/>
                    <a:p>
                      <a:pPr marL="92075" marR="194310" algn="just">
                        <a:lnSpc>
                          <a:spcPct val="100000"/>
                        </a:lnSpc>
                        <a:spcBef>
                          <a:spcPts val="240"/>
                        </a:spcBef>
                      </a:pPr>
                      <a:r>
                        <a:rPr sz="1600" dirty="0">
                          <a:solidFill>
                            <a:srgbClr val="3E3E3E"/>
                          </a:solidFill>
                          <a:latin typeface="Times New Roman" panose="02020603050405020304" pitchFamily="18" charset="0"/>
                          <a:cs typeface="Times New Roman" panose="02020603050405020304" pitchFamily="18" charset="0"/>
                        </a:rPr>
                        <a:t>1.</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a:t>
                      </a:r>
                      <a:r>
                        <a:rPr sz="1600" spc="-25" dirty="0">
                          <a:solidFill>
                            <a:srgbClr val="3E3E3E"/>
                          </a:solidFill>
                          <a:latin typeface="Times New Roman" panose="02020603050405020304" pitchFamily="18" charset="0"/>
                          <a:cs typeface="Times New Roman" panose="02020603050405020304" pitchFamily="18" charset="0"/>
                        </a:rPr>
                        <a:t> </a:t>
                      </a:r>
                      <a:r>
                        <a:rPr sz="1600" u="sng" dirty="0">
                          <a:solidFill>
                            <a:srgbClr val="3E3E3E"/>
                          </a:solidFill>
                          <a:uFill>
                            <a:solidFill>
                              <a:srgbClr val="3E3E3E"/>
                            </a:solidFill>
                          </a:uFill>
                          <a:latin typeface="Times New Roman" panose="02020603050405020304" pitchFamily="18" charset="0"/>
                          <a:cs typeface="Times New Roman" panose="02020603050405020304" pitchFamily="18" charset="0"/>
                        </a:rPr>
                        <a:t>Rational</a:t>
                      </a:r>
                      <a:r>
                        <a:rPr sz="1600" u="sng" spc="-30" dirty="0">
                          <a:solidFill>
                            <a:srgbClr val="3E3E3E"/>
                          </a:solidFill>
                          <a:uFill>
                            <a:solidFill>
                              <a:srgbClr val="3E3E3E"/>
                            </a:solidFill>
                          </a:u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Agent</a:t>
                      </a:r>
                      <a:r>
                        <a:rPr sz="1600" u="none" spc="-4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is</a:t>
                      </a:r>
                      <a:r>
                        <a:rPr sz="1600" u="none" spc="-3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an</a:t>
                      </a:r>
                      <a:r>
                        <a:rPr sz="1600" u="none" spc="-10" dirty="0">
                          <a:solidFill>
                            <a:srgbClr val="3E3E3E"/>
                          </a:solidFill>
                          <a:latin typeface="Times New Roman" panose="02020603050405020304" pitchFamily="18" charset="0"/>
                          <a:cs typeface="Times New Roman" panose="02020603050405020304" pitchFamily="18" charset="0"/>
                        </a:rPr>
                        <a:t> Intelligent</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Agent</a:t>
                      </a:r>
                      <a:r>
                        <a:rPr sz="1600" u="none" spc="-4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that</a:t>
                      </a:r>
                      <a:r>
                        <a:rPr sz="1600" u="none" spc="-35" dirty="0">
                          <a:solidFill>
                            <a:srgbClr val="3E3E3E"/>
                          </a:solidFill>
                          <a:latin typeface="Times New Roman" panose="02020603050405020304" pitchFamily="18" charset="0"/>
                          <a:cs typeface="Times New Roman" panose="02020603050405020304" pitchFamily="18" charset="0"/>
                        </a:rPr>
                        <a:t> </a:t>
                      </a:r>
                      <a:r>
                        <a:rPr sz="1600" u="none" spc="-10" dirty="0">
                          <a:solidFill>
                            <a:srgbClr val="3E3E3E"/>
                          </a:solidFill>
                          <a:latin typeface="Times New Roman" panose="02020603050405020304" pitchFamily="18" charset="0"/>
                          <a:cs typeface="Times New Roman" panose="02020603050405020304" pitchFamily="18" charset="0"/>
                        </a:rPr>
                        <a:t>makes </a:t>
                      </a:r>
                      <a:r>
                        <a:rPr sz="1600" u="none" dirty="0">
                          <a:solidFill>
                            <a:srgbClr val="3E3E3E"/>
                          </a:solidFill>
                          <a:latin typeface="Times New Roman" panose="02020603050405020304" pitchFamily="18" charset="0"/>
                          <a:cs typeface="Times New Roman" panose="02020603050405020304" pitchFamily="18" charset="0"/>
                        </a:rPr>
                        <a:t>decisions</a:t>
                      </a:r>
                      <a:r>
                        <a:rPr sz="1600" u="none" spc="-4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based</a:t>
                      </a:r>
                      <a:r>
                        <a:rPr sz="1600" u="none" spc="-5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on</a:t>
                      </a:r>
                      <a:r>
                        <a:rPr sz="1600" u="none" spc="-5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logical</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reasoning</a:t>
                      </a:r>
                      <a:r>
                        <a:rPr sz="1600" u="none" spc="-4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and</a:t>
                      </a:r>
                      <a:r>
                        <a:rPr sz="1600" u="none" spc="-55" dirty="0">
                          <a:solidFill>
                            <a:srgbClr val="3E3E3E"/>
                          </a:solidFill>
                          <a:latin typeface="Times New Roman" panose="02020603050405020304" pitchFamily="18" charset="0"/>
                          <a:cs typeface="Times New Roman" panose="02020603050405020304" pitchFamily="18" charset="0"/>
                        </a:rPr>
                        <a:t> </a:t>
                      </a:r>
                      <a:r>
                        <a:rPr sz="1600" u="none" spc="-10" dirty="0">
                          <a:solidFill>
                            <a:srgbClr val="3E3E3E"/>
                          </a:solidFill>
                          <a:latin typeface="Times New Roman" panose="02020603050405020304" pitchFamily="18" charset="0"/>
                          <a:cs typeface="Times New Roman" panose="02020603050405020304" pitchFamily="18" charset="0"/>
                        </a:rPr>
                        <a:t>optimizes</a:t>
                      </a:r>
                      <a:r>
                        <a:rPr sz="1600" u="none" spc="-40" dirty="0">
                          <a:solidFill>
                            <a:srgbClr val="3E3E3E"/>
                          </a:solidFill>
                          <a:latin typeface="Times New Roman" panose="02020603050405020304" pitchFamily="18" charset="0"/>
                          <a:cs typeface="Times New Roman" panose="02020603050405020304" pitchFamily="18" charset="0"/>
                        </a:rPr>
                        <a:t> </a:t>
                      </a:r>
                      <a:r>
                        <a:rPr sz="1600" u="none" spc="-25" dirty="0">
                          <a:solidFill>
                            <a:srgbClr val="3E3E3E"/>
                          </a:solidFill>
                          <a:latin typeface="Times New Roman" panose="02020603050405020304" pitchFamily="18" charset="0"/>
                          <a:cs typeface="Times New Roman" panose="02020603050405020304" pitchFamily="18" charset="0"/>
                        </a:rPr>
                        <a:t>its </a:t>
                      </a:r>
                      <a:r>
                        <a:rPr sz="1600" u="none" dirty="0">
                          <a:solidFill>
                            <a:srgbClr val="3E3E3E"/>
                          </a:solidFill>
                          <a:latin typeface="Times New Roman" panose="02020603050405020304" pitchFamily="18" charset="0"/>
                          <a:cs typeface="Times New Roman" panose="02020603050405020304" pitchFamily="18" charset="0"/>
                        </a:rPr>
                        <a:t>behavior</a:t>
                      </a:r>
                      <a:r>
                        <a:rPr sz="1600" u="none" spc="-5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to</a:t>
                      </a:r>
                      <a:r>
                        <a:rPr sz="1600" u="none" spc="-50"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achieve</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a</a:t>
                      </a:r>
                      <a:r>
                        <a:rPr sz="1600" u="none" spc="-35" dirty="0">
                          <a:solidFill>
                            <a:srgbClr val="3E3E3E"/>
                          </a:solidFill>
                          <a:latin typeface="Times New Roman" panose="02020603050405020304" pitchFamily="18" charset="0"/>
                          <a:cs typeface="Times New Roman" panose="02020603050405020304" pitchFamily="18" charset="0"/>
                        </a:rPr>
                        <a:t> </a:t>
                      </a:r>
                      <a:r>
                        <a:rPr sz="1600" u="none" dirty="0">
                          <a:solidFill>
                            <a:srgbClr val="3E3E3E"/>
                          </a:solidFill>
                          <a:latin typeface="Times New Roman" panose="02020603050405020304" pitchFamily="18" charset="0"/>
                          <a:cs typeface="Times New Roman" panose="02020603050405020304" pitchFamily="18" charset="0"/>
                        </a:rPr>
                        <a:t>specific</a:t>
                      </a:r>
                      <a:r>
                        <a:rPr sz="1600" u="none" spc="-45" dirty="0">
                          <a:solidFill>
                            <a:srgbClr val="3E3E3E"/>
                          </a:solidFill>
                          <a:latin typeface="Times New Roman" panose="02020603050405020304" pitchFamily="18" charset="0"/>
                          <a:cs typeface="Times New Roman" panose="02020603050405020304" pitchFamily="18" charset="0"/>
                        </a:rPr>
                        <a:t> </a:t>
                      </a:r>
                      <a:r>
                        <a:rPr sz="1600" u="none" spc="-10" dirty="0">
                          <a:solidFill>
                            <a:srgbClr val="3E3E3E"/>
                          </a:solidFill>
                          <a:latin typeface="Times New Roman" panose="02020603050405020304" pitchFamily="18" charset="0"/>
                          <a:cs typeface="Times New Roman" panose="02020603050405020304" pitchFamily="18" charset="0"/>
                        </a:rPr>
                        <a:t>goal.</a:t>
                      </a:r>
                      <a:endParaRPr sz="1600" u="none" spc="-10" dirty="0">
                        <a:solidFill>
                          <a:srgbClr val="3E3E3E"/>
                        </a:solidFill>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r>
              <a:tr h="851535">
                <a:tc>
                  <a:txBody>
                    <a:bodyPr/>
                    <a:p>
                      <a:pPr marL="90805" marR="753110">
                        <a:lnSpc>
                          <a:spcPct val="100000"/>
                        </a:lnSpc>
                        <a:spcBef>
                          <a:spcPts val="240"/>
                        </a:spcBef>
                      </a:pPr>
                      <a:r>
                        <a:rPr sz="1600" dirty="0">
                          <a:solidFill>
                            <a:srgbClr val="3E3E3E"/>
                          </a:solidFill>
                          <a:latin typeface="Times New Roman" panose="02020603050405020304" pitchFamily="18" charset="0"/>
                          <a:cs typeface="Times New Roman" panose="02020603050405020304" pitchFamily="18" charset="0"/>
                        </a:rPr>
                        <a:t>2.</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Intelligent</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Agent</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perceive</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its</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environment </a:t>
                      </a:r>
                      <a:r>
                        <a:rPr sz="1600" dirty="0">
                          <a:solidFill>
                            <a:srgbClr val="3E3E3E"/>
                          </a:solidFill>
                          <a:latin typeface="Times New Roman" panose="02020603050405020304" pitchFamily="18" charset="0"/>
                          <a:cs typeface="Times New Roman" panose="02020603050405020304" pitchFamily="18" charset="0"/>
                        </a:rPr>
                        <a:t>through</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various</a:t>
                      </a:r>
                      <a:r>
                        <a:rPr sz="1600" spc="-55" dirty="0">
                          <a:solidFill>
                            <a:srgbClr val="3E3E3E"/>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sensors</a:t>
                      </a:r>
                      <a:r>
                        <a:rPr sz="1600" spc="-50" dirty="0">
                          <a:solidFill>
                            <a:srgbClr val="FF0000"/>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or</a:t>
                      </a:r>
                      <a:r>
                        <a:rPr sz="1600" spc="-55" dirty="0">
                          <a:solidFill>
                            <a:srgbClr val="FF0000"/>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inputs.</a:t>
                      </a:r>
                      <a:endParaRPr sz="1600" spc="-10" dirty="0">
                        <a:solidFill>
                          <a:srgbClr val="FF0000"/>
                        </a:solidFill>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9"/>
                    </a:solidFill>
                  </a:tcPr>
                </a:tc>
                <a:tc>
                  <a:txBody>
                    <a:bodyPr/>
                    <a:p>
                      <a:pPr marL="92075" marR="711200">
                        <a:lnSpc>
                          <a:spcPct val="100000"/>
                        </a:lnSpc>
                        <a:spcBef>
                          <a:spcPts val="240"/>
                        </a:spcBef>
                      </a:pPr>
                      <a:r>
                        <a:rPr sz="1600" dirty="0">
                          <a:solidFill>
                            <a:srgbClr val="3E3E3E"/>
                          </a:solidFill>
                          <a:latin typeface="Times New Roman" panose="02020603050405020304" pitchFamily="18" charset="0"/>
                          <a:cs typeface="Times New Roman" panose="02020603050405020304" pitchFamily="18" charset="0"/>
                        </a:rPr>
                        <a:t>2.</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Rational</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Agent's</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perception </a:t>
                      </a:r>
                      <a:r>
                        <a:rPr sz="1600" dirty="0">
                          <a:solidFill>
                            <a:srgbClr val="3E3E3E"/>
                          </a:solidFill>
                          <a:latin typeface="Times New Roman" panose="02020603050405020304" pitchFamily="18" charset="0"/>
                          <a:cs typeface="Times New Roman" panose="02020603050405020304" pitchFamily="18" charset="0"/>
                        </a:rPr>
                        <a:t>is</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based</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on</a:t>
                      </a:r>
                      <a:r>
                        <a:rPr sz="1600" spc="-20" dirty="0">
                          <a:solidFill>
                            <a:srgbClr val="3E3E3E"/>
                          </a:solidFill>
                          <a:latin typeface="Times New Roman" panose="02020603050405020304" pitchFamily="18" charset="0"/>
                          <a:cs typeface="Times New Roman" panose="02020603050405020304" pitchFamily="18" charset="0"/>
                        </a:rPr>
                        <a:t> </a:t>
                      </a:r>
                      <a:r>
                        <a:rPr sz="1600" spc="-25" dirty="0">
                          <a:solidFill>
                            <a:srgbClr val="3E3E3E"/>
                          </a:solidFill>
                          <a:latin typeface="Times New Roman" panose="02020603050405020304" pitchFamily="18" charset="0"/>
                          <a:cs typeface="Times New Roman" panose="02020603050405020304" pitchFamily="18" charset="0"/>
                        </a:rPr>
                        <a:t>the </a:t>
                      </a:r>
                      <a:r>
                        <a:rPr sz="1600" spc="-10" dirty="0">
                          <a:solidFill>
                            <a:srgbClr val="3E3E3E"/>
                          </a:solidFill>
                          <a:latin typeface="Times New Roman" panose="02020603050405020304" pitchFamily="18" charset="0"/>
                          <a:cs typeface="Times New Roman" panose="02020603050405020304" pitchFamily="18" charset="0"/>
                        </a:rPr>
                        <a:t>information</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available</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to</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and</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logical</a:t>
                      </a:r>
                      <a:r>
                        <a:rPr sz="1600" spc="-35" dirty="0">
                          <a:solidFill>
                            <a:srgbClr val="FF0000"/>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reasoning</a:t>
                      </a:r>
                      <a:r>
                        <a:rPr sz="1600" spc="-10" dirty="0">
                          <a:solidFill>
                            <a:srgbClr val="3E3E3E"/>
                          </a:solidFill>
                          <a:latin typeface="Times New Roman" panose="02020603050405020304" pitchFamily="18" charset="0"/>
                          <a:cs typeface="Times New Roman" panose="02020603050405020304" pitchFamily="18" charset="0"/>
                        </a:rPr>
                        <a:t>.</a:t>
                      </a:r>
                      <a:endParaRPr sz="1600" spc="-10" dirty="0">
                        <a:solidFill>
                          <a:srgbClr val="3E3E3E"/>
                        </a:solidFill>
                        <a:latin typeface="Times New Roman" panose="02020603050405020304" pitchFamily="18" charset="0"/>
                        <a:cs typeface="Times New Roman" panose="02020603050405020304" pitchFamily="18" charset="0"/>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9"/>
                    </a:solidFill>
                  </a:tcPr>
                </a:tc>
              </a:tr>
              <a:tr h="573405">
                <a:tc>
                  <a:txBody>
                    <a:bodyPr/>
                    <a:p>
                      <a:pPr marL="90805" marR="363855">
                        <a:lnSpc>
                          <a:spcPct val="100000"/>
                        </a:lnSpc>
                        <a:spcBef>
                          <a:spcPts val="245"/>
                        </a:spcBef>
                      </a:pPr>
                      <a:r>
                        <a:rPr sz="1600" dirty="0">
                          <a:solidFill>
                            <a:srgbClr val="3E3E3E"/>
                          </a:solidFill>
                          <a:latin typeface="Times New Roman" panose="02020603050405020304" pitchFamily="18" charset="0"/>
                          <a:cs typeface="Times New Roman" panose="02020603050405020304" pitchFamily="18" charset="0"/>
                        </a:rPr>
                        <a:t>3.</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make</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decisions</a:t>
                      </a:r>
                      <a:r>
                        <a:rPr sz="1600" spc="-1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based</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on</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set</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of</a:t>
                      </a:r>
                      <a:r>
                        <a:rPr sz="1600" spc="-10" dirty="0">
                          <a:solidFill>
                            <a:srgbClr val="3E3E3E"/>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rules</a:t>
                      </a:r>
                      <a:r>
                        <a:rPr sz="1600" spc="-15" dirty="0">
                          <a:solidFill>
                            <a:srgbClr val="FF0000"/>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or</a:t>
                      </a:r>
                      <a:r>
                        <a:rPr sz="1600" spc="-30" dirty="0">
                          <a:solidFill>
                            <a:srgbClr val="FF0000"/>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a</a:t>
                      </a:r>
                      <a:r>
                        <a:rPr sz="1600" spc="-20" dirty="0">
                          <a:solidFill>
                            <a:srgbClr val="FF0000"/>
                          </a:solidFill>
                          <a:latin typeface="Times New Roman" panose="02020603050405020304" pitchFamily="18" charset="0"/>
                          <a:cs typeface="Times New Roman" panose="02020603050405020304" pitchFamily="18" charset="0"/>
                        </a:rPr>
                        <a:t> pre- </a:t>
                      </a:r>
                      <a:r>
                        <a:rPr sz="1600" dirty="0">
                          <a:solidFill>
                            <a:srgbClr val="FF0000"/>
                          </a:solidFill>
                          <a:latin typeface="Times New Roman" panose="02020603050405020304" pitchFamily="18" charset="0"/>
                          <a:cs typeface="Times New Roman" panose="02020603050405020304" pitchFamily="18" charset="0"/>
                        </a:rPr>
                        <a:t>defined</a:t>
                      </a:r>
                      <a:r>
                        <a:rPr sz="1600" spc="-70" dirty="0">
                          <a:solidFill>
                            <a:srgbClr val="FF0000"/>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algorithm.</a:t>
                      </a:r>
                      <a:endParaRPr sz="1600" spc="-10" dirty="0">
                        <a:solidFill>
                          <a:srgbClr val="FF0000"/>
                        </a:solidFill>
                        <a:latin typeface="Times New Roman" panose="02020603050405020304" pitchFamily="18" charset="0"/>
                        <a:cs typeface="Times New Roman" panose="02020603050405020304" pitchFamily="18"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0"/>
                    </a:solidFill>
                  </a:tcPr>
                </a:tc>
                <a:tc>
                  <a:txBody>
                    <a:bodyPr/>
                    <a:p>
                      <a:pPr marL="92075" marR="352425">
                        <a:lnSpc>
                          <a:spcPct val="100000"/>
                        </a:lnSpc>
                        <a:spcBef>
                          <a:spcPts val="245"/>
                        </a:spcBef>
                      </a:pPr>
                      <a:r>
                        <a:rPr sz="1600" dirty="0">
                          <a:solidFill>
                            <a:srgbClr val="3E3E3E"/>
                          </a:solidFill>
                          <a:latin typeface="Times New Roman" panose="02020603050405020304" pitchFamily="18" charset="0"/>
                          <a:cs typeface="Times New Roman" panose="02020603050405020304" pitchFamily="18" charset="0"/>
                        </a:rPr>
                        <a:t>3.</a:t>
                      </a:r>
                      <a:r>
                        <a:rPr sz="1600" spc="-5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5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makes</a:t>
                      </a:r>
                      <a:r>
                        <a:rPr sz="1600" spc="-5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decisions</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based</a:t>
                      </a:r>
                      <a:r>
                        <a:rPr sz="1600" spc="-5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on</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logical</a:t>
                      </a:r>
                      <a:r>
                        <a:rPr sz="1600" spc="-45" dirty="0">
                          <a:solidFill>
                            <a:srgbClr val="FF0000"/>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reasoning</a:t>
                      </a:r>
                      <a:r>
                        <a:rPr sz="1600" spc="-30" dirty="0">
                          <a:solidFill>
                            <a:srgbClr val="FF0000"/>
                          </a:solidFill>
                          <a:latin typeface="Times New Roman" panose="02020603050405020304" pitchFamily="18" charset="0"/>
                          <a:cs typeface="Times New Roman" panose="02020603050405020304" pitchFamily="18" charset="0"/>
                        </a:rPr>
                        <a:t> </a:t>
                      </a:r>
                      <a:r>
                        <a:rPr sz="1600" spc="-25" dirty="0">
                          <a:solidFill>
                            <a:srgbClr val="3E3E3E"/>
                          </a:solidFill>
                          <a:latin typeface="Times New Roman" panose="02020603050405020304" pitchFamily="18" charset="0"/>
                          <a:cs typeface="Times New Roman" panose="02020603050405020304" pitchFamily="18" charset="0"/>
                        </a:rPr>
                        <a:t>and </a:t>
                      </a:r>
                      <a:r>
                        <a:rPr sz="1600" spc="-10" dirty="0">
                          <a:solidFill>
                            <a:srgbClr val="FF0000"/>
                          </a:solidFill>
                          <a:latin typeface="Times New Roman" panose="02020603050405020304" pitchFamily="18" charset="0"/>
                          <a:cs typeface="Times New Roman" panose="02020603050405020304" pitchFamily="18" charset="0"/>
                        </a:rPr>
                        <a:t>optimizes</a:t>
                      </a:r>
                      <a:r>
                        <a:rPr sz="1600" spc="-25" dirty="0">
                          <a:solidFill>
                            <a:srgbClr val="FF0000"/>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its</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behavior</a:t>
                      </a:r>
                      <a:r>
                        <a:rPr sz="1600" spc="-5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to</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achieve</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its</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goals.</a:t>
                      </a:r>
                      <a:endParaRPr sz="1600" spc="-10" dirty="0">
                        <a:solidFill>
                          <a:srgbClr val="3E3E3E"/>
                        </a:solidFill>
                        <a:latin typeface="Times New Roman" panose="02020603050405020304" pitchFamily="18" charset="0"/>
                        <a:cs typeface="Times New Roman" panose="02020603050405020304" pitchFamily="18"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0"/>
                    </a:solidFill>
                  </a:tcPr>
                </a:tc>
              </a:tr>
              <a:tr h="807085">
                <a:tc>
                  <a:txBody>
                    <a:bodyPr/>
                    <a:p>
                      <a:pPr marL="90805">
                        <a:lnSpc>
                          <a:spcPct val="100000"/>
                        </a:lnSpc>
                        <a:spcBef>
                          <a:spcPts val="245"/>
                        </a:spcBef>
                      </a:pPr>
                      <a:r>
                        <a:rPr sz="1600" dirty="0">
                          <a:solidFill>
                            <a:srgbClr val="3E3E3E"/>
                          </a:solidFill>
                          <a:latin typeface="Times New Roman" panose="02020603050405020304" pitchFamily="18" charset="0"/>
                          <a:cs typeface="Times New Roman" panose="02020603050405020304" pitchFamily="18" charset="0"/>
                        </a:rPr>
                        <a:t>4.</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a:t>
                      </a:r>
                      <a:r>
                        <a:rPr sz="1600" spc="-35"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Intelligent</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Agent</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learn</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from</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its</a:t>
                      </a:r>
                      <a:r>
                        <a:rPr sz="1600" spc="-35"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environment</a:t>
                      </a:r>
                      <a:r>
                        <a:rPr sz="1600" spc="-35" dirty="0">
                          <a:solidFill>
                            <a:srgbClr val="3E3E3E"/>
                          </a:solidFill>
                          <a:latin typeface="Times New Roman" panose="02020603050405020304" pitchFamily="18" charset="0"/>
                          <a:cs typeface="Times New Roman" panose="02020603050405020304" pitchFamily="18" charset="0"/>
                        </a:rPr>
                        <a:t> </a:t>
                      </a:r>
                      <a:r>
                        <a:rPr sz="1600" spc="-25" dirty="0">
                          <a:solidFill>
                            <a:srgbClr val="3E3E3E"/>
                          </a:solidFill>
                          <a:latin typeface="Times New Roman" panose="02020603050405020304" pitchFamily="18" charset="0"/>
                          <a:cs typeface="Times New Roman" panose="02020603050405020304" pitchFamily="18" charset="0"/>
                        </a:rPr>
                        <a:t>and</a:t>
                      </a:r>
                      <a:r>
                        <a:rPr lang="en-US"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adapt</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its</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behavior.</a:t>
                      </a:r>
                      <a:endParaRPr sz="1600" spc="-10" dirty="0">
                        <a:solidFill>
                          <a:srgbClr val="3E3E3E"/>
                        </a:solidFill>
                        <a:latin typeface="Times New Roman" panose="02020603050405020304" pitchFamily="18" charset="0"/>
                        <a:cs typeface="Times New Roman" panose="02020603050405020304" pitchFamily="18"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9"/>
                    </a:solidFill>
                  </a:tcPr>
                </a:tc>
                <a:tc>
                  <a:txBody>
                    <a:bodyPr/>
                    <a:p>
                      <a:pPr marL="92075" marR="501015">
                        <a:lnSpc>
                          <a:spcPct val="100000"/>
                        </a:lnSpc>
                        <a:spcBef>
                          <a:spcPts val="245"/>
                        </a:spcBef>
                      </a:pPr>
                      <a:r>
                        <a:rPr sz="1600" dirty="0">
                          <a:solidFill>
                            <a:srgbClr val="3E3E3E"/>
                          </a:solidFill>
                          <a:latin typeface="Times New Roman" panose="02020603050405020304" pitchFamily="18" charset="0"/>
                          <a:cs typeface="Times New Roman" panose="02020603050405020304" pitchFamily="18" charset="0"/>
                        </a:rPr>
                        <a:t>4.</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Rational</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Agent</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also</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learn</a:t>
                      </a:r>
                      <a:r>
                        <a:rPr sz="1600" spc="-1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from</a:t>
                      </a:r>
                      <a:r>
                        <a:rPr sz="1600" spc="-35" dirty="0">
                          <a:solidFill>
                            <a:srgbClr val="3E3E3E"/>
                          </a:solidFill>
                          <a:latin typeface="Times New Roman" panose="02020603050405020304" pitchFamily="18" charset="0"/>
                          <a:cs typeface="Times New Roman" panose="02020603050405020304" pitchFamily="18" charset="0"/>
                        </a:rPr>
                        <a:t> </a:t>
                      </a:r>
                      <a:r>
                        <a:rPr sz="1600" spc="-25" dirty="0">
                          <a:solidFill>
                            <a:srgbClr val="3E3E3E"/>
                          </a:solidFill>
                          <a:latin typeface="Times New Roman" panose="02020603050405020304" pitchFamily="18" charset="0"/>
                          <a:cs typeface="Times New Roman" panose="02020603050405020304" pitchFamily="18" charset="0"/>
                        </a:rPr>
                        <a:t>its </a:t>
                      </a:r>
                      <a:r>
                        <a:rPr sz="1600" spc="-10" dirty="0">
                          <a:solidFill>
                            <a:srgbClr val="3E3E3E"/>
                          </a:solidFill>
                          <a:latin typeface="Times New Roman" panose="02020603050405020304" pitchFamily="18" charset="0"/>
                          <a:cs typeface="Times New Roman" panose="02020603050405020304" pitchFamily="18" charset="0"/>
                        </a:rPr>
                        <a:t>environment</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and</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adapt</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its</a:t>
                      </a:r>
                      <a:r>
                        <a:rPr sz="1600" spc="-35" dirty="0">
                          <a:solidFill>
                            <a:srgbClr val="3E3E3E"/>
                          </a:solidFill>
                          <a:latin typeface="Times New Roman" panose="02020603050405020304" pitchFamily="18" charset="0"/>
                          <a:cs typeface="Times New Roman" panose="02020603050405020304" pitchFamily="18" charset="0"/>
                        </a:rPr>
                        <a:t> </a:t>
                      </a:r>
                      <a:r>
                        <a:rPr sz="1600" spc="-25" dirty="0">
                          <a:solidFill>
                            <a:srgbClr val="3E3E3E"/>
                          </a:solidFill>
                          <a:latin typeface="Times New Roman" panose="02020603050405020304" pitchFamily="18" charset="0"/>
                          <a:cs typeface="Times New Roman" panose="02020603050405020304" pitchFamily="18" charset="0"/>
                        </a:rPr>
                        <a:t>behavior,</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but</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does</a:t>
                      </a:r>
                      <a:r>
                        <a:rPr sz="1600" spc="-35" dirty="0">
                          <a:solidFill>
                            <a:srgbClr val="3E3E3E"/>
                          </a:solidFill>
                          <a:latin typeface="Times New Roman" panose="02020603050405020304" pitchFamily="18" charset="0"/>
                          <a:cs typeface="Times New Roman" panose="02020603050405020304" pitchFamily="18" charset="0"/>
                        </a:rPr>
                        <a:t> </a:t>
                      </a:r>
                      <a:r>
                        <a:rPr sz="1600" spc="-25" dirty="0">
                          <a:solidFill>
                            <a:srgbClr val="3E3E3E"/>
                          </a:solidFill>
                          <a:latin typeface="Times New Roman" panose="02020603050405020304" pitchFamily="18" charset="0"/>
                          <a:cs typeface="Times New Roman" panose="02020603050405020304" pitchFamily="18" charset="0"/>
                        </a:rPr>
                        <a:t>so </a:t>
                      </a:r>
                      <a:r>
                        <a:rPr sz="1600" dirty="0">
                          <a:solidFill>
                            <a:srgbClr val="3E3E3E"/>
                          </a:solidFill>
                          <a:latin typeface="Times New Roman" panose="02020603050405020304" pitchFamily="18" charset="0"/>
                          <a:cs typeface="Times New Roman" panose="02020603050405020304" pitchFamily="18" charset="0"/>
                        </a:rPr>
                        <a:t>based</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on</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logical</a:t>
                      </a:r>
                      <a:r>
                        <a:rPr sz="1600" spc="-40" dirty="0">
                          <a:solidFill>
                            <a:srgbClr val="FF0000"/>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reasoning</a:t>
                      </a:r>
                      <a:r>
                        <a:rPr sz="1600" spc="-10" dirty="0">
                          <a:solidFill>
                            <a:srgbClr val="3E3E3E"/>
                          </a:solidFill>
                          <a:latin typeface="Times New Roman" panose="02020603050405020304" pitchFamily="18" charset="0"/>
                          <a:cs typeface="Times New Roman" panose="02020603050405020304" pitchFamily="18" charset="0"/>
                        </a:rPr>
                        <a:t>.</a:t>
                      </a:r>
                      <a:endParaRPr sz="1600" spc="-10" dirty="0">
                        <a:solidFill>
                          <a:srgbClr val="3E3E3E"/>
                        </a:solidFill>
                        <a:latin typeface="Times New Roman" panose="02020603050405020304" pitchFamily="18" charset="0"/>
                        <a:cs typeface="Times New Roman" panose="02020603050405020304" pitchFamily="18"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9"/>
                    </a:solidFill>
                  </a:tcPr>
                </a:tc>
              </a:tr>
              <a:tr h="807085">
                <a:tc>
                  <a:txBody>
                    <a:bodyPr/>
                    <a:p>
                      <a:pPr marL="90805">
                        <a:lnSpc>
                          <a:spcPct val="100000"/>
                        </a:lnSpc>
                        <a:spcBef>
                          <a:spcPts val="245"/>
                        </a:spcBef>
                      </a:pPr>
                      <a:r>
                        <a:rPr sz="1600" dirty="0">
                          <a:solidFill>
                            <a:srgbClr val="3E3E3E"/>
                          </a:solidFill>
                          <a:latin typeface="Times New Roman" panose="02020603050405020304" pitchFamily="18" charset="0"/>
                          <a:cs typeface="Times New Roman" panose="02020603050405020304" pitchFamily="18" charset="0"/>
                        </a:rPr>
                        <a:t>5.</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5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operate</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independently</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of</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human</a:t>
                      </a:r>
                      <a:r>
                        <a:rPr sz="1600" spc="-5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intervention.</a:t>
                      </a:r>
                      <a:endParaRPr sz="1600" spc="-10" dirty="0">
                        <a:solidFill>
                          <a:srgbClr val="3E3E3E"/>
                        </a:solidFill>
                        <a:latin typeface="Times New Roman" panose="02020603050405020304" pitchFamily="18" charset="0"/>
                        <a:cs typeface="Times New Roman" panose="02020603050405020304" pitchFamily="18"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0"/>
                    </a:solidFill>
                  </a:tcPr>
                </a:tc>
                <a:tc>
                  <a:txBody>
                    <a:bodyPr/>
                    <a:p>
                      <a:pPr marL="92075" marR="99060">
                        <a:lnSpc>
                          <a:spcPct val="100000"/>
                        </a:lnSpc>
                        <a:spcBef>
                          <a:spcPts val="245"/>
                        </a:spcBef>
                      </a:pPr>
                      <a:r>
                        <a:rPr sz="1600" dirty="0">
                          <a:solidFill>
                            <a:srgbClr val="3E3E3E"/>
                          </a:solidFill>
                          <a:latin typeface="Times New Roman" panose="02020603050405020304" pitchFamily="18" charset="0"/>
                          <a:cs typeface="Times New Roman" panose="02020603050405020304" pitchFamily="18" charset="0"/>
                        </a:rPr>
                        <a:t>5.</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also</a:t>
                      </a:r>
                      <a:r>
                        <a:rPr sz="1600" spc="-3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operate</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independently</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of</a:t>
                      </a:r>
                      <a:r>
                        <a:rPr sz="1600" spc="-4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human intervention, </a:t>
                      </a:r>
                      <a:r>
                        <a:rPr sz="1600" dirty="0">
                          <a:solidFill>
                            <a:srgbClr val="3E3E3E"/>
                          </a:solidFill>
                          <a:latin typeface="Times New Roman" panose="02020603050405020304" pitchFamily="18" charset="0"/>
                          <a:cs typeface="Times New Roman" panose="02020603050405020304" pitchFamily="18" charset="0"/>
                        </a:rPr>
                        <a:t>but</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it</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does</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so</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based</a:t>
                      </a:r>
                      <a:r>
                        <a:rPr sz="1600" spc="-5" dirty="0">
                          <a:solidFill>
                            <a:srgbClr val="3E3E3E"/>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on</a:t>
                      </a:r>
                      <a:r>
                        <a:rPr sz="1600" spc="-15" dirty="0">
                          <a:solidFill>
                            <a:srgbClr val="FF0000"/>
                          </a:solidFill>
                          <a:latin typeface="Times New Roman" panose="02020603050405020304" pitchFamily="18" charset="0"/>
                          <a:cs typeface="Times New Roman" panose="02020603050405020304" pitchFamily="18" charset="0"/>
                        </a:rPr>
                        <a:t> </a:t>
                      </a:r>
                      <a:r>
                        <a:rPr sz="1600" dirty="0">
                          <a:solidFill>
                            <a:srgbClr val="FF0000"/>
                          </a:solidFill>
                          <a:latin typeface="Times New Roman" panose="02020603050405020304" pitchFamily="18" charset="0"/>
                          <a:cs typeface="Times New Roman" panose="02020603050405020304" pitchFamily="18" charset="0"/>
                        </a:rPr>
                        <a:t>logical</a:t>
                      </a:r>
                      <a:r>
                        <a:rPr sz="1600" spc="-20" dirty="0">
                          <a:solidFill>
                            <a:srgbClr val="FF0000"/>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reasoning.</a:t>
                      </a:r>
                      <a:endParaRPr sz="1600" spc="-10" dirty="0">
                        <a:solidFill>
                          <a:srgbClr val="FF0000"/>
                        </a:solidFill>
                        <a:latin typeface="Times New Roman" panose="02020603050405020304" pitchFamily="18" charset="0"/>
                        <a:cs typeface="Times New Roman" panose="02020603050405020304" pitchFamily="18" charset="0"/>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ACCD0"/>
                    </a:solidFill>
                  </a:tcPr>
                </a:tc>
              </a:tr>
              <a:tr h="867410">
                <a:tc>
                  <a:txBody>
                    <a:bodyPr/>
                    <a:p>
                      <a:pPr marL="90805" marR="765175">
                        <a:lnSpc>
                          <a:spcPct val="100000"/>
                        </a:lnSpc>
                        <a:spcBef>
                          <a:spcPts val="250"/>
                        </a:spcBef>
                      </a:pPr>
                      <a:r>
                        <a:rPr sz="1600" dirty="0">
                          <a:solidFill>
                            <a:srgbClr val="3E3E3E"/>
                          </a:solidFill>
                          <a:latin typeface="Times New Roman" panose="02020603050405020304" pitchFamily="18" charset="0"/>
                          <a:cs typeface="Times New Roman" panose="02020603050405020304" pitchFamily="18" charset="0"/>
                        </a:rPr>
                        <a:t>6.</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a:t>
                      </a:r>
                      <a:r>
                        <a:rPr sz="1600" spc="-35"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Intelligent</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Agent</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can</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be</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designed</a:t>
                      </a:r>
                      <a:r>
                        <a:rPr sz="1600" spc="-4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to</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achieve</a:t>
                      </a:r>
                      <a:r>
                        <a:rPr sz="1600" spc="-20" dirty="0">
                          <a:solidFill>
                            <a:srgbClr val="3E3E3E"/>
                          </a:solidFill>
                          <a:latin typeface="Times New Roman" panose="02020603050405020304" pitchFamily="18" charset="0"/>
                          <a:cs typeface="Times New Roman" panose="02020603050405020304" pitchFamily="18" charset="0"/>
                        </a:rPr>
                        <a:t> </a:t>
                      </a:r>
                      <a:r>
                        <a:rPr sz="1600" spc="-50" dirty="0">
                          <a:solidFill>
                            <a:srgbClr val="3E3E3E"/>
                          </a:solidFill>
                          <a:latin typeface="Times New Roman" panose="02020603050405020304" pitchFamily="18" charset="0"/>
                          <a:cs typeface="Times New Roman" panose="02020603050405020304" pitchFamily="18" charset="0"/>
                        </a:rPr>
                        <a:t>a </a:t>
                      </a:r>
                      <a:r>
                        <a:rPr sz="1600" dirty="0">
                          <a:solidFill>
                            <a:srgbClr val="3E3E3E"/>
                          </a:solidFill>
                          <a:latin typeface="Times New Roman" panose="02020603050405020304" pitchFamily="18" charset="0"/>
                          <a:cs typeface="Times New Roman" panose="02020603050405020304" pitchFamily="18" charset="0"/>
                        </a:rPr>
                        <a:t>specific</a:t>
                      </a:r>
                      <a:r>
                        <a:rPr sz="1600" spc="-60" dirty="0">
                          <a:solidFill>
                            <a:srgbClr val="3E3E3E"/>
                          </a:solidFill>
                          <a:latin typeface="Times New Roman" panose="02020603050405020304" pitchFamily="18" charset="0"/>
                          <a:cs typeface="Times New Roman" panose="02020603050405020304" pitchFamily="18" charset="0"/>
                        </a:rPr>
                        <a:t> </a:t>
                      </a:r>
                      <a:r>
                        <a:rPr sz="1600" spc="-10" dirty="0">
                          <a:solidFill>
                            <a:srgbClr val="3E3E3E"/>
                          </a:solidFill>
                          <a:latin typeface="Times New Roman" panose="02020603050405020304" pitchFamily="18" charset="0"/>
                          <a:cs typeface="Times New Roman" panose="02020603050405020304" pitchFamily="18" charset="0"/>
                        </a:rPr>
                        <a:t>goal.</a:t>
                      </a:r>
                      <a:endParaRPr sz="1600" spc="-10" dirty="0">
                        <a:solidFill>
                          <a:srgbClr val="3E3E3E"/>
                        </a:solidFill>
                        <a:latin typeface="Times New Roman" panose="02020603050405020304" pitchFamily="18" charset="0"/>
                        <a:cs typeface="Times New Roman" panose="02020603050405020304" pitchFamily="18" charset="0"/>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9"/>
                    </a:solidFill>
                  </a:tcPr>
                </a:tc>
                <a:tc>
                  <a:txBody>
                    <a:bodyPr/>
                    <a:p>
                      <a:pPr marL="92075" marR="334010">
                        <a:lnSpc>
                          <a:spcPct val="100000"/>
                        </a:lnSpc>
                        <a:spcBef>
                          <a:spcPts val="250"/>
                        </a:spcBef>
                      </a:pPr>
                      <a:r>
                        <a:rPr sz="1600" dirty="0">
                          <a:solidFill>
                            <a:srgbClr val="3E3E3E"/>
                          </a:solidFill>
                          <a:latin typeface="Times New Roman" panose="02020603050405020304" pitchFamily="18" charset="0"/>
                          <a:cs typeface="Times New Roman" panose="02020603050405020304" pitchFamily="18" charset="0"/>
                        </a:rPr>
                        <a:t>6.</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Rational</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Agent</a:t>
                      </a:r>
                      <a:r>
                        <a:rPr sz="1600" spc="-4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has</a:t>
                      </a:r>
                      <a:r>
                        <a:rPr sz="1600" spc="-2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a:t>
                      </a:r>
                      <a:r>
                        <a:rPr sz="1600" spc="-35"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specific</a:t>
                      </a:r>
                      <a:r>
                        <a:rPr sz="1600" spc="-2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goal</a:t>
                      </a:r>
                      <a:r>
                        <a:rPr sz="1600" spc="-30" dirty="0">
                          <a:solidFill>
                            <a:srgbClr val="3E3E3E"/>
                          </a:solidFill>
                          <a:latin typeface="Times New Roman" panose="02020603050405020304" pitchFamily="18" charset="0"/>
                          <a:cs typeface="Times New Roman" panose="02020603050405020304" pitchFamily="18" charset="0"/>
                        </a:rPr>
                        <a:t> </a:t>
                      </a:r>
                      <a:r>
                        <a:rPr sz="1600" dirty="0">
                          <a:solidFill>
                            <a:srgbClr val="3E3E3E"/>
                          </a:solidFill>
                          <a:latin typeface="Times New Roman" panose="02020603050405020304" pitchFamily="18" charset="0"/>
                          <a:cs typeface="Times New Roman" panose="02020603050405020304" pitchFamily="18" charset="0"/>
                        </a:rPr>
                        <a:t>and</a:t>
                      </a:r>
                      <a:r>
                        <a:rPr sz="1600" spc="-15" dirty="0">
                          <a:solidFill>
                            <a:srgbClr val="3E3E3E"/>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optimizes </a:t>
                      </a:r>
                      <a:r>
                        <a:rPr sz="1600" dirty="0">
                          <a:solidFill>
                            <a:srgbClr val="FF0000"/>
                          </a:solidFill>
                          <a:latin typeface="Times New Roman" panose="02020603050405020304" pitchFamily="18" charset="0"/>
                          <a:cs typeface="Times New Roman" panose="02020603050405020304" pitchFamily="18" charset="0"/>
                        </a:rPr>
                        <a:t>its</a:t>
                      </a:r>
                      <a:r>
                        <a:rPr sz="1600" spc="-25" dirty="0">
                          <a:solidFill>
                            <a:srgbClr val="FF0000"/>
                          </a:solidFill>
                          <a:latin typeface="Times New Roman" panose="02020603050405020304" pitchFamily="18" charset="0"/>
                          <a:cs typeface="Times New Roman" panose="02020603050405020304" pitchFamily="18" charset="0"/>
                        </a:rPr>
                        <a:t> </a:t>
                      </a:r>
                      <a:r>
                        <a:rPr sz="1600" spc="-10" dirty="0">
                          <a:solidFill>
                            <a:srgbClr val="FF0000"/>
                          </a:solidFill>
                          <a:latin typeface="Times New Roman" panose="02020603050405020304" pitchFamily="18" charset="0"/>
                          <a:cs typeface="Times New Roman" panose="02020603050405020304" pitchFamily="18" charset="0"/>
                        </a:rPr>
                        <a:t>behavior.</a:t>
                      </a:r>
                      <a:endParaRPr sz="1600" spc="-10" dirty="0">
                        <a:solidFill>
                          <a:srgbClr val="FF0000"/>
                        </a:solidFill>
                        <a:latin typeface="Times New Roman" panose="02020603050405020304" pitchFamily="18" charset="0"/>
                        <a:cs typeface="Times New Roman" panose="02020603050405020304" pitchFamily="18" charset="0"/>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7E7E9"/>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dirty="0">
                <a:solidFill>
                  <a:srgbClr val="3E3E3E"/>
                </a:solidFill>
                <a:latin typeface="Times New Roman" panose="02020603050405020304"/>
                <a:cs typeface="Times New Roman" panose="02020603050405020304"/>
                <a:sym typeface="+mn-ea"/>
              </a:rPr>
              <a:t>Why</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are</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2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important?</a:t>
            </a:r>
            <a:endParaRPr lang="en-US"/>
          </a:p>
        </p:txBody>
      </p:sp>
      <p:sp>
        <p:nvSpPr>
          <p:cNvPr id="3" name="Content Placeholder 2"/>
          <p:cNvSpPr>
            <a:spLocks noGrp="1"/>
          </p:cNvSpPr>
          <p:nvPr>
            <p:ph idx="1"/>
          </p:nvPr>
        </p:nvSpPr>
        <p:spPr/>
        <p:txBody>
          <a:bodyPr>
            <a:normAutofit fontScale="70000"/>
          </a:bodyPr>
          <a:p>
            <a:pPr marR="50800" algn="just">
              <a:lnSpc>
                <a:spcPct val="100000"/>
              </a:lnSpc>
              <a:spcBef>
                <a:spcPts val="100"/>
              </a:spcBef>
              <a:tabLst>
                <a:tab pos="151765" algn="l"/>
              </a:tabLst>
            </a:pPr>
            <a:r>
              <a:rPr b="1" spc="-10" dirty="0">
                <a:solidFill>
                  <a:srgbClr val="3E3E3E"/>
                </a:solidFill>
                <a:latin typeface="Times New Roman" panose="02020603050405020304"/>
                <a:cs typeface="Times New Roman" panose="02020603050405020304"/>
                <a:sym typeface="+mn-ea"/>
              </a:rPr>
              <a:t>Real-</a:t>
            </a:r>
            <a:r>
              <a:rPr b="1" dirty="0">
                <a:solidFill>
                  <a:srgbClr val="3E3E3E"/>
                </a:solidFill>
                <a:latin typeface="Times New Roman" panose="02020603050405020304"/>
                <a:cs typeface="Times New Roman" panose="02020603050405020304"/>
                <a:sym typeface="+mn-ea"/>
              </a:rPr>
              <a:t>world</a:t>
            </a:r>
            <a:r>
              <a:rPr b="1" spc="-1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applications:</a:t>
            </a:r>
            <a:r>
              <a:rPr b="1"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used</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control</a:t>
            </a:r>
            <a:r>
              <a:rPr spc="-3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autonomous </a:t>
            </a:r>
            <a:r>
              <a:rPr dirty="0">
                <a:solidFill>
                  <a:srgbClr val="3E3E3E"/>
                </a:solidFill>
                <a:latin typeface="Times New Roman" panose="02020603050405020304"/>
                <a:cs typeface="Times New Roman" panose="02020603050405020304"/>
                <a:sym typeface="+mn-ea"/>
              </a:rPr>
              <a:t>systems</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such</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as</a:t>
            </a:r>
            <a:r>
              <a:rPr spc="-2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self-</a:t>
            </a:r>
            <a:r>
              <a:rPr dirty="0">
                <a:solidFill>
                  <a:srgbClr val="3E3E3E"/>
                </a:solidFill>
                <a:latin typeface="Times New Roman" panose="02020603050405020304"/>
                <a:cs typeface="Times New Roman" panose="02020603050405020304"/>
                <a:sym typeface="+mn-ea"/>
              </a:rPr>
              <a:t>driving</a:t>
            </a:r>
            <a:r>
              <a:rPr spc="-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cars,</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robots,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or</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drones,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make</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financial</a:t>
            </a:r>
            <a:r>
              <a:rPr spc="-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decisions,</a:t>
            </a:r>
            <a:r>
              <a:rPr spc="-4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or </a:t>
            </a:r>
            <a:r>
              <a:rPr dirty="0">
                <a:solidFill>
                  <a:srgbClr val="3E3E3E"/>
                </a:solidFill>
                <a:latin typeface="Times New Roman" panose="02020603050405020304"/>
                <a:cs typeface="Times New Roman" panose="02020603050405020304"/>
                <a:sym typeface="+mn-ea"/>
              </a:rPr>
              <a:t>to</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plan </a:t>
            </a:r>
            <a:r>
              <a:rPr spc="-10" dirty="0">
                <a:solidFill>
                  <a:srgbClr val="3E3E3E"/>
                </a:solidFill>
                <a:latin typeface="Times New Roman" panose="02020603050405020304"/>
                <a:cs typeface="Times New Roman" panose="02020603050405020304"/>
                <a:sym typeface="+mn-ea"/>
              </a:rPr>
              <a:t>logistics.</a:t>
            </a:r>
            <a:endParaRPr>
              <a:latin typeface="Times New Roman" panose="02020603050405020304"/>
              <a:cs typeface="Times New Roman" panose="02020603050405020304"/>
            </a:endParaRPr>
          </a:p>
          <a:p>
            <a:pPr marR="109855" algn="just">
              <a:lnSpc>
                <a:spcPct val="100000"/>
              </a:lnSpc>
              <a:spcBef>
                <a:spcPts val="5"/>
              </a:spcBef>
              <a:tabLst>
                <a:tab pos="151765" algn="l"/>
              </a:tabLst>
            </a:pPr>
            <a:r>
              <a:rPr b="1" dirty="0">
                <a:solidFill>
                  <a:srgbClr val="3E3E3E"/>
                </a:solidFill>
                <a:latin typeface="Times New Roman" panose="02020603050405020304"/>
                <a:cs typeface="Times New Roman" panose="02020603050405020304"/>
                <a:sym typeface="+mn-ea"/>
              </a:rPr>
              <a:t>Optimization:</a:t>
            </a:r>
            <a:r>
              <a:rPr b="1"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 optimize</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behavior</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achieve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1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specific </a:t>
            </a:r>
            <a:r>
              <a:rPr dirty="0">
                <a:solidFill>
                  <a:srgbClr val="3E3E3E"/>
                </a:solidFill>
                <a:latin typeface="Times New Roman" panose="02020603050405020304"/>
                <a:cs typeface="Times New Roman" panose="02020603050405020304"/>
                <a:sym typeface="+mn-ea"/>
              </a:rPr>
              <a:t>goal,</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considering</a:t>
            </a:r>
            <a:r>
              <a:rPr spc="-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current</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state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available</a:t>
            </a:r>
            <a:r>
              <a:rPr spc="-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resources,</a:t>
            </a:r>
            <a:r>
              <a:rPr spc="-1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and </a:t>
            </a:r>
            <a:r>
              <a:rPr dirty="0">
                <a:solidFill>
                  <a:srgbClr val="3E3E3E"/>
                </a:solidFill>
                <a:latin typeface="Times New Roman" panose="02020603050405020304"/>
                <a:cs typeface="Times New Roman" panose="02020603050405020304"/>
                <a:sym typeface="+mn-ea"/>
              </a:rPr>
              <a:t>the </a:t>
            </a:r>
            <a:r>
              <a:rPr spc="-10" dirty="0">
                <a:solidFill>
                  <a:srgbClr val="3E3E3E"/>
                </a:solidFill>
                <a:latin typeface="Times New Roman" panose="02020603050405020304"/>
                <a:cs typeface="Times New Roman" panose="02020603050405020304"/>
                <a:sym typeface="+mn-ea"/>
              </a:rPr>
              <a:t>constraints.</a:t>
            </a:r>
            <a:endParaRPr>
              <a:latin typeface="Times New Roman" panose="02020603050405020304"/>
              <a:cs typeface="Times New Roman" panose="02020603050405020304"/>
            </a:endParaRPr>
          </a:p>
          <a:p>
            <a:pPr marR="5080" algn="just">
              <a:lnSpc>
                <a:spcPct val="100000"/>
              </a:lnSpc>
              <a:tabLst>
                <a:tab pos="152400" algn="l"/>
              </a:tabLst>
            </a:pPr>
            <a:r>
              <a:rPr b="1" spc="-10" dirty="0">
                <a:solidFill>
                  <a:srgbClr val="3E3E3E"/>
                </a:solidFill>
                <a:latin typeface="Times New Roman" panose="02020603050405020304"/>
                <a:cs typeface="Times New Roman" panose="02020603050405020304"/>
                <a:sym typeface="+mn-ea"/>
              </a:rPr>
              <a:t>Decision-</a:t>
            </a:r>
            <a:r>
              <a:rPr b="1" dirty="0">
                <a:solidFill>
                  <a:srgbClr val="3E3E3E"/>
                </a:solidFill>
                <a:latin typeface="Times New Roman" panose="02020603050405020304"/>
                <a:cs typeface="Times New Roman" panose="02020603050405020304"/>
                <a:sym typeface="+mn-ea"/>
              </a:rPr>
              <a:t>making</a:t>
            </a:r>
            <a:r>
              <a:rPr dirty="0">
                <a:solidFill>
                  <a:srgbClr val="3E3E3E"/>
                </a:solidFill>
                <a:latin typeface="Times New Roman" panose="02020603050405020304"/>
                <a:cs typeface="Times New Roman" panose="02020603050405020304"/>
                <a:sym typeface="+mn-ea"/>
              </a:rPr>
              <a:t>:</a:t>
            </a:r>
            <a:r>
              <a:rPr spc="-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make decisions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based on logical</a:t>
            </a:r>
            <a:r>
              <a:rPr spc="-3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reasoning </a:t>
            </a:r>
            <a:r>
              <a:rPr dirty="0">
                <a:solidFill>
                  <a:srgbClr val="3E3E3E"/>
                </a:solidFill>
                <a:latin typeface="Times New Roman" panose="02020603050405020304"/>
                <a:cs typeface="Times New Roman" panose="02020603050405020304"/>
                <a:sym typeface="+mn-ea"/>
              </a:rPr>
              <a:t>and</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optimize</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behavior</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achieve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goals,</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considering</a:t>
            </a:r>
            <a:r>
              <a:rPr spc="-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perception</a:t>
            </a:r>
            <a:r>
              <a:rPr spc="-3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of </a:t>
            </a:r>
            <a:r>
              <a:rPr dirty="0">
                <a:solidFill>
                  <a:srgbClr val="3E3E3E"/>
                </a:solidFill>
                <a:latin typeface="Times New Roman" panose="02020603050405020304"/>
                <a:cs typeface="Times New Roman" panose="02020603050405020304"/>
                <a:sym typeface="+mn-ea"/>
              </a:rPr>
              <a:t>the</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performance</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measure;</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this</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allows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better </a:t>
            </a:r>
            <a:r>
              <a:rPr u="sng" spc="-10" dirty="0">
                <a:solidFill>
                  <a:srgbClr val="00184B"/>
                </a:solidFill>
                <a:uFill>
                  <a:solidFill>
                    <a:srgbClr val="00184B"/>
                  </a:solidFill>
                </a:uFill>
                <a:latin typeface="Times New Roman" panose="02020603050405020304"/>
                <a:cs typeface="Times New Roman" panose="02020603050405020304"/>
                <a:sym typeface="+mn-ea"/>
                <a:hlinkClick r:id="rId1"/>
              </a:rPr>
              <a:t>decision-</a:t>
            </a:r>
            <a:r>
              <a:rPr spc="-10" dirty="0">
                <a:solidFill>
                  <a:srgbClr val="00184B"/>
                </a:solidFill>
                <a:latin typeface="Times New Roman" panose="02020603050405020304"/>
                <a:cs typeface="Times New Roman" panose="02020603050405020304"/>
                <a:sym typeface="+mn-ea"/>
              </a:rPr>
              <a:t> </a:t>
            </a:r>
            <a:r>
              <a:rPr u="sng" spc="-10" dirty="0">
                <a:solidFill>
                  <a:srgbClr val="00184B"/>
                </a:solidFill>
                <a:uFill>
                  <a:solidFill>
                    <a:srgbClr val="00184B"/>
                  </a:solidFill>
                </a:uFill>
                <a:latin typeface="Times New Roman" panose="02020603050405020304"/>
                <a:cs typeface="Times New Roman" panose="02020603050405020304"/>
                <a:sym typeface="+mn-ea"/>
                <a:hlinkClick r:id="rId1"/>
              </a:rPr>
              <a:t>making</a:t>
            </a:r>
            <a:r>
              <a:rPr spc="-10" dirty="0">
                <a:solidFill>
                  <a:srgbClr val="3E3E3E"/>
                </a:solidFill>
                <a:latin typeface="Times New Roman" panose="02020603050405020304"/>
                <a:cs typeface="Times New Roman" panose="02020603050405020304"/>
                <a:sym typeface="+mn-ea"/>
              </a:rPr>
              <a:t>.</a:t>
            </a:r>
            <a:endParaRPr>
              <a:latin typeface="Times New Roman" panose="02020603050405020304"/>
              <a:cs typeface="Times New Roman" panose="02020603050405020304"/>
            </a:endParaRPr>
          </a:p>
          <a:p>
            <a:pPr algn="just"/>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80000"/>
          </a:bodyPr>
          <a:p>
            <a:pPr marR="6350" algn="just">
              <a:lnSpc>
                <a:spcPct val="100000"/>
              </a:lnSpc>
              <a:spcBef>
                <a:spcPts val="100"/>
              </a:spcBef>
              <a:tabLst>
                <a:tab pos="152400" algn="l"/>
              </a:tabLst>
            </a:pPr>
            <a:r>
              <a:rPr b="1" dirty="0">
                <a:solidFill>
                  <a:srgbClr val="3E3E3E"/>
                </a:solidFill>
                <a:latin typeface="Times New Roman" panose="02020603050405020304"/>
                <a:cs typeface="Times New Roman" panose="02020603050405020304"/>
                <a:sym typeface="+mn-ea"/>
              </a:rPr>
              <a:t>Adaptability</a:t>
            </a:r>
            <a:r>
              <a:rPr dirty="0">
                <a:solidFill>
                  <a:srgbClr val="3E3E3E"/>
                </a:solidFill>
                <a:latin typeface="Times New Roman" panose="02020603050405020304"/>
                <a:cs typeface="Times New Roman" panose="02020603050405020304"/>
                <a:sym typeface="+mn-ea"/>
              </a:rPr>
              <a:t>:</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learn</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from</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2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and </a:t>
            </a:r>
            <a:r>
              <a:rPr dirty="0">
                <a:solidFill>
                  <a:srgbClr val="3E3E3E"/>
                </a:solidFill>
                <a:latin typeface="Times New Roman" panose="02020603050405020304"/>
                <a:cs typeface="Times New Roman" panose="02020603050405020304"/>
                <a:sym typeface="+mn-ea"/>
              </a:rPr>
              <a:t>adapt</a:t>
            </a:r>
            <a:r>
              <a:rPr spc="1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1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behavior.</a:t>
            </a:r>
            <a:r>
              <a:rPr spc="1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This</a:t>
            </a:r>
            <a:r>
              <a:rPr spc="1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allows</a:t>
            </a:r>
            <a:r>
              <a:rPr spc="1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them</a:t>
            </a:r>
            <a:r>
              <a:rPr spc="11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improve</a:t>
            </a:r>
            <a:r>
              <a:rPr spc="1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their</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performance</a:t>
            </a:r>
            <a:r>
              <a:rPr spc="114" dirty="0">
                <a:solidFill>
                  <a:srgbClr val="3E3E3E"/>
                </a:solidFill>
                <a:latin typeface="Times New Roman" panose="02020603050405020304"/>
                <a:cs typeface="Times New Roman" panose="02020603050405020304"/>
                <a:sym typeface="+mn-ea"/>
              </a:rPr>
              <a:t> </a:t>
            </a:r>
            <a:r>
              <a:rPr spc="-20" dirty="0">
                <a:solidFill>
                  <a:srgbClr val="3E3E3E"/>
                </a:solidFill>
                <a:latin typeface="Times New Roman" panose="02020603050405020304"/>
                <a:cs typeface="Times New Roman" panose="02020603050405020304"/>
                <a:sym typeface="+mn-ea"/>
              </a:rPr>
              <a:t>over </a:t>
            </a:r>
            <a:r>
              <a:rPr spc="-10" dirty="0">
                <a:solidFill>
                  <a:srgbClr val="3E3E3E"/>
                </a:solidFill>
                <a:latin typeface="Times New Roman" panose="02020603050405020304"/>
                <a:cs typeface="Times New Roman" panose="02020603050405020304"/>
                <a:sym typeface="+mn-ea"/>
              </a:rPr>
              <a:t>time.</a:t>
            </a:r>
            <a:endParaRPr>
              <a:latin typeface="Times New Roman" panose="02020603050405020304"/>
              <a:cs typeface="Times New Roman" panose="02020603050405020304"/>
            </a:endParaRPr>
          </a:p>
          <a:p>
            <a:pPr marR="5080" algn="just">
              <a:lnSpc>
                <a:spcPct val="100000"/>
              </a:lnSpc>
              <a:tabLst>
                <a:tab pos="151765" algn="l"/>
              </a:tabLst>
            </a:pPr>
            <a:r>
              <a:rPr b="1" dirty="0">
                <a:solidFill>
                  <a:srgbClr val="3E3E3E"/>
                </a:solidFill>
                <a:latin typeface="Times New Roman" panose="02020603050405020304"/>
                <a:cs typeface="Times New Roman" panose="02020603050405020304"/>
                <a:sym typeface="+mn-ea"/>
              </a:rPr>
              <a:t>Autonomy:</a:t>
            </a:r>
            <a:r>
              <a:rPr b="1" spc="2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2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2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2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operate</a:t>
            </a:r>
            <a:r>
              <a:rPr spc="2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independently</a:t>
            </a:r>
            <a:r>
              <a:rPr spc="2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27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human </a:t>
            </a:r>
            <a:r>
              <a:rPr dirty="0">
                <a:solidFill>
                  <a:srgbClr val="3E3E3E"/>
                </a:solidFill>
                <a:latin typeface="Times New Roman" panose="02020603050405020304"/>
                <a:cs typeface="Times New Roman" panose="02020603050405020304"/>
                <a:sym typeface="+mn-ea"/>
              </a:rPr>
              <a:t>intervention.</a:t>
            </a:r>
            <a:r>
              <a:rPr spc="4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This</a:t>
            </a:r>
            <a:r>
              <a:rPr spc="50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4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lead</a:t>
            </a:r>
            <a:r>
              <a:rPr spc="5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5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increased</a:t>
            </a:r>
            <a:r>
              <a:rPr spc="50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efficiency</a:t>
            </a:r>
            <a:r>
              <a:rPr spc="5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50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reduced</a:t>
            </a:r>
            <a:r>
              <a:rPr spc="52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human error.</a:t>
            </a:r>
            <a:endParaRPr>
              <a:latin typeface="Times New Roman" panose="02020603050405020304"/>
              <a:cs typeface="Times New Roman" panose="02020603050405020304"/>
            </a:endParaRPr>
          </a:p>
          <a:p>
            <a:pPr marR="5080" algn="just">
              <a:lnSpc>
                <a:spcPct val="100000"/>
              </a:lnSpc>
              <a:tabLst>
                <a:tab pos="151765" algn="l"/>
              </a:tabLst>
            </a:pPr>
            <a:r>
              <a:rPr b="1" dirty="0">
                <a:solidFill>
                  <a:srgbClr val="3E3E3E"/>
                </a:solidFill>
                <a:latin typeface="Times New Roman" panose="02020603050405020304"/>
                <a:cs typeface="Times New Roman" panose="02020603050405020304"/>
                <a:sym typeface="+mn-ea"/>
              </a:rPr>
              <a:t>Simulation</a:t>
            </a:r>
            <a:r>
              <a:rPr dirty="0">
                <a:solidFill>
                  <a:srgbClr val="3E3E3E"/>
                </a:solidFill>
                <a:latin typeface="Times New Roman" panose="02020603050405020304"/>
                <a:cs typeface="Times New Roman" panose="02020603050405020304"/>
                <a:sym typeface="+mn-ea"/>
              </a:rPr>
              <a:t>:</a:t>
            </a:r>
            <a:r>
              <a:rPr spc="5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Rational</a:t>
            </a:r>
            <a:r>
              <a:rPr spc="5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5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can</a:t>
            </a:r>
            <a:r>
              <a:rPr spc="5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a:t>
            </a:r>
            <a:r>
              <a:rPr spc="5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used</a:t>
            </a:r>
            <a:r>
              <a:rPr spc="5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5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simulate</a:t>
            </a:r>
            <a:r>
              <a:rPr spc="5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5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behavior</a:t>
            </a:r>
            <a:r>
              <a:rPr spc="53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of </a:t>
            </a:r>
            <a:r>
              <a:rPr dirty="0">
                <a:solidFill>
                  <a:srgbClr val="3E3E3E"/>
                </a:solidFill>
                <a:latin typeface="Times New Roman" panose="02020603050405020304"/>
                <a:cs typeface="Times New Roman" panose="02020603050405020304"/>
                <a:sym typeface="+mn-ea"/>
              </a:rPr>
              <a:t>other</a:t>
            </a:r>
            <a:r>
              <a:rPr spc="4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4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or</a:t>
            </a:r>
            <a:r>
              <a:rPr spc="4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systems,</a:t>
            </a:r>
            <a:r>
              <a:rPr spc="4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allowing</a:t>
            </a:r>
            <a:r>
              <a:rPr spc="4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a:t>
            </a:r>
            <a:r>
              <a:rPr spc="4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4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study</a:t>
            </a:r>
            <a:r>
              <a:rPr spc="4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4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prediction</a:t>
            </a:r>
            <a:r>
              <a:rPr spc="4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44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their behavior.</a:t>
            </a:r>
            <a:endParaRPr>
              <a:latin typeface="Times New Roman" panose="02020603050405020304"/>
              <a:cs typeface="Times New Roman" panose="02020603050405020304"/>
            </a:endParaRPr>
          </a:p>
          <a:p>
            <a:pPr algn="just">
              <a:lnSpc>
                <a:spcPct val="100000"/>
              </a:lnSpc>
            </a:pP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52083"/>
            <a:ext cx="8229600" cy="1143000"/>
          </a:xfrm>
        </p:spPr>
        <p:txBody>
          <a:bodyPr/>
          <a:p>
            <a:r>
              <a:rPr sz="3600" b="1" spc="-10" dirty="0">
                <a:solidFill>
                  <a:srgbClr val="FF0000"/>
                </a:solidFill>
                <a:latin typeface="Times New Roman" panose="02020603050405020304"/>
                <a:cs typeface="Times New Roman" panose="02020603050405020304"/>
                <a:sym typeface="+mn-ea"/>
              </a:rPr>
              <a:t>Rational</a:t>
            </a:r>
            <a:r>
              <a:rPr sz="3600" b="1" spc="-165" dirty="0">
                <a:solidFill>
                  <a:srgbClr val="FF0000"/>
                </a:solidFill>
                <a:latin typeface="Times New Roman" panose="02020603050405020304"/>
                <a:cs typeface="Times New Roman" panose="02020603050405020304"/>
                <a:sym typeface="+mn-ea"/>
              </a:rPr>
              <a:t> </a:t>
            </a:r>
            <a:r>
              <a:rPr sz="3600" b="1" dirty="0">
                <a:solidFill>
                  <a:srgbClr val="FF0000"/>
                </a:solidFill>
                <a:latin typeface="Times New Roman" panose="02020603050405020304"/>
                <a:cs typeface="Times New Roman" panose="02020603050405020304"/>
                <a:sym typeface="+mn-ea"/>
              </a:rPr>
              <a:t>Agent</a:t>
            </a:r>
            <a:r>
              <a:rPr sz="3600" b="1" spc="-15" dirty="0">
                <a:solidFill>
                  <a:srgbClr val="FF0000"/>
                </a:solidFill>
                <a:latin typeface="Times New Roman" panose="02020603050405020304"/>
                <a:cs typeface="Times New Roman" panose="02020603050405020304"/>
                <a:sym typeface="+mn-ea"/>
              </a:rPr>
              <a:t> </a:t>
            </a:r>
            <a:r>
              <a:rPr sz="3600" b="1" spc="-10" dirty="0">
                <a:solidFill>
                  <a:srgbClr val="FF0000"/>
                </a:solidFill>
                <a:latin typeface="Times New Roman" panose="02020603050405020304"/>
                <a:cs typeface="Times New Roman" panose="02020603050405020304"/>
                <a:sym typeface="+mn-ea"/>
              </a:rPr>
              <a:t>Real-</a:t>
            </a:r>
            <a:r>
              <a:rPr sz="3600" b="1" spc="-40" dirty="0">
                <a:solidFill>
                  <a:srgbClr val="FF0000"/>
                </a:solidFill>
                <a:latin typeface="Times New Roman" panose="02020603050405020304"/>
                <a:cs typeface="Times New Roman" panose="02020603050405020304"/>
                <a:sym typeface="+mn-ea"/>
              </a:rPr>
              <a:t>World</a:t>
            </a:r>
            <a:r>
              <a:rPr sz="3600" b="1" spc="-145" dirty="0">
                <a:solidFill>
                  <a:srgbClr val="FF0000"/>
                </a:solidFill>
                <a:latin typeface="Times New Roman" panose="02020603050405020304"/>
                <a:cs typeface="Times New Roman" panose="02020603050405020304"/>
                <a:sym typeface="+mn-ea"/>
              </a:rPr>
              <a:t> </a:t>
            </a:r>
            <a:r>
              <a:rPr sz="3600" b="1" spc="-10" dirty="0">
                <a:solidFill>
                  <a:srgbClr val="FF0000"/>
                </a:solidFill>
                <a:latin typeface="Times New Roman" panose="02020603050405020304"/>
                <a:cs typeface="Times New Roman" panose="02020603050405020304"/>
                <a:sym typeface="+mn-ea"/>
              </a:rPr>
              <a:t>Applications</a:t>
            </a:r>
            <a:endParaRPr lang="en-US" sz="3600" b="1" spc="-10" dirty="0">
              <a:solidFill>
                <a:srgbClr val="FF0000"/>
              </a:solidFill>
              <a:latin typeface="Times New Roman" panose="02020603050405020304"/>
              <a:cs typeface="Times New Roman" panose="02020603050405020304"/>
              <a:sym typeface="+mn-ea"/>
            </a:endParaRPr>
          </a:p>
        </p:txBody>
      </p:sp>
      <p:sp>
        <p:nvSpPr>
          <p:cNvPr id="3" name="Content Placeholder 2"/>
          <p:cNvSpPr>
            <a:spLocks noGrp="1"/>
          </p:cNvSpPr>
          <p:nvPr>
            <p:ph idx="1"/>
          </p:nvPr>
        </p:nvSpPr>
        <p:spPr>
          <a:xfrm>
            <a:off x="457200" y="1066800"/>
            <a:ext cx="8229600" cy="4525963"/>
          </a:xfrm>
        </p:spPr>
        <p:txBody>
          <a:bodyPr>
            <a:noAutofit/>
          </a:bodyPr>
          <a:p>
            <a:pPr marR="5715" algn="just">
              <a:lnSpc>
                <a:spcPct val="100000"/>
              </a:lnSpc>
              <a:spcBef>
                <a:spcPts val="105"/>
              </a:spcBef>
              <a:tabLst>
                <a:tab pos="127635" algn="l"/>
              </a:tabLst>
            </a:pPr>
            <a:r>
              <a:rPr sz="1600" b="1" dirty="0">
                <a:solidFill>
                  <a:srgbClr val="3E3E3E"/>
                </a:solidFill>
                <a:latin typeface="Times New Roman" panose="02020603050405020304" pitchFamily="18" charset="0"/>
                <a:cs typeface="Times New Roman" panose="02020603050405020304" pitchFamily="18" charset="0"/>
                <a:sym typeface="+mn-ea"/>
              </a:rPr>
              <a:t>Autonomous</a:t>
            </a:r>
            <a:r>
              <a:rPr sz="1600" b="1" spc="23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systems</a:t>
            </a:r>
            <a:r>
              <a:rPr sz="1600" dirty="0">
                <a:solidFill>
                  <a:srgbClr val="3E3E3E"/>
                </a:solidFill>
                <a:latin typeface="Times New Roman" panose="02020603050405020304" pitchFamily="18" charset="0"/>
                <a:cs typeface="Times New Roman" panose="02020603050405020304" pitchFamily="18" charset="0"/>
                <a:sym typeface="+mn-ea"/>
              </a:rPr>
              <a:t>:</a:t>
            </a:r>
            <a:r>
              <a:rPr sz="1600" spc="235" dirty="0">
                <a:solidFill>
                  <a:srgbClr val="3E3E3E"/>
                </a:solidFill>
                <a:latin typeface="Times New Roman" panose="02020603050405020304" pitchFamily="18" charset="0"/>
                <a:cs typeface="Times New Roman" panose="02020603050405020304" pitchFamily="18" charset="0"/>
                <a:sym typeface="+mn-ea"/>
              </a:rPr>
              <a:t> </a:t>
            </a:r>
            <a:r>
              <a:rPr sz="1600" spc="-20" dirty="0">
                <a:solidFill>
                  <a:srgbClr val="3E3E3E"/>
                </a:solidFill>
                <a:latin typeface="Times New Roman" panose="02020603050405020304" pitchFamily="18" charset="0"/>
                <a:cs typeface="Times New Roman" panose="02020603050405020304" pitchFamily="18" charset="0"/>
                <a:sym typeface="+mn-ea"/>
              </a:rPr>
              <a:t>Self-</a:t>
            </a:r>
            <a:r>
              <a:rPr sz="1600" dirty="0">
                <a:solidFill>
                  <a:srgbClr val="3E3E3E"/>
                </a:solidFill>
                <a:latin typeface="Times New Roman" panose="02020603050405020304" pitchFamily="18" charset="0"/>
                <a:cs typeface="Times New Roman" panose="02020603050405020304" pitchFamily="18" charset="0"/>
                <a:sym typeface="+mn-ea"/>
              </a:rPr>
              <a:t>driving</a:t>
            </a:r>
            <a:r>
              <a:rPr sz="1600" spc="229"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cars,</a:t>
            </a:r>
            <a:r>
              <a:rPr sz="1600" spc="229"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drones,</a:t>
            </a:r>
            <a:r>
              <a:rPr sz="1600" spc="2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229"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robots</a:t>
            </a:r>
            <a:r>
              <a:rPr sz="1600" spc="229"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a:t>
            </a:r>
            <a:r>
              <a:rPr sz="1600" spc="2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229"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2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2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make</a:t>
            </a:r>
            <a:r>
              <a:rPr sz="1600" spc="229"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decisions,</a:t>
            </a:r>
            <a:r>
              <a:rPr sz="1600" spc="240" dirty="0">
                <a:solidFill>
                  <a:srgbClr val="3E3E3E"/>
                </a:solidFill>
                <a:latin typeface="Times New Roman" panose="02020603050405020304" pitchFamily="18" charset="0"/>
                <a:cs typeface="Times New Roman" panose="02020603050405020304" pitchFamily="18" charset="0"/>
                <a:sym typeface="+mn-ea"/>
              </a:rPr>
              <a:t> </a:t>
            </a:r>
            <a:r>
              <a:rPr sz="1600" spc="-20" dirty="0">
                <a:solidFill>
                  <a:srgbClr val="3E3E3E"/>
                </a:solidFill>
                <a:latin typeface="Times New Roman" panose="02020603050405020304" pitchFamily="18" charset="0"/>
                <a:cs typeface="Times New Roman" panose="02020603050405020304" pitchFamily="18" charset="0"/>
                <a:sym typeface="+mn-ea"/>
              </a:rPr>
              <a:t>plan </a:t>
            </a:r>
            <a:r>
              <a:rPr sz="1600" dirty="0">
                <a:solidFill>
                  <a:srgbClr val="3E3E3E"/>
                </a:solidFill>
                <a:latin typeface="Times New Roman" panose="02020603050405020304" pitchFamily="18" charset="0"/>
                <a:cs typeface="Times New Roman" panose="02020603050405020304" pitchFamily="18" charset="0"/>
                <a:sym typeface="+mn-ea"/>
              </a:rPr>
              <a:t>their</a:t>
            </a:r>
            <a:r>
              <a:rPr sz="1600" spc="1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actions</a:t>
            </a:r>
            <a:r>
              <a:rPr sz="1600" spc="1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1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optimize</a:t>
            </a:r>
            <a:r>
              <a:rPr sz="1600" spc="1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their</a:t>
            </a:r>
            <a:r>
              <a:rPr sz="1600" spc="1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behavior</a:t>
            </a:r>
            <a:r>
              <a:rPr sz="1600" spc="1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1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achieve</a:t>
            </a:r>
            <a:r>
              <a:rPr sz="1600" spc="1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their</a:t>
            </a:r>
            <a:r>
              <a:rPr sz="1600" spc="114"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goals,</a:t>
            </a:r>
            <a:r>
              <a:rPr sz="1600" spc="1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such</a:t>
            </a:r>
            <a:r>
              <a:rPr sz="1600" spc="1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as</a:t>
            </a:r>
            <a:r>
              <a:rPr sz="1600" spc="1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safely</a:t>
            </a:r>
            <a:r>
              <a:rPr sz="1600" spc="1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transporting</a:t>
            </a:r>
            <a:r>
              <a:rPr sz="1600" spc="1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passengers</a:t>
            </a:r>
            <a:r>
              <a:rPr sz="1600" spc="130" dirty="0">
                <a:solidFill>
                  <a:srgbClr val="3E3E3E"/>
                </a:solidFill>
                <a:latin typeface="Times New Roman" panose="02020603050405020304" pitchFamily="18" charset="0"/>
                <a:cs typeface="Times New Roman" panose="02020603050405020304" pitchFamily="18" charset="0"/>
                <a:sym typeface="+mn-ea"/>
              </a:rPr>
              <a:t> </a:t>
            </a:r>
            <a:r>
              <a:rPr sz="1600" spc="-25" dirty="0">
                <a:solidFill>
                  <a:srgbClr val="3E3E3E"/>
                </a:solidFill>
                <a:latin typeface="Times New Roman" panose="02020603050405020304" pitchFamily="18" charset="0"/>
                <a:cs typeface="Times New Roman" panose="02020603050405020304" pitchFamily="18" charset="0"/>
                <a:sym typeface="+mn-ea"/>
              </a:rPr>
              <a:t>or </a:t>
            </a:r>
            <a:r>
              <a:rPr sz="1600" dirty="0">
                <a:solidFill>
                  <a:srgbClr val="3E3E3E"/>
                </a:solidFill>
                <a:latin typeface="Times New Roman" panose="02020603050405020304" pitchFamily="18" charset="0"/>
                <a:cs typeface="Times New Roman" panose="02020603050405020304" pitchFamily="18" charset="0"/>
                <a:sym typeface="+mn-ea"/>
              </a:rPr>
              <a:t>completing</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spc="-20" dirty="0">
                <a:solidFill>
                  <a:srgbClr val="3E3E3E"/>
                </a:solidFill>
                <a:latin typeface="Times New Roman" panose="02020603050405020304" pitchFamily="18" charset="0"/>
                <a:cs typeface="Times New Roman" panose="02020603050405020304" pitchFamily="18" charset="0"/>
                <a:sym typeface="+mn-ea"/>
              </a:rPr>
              <a:t>task.</a:t>
            </a:r>
            <a:endParaRPr sz="1600">
              <a:latin typeface="Times New Roman" panose="02020603050405020304" pitchFamily="18" charset="0"/>
              <a:cs typeface="Times New Roman" panose="02020603050405020304" pitchFamily="18" charset="0"/>
            </a:endParaRPr>
          </a:p>
          <a:p>
            <a:pPr marR="5080" algn="just">
              <a:lnSpc>
                <a:spcPct val="100000"/>
              </a:lnSpc>
              <a:tabLst>
                <a:tab pos="128270" algn="l"/>
              </a:tabLst>
            </a:pPr>
            <a:r>
              <a:rPr sz="1600" b="1" dirty="0">
                <a:solidFill>
                  <a:srgbClr val="3E3E3E"/>
                </a:solidFill>
                <a:latin typeface="Times New Roman" panose="02020603050405020304" pitchFamily="18" charset="0"/>
                <a:cs typeface="Times New Roman" panose="02020603050405020304" pitchFamily="18" charset="0"/>
                <a:sym typeface="+mn-ea"/>
              </a:rPr>
              <a:t>Finance:</a:t>
            </a:r>
            <a:r>
              <a:rPr sz="1600" b="1" spc="1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1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16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are</a:t>
            </a:r>
            <a:r>
              <a:rPr sz="1600" spc="1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used</a:t>
            </a:r>
            <a:r>
              <a:rPr sz="1600" spc="1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in</a:t>
            </a:r>
            <a:r>
              <a:rPr sz="1600" spc="16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financial</a:t>
            </a:r>
            <a:r>
              <a:rPr sz="1600" spc="1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services</a:t>
            </a:r>
            <a:r>
              <a:rPr sz="1600" spc="1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16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make</a:t>
            </a:r>
            <a:r>
              <a:rPr sz="1600" spc="15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investment</a:t>
            </a:r>
            <a:r>
              <a:rPr sz="1600" b="1" spc="14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decisions,</a:t>
            </a:r>
            <a:r>
              <a:rPr sz="1600" b="1" spc="160" dirty="0">
                <a:solidFill>
                  <a:srgbClr val="3E3E3E"/>
                </a:solidFill>
                <a:latin typeface="Times New Roman" panose="02020603050405020304" pitchFamily="18" charset="0"/>
                <a:cs typeface="Times New Roman" panose="02020603050405020304" pitchFamily="18" charset="0"/>
                <a:sym typeface="+mn-ea"/>
              </a:rPr>
              <a:t> </a:t>
            </a:r>
            <a:r>
              <a:rPr sz="1600" b="1" u="sng" dirty="0">
                <a:solidFill>
                  <a:srgbClr val="00184B"/>
                </a:solidFill>
                <a:uFill>
                  <a:solidFill>
                    <a:srgbClr val="00184B"/>
                  </a:solidFill>
                </a:uFill>
                <a:latin typeface="Times New Roman" panose="02020603050405020304" pitchFamily="18" charset="0"/>
                <a:cs typeface="Times New Roman" panose="02020603050405020304" pitchFamily="18" charset="0"/>
                <a:sym typeface="+mn-ea"/>
                <a:hlinkClick r:id="rId1"/>
              </a:rPr>
              <a:t>risk</a:t>
            </a:r>
            <a:r>
              <a:rPr sz="1600" b="1" u="sng" spc="140" dirty="0">
                <a:solidFill>
                  <a:srgbClr val="00184B"/>
                </a:solidFill>
                <a:uFill>
                  <a:solidFill>
                    <a:srgbClr val="00184B"/>
                  </a:solidFill>
                </a:uFill>
                <a:latin typeface="Times New Roman" panose="02020603050405020304" pitchFamily="18" charset="0"/>
                <a:cs typeface="Times New Roman" panose="02020603050405020304" pitchFamily="18" charset="0"/>
                <a:sym typeface="+mn-ea"/>
                <a:hlinkClick r:id="rId1"/>
              </a:rPr>
              <a:t> </a:t>
            </a:r>
            <a:r>
              <a:rPr sz="1600" b="1" u="sng" spc="-10" dirty="0">
                <a:solidFill>
                  <a:srgbClr val="00184B"/>
                </a:solidFill>
                <a:uFill>
                  <a:solidFill>
                    <a:srgbClr val="00184B"/>
                  </a:solidFill>
                </a:uFill>
                <a:latin typeface="Times New Roman" panose="02020603050405020304" pitchFamily="18" charset="0"/>
                <a:cs typeface="Times New Roman" panose="02020603050405020304" pitchFamily="18" charset="0"/>
                <a:sym typeface="+mn-ea"/>
                <a:hlinkClick r:id="rId1"/>
              </a:rPr>
              <a:t>management</a:t>
            </a:r>
            <a:r>
              <a:rPr sz="1600" b="1" spc="-1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and</a:t>
            </a:r>
            <a:r>
              <a:rPr sz="1600" b="1" spc="-5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trading.</a:t>
            </a:r>
            <a:r>
              <a:rPr sz="1600" b="1" spc="-5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They</a:t>
            </a:r>
            <a:r>
              <a:rPr sz="1600" b="1" spc="-4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can</a:t>
            </a:r>
            <a:r>
              <a:rPr sz="1600" b="1" spc="-5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analyze</a:t>
            </a:r>
            <a:r>
              <a:rPr sz="1600" b="1" spc="-4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market</a:t>
            </a:r>
            <a:r>
              <a:rPr sz="1600" b="1" spc="-4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data,</a:t>
            </a:r>
            <a:r>
              <a:rPr sz="1600" b="1" spc="-4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predict</a:t>
            </a:r>
            <a:r>
              <a:rPr sz="1600" b="1" spc="-3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future</a:t>
            </a:r>
            <a:r>
              <a:rPr sz="1600" b="1" spc="-4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trends,</a:t>
            </a:r>
            <a:r>
              <a:rPr sz="1600" b="1" spc="-4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and</a:t>
            </a:r>
            <a:r>
              <a:rPr sz="1600" b="1" spc="-5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optimize</a:t>
            </a:r>
            <a:r>
              <a:rPr sz="1600" b="1" spc="-5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their</a:t>
            </a:r>
            <a:r>
              <a:rPr sz="1600" b="1" spc="-4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behavior</a:t>
            </a:r>
            <a:r>
              <a:rPr sz="1600" b="1" spc="-4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to</a:t>
            </a:r>
            <a:r>
              <a:rPr sz="1600" b="1" spc="-50" dirty="0">
                <a:solidFill>
                  <a:srgbClr val="3E3E3E"/>
                </a:solidFill>
                <a:latin typeface="Times New Roman" panose="02020603050405020304" pitchFamily="18" charset="0"/>
                <a:cs typeface="Times New Roman" panose="02020603050405020304" pitchFamily="18" charset="0"/>
                <a:sym typeface="+mn-ea"/>
              </a:rPr>
              <a:t> </a:t>
            </a:r>
            <a:r>
              <a:rPr sz="1600" b="1" spc="-10" dirty="0">
                <a:solidFill>
                  <a:srgbClr val="3E3E3E"/>
                </a:solidFill>
                <a:latin typeface="Times New Roman" panose="02020603050405020304" pitchFamily="18" charset="0"/>
                <a:cs typeface="Times New Roman" panose="02020603050405020304" pitchFamily="18" charset="0"/>
                <a:sym typeface="+mn-ea"/>
              </a:rPr>
              <a:t>maximize returns.</a:t>
            </a:r>
            <a:endParaRPr sz="1600">
              <a:latin typeface="Times New Roman" panose="02020603050405020304" pitchFamily="18" charset="0"/>
              <a:cs typeface="Times New Roman" panose="02020603050405020304" pitchFamily="18" charset="0"/>
            </a:endParaRPr>
          </a:p>
          <a:p>
            <a:pPr marR="5080" algn="just">
              <a:lnSpc>
                <a:spcPct val="100000"/>
              </a:lnSpc>
              <a:spcBef>
                <a:spcPts val="5"/>
              </a:spcBef>
              <a:tabLst>
                <a:tab pos="128270" algn="l"/>
              </a:tabLst>
            </a:pPr>
            <a:r>
              <a:rPr sz="1600" b="1" dirty="0">
                <a:solidFill>
                  <a:srgbClr val="3E3E3E"/>
                </a:solidFill>
                <a:latin typeface="Times New Roman" panose="02020603050405020304" pitchFamily="18" charset="0"/>
                <a:cs typeface="Times New Roman" panose="02020603050405020304" pitchFamily="18" charset="0"/>
                <a:sym typeface="+mn-ea"/>
              </a:rPr>
              <a:t>Healthcare:</a:t>
            </a:r>
            <a:r>
              <a:rPr sz="1600" b="1"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make</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medical</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diagnoses,</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plan</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treatment,</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monitor</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patients'</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progress.</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spc="-20" dirty="0">
                <a:solidFill>
                  <a:srgbClr val="3E3E3E"/>
                </a:solidFill>
                <a:latin typeface="Times New Roman" panose="02020603050405020304" pitchFamily="18" charset="0"/>
                <a:cs typeface="Times New Roman" panose="02020603050405020304" pitchFamily="18" charset="0"/>
                <a:sym typeface="+mn-ea"/>
              </a:rPr>
              <a:t>They </a:t>
            </a:r>
            <a:r>
              <a:rPr sz="1600" dirty="0">
                <a:solidFill>
                  <a:srgbClr val="3E3E3E"/>
                </a:solidFill>
                <a:latin typeface="Times New Roman" panose="02020603050405020304" pitchFamily="18" charset="0"/>
                <a:cs typeface="Times New Roman" panose="02020603050405020304" pitchFamily="18" charset="0"/>
                <a:sym typeface="+mn-ea"/>
              </a:rPr>
              <a:t>can</a:t>
            </a:r>
            <a:r>
              <a:rPr sz="1600" spc="-6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analyze</a:t>
            </a:r>
            <a:r>
              <a:rPr sz="1600" spc="-7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medical</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data,</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predict</a:t>
            </a:r>
            <a:r>
              <a:rPr sz="1600" spc="-6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the</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progression</a:t>
            </a:r>
            <a:r>
              <a:rPr sz="1600" spc="-6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of</a:t>
            </a:r>
            <a:r>
              <a:rPr sz="1600" spc="-6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diseases,</a:t>
            </a:r>
            <a:r>
              <a:rPr sz="1600" spc="-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6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optimize</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the</a:t>
            </a:r>
            <a:r>
              <a:rPr sz="1600" spc="-6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treatment</a:t>
            </a:r>
            <a:r>
              <a:rPr sz="1600" spc="-3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plan.</a:t>
            </a:r>
            <a:endParaRPr sz="1600">
              <a:latin typeface="Times New Roman" panose="02020603050405020304" pitchFamily="18" charset="0"/>
              <a:cs typeface="Times New Roman" panose="02020603050405020304" pitchFamily="18" charset="0"/>
            </a:endParaRPr>
          </a:p>
          <a:p>
            <a:pPr marR="8255" algn="just">
              <a:lnSpc>
                <a:spcPct val="100000"/>
              </a:lnSpc>
              <a:tabLst>
                <a:tab pos="128270" algn="l"/>
              </a:tabLst>
            </a:pPr>
            <a:r>
              <a:rPr sz="1600" b="1" dirty="0">
                <a:solidFill>
                  <a:srgbClr val="3E3E3E"/>
                </a:solidFill>
                <a:latin typeface="Times New Roman" panose="02020603050405020304" pitchFamily="18" charset="0"/>
                <a:cs typeface="Times New Roman" panose="02020603050405020304" pitchFamily="18" charset="0"/>
                <a:sym typeface="+mn-ea"/>
              </a:rPr>
              <a:t>Manufacturing</a:t>
            </a:r>
            <a:r>
              <a:rPr sz="1600" dirty="0">
                <a:solidFill>
                  <a:srgbClr val="3E3E3E"/>
                </a:solidFill>
                <a:latin typeface="Times New Roman" panose="02020603050405020304" pitchFamily="18" charset="0"/>
                <a:cs typeface="Times New Roman" panose="02020603050405020304" pitchFamily="18" charset="0"/>
                <a:sym typeface="+mn-ea"/>
              </a:rPr>
              <a:t>:</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are</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used</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in</a:t>
            </a:r>
            <a:r>
              <a:rPr sz="1600" spc="6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manufacturing</a:t>
            </a:r>
            <a:r>
              <a:rPr sz="1600" spc="6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control</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production</a:t>
            </a:r>
            <a:r>
              <a:rPr sz="1600" spc="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processes,</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plan</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logistics,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25"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optimize</a:t>
            </a:r>
            <a:r>
              <a:rPr sz="1600" spc="-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the</a:t>
            </a:r>
            <a:r>
              <a:rPr sz="1600" spc="-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a:t>
            </a:r>
            <a:r>
              <a:rPr sz="1600" spc="-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of</a:t>
            </a:r>
            <a:r>
              <a:rPr sz="1600" spc="-3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resources.</a:t>
            </a:r>
            <a:endParaRPr sz="1600">
              <a:latin typeface="Times New Roman" panose="02020603050405020304" pitchFamily="18" charset="0"/>
              <a:cs typeface="Times New Roman" panose="02020603050405020304" pitchFamily="18" charset="0"/>
            </a:endParaRPr>
          </a:p>
          <a:p>
            <a:pPr algn="just">
              <a:lnSpc>
                <a:spcPct val="100000"/>
              </a:lnSpc>
              <a:tabLst>
                <a:tab pos="127635" algn="l"/>
              </a:tabLst>
            </a:pPr>
            <a:r>
              <a:rPr sz="1600" b="1" spc="-10" dirty="0">
                <a:solidFill>
                  <a:srgbClr val="3E3E3E"/>
                </a:solidFill>
                <a:latin typeface="Times New Roman" panose="02020603050405020304" pitchFamily="18" charset="0"/>
                <a:cs typeface="Times New Roman" panose="02020603050405020304" pitchFamily="18" charset="0"/>
                <a:sym typeface="+mn-ea"/>
              </a:rPr>
              <a:t>Transportation:</a:t>
            </a:r>
            <a:r>
              <a:rPr sz="1600" b="1"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are</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used</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in</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transportation</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plan</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routes,</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schedule</a:t>
            </a:r>
            <a:r>
              <a:rPr sz="1600" spc="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vehicles,</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optimize</a:t>
            </a:r>
            <a:endParaRPr sz="1600">
              <a:latin typeface="Times New Roman" panose="02020603050405020304" pitchFamily="18" charset="0"/>
              <a:cs typeface="Times New Roman" panose="02020603050405020304" pitchFamily="18" charset="0"/>
            </a:endParaRPr>
          </a:p>
          <a:p>
            <a:pPr algn="just">
              <a:lnSpc>
                <a:spcPct val="100000"/>
              </a:lnSpc>
            </a:pPr>
            <a:r>
              <a:rPr sz="1600" dirty="0">
                <a:solidFill>
                  <a:srgbClr val="3E3E3E"/>
                </a:solidFill>
                <a:latin typeface="Times New Roman" panose="02020603050405020304" pitchFamily="18" charset="0"/>
                <a:cs typeface="Times New Roman" panose="02020603050405020304" pitchFamily="18" charset="0"/>
                <a:sym typeface="+mn-ea"/>
              </a:rPr>
              <a:t>the</a:t>
            </a:r>
            <a:r>
              <a:rPr sz="1600" spc="-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a:t>
            </a:r>
            <a:r>
              <a:rPr sz="1600" spc="-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of</a:t>
            </a:r>
            <a:r>
              <a:rPr sz="1600" spc="-3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resources.</a:t>
            </a:r>
            <a:endParaRPr sz="1600">
              <a:latin typeface="Times New Roman" panose="02020603050405020304" pitchFamily="18" charset="0"/>
              <a:cs typeface="Times New Roman" panose="02020603050405020304" pitchFamily="18" charset="0"/>
            </a:endParaRPr>
          </a:p>
          <a:p>
            <a:pPr marR="7620" algn="just">
              <a:lnSpc>
                <a:spcPct val="100000"/>
              </a:lnSpc>
              <a:tabLst>
                <a:tab pos="128270" algn="l"/>
              </a:tabLst>
            </a:pPr>
            <a:r>
              <a:rPr sz="1600" b="1" dirty="0">
                <a:solidFill>
                  <a:srgbClr val="3E3E3E"/>
                </a:solidFill>
                <a:latin typeface="Times New Roman" panose="02020603050405020304" pitchFamily="18" charset="0"/>
                <a:cs typeface="Times New Roman" panose="02020603050405020304" pitchFamily="18" charset="0"/>
                <a:sym typeface="+mn-ea"/>
              </a:rPr>
              <a:t>Customer</a:t>
            </a:r>
            <a:r>
              <a:rPr sz="1600" b="1" spc="425"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service</a:t>
            </a:r>
            <a:r>
              <a:rPr sz="1600" dirty="0">
                <a:solidFill>
                  <a:srgbClr val="3E3E3E"/>
                </a:solidFill>
                <a:latin typeface="Times New Roman" panose="02020603050405020304" pitchFamily="18" charset="0"/>
                <a:cs typeface="Times New Roman" panose="02020603050405020304" pitchFamily="18" charset="0"/>
                <a:sym typeface="+mn-ea"/>
              </a:rPr>
              <a:t>:</a:t>
            </a:r>
            <a:r>
              <a:rPr sz="1600" spc="4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41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4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interacting</a:t>
            </a:r>
            <a:r>
              <a:rPr sz="1600" spc="4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with</a:t>
            </a:r>
            <a:r>
              <a:rPr sz="1600" spc="4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customers,</a:t>
            </a:r>
            <a:r>
              <a:rPr sz="1600" spc="4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respond</a:t>
            </a:r>
            <a:r>
              <a:rPr sz="1600" spc="43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4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their</a:t>
            </a:r>
            <a:r>
              <a:rPr sz="1600" spc="42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queries,</a:t>
            </a:r>
            <a:r>
              <a:rPr sz="1600" spc="42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43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provide recommendations.</a:t>
            </a:r>
            <a:endParaRPr sz="1600">
              <a:latin typeface="Times New Roman" panose="02020603050405020304" pitchFamily="18" charset="0"/>
              <a:cs typeface="Times New Roman" panose="02020603050405020304" pitchFamily="18" charset="0"/>
            </a:endParaRPr>
          </a:p>
          <a:p>
            <a:pPr algn="just">
              <a:lnSpc>
                <a:spcPct val="100000"/>
              </a:lnSpc>
              <a:tabLst>
                <a:tab pos="128270" algn="l"/>
              </a:tabLst>
            </a:pPr>
            <a:r>
              <a:rPr sz="1600" b="1" dirty="0">
                <a:solidFill>
                  <a:srgbClr val="3E3E3E"/>
                </a:solidFill>
                <a:latin typeface="Times New Roman" panose="02020603050405020304" pitchFamily="18" charset="0"/>
                <a:cs typeface="Times New Roman" panose="02020603050405020304" pitchFamily="18" charset="0"/>
                <a:sym typeface="+mn-ea"/>
              </a:rPr>
              <a:t>Social</a:t>
            </a:r>
            <a:r>
              <a:rPr sz="1600" b="1" spc="-60" dirty="0">
                <a:solidFill>
                  <a:srgbClr val="3E3E3E"/>
                </a:solidFill>
                <a:latin typeface="Times New Roman" panose="02020603050405020304" pitchFamily="18" charset="0"/>
                <a:cs typeface="Times New Roman" panose="02020603050405020304" pitchFamily="18" charset="0"/>
                <a:sym typeface="+mn-ea"/>
              </a:rPr>
              <a:t> </a:t>
            </a:r>
            <a:r>
              <a:rPr sz="1600" b="1" dirty="0">
                <a:solidFill>
                  <a:srgbClr val="3E3E3E"/>
                </a:solidFill>
                <a:latin typeface="Times New Roman" panose="02020603050405020304" pitchFamily="18" charset="0"/>
                <a:cs typeface="Times New Roman" panose="02020603050405020304" pitchFamily="18" charset="0"/>
                <a:sym typeface="+mn-ea"/>
              </a:rPr>
              <a:t>media:</a:t>
            </a:r>
            <a:r>
              <a:rPr sz="1600" b="1" spc="-7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Rational</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agents</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are</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used</a:t>
            </a:r>
            <a:r>
              <a:rPr sz="1600" spc="-4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to</a:t>
            </a:r>
            <a:r>
              <a:rPr sz="1600" spc="-5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recommending</a:t>
            </a:r>
            <a:r>
              <a:rPr sz="1600" spc="-45"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content,</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filter</a:t>
            </a:r>
            <a:r>
              <a:rPr sz="1600" spc="-35"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spam,</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dirty="0">
                <a:solidFill>
                  <a:srgbClr val="3E3E3E"/>
                </a:solidFill>
                <a:latin typeface="Times New Roman" panose="02020603050405020304" pitchFamily="18" charset="0"/>
                <a:cs typeface="Times New Roman" panose="02020603050405020304" pitchFamily="18" charset="0"/>
                <a:sym typeface="+mn-ea"/>
              </a:rPr>
              <a:t>and</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moderate</a:t>
            </a:r>
            <a:r>
              <a:rPr sz="1600" spc="-50" dirty="0">
                <a:solidFill>
                  <a:srgbClr val="3E3E3E"/>
                </a:solidFill>
                <a:latin typeface="Times New Roman" panose="02020603050405020304" pitchFamily="18" charset="0"/>
                <a:cs typeface="Times New Roman" panose="02020603050405020304" pitchFamily="18" charset="0"/>
                <a:sym typeface="+mn-ea"/>
              </a:rPr>
              <a:t> </a:t>
            </a:r>
            <a:r>
              <a:rPr sz="1600" spc="-10" dirty="0">
                <a:solidFill>
                  <a:srgbClr val="3E3E3E"/>
                </a:solidFill>
                <a:latin typeface="Times New Roman" panose="02020603050405020304" pitchFamily="18" charset="0"/>
                <a:cs typeface="Times New Roman" panose="02020603050405020304" pitchFamily="18" charset="0"/>
                <a:sym typeface="+mn-ea"/>
              </a:rPr>
              <a:t>content.</a:t>
            </a:r>
            <a:endParaRPr sz="1600">
              <a:latin typeface="Times New Roman" panose="02020603050405020304" pitchFamily="18" charset="0"/>
              <a:cs typeface="Times New Roman" panose="02020603050405020304" pitchFamily="18" charset="0"/>
            </a:endParaRPr>
          </a:p>
          <a:p>
            <a:pPr algn="just"/>
            <a:endParaRPr lang="en-US" sz="160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b="1" dirty="0">
                <a:solidFill>
                  <a:srgbClr val="FF0000"/>
                </a:solidFill>
                <a:latin typeface="Times New Roman" panose="02020603050405020304" pitchFamily="18" charset="0"/>
                <a:cs typeface="Times New Roman" panose="02020603050405020304" pitchFamily="18" charset="0"/>
                <a:sym typeface="+mn-ea"/>
              </a:rPr>
              <a:t>The</a:t>
            </a:r>
            <a:r>
              <a:rPr b="1" spc="-9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Nature</a:t>
            </a:r>
            <a:r>
              <a:rPr b="1" spc="-10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of</a:t>
            </a:r>
            <a:r>
              <a:rPr b="1" spc="-95" dirty="0">
                <a:solidFill>
                  <a:srgbClr val="FF0000"/>
                </a:solidFill>
                <a:latin typeface="Times New Roman" panose="02020603050405020304" pitchFamily="18" charset="0"/>
                <a:cs typeface="Times New Roman" panose="02020603050405020304" pitchFamily="18" charset="0"/>
                <a:sym typeface="+mn-ea"/>
              </a:rPr>
              <a:t> </a:t>
            </a:r>
            <a:r>
              <a:rPr b="1" spc="-10" dirty="0">
                <a:solidFill>
                  <a:srgbClr val="FF0000"/>
                </a:solidFill>
                <a:latin typeface="Times New Roman" panose="02020603050405020304" pitchFamily="18" charset="0"/>
                <a:cs typeface="Times New Roman" panose="02020603050405020304" pitchFamily="18" charset="0"/>
                <a:sym typeface="+mn-ea"/>
              </a:rPr>
              <a:t>Environments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a:bodyPr>
          <a:p>
            <a:pPr marR="6985" algn="just">
              <a:lnSpc>
                <a:spcPct val="100000"/>
              </a:lnSpc>
              <a:spcBef>
                <a:spcPts val="95"/>
              </a:spcBef>
            </a:pPr>
            <a:r>
              <a:rPr dirty="0">
                <a:solidFill>
                  <a:srgbClr val="3E3E3E"/>
                </a:solidFill>
                <a:latin typeface="Times New Roman" panose="02020603050405020304" pitchFamily="18" charset="0"/>
                <a:cs typeface="Times New Roman" panose="02020603050405020304" pitchFamily="18" charset="0"/>
                <a:sym typeface="+mn-ea"/>
              </a:rPr>
              <a:t>Now</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that</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have</a:t>
            </a:r>
            <a:r>
              <a:rPr spc="-3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definition</a:t>
            </a:r>
            <a:r>
              <a:rPr spc="-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25" dirty="0">
                <a:solidFill>
                  <a:srgbClr val="3E3E3E"/>
                </a:solidFill>
                <a:latin typeface="Times New Roman" panose="02020603050405020304" pitchFamily="18" charset="0"/>
                <a:cs typeface="Times New Roman" panose="02020603050405020304" pitchFamily="18" charset="0"/>
                <a:sym typeface="+mn-ea"/>
              </a:rPr>
              <a:t> rationality, </a:t>
            </a:r>
            <a:r>
              <a:rPr dirty="0">
                <a:solidFill>
                  <a:srgbClr val="3E3E3E"/>
                </a:solidFill>
                <a:latin typeface="Times New Roman" panose="02020603050405020304" pitchFamily="18" charset="0"/>
                <a:cs typeface="Times New Roman" panose="02020603050405020304" pitchFamily="18" charset="0"/>
                <a:sym typeface="+mn-ea"/>
              </a:rPr>
              <a:t>we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are</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almost</a:t>
            </a:r>
            <a:r>
              <a:rPr spc="-1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ready</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think</a:t>
            </a:r>
            <a:r>
              <a:rPr spc="-2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about </a:t>
            </a:r>
            <a:r>
              <a:rPr dirty="0">
                <a:solidFill>
                  <a:srgbClr val="3E3E3E"/>
                </a:solidFill>
                <a:latin typeface="Times New Roman" panose="02020603050405020304" pitchFamily="18" charset="0"/>
                <a:cs typeface="Times New Roman" panose="02020603050405020304" pitchFamily="18" charset="0"/>
                <a:sym typeface="+mn-ea"/>
              </a:rPr>
              <a:t>building</a:t>
            </a:r>
            <a:r>
              <a:rPr spc="-6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rational</a:t>
            </a:r>
            <a:r>
              <a:rPr spc="-10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agents.</a:t>
            </a:r>
            <a:endParaRPr>
              <a:latin typeface="Times New Roman" panose="02020603050405020304" pitchFamily="18" charset="0"/>
              <a:cs typeface="Times New Roman" panose="02020603050405020304" pitchFamily="18" charset="0"/>
            </a:endParaRPr>
          </a:p>
          <a:p>
            <a:pPr algn="just">
              <a:lnSpc>
                <a:spcPct val="100000"/>
              </a:lnSpc>
            </a:pPr>
            <a:r>
              <a:rPr dirty="0">
                <a:solidFill>
                  <a:srgbClr val="3E3E3E"/>
                </a:solidFill>
                <a:latin typeface="Times New Roman" panose="02020603050405020304" pitchFamily="18" charset="0"/>
                <a:cs typeface="Times New Roman" panose="02020603050405020304" pitchFamily="18" charset="0"/>
                <a:sym typeface="+mn-ea"/>
              </a:rPr>
              <a:t>We</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would</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try</a:t>
            </a:r>
            <a:r>
              <a:rPr spc="-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study</a:t>
            </a:r>
            <a:r>
              <a:rPr spc="-2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55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“nature</a:t>
            </a:r>
            <a:r>
              <a:rPr b="1" spc="-25"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of</a:t>
            </a:r>
            <a:r>
              <a:rPr b="1" spc="-4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the</a:t>
            </a:r>
            <a:r>
              <a:rPr b="1" spc="-35" dirty="0">
                <a:solidFill>
                  <a:srgbClr val="3E3E3E"/>
                </a:solidFill>
                <a:latin typeface="Times New Roman" panose="02020603050405020304" pitchFamily="18" charset="0"/>
                <a:cs typeface="Times New Roman" panose="02020603050405020304" pitchFamily="18" charset="0"/>
                <a:sym typeface="+mn-ea"/>
              </a:rPr>
              <a:t> </a:t>
            </a:r>
            <a:r>
              <a:rPr b="1" spc="-10" dirty="0">
                <a:solidFill>
                  <a:srgbClr val="3E3E3E"/>
                </a:solidFill>
                <a:latin typeface="Times New Roman" panose="02020603050405020304" pitchFamily="18" charset="0"/>
                <a:cs typeface="Times New Roman" panose="02020603050405020304" pitchFamily="18" charset="0"/>
                <a:sym typeface="+mn-ea"/>
              </a:rPr>
              <a:t>environment</a:t>
            </a:r>
            <a:r>
              <a:rPr b="1" spc="-10" dirty="0">
                <a:solidFill>
                  <a:srgbClr val="3E3E3E"/>
                </a:solidFill>
                <a:latin typeface="Times New Roman" panose="02020603050405020304" pitchFamily="18" charset="0"/>
                <a:cs typeface="Times New Roman" panose="02020603050405020304" pitchFamily="18" charset="0"/>
                <a:sym typeface="+mn-ea"/>
              </a:rPr>
              <a:t>”.</a:t>
            </a:r>
            <a:endParaRPr b="1" spc="-10" dirty="0">
              <a:solidFill>
                <a:srgbClr val="3E3E3E"/>
              </a:solidFill>
              <a:latin typeface="Times New Roman" panose="02020603050405020304" pitchFamily="18" charset="0"/>
              <a:cs typeface="Times New Roman" panose="02020603050405020304" pitchFamily="18" charset="0"/>
              <a:sym typeface="+mn-ea"/>
            </a:endParaRPr>
          </a:p>
          <a:p>
            <a:pPr algn="just">
              <a:lnSpc>
                <a:spcPct val="100000"/>
              </a:lnSpc>
            </a:pPr>
            <a:r>
              <a:rPr dirty="0">
                <a:solidFill>
                  <a:srgbClr val="3E3E3E"/>
                </a:solidFill>
                <a:latin typeface="Times New Roman" panose="02020603050405020304" pitchFamily="18" charset="0"/>
                <a:cs typeface="Times New Roman" panose="02020603050405020304" pitchFamily="18" charset="0"/>
                <a:sym typeface="+mn-ea"/>
              </a:rPr>
              <a:t>The</a:t>
            </a:r>
            <a:r>
              <a:rPr spc="39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environment</a:t>
            </a:r>
            <a:r>
              <a:rPr spc="40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40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395"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Task</a:t>
            </a:r>
            <a:r>
              <a:rPr b="1" spc="409"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Environment</a:t>
            </a:r>
            <a:r>
              <a:rPr b="1" spc="395"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(problem)</a:t>
            </a:r>
            <a:r>
              <a:rPr b="1" spc="40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for</a:t>
            </a:r>
            <a:r>
              <a:rPr spc="39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which</a:t>
            </a:r>
            <a:r>
              <a:rPr spc="3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405" dirty="0">
                <a:solidFill>
                  <a:srgbClr val="3E3E3E"/>
                </a:solidFill>
                <a:latin typeface="Times New Roman" panose="02020603050405020304" pitchFamily="18" charset="0"/>
                <a:cs typeface="Times New Roman" panose="02020603050405020304" pitchFamily="18" charset="0"/>
                <a:sym typeface="+mn-ea"/>
              </a:rPr>
              <a:t> </a:t>
            </a:r>
            <a:r>
              <a:rPr b="1" spc="-10" dirty="0">
                <a:solidFill>
                  <a:srgbClr val="3E3E3E"/>
                </a:solidFill>
                <a:latin typeface="Times New Roman" panose="02020603050405020304" pitchFamily="18" charset="0"/>
                <a:cs typeface="Times New Roman" panose="02020603050405020304" pitchFamily="18" charset="0"/>
                <a:sym typeface="+mn-ea"/>
              </a:rPr>
              <a:t>Rational </a:t>
            </a:r>
            <a:r>
              <a:rPr b="1" dirty="0">
                <a:solidFill>
                  <a:srgbClr val="3E3E3E"/>
                </a:solidFill>
                <a:latin typeface="Times New Roman" panose="02020603050405020304" pitchFamily="18" charset="0"/>
                <a:cs typeface="Times New Roman" panose="02020603050405020304" pitchFamily="18" charset="0"/>
                <a:sym typeface="+mn-ea"/>
              </a:rPr>
              <a:t>Agent</a:t>
            </a:r>
            <a:r>
              <a:rPr b="1" spc="355"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is</a:t>
            </a:r>
            <a:r>
              <a:rPr b="1" spc="35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the</a:t>
            </a:r>
            <a:r>
              <a:rPr b="1" spc="35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solution</a:t>
            </a:r>
            <a:r>
              <a:rPr dirty="0">
                <a:solidFill>
                  <a:srgbClr val="3E3E3E"/>
                </a:solidFill>
                <a:latin typeface="Times New Roman" panose="02020603050405020304" pitchFamily="18" charset="0"/>
                <a:cs typeface="Times New Roman" panose="02020603050405020304" pitchFamily="18" charset="0"/>
                <a:sym typeface="+mn-ea"/>
              </a:rPr>
              <a:t>.</a:t>
            </a:r>
            <a:r>
              <a:rPr spc="3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Any</a:t>
            </a:r>
            <a:r>
              <a:rPr spc="3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task</a:t>
            </a:r>
            <a:r>
              <a:rPr spc="3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environment</a:t>
            </a:r>
            <a:r>
              <a:rPr spc="3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is</a:t>
            </a:r>
            <a:r>
              <a:rPr spc="3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characterised</a:t>
            </a:r>
            <a:r>
              <a:rPr spc="3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on</a:t>
            </a:r>
            <a:r>
              <a:rPr spc="3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3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basis</a:t>
            </a:r>
            <a:r>
              <a:rPr spc="355"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of </a:t>
            </a:r>
            <a:r>
              <a:rPr spc="-10" dirty="0">
                <a:solidFill>
                  <a:srgbClr val="0837C8"/>
                </a:solidFill>
                <a:latin typeface="Times New Roman" panose="02020603050405020304" pitchFamily="18" charset="0"/>
                <a:cs typeface="Times New Roman" panose="02020603050405020304" pitchFamily="18" charset="0"/>
                <a:sym typeface="+mn-ea"/>
              </a:rPr>
              <a:t>“</a:t>
            </a:r>
            <a:r>
              <a:rPr b="1" spc="-10" dirty="0">
                <a:solidFill>
                  <a:srgbClr val="0837C8"/>
                </a:solidFill>
                <a:latin typeface="Times New Roman" panose="02020603050405020304" pitchFamily="18" charset="0"/>
                <a:cs typeface="Times New Roman" panose="02020603050405020304" pitchFamily="18" charset="0"/>
                <a:sym typeface="+mn-ea"/>
              </a:rPr>
              <a:t>PEAS”</a:t>
            </a:r>
            <a:r>
              <a:rPr spc="-10" dirty="0">
                <a:solidFill>
                  <a:srgbClr val="3E3E3E"/>
                </a:solidFill>
                <a:latin typeface="Times New Roman" panose="02020603050405020304" pitchFamily="18" charset="0"/>
                <a:cs typeface="Times New Roman" panose="02020603050405020304" pitchFamily="18" charset="0"/>
                <a:sym typeface="+mn-ea"/>
              </a:rPr>
              <a:t>.</a:t>
            </a:r>
            <a:endParaRPr spc="-10" dirty="0">
              <a:solidFill>
                <a:srgbClr val="3E3E3E"/>
              </a:solidFill>
              <a:latin typeface="Times New Roman" panose="02020603050405020304" pitchFamily="18" charset="0"/>
              <a:cs typeface="Times New Roman" panose="02020603050405020304" pitchFamily="18" charset="0"/>
              <a:sym typeface="+mn-ea"/>
            </a:endParaRPr>
          </a:p>
          <a:p>
            <a:pPr algn="just">
              <a:lnSpc>
                <a:spcPct val="100000"/>
              </a:lnSpc>
            </a:pPr>
            <a:r>
              <a:rPr dirty="0">
                <a:solidFill>
                  <a:srgbClr val="3E3E3E"/>
                </a:solidFill>
                <a:latin typeface="Times New Roman" panose="02020603050405020304" pitchFamily="18" charset="0"/>
                <a:cs typeface="Times New Roman" panose="02020603050405020304" pitchFamily="18" charset="0"/>
                <a:sym typeface="+mn-ea"/>
              </a:rPr>
              <a:t>We</a:t>
            </a:r>
            <a:r>
              <a:rPr spc="-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begin</a:t>
            </a:r>
            <a:r>
              <a:rPr spc="-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by</a:t>
            </a:r>
            <a:r>
              <a:rPr spc="-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showing</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how</a:t>
            </a:r>
            <a:r>
              <a:rPr spc="-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to</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specify</a:t>
            </a:r>
            <a:r>
              <a:rPr spc="-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task</a:t>
            </a:r>
            <a:r>
              <a:rPr spc="-5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environment,</a:t>
            </a:r>
            <a:r>
              <a:rPr spc="-6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illustrating</a:t>
            </a:r>
            <a:r>
              <a:rPr spc="-4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6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process </a:t>
            </a:r>
            <a:r>
              <a:rPr dirty="0">
                <a:solidFill>
                  <a:srgbClr val="3E3E3E"/>
                </a:solidFill>
                <a:latin typeface="Times New Roman" panose="02020603050405020304" pitchFamily="18" charset="0"/>
                <a:cs typeface="Times New Roman" panose="02020603050405020304" pitchFamily="18" charset="0"/>
                <a:sym typeface="+mn-ea"/>
              </a:rPr>
              <a:t>with</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a:t>
            </a:r>
            <a:r>
              <a:rPr spc="-2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number</a:t>
            </a:r>
            <a:r>
              <a:rPr spc="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of</a:t>
            </a:r>
            <a:r>
              <a:rPr spc="-3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examples.</a:t>
            </a:r>
            <a:endParaRPr>
              <a:latin typeface="Times New Roman" panose="02020603050405020304" pitchFamily="18" charset="0"/>
              <a:cs typeface="Times New Roman" panose="02020603050405020304" pitchFamily="18" charset="0"/>
            </a:endParaRPr>
          </a:p>
          <a:p>
            <a:pPr algn="just">
              <a:lnSpc>
                <a:spcPct val="100000"/>
              </a:lnSpc>
            </a:pPr>
            <a:r>
              <a:rPr dirty="0">
                <a:solidFill>
                  <a:srgbClr val="3E3E3E"/>
                </a:solidFill>
                <a:latin typeface="Times New Roman" panose="02020603050405020304" pitchFamily="18" charset="0"/>
                <a:cs typeface="Times New Roman" panose="02020603050405020304" pitchFamily="18" charset="0"/>
                <a:sym typeface="+mn-ea"/>
              </a:rPr>
              <a:t>We</a:t>
            </a:r>
            <a:r>
              <a:rPr spc="-8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then</a:t>
            </a:r>
            <a:r>
              <a:rPr spc="-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show</a:t>
            </a:r>
            <a:r>
              <a:rPr spc="-5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that</a:t>
            </a:r>
            <a:r>
              <a:rPr spc="-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a:t>
            </a:r>
            <a:r>
              <a:rPr b="1" dirty="0">
                <a:solidFill>
                  <a:srgbClr val="3E3E3E"/>
                </a:solidFill>
                <a:latin typeface="Times New Roman" panose="02020603050405020304" pitchFamily="18" charset="0"/>
                <a:cs typeface="Times New Roman" panose="02020603050405020304" pitchFamily="18" charset="0"/>
                <a:sym typeface="+mn-ea"/>
              </a:rPr>
              <a:t>ask</a:t>
            </a:r>
            <a:r>
              <a:rPr b="1" spc="-60" dirty="0">
                <a:solidFill>
                  <a:srgbClr val="3E3E3E"/>
                </a:solidFill>
                <a:latin typeface="Times New Roman" panose="02020603050405020304" pitchFamily="18" charset="0"/>
                <a:cs typeface="Times New Roman" panose="02020603050405020304" pitchFamily="18" charset="0"/>
                <a:sym typeface="+mn-ea"/>
              </a:rPr>
              <a:t> </a:t>
            </a:r>
            <a:r>
              <a:rPr b="1" spc="-10" dirty="0">
                <a:solidFill>
                  <a:srgbClr val="3E3E3E"/>
                </a:solidFill>
                <a:latin typeface="Times New Roman" panose="02020603050405020304" pitchFamily="18" charset="0"/>
                <a:cs typeface="Times New Roman" panose="02020603050405020304" pitchFamily="18" charset="0"/>
                <a:sym typeface="+mn-ea"/>
              </a:rPr>
              <a:t>environments</a:t>
            </a:r>
            <a:r>
              <a:rPr b="1" spc="-5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come</a:t>
            </a:r>
            <a:r>
              <a:rPr b="1" spc="-75"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in</a:t>
            </a:r>
            <a:r>
              <a:rPr b="1" spc="-65"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a</a:t>
            </a:r>
            <a:r>
              <a:rPr b="1" spc="-8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variety</a:t>
            </a:r>
            <a:r>
              <a:rPr b="1" spc="-30" dirty="0">
                <a:solidFill>
                  <a:srgbClr val="3E3E3E"/>
                </a:solidFill>
                <a:latin typeface="Times New Roman" panose="02020603050405020304" pitchFamily="18" charset="0"/>
                <a:cs typeface="Times New Roman" panose="02020603050405020304" pitchFamily="18" charset="0"/>
                <a:sym typeface="+mn-ea"/>
              </a:rPr>
              <a:t> </a:t>
            </a:r>
            <a:r>
              <a:rPr b="1" dirty="0">
                <a:solidFill>
                  <a:srgbClr val="3E3E3E"/>
                </a:solidFill>
                <a:latin typeface="Times New Roman" panose="02020603050405020304" pitchFamily="18" charset="0"/>
                <a:cs typeface="Times New Roman" panose="02020603050405020304" pitchFamily="18" charset="0"/>
                <a:sym typeface="+mn-ea"/>
              </a:rPr>
              <a:t>of</a:t>
            </a:r>
            <a:r>
              <a:rPr b="1" spc="-75" dirty="0">
                <a:solidFill>
                  <a:srgbClr val="3E3E3E"/>
                </a:solidFill>
                <a:latin typeface="Times New Roman" panose="02020603050405020304" pitchFamily="18" charset="0"/>
                <a:cs typeface="Times New Roman" panose="02020603050405020304" pitchFamily="18" charset="0"/>
                <a:sym typeface="+mn-ea"/>
              </a:rPr>
              <a:t> </a:t>
            </a:r>
            <a:r>
              <a:rPr b="1" spc="-10" dirty="0">
                <a:solidFill>
                  <a:srgbClr val="3E3E3E"/>
                </a:solidFill>
                <a:latin typeface="Times New Roman" panose="02020603050405020304" pitchFamily="18" charset="0"/>
                <a:cs typeface="Times New Roman" panose="02020603050405020304" pitchFamily="18" charset="0"/>
                <a:sym typeface="+mn-ea"/>
              </a:rPr>
              <a:t>flavors</a:t>
            </a:r>
            <a:endParaRPr>
              <a:latin typeface="Times New Roman" panose="02020603050405020304" pitchFamily="18" charset="0"/>
              <a:cs typeface="Times New Roman" panose="02020603050405020304" pitchFamily="18" charset="0"/>
            </a:endParaRPr>
          </a:p>
          <a:p>
            <a:pPr algn="just">
              <a:lnSpc>
                <a:spcPct val="100000"/>
              </a:lnSpc>
            </a:pP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b="1" dirty="0">
                <a:solidFill>
                  <a:srgbClr val="FF0000"/>
                </a:solidFill>
                <a:latin typeface="Times New Roman" panose="02020603050405020304" pitchFamily="18" charset="0"/>
                <a:cs typeface="Times New Roman" panose="02020603050405020304" pitchFamily="18" charset="0"/>
                <a:sym typeface="+mn-ea"/>
              </a:rPr>
              <a:t>Specifying</a:t>
            </a:r>
            <a:r>
              <a:rPr b="1" spc="-35"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the</a:t>
            </a:r>
            <a:r>
              <a:rPr b="1" spc="-35"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task</a:t>
            </a:r>
            <a:r>
              <a:rPr b="1" spc="-45" dirty="0">
                <a:solidFill>
                  <a:srgbClr val="FF0000"/>
                </a:solidFill>
                <a:latin typeface="Times New Roman" panose="02020603050405020304" pitchFamily="18" charset="0"/>
                <a:cs typeface="Times New Roman" panose="02020603050405020304" pitchFamily="18" charset="0"/>
                <a:sym typeface="+mn-ea"/>
              </a:rPr>
              <a:t> </a:t>
            </a:r>
            <a:r>
              <a:rPr b="1" spc="-10" dirty="0">
                <a:solidFill>
                  <a:srgbClr val="FF0000"/>
                </a:solidFill>
                <a:latin typeface="Times New Roman" panose="02020603050405020304" pitchFamily="18" charset="0"/>
                <a:cs typeface="Times New Roman" panose="02020603050405020304" pitchFamily="18" charset="0"/>
                <a:sym typeface="+mn-ea"/>
              </a:rPr>
              <a:t>environment</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19200"/>
            <a:ext cx="8229600" cy="4525963"/>
          </a:xfrm>
        </p:spPr>
        <p:txBody>
          <a:bodyPr>
            <a:normAutofit fontScale="80000"/>
          </a:bodyPr>
          <a:p>
            <a:pPr marL="0" indent="0" algn="just">
              <a:lnSpc>
                <a:spcPct val="100000"/>
              </a:lnSpc>
              <a:spcBef>
                <a:spcPts val="95"/>
              </a:spcBef>
              <a:buNone/>
            </a:pPr>
            <a:r>
              <a:rPr b="1" spc="-10" dirty="0">
                <a:solidFill>
                  <a:srgbClr val="0837C8"/>
                </a:solidFill>
                <a:latin typeface="Times New Roman" panose="02020603050405020304" pitchFamily="18" charset="0"/>
                <a:cs typeface="Times New Roman" panose="02020603050405020304" pitchFamily="18" charset="0"/>
                <a:sym typeface="+mn-ea"/>
              </a:rPr>
              <a:t>“PEAS”</a:t>
            </a:r>
            <a:endParaRPr>
              <a:latin typeface="Times New Roman" panose="02020603050405020304" pitchFamily="18" charset="0"/>
              <a:cs typeface="Times New Roman" panose="02020603050405020304" pitchFamily="18" charset="0"/>
            </a:endParaRPr>
          </a:p>
          <a:p>
            <a:pPr marR="5080" algn="just">
              <a:lnSpc>
                <a:spcPct val="100000"/>
              </a:lnSpc>
              <a:tabLst>
                <a:tab pos="469900" algn="l"/>
                <a:tab pos="2502535" algn="l"/>
                <a:tab pos="3741420" algn="l"/>
                <a:tab pos="4097020" algn="l"/>
                <a:tab pos="4714240" algn="l"/>
                <a:tab pos="6718300" algn="l"/>
                <a:tab pos="8779510" algn="l"/>
                <a:tab pos="9776460" algn="l"/>
                <a:tab pos="10807065" algn="l"/>
              </a:tabLst>
            </a:pPr>
            <a:r>
              <a:rPr b="1" spc="-10" dirty="0">
                <a:solidFill>
                  <a:srgbClr val="3E3E3E"/>
                </a:solidFill>
                <a:latin typeface="Times New Roman" panose="02020603050405020304" pitchFamily="18" charset="0"/>
                <a:cs typeface="Times New Roman" panose="02020603050405020304" pitchFamily="18" charset="0"/>
                <a:sym typeface="+mn-ea"/>
              </a:rPr>
              <a:t>Performance</a:t>
            </a:r>
            <a:r>
              <a:rPr lang="en-US" b="1" spc="-10" dirty="0">
                <a:solidFill>
                  <a:srgbClr val="3E3E3E"/>
                </a:solidFill>
                <a:latin typeface="Times New Roman" panose="02020603050405020304" pitchFamily="18" charset="0"/>
                <a:cs typeface="Times New Roman" panose="02020603050405020304" pitchFamily="18" charset="0"/>
                <a:sym typeface="+mn-ea"/>
              </a:rPr>
              <a:t> </a:t>
            </a:r>
            <a:r>
              <a:rPr spc="355" dirty="0">
                <a:solidFill>
                  <a:srgbClr val="3E3E3E"/>
                </a:solidFill>
                <a:latin typeface="Times New Roman" panose="02020603050405020304" pitchFamily="18" charset="0"/>
                <a:cs typeface="Times New Roman" panose="02020603050405020304" pitchFamily="18" charset="0"/>
                <a:sym typeface="+mn-ea"/>
              </a:rPr>
              <a:t>–</a:t>
            </a:r>
            <a:r>
              <a:rPr spc="220" dirty="0">
                <a:solidFill>
                  <a:srgbClr val="3E3E3E"/>
                </a:solidFill>
                <a:latin typeface="Times New Roman" panose="02020603050405020304" pitchFamily="18" charset="0"/>
                <a:cs typeface="Times New Roman" panose="02020603050405020304" pitchFamily="18" charset="0"/>
                <a:sym typeface="+mn-ea"/>
              </a:rPr>
              <a:t> </a:t>
            </a:r>
            <a:r>
              <a:rPr lang="en-US" spc="220" dirty="0">
                <a:solidFill>
                  <a:srgbClr val="3E3E3E"/>
                </a:solidFill>
                <a:latin typeface="Times New Roman" panose="02020603050405020304" pitchFamily="18" charset="0"/>
                <a:cs typeface="Times New Roman" panose="02020603050405020304" pitchFamily="18" charset="0"/>
                <a:sym typeface="+mn-ea"/>
              </a:rPr>
              <a:t> </a:t>
            </a:r>
            <a:r>
              <a:rPr spc="-20" dirty="0">
                <a:solidFill>
                  <a:srgbClr val="3E3E3E"/>
                </a:solidFill>
                <a:latin typeface="Times New Roman" panose="02020603050405020304" pitchFamily="18" charset="0"/>
                <a:cs typeface="Times New Roman" panose="02020603050405020304" pitchFamily="18" charset="0"/>
                <a:sym typeface="+mn-ea"/>
              </a:rPr>
              <a:t>What</a:t>
            </a:r>
            <a:r>
              <a:rPr lang="en-US" spc="-20"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is</a:t>
            </a:r>
            <a:r>
              <a:rPr lang="en-US" spc="-25"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the</a:t>
            </a:r>
            <a:r>
              <a:rPr lang="en-US" spc="-2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performance</a:t>
            </a:r>
            <a:r>
              <a:rPr lang="en-US" spc="-1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characteristic</a:t>
            </a:r>
            <a:r>
              <a:rPr lang="en-US" spc="-1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which</a:t>
            </a:r>
            <a:r>
              <a:rPr lang="en-US" spc="-1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would</a:t>
            </a:r>
            <a:r>
              <a:rPr lang="en-US" spc="-1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either </a:t>
            </a:r>
            <a:r>
              <a:rPr dirty="0">
                <a:solidFill>
                  <a:srgbClr val="3E3E3E"/>
                </a:solidFill>
                <a:latin typeface="Times New Roman" panose="02020603050405020304" pitchFamily="18" charset="0"/>
                <a:cs typeface="Times New Roman" panose="02020603050405020304" pitchFamily="18" charset="0"/>
                <a:sym typeface="+mn-ea"/>
              </a:rPr>
              <a:t>make</a:t>
            </a:r>
            <a:r>
              <a:rPr spc="-10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8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agent</a:t>
            </a:r>
            <a:r>
              <a:rPr spc="-8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successful</a:t>
            </a:r>
            <a:r>
              <a:rPr spc="-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or</a:t>
            </a:r>
            <a:r>
              <a:rPr spc="-85" dirty="0">
                <a:solidFill>
                  <a:srgbClr val="3E3E3E"/>
                </a:solidFill>
                <a:latin typeface="Times New Roman" panose="02020603050405020304" pitchFamily="18" charset="0"/>
                <a:cs typeface="Times New Roman" panose="02020603050405020304" pitchFamily="18" charset="0"/>
                <a:sym typeface="+mn-ea"/>
              </a:rPr>
              <a:t> </a:t>
            </a:r>
            <a:r>
              <a:rPr spc="-20" dirty="0">
                <a:solidFill>
                  <a:srgbClr val="3E3E3E"/>
                </a:solidFill>
                <a:latin typeface="Times New Roman" panose="02020603050405020304" pitchFamily="18" charset="0"/>
                <a:cs typeface="Times New Roman" panose="02020603050405020304" pitchFamily="18" charset="0"/>
                <a:sym typeface="+mn-ea"/>
              </a:rPr>
              <a:t>not.</a:t>
            </a:r>
            <a:endParaRPr>
              <a:latin typeface="Times New Roman" panose="02020603050405020304" pitchFamily="18" charset="0"/>
              <a:cs typeface="Times New Roman" panose="02020603050405020304" pitchFamily="18" charset="0"/>
            </a:endParaRPr>
          </a:p>
          <a:p>
            <a:pPr algn="just">
              <a:lnSpc>
                <a:spcPct val="100000"/>
              </a:lnSpc>
              <a:tabLst>
                <a:tab pos="469265" algn="l"/>
              </a:tabLst>
            </a:pPr>
            <a:r>
              <a:rPr b="1" spc="-10" dirty="0">
                <a:solidFill>
                  <a:srgbClr val="3E3E3E"/>
                </a:solidFill>
                <a:latin typeface="Times New Roman" panose="02020603050405020304" pitchFamily="18" charset="0"/>
                <a:cs typeface="Times New Roman" panose="02020603050405020304" pitchFamily="18" charset="0"/>
                <a:sym typeface="+mn-ea"/>
              </a:rPr>
              <a:t>Environment</a:t>
            </a:r>
            <a:r>
              <a:rPr b="1" spc="-150" dirty="0">
                <a:solidFill>
                  <a:srgbClr val="3E3E3E"/>
                </a:solidFill>
                <a:latin typeface="Times New Roman" panose="02020603050405020304" pitchFamily="18" charset="0"/>
                <a:cs typeface="Times New Roman" panose="02020603050405020304" pitchFamily="18" charset="0"/>
                <a:sym typeface="+mn-ea"/>
              </a:rPr>
              <a:t> </a:t>
            </a:r>
            <a:r>
              <a:rPr spc="355" dirty="0">
                <a:solidFill>
                  <a:srgbClr val="3E3E3E"/>
                </a:solidFill>
                <a:latin typeface="Times New Roman" panose="02020603050405020304" pitchFamily="18" charset="0"/>
                <a:cs typeface="Times New Roman" panose="02020603050405020304" pitchFamily="18" charset="0"/>
                <a:sym typeface="+mn-ea"/>
              </a:rPr>
              <a:t>–</a:t>
            </a:r>
            <a:r>
              <a:rPr spc="-2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Physical</a:t>
            </a:r>
            <a:r>
              <a:rPr spc="-10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characteristics</a:t>
            </a:r>
            <a:r>
              <a:rPr spc="-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and</a:t>
            </a:r>
            <a:r>
              <a:rPr spc="-85" dirty="0">
                <a:solidFill>
                  <a:srgbClr val="3E3E3E"/>
                </a:solidFill>
                <a:latin typeface="Times New Roman" panose="02020603050405020304" pitchFamily="18" charset="0"/>
                <a:cs typeface="Times New Roman" panose="02020603050405020304" pitchFamily="18" charset="0"/>
                <a:sym typeface="+mn-ea"/>
              </a:rPr>
              <a:t> </a:t>
            </a:r>
            <a:r>
              <a:rPr spc="-20" dirty="0">
                <a:solidFill>
                  <a:srgbClr val="3E3E3E"/>
                </a:solidFill>
                <a:latin typeface="Times New Roman" panose="02020603050405020304" pitchFamily="18" charset="0"/>
                <a:cs typeface="Times New Roman" panose="02020603050405020304" pitchFamily="18" charset="0"/>
                <a:sym typeface="+mn-ea"/>
              </a:rPr>
              <a:t>constraints</a:t>
            </a:r>
            <a:r>
              <a:rPr spc="-4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expected.</a:t>
            </a:r>
            <a:endParaRPr>
              <a:latin typeface="Times New Roman" panose="02020603050405020304" pitchFamily="18" charset="0"/>
              <a:cs typeface="Times New Roman" panose="02020603050405020304" pitchFamily="18" charset="0"/>
            </a:endParaRPr>
          </a:p>
          <a:p>
            <a:pPr algn="just">
              <a:lnSpc>
                <a:spcPct val="100000"/>
              </a:lnSpc>
              <a:tabLst>
                <a:tab pos="469265" algn="l"/>
              </a:tabLst>
            </a:pPr>
            <a:r>
              <a:rPr b="1" spc="-10" dirty="0">
                <a:solidFill>
                  <a:srgbClr val="3E3E3E"/>
                </a:solidFill>
                <a:latin typeface="Times New Roman" panose="02020603050405020304" pitchFamily="18" charset="0"/>
                <a:cs typeface="Times New Roman" panose="02020603050405020304" pitchFamily="18" charset="0"/>
                <a:sym typeface="+mn-ea"/>
              </a:rPr>
              <a:t>Actuators</a:t>
            </a:r>
            <a:r>
              <a:rPr b="1" spc="-145" dirty="0">
                <a:solidFill>
                  <a:srgbClr val="3E3E3E"/>
                </a:solidFill>
                <a:latin typeface="Times New Roman" panose="02020603050405020304" pitchFamily="18" charset="0"/>
                <a:cs typeface="Times New Roman" panose="02020603050405020304" pitchFamily="18" charset="0"/>
                <a:sym typeface="+mn-ea"/>
              </a:rPr>
              <a:t> </a:t>
            </a:r>
            <a:r>
              <a:rPr spc="355" dirty="0">
                <a:solidFill>
                  <a:srgbClr val="3E3E3E"/>
                </a:solidFill>
                <a:latin typeface="Times New Roman" panose="02020603050405020304" pitchFamily="18" charset="0"/>
                <a:cs typeface="Times New Roman" panose="02020603050405020304" pitchFamily="18" charset="0"/>
                <a:sym typeface="+mn-ea"/>
              </a:rPr>
              <a:t>–</a:t>
            </a:r>
            <a:r>
              <a:rPr spc="-21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a:t>
            </a:r>
            <a:r>
              <a:rPr spc="-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physical</a:t>
            </a:r>
            <a:r>
              <a:rPr spc="-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or</a:t>
            </a:r>
            <a:r>
              <a:rPr spc="-8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logical</a:t>
            </a:r>
            <a:r>
              <a:rPr spc="-9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constructs</a:t>
            </a:r>
            <a:r>
              <a:rPr spc="-4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which</a:t>
            </a:r>
            <a:r>
              <a:rPr spc="-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would</a:t>
            </a:r>
            <a:r>
              <a:rPr spc="-65"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take</a:t>
            </a:r>
            <a:r>
              <a:rPr spc="-90" dirty="0">
                <a:solidFill>
                  <a:srgbClr val="3E3E3E"/>
                </a:solidFill>
                <a:latin typeface="Times New Roman" panose="02020603050405020304" pitchFamily="18" charset="0"/>
                <a:cs typeface="Times New Roman" panose="02020603050405020304" pitchFamily="18" charset="0"/>
                <a:sym typeface="+mn-ea"/>
              </a:rPr>
              <a:t> </a:t>
            </a:r>
            <a:r>
              <a:rPr spc="-10" dirty="0">
                <a:solidFill>
                  <a:srgbClr val="3E3E3E"/>
                </a:solidFill>
                <a:latin typeface="Times New Roman" panose="02020603050405020304" pitchFamily="18" charset="0"/>
                <a:cs typeface="Times New Roman" panose="02020603050405020304" pitchFamily="18" charset="0"/>
                <a:sym typeface="+mn-ea"/>
              </a:rPr>
              <a:t>action.</a:t>
            </a:r>
            <a:endParaRPr>
              <a:latin typeface="Times New Roman" panose="02020603050405020304" pitchFamily="18" charset="0"/>
              <a:cs typeface="Times New Roman" panose="02020603050405020304" pitchFamily="18" charset="0"/>
            </a:endParaRPr>
          </a:p>
          <a:p>
            <a:pPr marR="5715" algn="just">
              <a:lnSpc>
                <a:spcPct val="100000"/>
              </a:lnSpc>
              <a:spcBef>
                <a:spcPts val="5"/>
              </a:spcBef>
              <a:tabLst>
                <a:tab pos="469900" algn="l"/>
              </a:tabLst>
            </a:pPr>
            <a:r>
              <a:rPr b="1" dirty="0">
                <a:solidFill>
                  <a:srgbClr val="3E3E3E"/>
                </a:solidFill>
                <a:latin typeface="Times New Roman" panose="02020603050405020304" pitchFamily="18" charset="0"/>
                <a:cs typeface="Times New Roman" panose="02020603050405020304" pitchFamily="18" charset="0"/>
                <a:sym typeface="+mn-ea"/>
              </a:rPr>
              <a:t>Sensors</a:t>
            </a:r>
            <a:r>
              <a:rPr b="1" spc="170" dirty="0">
                <a:solidFill>
                  <a:srgbClr val="3E3E3E"/>
                </a:solidFill>
                <a:latin typeface="Times New Roman" panose="02020603050405020304" pitchFamily="18" charset="0"/>
                <a:cs typeface="Times New Roman" panose="02020603050405020304" pitchFamily="18" charset="0"/>
                <a:sym typeface="+mn-ea"/>
              </a:rPr>
              <a:t>  </a:t>
            </a:r>
            <a:r>
              <a:rPr spc="355" dirty="0">
                <a:solidFill>
                  <a:srgbClr val="3E3E3E"/>
                </a:solidFill>
                <a:latin typeface="Times New Roman" panose="02020603050405020304" pitchFamily="18" charset="0"/>
                <a:cs typeface="Times New Roman" panose="02020603050405020304" pitchFamily="18" charset="0"/>
                <a:sym typeface="+mn-ea"/>
              </a:rPr>
              <a:t>–</a:t>
            </a:r>
            <a:r>
              <a:rPr spc="-3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Again</a:t>
            </a:r>
            <a:r>
              <a:rPr spc="1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physical</a:t>
            </a:r>
            <a:r>
              <a:rPr spc="1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or</a:t>
            </a:r>
            <a:r>
              <a:rPr spc="1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logical</a:t>
            </a:r>
            <a:r>
              <a:rPr spc="1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constructs</a:t>
            </a:r>
            <a:r>
              <a:rPr spc="18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which</a:t>
            </a:r>
            <a:r>
              <a:rPr spc="17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would</a:t>
            </a:r>
            <a:r>
              <a:rPr spc="17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sense</a:t>
            </a:r>
            <a:r>
              <a:rPr spc="175" dirty="0">
                <a:solidFill>
                  <a:srgbClr val="3E3E3E"/>
                </a:solidFill>
                <a:latin typeface="Times New Roman" panose="02020603050405020304" pitchFamily="18" charset="0"/>
                <a:cs typeface="Times New Roman" panose="02020603050405020304" pitchFamily="18" charset="0"/>
                <a:sym typeface="+mn-ea"/>
              </a:rPr>
              <a:t>  </a:t>
            </a:r>
            <a:r>
              <a:rPr spc="-25" dirty="0">
                <a:solidFill>
                  <a:srgbClr val="3E3E3E"/>
                </a:solidFill>
                <a:latin typeface="Times New Roman" panose="02020603050405020304" pitchFamily="18" charset="0"/>
                <a:cs typeface="Times New Roman" panose="02020603050405020304" pitchFamily="18" charset="0"/>
                <a:sym typeface="+mn-ea"/>
              </a:rPr>
              <a:t>the 	</a:t>
            </a:r>
            <a:r>
              <a:rPr dirty="0">
                <a:solidFill>
                  <a:srgbClr val="3E3E3E"/>
                </a:solidFill>
                <a:latin typeface="Times New Roman" panose="02020603050405020304" pitchFamily="18" charset="0"/>
                <a:cs typeface="Times New Roman" panose="02020603050405020304" pitchFamily="18" charset="0"/>
                <a:sym typeface="+mn-ea"/>
              </a:rPr>
              <a:t>environment.</a:t>
            </a:r>
            <a:r>
              <a:rPr spc="1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From</a:t>
            </a:r>
            <a:r>
              <a:rPr spc="16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our</a:t>
            </a:r>
            <a:r>
              <a:rPr spc="1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previous</a:t>
            </a:r>
            <a:r>
              <a:rPr spc="1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example,</a:t>
            </a:r>
            <a:r>
              <a:rPr spc="1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these</a:t>
            </a:r>
            <a:r>
              <a:rPr spc="1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are</a:t>
            </a:r>
            <a:r>
              <a:rPr spc="155"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cameras</a:t>
            </a:r>
            <a:r>
              <a:rPr spc="160" dirty="0">
                <a:solidFill>
                  <a:srgbClr val="3E3E3E"/>
                </a:solidFill>
                <a:latin typeface="Times New Roman" panose="02020603050405020304" pitchFamily="18" charset="0"/>
                <a:cs typeface="Times New Roman" panose="02020603050405020304" pitchFamily="18" charset="0"/>
                <a:sym typeface="+mn-ea"/>
              </a:rPr>
              <a:t>  </a:t>
            </a:r>
            <a:r>
              <a:rPr dirty="0">
                <a:solidFill>
                  <a:srgbClr val="3E3E3E"/>
                </a:solidFill>
                <a:latin typeface="Times New Roman" panose="02020603050405020304" pitchFamily="18" charset="0"/>
                <a:cs typeface="Times New Roman" panose="02020603050405020304" pitchFamily="18" charset="0"/>
                <a:sym typeface="+mn-ea"/>
              </a:rPr>
              <a:t>and</a:t>
            </a:r>
            <a:r>
              <a:rPr spc="160" dirty="0">
                <a:solidFill>
                  <a:srgbClr val="3E3E3E"/>
                </a:solidFill>
                <a:latin typeface="Times New Roman" panose="02020603050405020304" pitchFamily="18" charset="0"/>
                <a:cs typeface="Times New Roman" panose="02020603050405020304" pitchFamily="18" charset="0"/>
                <a:sym typeface="+mn-ea"/>
              </a:rPr>
              <a:t>  </a:t>
            </a:r>
            <a:r>
              <a:rPr spc="-20" dirty="0">
                <a:solidFill>
                  <a:srgbClr val="3E3E3E"/>
                </a:solidFill>
                <a:latin typeface="Times New Roman" panose="02020603050405020304" pitchFamily="18" charset="0"/>
                <a:cs typeface="Times New Roman" panose="02020603050405020304" pitchFamily="18" charset="0"/>
                <a:sym typeface="+mn-ea"/>
              </a:rPr>
              <a:t>dirt </a:t>
            </a:r>
            <a:r>
              <a:rPr spc="-10" dirty="0">
                <a:solidFill>
                  <a:srgbClr val="3E3E3E"/>
                </a:solidFill>
                <a:latin typeface="Times New Roman" panose="02020603050405020304" pitchFamily="18" charset="0"/>
                <a:cs typeface="Times New Roman" panose="02020603050405020304" pitchFamily="18" charset="0"/>
                <a:sym typeface="+mn-ea"/>
              </a:rPr>
              <a:t>sensors.</a:t>
            </a:r>
            <a:endParaRPr>
              <a:latin typeface="Times New Roman" panose="02020603050405020304" pitchFamily="18" charset="0"/>
              <a:cs typeface="Times New Roman" panose="02020603050405020304" pitchFamily="18" charset="0"/>
            </a:endParaRPr>
          </a:p>
          <a:p>
            <a:pPr algn="just">
              <a:lnSpc>
                <a:spcPct val="100000"/>
              </a:lnSpc>
            </a:pP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10" name="object 8"/>
          <p:cNvPicPr>
            <a:picLocks noChangeAspect="1"/>
          </p:cNvPicPr>
          <p:nvPr>
            <p:ph idx="1"/>
          </p:nvPr>
        </p:nvPicPr>
        <p:blipFill>
          <a:blip r:embed="rId1" cstate="print"/>
          <a:stretch>
            <a:fillRect/>
          </a:stretch>
        </p:blipFill>
        <p:spPr>
          <a:xfrm>
            <a:off x="1713865" y="2148205"/>
            <a:ext cx="5715000" cy="3429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8" name="object 8"/>
          <p:cNvPicPr>
            <a:picLocks noChangeAspect="1"/>
          </p:cNvPicPr>
          <p:nvPr>
            <p:ph idx="1"/>
          </p:nvPr>
        </p:nvPicPr>
        <p:blipFill>
          <a:blip r:embed="rId1" cstate="print"/>
          <a:stretch>
            <a:fillRect/>
          </a:stretch>
        </p:blipFill>
        <p:spPr>
          <a:xfrm>
            <a:off x="1219835" y="2086610"/>
            <a:ext cx="6071235" cy="3552825"/>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R="5080">
              <a:lnSpc>
                <a:spcPct val="100000"/>
              </a:lnSpc>
              <a:spcBef>
                <a:spcPts val="100"/>
              </a:spcBef>
            </a:pPr>
            <a:r>
              <a:rPr dirty="0">
                <a:solidFill>
                  <a:srgbClr val="211D1F"/>
                </a:solidFill>
                <a:latin typeface="Times New Roman" panose="02020603050405020304"/>
                <a:cs typeface="Times New Roman" panose="02020603050405020304"/>
                <a:sym typeface="+mn-ea"/>
              </a:rPr>
              <a:t>Rational</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Agents</a:t>
            </a:r>
            <a:r>
              <a:rPr spc="8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could</a:t>
            </a:r>
            <a:r>
              <a:rPr spc="10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be</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physical</a:t>
            </a:r>
            <a:r>
              <a:rPr spc="10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agents</a:t>
            </a:r>
            <a:r>
              <a:rPr spc="9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like</a:t>
            </a:r>
            <a:r>
              <a:rPr spc="8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the</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one</a:t>
            </a:r>
            <a:r>
              <a:rPr spc="10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described</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above</a:t>
            </a:r>
            <a:r>
              <a:rPr spc="10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or</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it</a:t>
            </a:r>
            <a:r>
              <a:rPr spc="10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could</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also</a:t>
            </a:r>
            <a:r>
              <a:rPr spc="9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be</a:t>
            </a:r>
            <a:r>
              <a:rPr spc="95" dirty="0">
                <a:solidFill>
                  <a:srgbClr val="211D1F"/>
                </a:solidFill>
                <a:latin typeface="Times New Roman" panose="02020603050405020304"/>
                <a:cs typeface="Times New Roman" panose="02020603050405020304"/>
                <a:sym typeface="+mn-ea"/>
              </a:rPr>
              <a:t> </a:t>
            </a:r>
            <a:r>
              <a:rPr spc="-50" dirty="0">
                <a:solidFill>
                  <a:srgbClr val="211D1F"/>
                </a:solidFill>
                <a:latin typeface="Times New Roman" panose="02020603050405020304"/>
                <a:cs typeface="Times New Roman" panose="02020603050405020304"/>
                <a:sym typeface="+mn-ea"/>
              </a:rPr>
              <a:t>a </a:t>
            </a:r>
            <a:r>
              <a:rPr dirty="0">
                <a:solidFill>
                  <a:srgbClr val="211D1F"/>
                </a:solidFill>
                <a:latin typeface="Times New Roman" panose="02020603050405020304"/>
                <a:cs typeface="Times New Roman" panose="02020603050405020304"/>
                <a:sym typeface="+mn-ea"/>
              </a:rPr>
              <a:t>program</a:t>
            </a:r>
            <a:r>
              <a:rPr spc="24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that</a:t>
            </a:r>
            <a:r>
              <a:rPr spc="254"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operates</a:t>
            </a:r>
            <a:r>
              <a:rPr spc="24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in</a:t>
            </a:r>
            <a:r>
              <a:rPr spc="24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a:t>
            </a:r>
            <a:r>
              <a:rPr spc="260" dirty="0">
                <a:solidFill>
                  <a:srgbClr val="211D1F"/>
                </a:solidFill>
                <a:latin typeface="Times New Roman" panose="02020603050405020304"/>
                <a:cs typeface="Times New Roman" panose="02020603050405020304"/>
                <a:sym typeface="+mn-ea"/>
              </a:rPr>
              <a:t> </a:t>
            </a:r>
            <a:r>
              <a:rPr spc="-10" dirty="0">
                <a:solidFill>
                  <a:srgbClr val="211D1F"/>
                </a:solidFill>
                <a:latin typeface="Times New Roman" panose="02020603050405020304"/>
                <a:cs typeface="Times New Roman" panose="02020603050405020304"/>
                <a:sym typeface="+mn-ea"/>
              </a:rPr>
              <a:t>non-</a:t>
            </a:r>
            <a:r>
              <a:rPr dirty="0">
                <a:solidFill>
                  <a:srgbClr val="211D1F"/>
                </a:solidFill>
                <a:latin typeface="Times New Roman" panose="02020603050405020304"/>
                <a:cs typeface="Times New Roman" panose="02020603050405020304"/>
                <a:sym typeface="+mn-ea"/>
              </a:rPr>
              <a:t>physical</a:t>
            </a:r>
            <a:r>
              <a:rPr spc="26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environment</a:t>
            </a:r>
            <a:r>
              <a:rPr spc="27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like</a:t>
            </a:r>
            <a:r>
              <a:rPr spc="24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an</a:t>
            </a:r>
            <a:r>
              <a:rPr spc="254"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operating</a:t>
            </a:r>
            <a:r>
              <a:rPr spc="25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system.</a:t>
            </a:r>
            <a:r>
              <a:rPr spc="254"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Imagine</a:t>
            </a:r>
            <a:r>
              <a:rPr spc="254" dirty="0">
                <a:solidFill>
                  <a:srgbClr val="211D1F"/>
                </a:solidFill>
                <a:latin typeface="Times New Roman" panose="02020603050405020304"/>
                <a:cs typeface="Times New Roman" panose="02020603050405020304"/>
                <a:sym typeface="+mn-ea"/>
              </a:rPr>
              <a:t> </a:t>
            </a:r>
            <a:r>
              <a:rPr spc="-50" dirty="0">
                <a:solidFill>
                  <a:srgbClr val="211D1F"/>
                </a:solidFill>
                <a:latin typeface="Times New Roman" panose="02020603050405020304"/>
                <a:cs typeface="Times New Roman" panose="02020603050405020304"/>
                <a:sym typeface="+mn-ea"/>
              </a:rPr>
              <a:t>a </a:t>
            </a:r>
            <a:r>
              <a:rPr dirty="0">
                <a:solidFill>
                  <a:srgbClr val="211D1F"/>
                </a:solidFill>
                <a:latin typeface="Times New Roman" panose="02020603050405020304"/>
                <a:cs typeface="Times New Roman" panose="02020603050405020304"/>
                <a:sym typeface="+mn-ea"/>
              </a:rPr>
              <a:t>bot</a:t>
            </a:r>
            <a:r>
              <a:rPr spc="5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web</a:t>
            </a:r>
            <a:r>
              <a:rPr spc="4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site</a:t>
            </a:r>
            <a:r>
              <a:rPr spc="2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operator</a:t>
            </a:r>
            <a:r>
              <a:rPr spc="5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designed</a:t>
            </a:r>
            <a:r>
              <a:rPr spc="4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to</a:t>
            </a:r>
            <a:r>
              <a:rPr spc="4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scan</a:t>
            </a:r>
            <a:r>
              <a:rPr spc="4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Internet</a:t>
            </a:r>
            <a:r>
              <a:rPr spc="4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news</a:t>
            </a:r>
            <a:r>
              <a:rPr spc="5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sources</a:t>
            </a:r>
            <a:r>
              <a:rPr spc="5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and</a:t>
            </a:r>
            <a:r>
              <a:rPr spc="4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show</a:t>
            </a:r>
            <a:r>
              <a:rPr spc="4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the</a:t>
            </a:r>
            <a:r>
              <a:rPr spc="5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interesting</a:t>
            </a:r>
            <a:r>
              <a:rPr spc="40" dirty="0">
                <a:solidFill>
                  <a:srgbClr val="211D1F"/>
                </a:solidFill>
                <a:latin typeface="Times New Roman" panose="02020603050405020304"/>
                <a:cs typeface="Times New Roman" panose="02020603050405020304"/>
                <a:sym typeface="+mn-ea"/>
              </a:rPr>
              <a:t> </a:t>
            </a:r>
            <a:r>
              <a:rPr spc="-10" dirty="0">
                <a:solidFill>
                  <a:srgbClr val="211D1F"/>
                </a:solidFill>
                <a:latin typeface="Times New Roman" panose="02020603050405020304"/>
                <a:cs typeface="Times New Roman" panose="02020603050405020304"/>
                <a:sym typeface="+mn-ea"/>
              </a:rPr>
              <a:t>items </a:t>
            </a:r>
            <a:r>
              <a:rPr dirty="0">
                <a:solidFill>
                  <a:srgbClr val="211D1F"/>
                </a:solidFill>
                <a:latin typeface="Times New Roman" panose="02020603050405020304"/>
                <a:cs typeface="Times New Roman" panose="02020603050405020304"/>
                <a:sym typeface="+mn-ea"/>
              </a:rPr>
              <a:t>to</a:t>
            </a:r>
            <a:r>
              <a:rPr spc="-2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its</a:t>
            </a:r>
            <a:r>
              <a:rPr spc="-1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users,</a:t>
            </a:r>
            <a:r>
              <a:rPr spc="-1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while</a:t>
            </a:r>
            <a:r>
              <a:rPr spc="-1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selling</a:t>
            </a:r>
            <a:r>
              <a:rPr spc="-3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advertising</a:t>
            </a:r>
            <a:r>
              <a:rPr spc="-3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space</a:t>
            </a:r>
            <a:r>
              <a:rPr spc="-5"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to</a:t>
            </a:r>
            <a:r>
              <a:rPr spc="-20" dirty="0">
                <a:solidFill>
                  <a:srgbClr val="211D1F"/>
                </a:solidFill>
                <a:latin typeface="Times New Roman" panose="02020603050405020304"/>
                <a:cs typeface="Times New Roman" panose="02020603050405020304"/>
                <a:sym typeface="+mn-ea"/>
              </a:rPr>
              <a:t> </a:t>
            </a:r>
            <a:r>
              <a:rPr dirty="0">
                <a:solidFill>
                  <a:srgbClr val="211D1F"/>
                </a:solidFill>
                <a:latin typeface="Times New Roman" panose="02020603050405020304"/>
                <a:cs typeface="Times New Roman" panose="02020603050405020304"/>
                <a:sym typeface="+mn-ea"/>
              </a:rPr>
              <a:t>generate</a:t>
            </a:r>
            <a:r>
              <a:rPr spc="-25" dirty="0">
                <a:solidFill>
                  <a:srgbClr val="211D1F"/>
                </a:solidFill>
                <a:latin typeface="Times New Roman" panose="02020603050405020304"/>
                <a:cs typeface="Times New Roman" panose="02020603050405020304"/>
                <a:sym typeface="+mn-ea"/>
              </a:rPr>
              <a:t> </a:t>
            </a:r>
            <a:r>
              <a:rPr spc="-10" dirty="0">
                <a:solidFill>
                  <a:srgbClr val="211D1F"/>
                </a:solidFill>
                <a:latin typeface="Times New Roman" panose="02020603050405020304"/>
                <a:cs typeface="Times New Roman" panose="02020603050405020304"/>
                <a:sym typeface="+mn-ea"/>
              </a:rPr>
              <a:t>revenue.</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graphicFrame>
        <p:nvGraphicFramePr>
          <p:cNvPr id="9" name="object 9"/>
          <p:cNvGraphicFramePr>
            <a:graphicFrameLocks noGrp="1"/>
          </p:cNvGraphicFramePr>
          <p:nvPr>
            <p:ph idx="1"/>
          </p:nvPr>
        </p:nvGraphicFramePr>
        <p:xfrm>
          <a:off x="457200" y="1600200"/>
          <a:ext cx="8229600" cy="3479165"/>
        </p:xfrm>
        <a:graphic>
          <a:graphicData uri="http://schemas.openxmlformats.org/drawingml/2006/table">
            <a:tbl>
              <a:tblPr firstRow="1" bandRow="1">
                <a:tableStyleId>{2D5ABB26-0587-4C30-8999-92F81FD0307C}</a:tableStyleId>
              </a:tblPr>
              <a:tblGrid>
                <a:gridCol w="1645920"/>
                <a:gridCol w="1645920"/>
                <a:gridCol w="1645920"/>
                <a:gridCol w="1645920"/>
                <a:gridCol w="1645920"/>
              </a:tblGrid>
              <a:tr h="1010919">
                <a:tc>
                  <a:txBody>
                    <a:bodyPr/>
                    <a:p>
                      <a:pPr algn="l">
                        <a:lnSpc>
                          <a:spcPct val="100000"/>
                        </a:lnSpc>
                        <a:spcBef>
                          <a:spcPts val="335"/>
                        </a:spcBef>
                      </a:pPr>
                      <a:endParaRPr sz="2000">
                        <a:latin typeface="Times New Roman" panose="02020603050405020304"/>
                        <a:cs typeface="Times New Roman" panose="02020603050405020304"/>
                      </a:endParaRPr>
                    </a:p>
                    <a:p>
                      <a:pPr marL="926465" algn="l">
                        <a:lnSpc>
                          <a:spcPct val="100000"/>
                        </a:lnSpc>
                        <a:spcBef>
                          <a:spcPts val="5"/>
                        </a:spcBef>
                      </a:pPr>
                      <a:r>
                        <a:rPr sz="2000" b="1" spc="-10" dirty="0">
                          <a:solidFill>
                            <a:srgbClr val="FFFFFF"/>
                          </a:solidFill>
                          <a:latin typeface="Carlito"/>
                          <a:cs typeface="Carlito"/>
                        </a:rPr>
                        <a:t>Agent</a:t>
                      </a:r>
                      <a:endParaRPr sz="2000">
                        <a:latin typeface="Carlito"/>
                        <a:cs typeface="Carlito"/>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c>
                  <a:txBody>
                    <a:bodyPr/>
                    <a:p>
                      <a:pPr algn="l">
                        <a:lnSpc>
                          <a:spcPct val="100000"/>
                        </a:lnSpc>
                        <a:spcBef>
                          <a:spcPts val="335"/>
                        </a:spcBef>
                      </a:pPr>
                      <a:endParaRPr sz="2000">
                        <a:latin typeface="Times New Roman" panose="02020603050405020304"/>
                        <a:cs typeface="Times New Roman" panose="02020603050405020304"/>
                      </a:endParaRPr>
                    </a:p>
                    <a:p>
                      <a:pPr marL="445135" algn="l">
                        <a:lnSpc>
                          <a:spcPct val="100000"/>
                        </a:lnSpc>
                        <a:spcBef>
                          <a:spcPts val="5"/>
                        </a:spcBef>
                      </a:pPr>
                      <a:r>
                        <a:rPr sz="2000" b="1" spc="-10" dirty="0">
                          <a:solidFill>
                            <a:srgbClr val="FFFFFF"/>
                          </a:solidFill>
                          <a:latin typeface="Carlito"/>
                          <a:cs typeface="Carlito"/>
                        </a:rPr>
                        <a:t>Performance</a:t>
                      </a:r>
                      <a:endParaRPr sz="2000">
                        <a:latin typeface="Carlito"/>
                        <a:cs typeface="Carlito"/>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c>
                  <a:txBody>
                    <a:bodyPr/>
                    <a:p>
                      <a:pPr algn="l">
                        <a:lnSpc>
                          <a:spcPct val="100000"/>
                        </a:lnSpc>
                        <a:spcBef>
                          <a:spcPts val="335"/>
                        </a:spcBef>
                      </a:pPr>
                      <a:endParaRPr sz="2000">
                        <a:latin typeface="Times New Roman" panose="02020603050405020304"/>
                        <a:cs typeface="Times New Roman" panose="02020603050405020304"/>
                      </a:endParaRPr>
                    </a:p>
                    <a:p>
                      <a:pPr marL="443865" algn="l">
                        <a:lnSpc>
                          <a:spcPct val="100000"/>
                        </a:lnSpc>
                        <a:spcBef>
                          <a:spcPts val="5"/>
                        </a:spcBef>
                      </a:pPr>
                      <a:r>
                        <a:rPr sz="2000" b="1" spc="-10" dirty="0">
                          <a:solidFill>
                            <a:srgbClr val="FFFFFF"/>
                          </a:solidFill>
                          <a:latin typeface="Carlito"/>
                          <a:cs typeface="Carlito"/>
                        </a:rPr>
                        <a:t>Environment</a:t>
                      </a:r>
                      <a:endParaRPr sz="2000">
                        <a:latin typeface="Carlito"/>
                        <a:cs typeface="Carlito"/>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c>
                  <a:txBody>
                    <a:bodyPr/>
                    <a:p>
                      <a:pPr algn="l">
                        <a:lnSpc>
                          <a:spcPct val="100000"/>
                        </a:lnSpc>
                        <a:spcBef>
                          <a:spcPts val="335"/>
                        </a:spcBef>
                      </a:pPr>
                      <a:endParaRPr sz="2000">
                        <a:latin typeface="Times New Roman" panose="02020603050405020304"/>
                        <a:cs typeface="Times New Roman" panose="02020603050405020304"/>
                      </a:endParaRPr>
                    </a:p>
                    <a:p>
                      <a:pPr marL="663575" algn="l">
                        <a:lnSpc>
                          <a:spcPct val="100000"/>
                        </a:lnSpc>
                        <a:spcBef>
                          <a:spcPts val="5"/>
                        </a:spcBef>
                      </a:pPr>
                      <a:r>
                        <a:rPr sz="2000" b="1" spc="-10" dirty="0">
                          <a:solidFill>
                            <a:srgbClr val="FFFFFF"/>
                          </a:solidFill>
                          <a:latin typeface="Carlito"/>
                          <a:cs typeface="Carlito"/>
                        </a:rPr>
                        <a:t>Actuator</a:t>
                      </a:r>
                      <a:endParaRPr sz="2000">
                        <a:latin typeface="Carlito"/>
                        <a:cs typeface="Carlito"/>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c>
                  <a:txBody>
                    <a:bodyPr/>
                    <a:p>
                      <a:pPr algn="l">
                        <a:lnSpc>
                          <a:spcPct val="100000"/>
                        </a:lnSpc>
                        <a:spcBef>
                          <a:spcPts val="335"/>
                        </a:spcBef>
                      </a:pPr>
                      <a:endParaRPr sz="2000">
                        <a:latin typeface="Times New Roman" panose="02020603050405020304"/>
                        <a:cs typeface="Times New Roman" panose="02020603050405020304"/>
                      </a:endParaRPr>
                    </a:p>
                    <a:p>
                      <a:pPr marL="2540" algn="l">
                        <a:lnSpc>
                          <a:spcPct val="100000"/>
                        </a:lnSpc>
                        <a:spcBef>
                          <a:spcPts val="5"/>
                        </a:spcBef>
                      </a:pPr>
                      <a:r>
                        <a:rPr sz="2000" b="1" spc="-10" dirty="0">
                          <a:solidFill>
                            <a:srgbClr val="FFFFFF"/>
                          </a:solidFill>
                          <a:latin typeface="Carlito"/>
                          <a:cs typeface="Carlito"/>
                        </a:rPr>
                        <a:t>Sensor</a:t>
                      </a:r>
                      <a:endParaRPr sz="2000">
                        <a:latin typeface="Carlito"/>
                        <a:cs typeface="Carlito"/>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00184B"/>
                    </a:solidFill>
                  </a:tcPr>
                </a:tc>
              </a:tr>
              <a:tr h="1615440">
                <a:tc>
                  <a:txBody>
                    <a:bodyPr/>
                    <a:p>
                      <a:pPr marL="755650" marR="282575" indent="-467995" algn="l">
                        <a:lnSpc>
                          <a:spcPct val="100000"/>
                        </a:lnSpc>
                        <a:spcBef>
                          <a:spcPts val="235"/>
                        </a:spcBef>
                      </a:pPr>
                      <a:r>
                        <a:rPr sz="2000" b="1" dirty="0">
                          <a:solidFill>
                            <a:srgbClr val="3E3E3E"/>
                          </a:solidFill>
                          <a:latin typeface="Carlito"/>
                          <a:cs typeface="Carlito"/>
                        </a:rPr>
                        <a:t>Math</a:t>
                      </a:r>
                      <a:r>
                        <a:rPr sz="2000" b="1" spc="-20" dirty="0">
                          <a:solidFill>
                            <a:srgbClr val="3E3E3E"/>
                          </a:solidFill>
                          <a:latin typeface="Carlito"/>
                          <a:cs typeface="Carlito"/>
                        </a:rPr>
                        <a:t> </a:t>
                      </a:r>
                      <a:r>
                        <a:rPr sz="2000" b="1" dirty="0">
                          <a:solidFill>
                            <a:srgbClr val="3E3E3E"/>
                          </a:solidFill>
                          <a:latin typeface="Carlito"/>
                          <a:cs typeface="Carlito"/>
                        </a:rPr>
                        <a:t>E</a:t>
                      </a:r>
                      <a:r>
                        <a:rPr sz="2000" b="1" spc="-20" dirty="0">
                          <a:solidFill>
                            <a:srgbClr val="3E3E3E"/>
                          </a:solidFill>
                          <a:latin typeface="Carlito"/>
                          <a:cs typeface="Carlito"/>
                        </a:rPr>
                        <a:t> </a:t>
                      </a:r>
                      <a:r>
                        <a:rPr sz="2000" b="1" spc="-10" dirty="0">
                          <a:solidFill>
                            <a:srgbClr val="3E3E3E"/>
                          </a:solidFill>
                          <a:latin typeface="Carlito"/>
                          <a:cs typeface="Carlito"/>
                        </a:rPr>
                        <a:t>learning system</a:t>
                      </a:r>
                      <a:endParaRPr sz="2000">
                        <a:latin typeface="Carlito"/>
                        <a:cs typeface="Carlito"/>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c>
                  <a:txBody>
                    <a:bodyPr/>
                    <a:p>
                      <a:pPr marL="553085" marR="184785" indent="-361315" algn="l">
                        <a:lnSpc>
                          <a:spcPct val="100000"/>
                        </a:lnSpc>
                        <a:spcBef>
                          <a:spcPts val="235"/>
                        </a:spcBef>
                      </a:pPr>
                      <a:r>
                        <a:rPr sz="2000" b="1" dirty="0">
                          <a:solidFill>
                            <a:srgbClr val="3E3E3E"/>
                          </a:solidFill>
                          <a:latin typeface="Carlito"/>
                          <a:cs typeface="Carlito"/>
                        </a:rPr>
                        <a:t>SLA</a:t>
                      </a:r>
                      <a:r>
                        <a:rPr sz="2000" b="1" spc="-50" dirty="0">
                          <a:solidFill>
                            <a:srgbClr val="3E3E3E"/>
                          </a:solidFill>
                          <a:latin typeface="Carlito"/>
                          <a:cs typeface="Carlito"/>
                        </a:rPr>
                        <a:t> </a:t>
                      </a:r>
                      <a:r>
                        <a:rPr sz="2000" b="1" dirty="0">
                          <a:solidFill>
                            <a:srgbClr val="3E3E3E"/>
                          </a:solidFill>
                          <a:latin typeface="Carlito"/>
                          <a:cs typeface="Carlito"/>
                        </a:rPr>
                        <a:t>defined</a:t>
                      </a:r>
                      <a:r>
                        <a:rPr sz="2000" b="1" spc="-60" dirty="0">
                          <a:solidFill>
                            <a:srgbClr val="3E3E3E"/>
                          </a:solidFill>
                          <a:latin typeface="Carlito"/>
                          <a:cs typeface="Carlito"/>
                        </a:rPr>
                        <a:t> </a:t>
                      </a:r>
                      <a:r>
                        <a:rPr sz="2000" b="1" spc="-10" dirty="0">
                          <a:solidFill>
                            <a:srgbClr val="3E3E3E"/>
                          </a:solidFill>
                          <a:latin typeface="Carlito"/>
                          <a:cs typeface="Carlito"/>
                        </a:rPr>
                        <a:t>score </a:t>
                      </a:r>
                      <a:r>
                        <a:rPr sz="2000" b="1" dirty="0">
                          <a:solidFill>
                            <a:srgbClr val="3E3E3E"/>
                          </a:solidFill>
                          <a:latin typeface="Carlito"/>
                          <a:cs typeface="Carlito"/>
                        </a:rPr>
                        <a:t>on</a:t>
                      </a:r>
                      <a:r>
                        <a:rPr sz="2000" b="1" spc="-20" dirty="0">
                          <a:solidFill>
                            <a:srgbClr val="3E3E3E"/>
                          </a:solidFill>
                          <a:latin typeface="Carlito"/>
                          <a:cs typeface="Carlito"/>
                        </a:rPr>
                        <a:t> </a:t>
                      </a:r>
                      <a:r>
                        <a:rPr sz="2000" b="1" dirty="0">
                          <a:solidFill>
                            <a:srgbClr val="3E3E3E"/>
                          </a:solidFill>
                          <a:latin typeface="Carlito"/>
                          <a:cs typeface="Carlito"/>
                        </a:rPr>
                        <a:t>the</a:t>
                      </a:r>
                      <a:r>
                        <a:rPr sz="2000" b="1" spc="-25" dirty="0">
                          <a:solidFill>
                            <a:srgbClr val="3E3E3E"/>
                          </a:solidFill>
                          <a:latin typeface="Carlito"/>
                          <a:cs typeface="Carlito"/>
                        </a:rPr>
                        <a:t> </a:t>
                      </a:r>
                      <a:r>
                        <a:rPr sz="2000" b="1" spc="-20" dirty="0">
                          <a:solidFill>
                            <a:srgbClr val="3E3E3E"/>
                          </a:solidFill>
                          <a:latin typeface="Carlito"/>
                          <a:cs typeface="Carlito"/>
                        </a:rPr>
                        <a:t>test</a:t>
                      </a:r>
                      <a:endParaRPr sz="2000">
                        <a:latin typeface="Carlito"/>
                        <a:cs typeface="Carlito"/>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c>
                  <a:txBody>
                    <a:bodyPr/>
                    <a:p>
                      <a:pPr marL="722630" marR="205740" indent="-509270" algn="l">
                        <a:lnSpc>
                          <a:spcPct val="100000"/>
                        </a:lnSpc>
                        <a:spcBef>
                          <a:spcPts val="235"/>
                        </a:spcBef>
                      </a:pPr>
                      <a:r>
                        <a:rPr sz="2000" b="1" dirty="0">
                          <a:solidFill>
                            <a:srgbClr val="3E3E3E"/>
                          </a:solidFill>
                          <a:latin typeface="Carlito"/>
                          <a:cs typeface="Carlito"/>
                        </a:rPr>
                        <a:t>Student,</a:t>
                      </a:r>
                      <a:r>
                        <a:rPr sz="2000" b="1" spc="-65" dirty="0">
                          <a:solidFill>
                            <a:srgbClr val="3E3E3E"/>
                          </a:solidFill>
                          <a:latin typeface="Carlito"/>
                          <a:cs typeface="Carlito"/>
                        </a:rPr>
                        <a:t> </a:t>
                      </a:r>
                      <a:r>
                        <a:rPr sz="2000" b="1" spc="-45" dirty="0">
                          <a:solidFill>
                            <a:srgbClr val="3E3E3E"/>
                          </a:solidFill>
                          <a:latin typeface="Carlito"/>
                          <a:cs typeface="Carlito"/>
                        </a:rPr>
                        <a:t>Teacher, </a:t>
                      </a:r>
                      <a:r>
                        <a:rPr sz="2000" b="1" spc="-10" dirty="0">
                          <a:solidFill>
                            <a:srgbClr val="3E3E3E"/>
                          </a:solidFill>
                          <a:latin typeface="Carlito"/>
                          <a:cs typeface="Carlito"/>
                        </a:rPr>
                        <a:t>parents</a:t>
                      </a:r>
                      <a:endParaRPr sz="2000">
                        <a:latin typeface="Carlito"/>
                        <a:cs typeface="Carlito"/>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c>
                  <a:txBody>
                    <a:bodyPr/>
                    <a:p>
                      <a:pPr marL="197485" marR="189865" algn="l">
                        <a:lnSpc>
                          <a:spcPct val="100000"/>
                        </a:lnSpc>
                        <a:spcBef>
                          <a:spcPts val="235"/>
                        </a:spcBef>
                      </a:pPr>
                      <a:r>
                        <a:rPr sz="2000" b="1" dirty="0">
                          <a:solidFill>
                            <a:srgbClr val="3E3E3E"/>
                          </a:solidFill>
                          <a:latin typeface="Carlito"/>
                          <a:cs typeface="Carlito"/>
                        </a:rPr>
                        <a:t>Computer</a:t>
                      </a:r>
                      <a:r>
                        <a:rPr sz="2000" b="1" spc="-65" dirty="0">
                          <a:solidFill>
                            <a:srgbClr val="3E3E3E"/>
                          </a:solidFill>
                          <a:latin typeface="Carlito"/>
                          <a:cs typeface="Carlito"/>
                        </a:rPr>
                        <a:t> </a:t>
                      </a:r>
                      <a:r>
                        <a:rPr sz="2000" b="1" spc="-10" dirty="0">
                          <a:solidFill>
                            <a:srgbClr val="3E3E3E"/>
                          </a:solidFill>
                          <a:latin typeface="Carlito"/>
                          <a:cs typeface="Carlito"/>
                        </a:rPr>
                        <a:t>display system</a:t>
                      </a:r>
                      <a:r>
                        <a:rPr sz="2000" b="1" spc="-70" dirty="0">
                          <a:solidFill>
                            <a:srgbClr val="3E3E3E"/>
                          </a:solidFill>
                          <a:latin typeface="Carlito"/>
                          <a:cs typeface="Carlito"/>
                        </a:rPr>
                        <a:t> </a:t>
                      </a:r>
                      <a:r>
                        <a:rPr sz="2000" b="1" spc="-25" dirty="0">
                          <a:solidFill>
                            <a:srgbClr val="3E3E3E"/>
                          </a:solidFill>
                          <a:latin typeface="Carlito"/>
                          <a:cs typeface="Carlito"/>
                        </a:rPr>
                        <a:t>for </a:t>
                      </a:r>
                      <a:r>
                        <a:rPr sz="2000" b="1" spc="-10" dirty="0">
                          <a:solidFill>
                            <a:srgbClr val="3E3E3E"/>
                          </a:solidFill>
                          <a:latin typeface="Carlito"/>
                          <a:cs typeface="Carlito"/>
                        </a:rPr>
                        <a:t>exercises, corrections, feedback</a:t>
                      </a:r>
                      <a:endParaRPr sz="2000">
                        <a:latin typeface="Carlito"/>
                        <a:cs typeface="Carlito"/>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c>
                  <a:txBody>
                    <a:bodyPr/>
                    <a:p>
                      <a:pPr algn="l">
                        <a:lnSpc>
                          <a:spcPct val="100000"/>
                        </a:lnSpc>
                        <a:spcBef>
                          <a:spcPts val="235"/>
                        </a:spcBef>
                      </a:pPr>
                      <a:r>
                        <a:rPr sz="2000" b="1" spc="-10" dirty="0">
                          <a:solidFill>
                            <a:srgbClr val="3E3E3E"/>
                          </a:solidFill>
                          <a:latin typeface="Carlito"/>
                          <a:cs typeface="Carlito"/>
                        </a:rPr>
                        <a:t>Keyboard,</a:t>
                      </a:r>
                      <a:r>
                        <a:rPr sz="2000" b="1" spc="-55" dirty="0">
                          <a:solidFill>
                            <a:srgbClr val="3E3E3E"/>
                          </a:solidFill>
                          <a:latin typeface="Carlito"/>
                          <a:cs typeface="Carlito"/>
                        </a:rPr>
                        <a:t> </a:t>
                      </a:r>
                      <a:r>
                        <a:rPr sz="2000" b="1" spc="-10" dirty="0">
                          <a:solidFill>
                            <a:srgbClr val="3E3E3E"/>
                          </a:solidFill>
                          <a:latin typeface="Carlito"/>
                          <a:cs typeface="Carlito"/>
                        </a:rPr>
                        <a:t>Mouse</a:t>
                      </a:r>
                      <a:endParaRPr sz="2000">
                        <a:latin typeface="Carlito"/>
                        <a:cs typeface="Carlito"/>
                      </a:endParaRPr>
                    </a:p>
                  </a:txBody>
                  <a:tcPr marL="0" marR="0" marT="298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ACCD0"/>
                    </a:solidFill>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000000"/>
                </a:solidFill>
                <a:latin typeface="Times New Roman" panose="02020603050405020304"/>
                <a:cs typeface="Times New Roman" panose="02020603050405020304"/>
                <a:sym typeface="+mn-ea"/>
              </a:rPr>
              <a:t>An</a:t>
            </a:r>
            <a:r>
              <a:rPr b="1" spc="-15" dirty="0">
                <a:solidFill>
                  <a:srgbClr val="000000"/>
                </a:solidFill>
                <a:latin typeface="Times New Roman" panose="02020603050405020304"/>
                <a:cs typeface="Times New Roman" panose="02020603050405020304"/>
                <a:sym typeface="+mn-ea"/>
              </a:rPr>
              <a:t> </a:t>
            </a:r>
            <a:r>
              <a:rPr b="1" dirty="0">
                <a:solidFill>
                  <a:srgbClr val="000000"/>
                </a:solidFill>
                <a:latin typeface="Times New Roman" panose="02020603050405020304"/>
                <a:cs typeface="Times New Roman" panose="02020603050405020304"/>
                <a:sym typeface="+mn-ea"/>
              </a:rPr>
              <a:t>automated</a:t>
            </a:r>
            <a:r>
              <a:rPr b="1" spc="-45" dirty="0">
                <a:solidFill>
                  <a:srgbClr val="000000"/>
                </a:solidFill>
                <a:latin typeface="Times New Roman" panose="02020603050405020304"/>
                <a:cs typeface="Times New Roman" panose="02020603050405020304"/>
                <a:sym typeface="+mn-ea"/>
              </a:rPr>
              <a:t> </a:t>
            </a:r>
            <a:r>
              <a:rPr b="1" dirty="0">
                <a:solidFill>
                  <a:srgbClr val="000000"/>
                </a:solidFill>
                <a:latin typeface="Times New Roman" panose="02020603050405020304"/>
                <a:cs typeface="Times New Roman" panose="02020603050405020304"/>
                <a:sym typeface="+mn-ea"/>
              </a:rPr>
              <a:t>taxi</a:t>
            </a:r>
            <a:r>
              <a:rPr b="1" spc="-30" dirty="0">
                <a:solidFill>
                  <a:srgbClr val="000000"/>
                </a:solidFill>
                <a:latin typeface="Times New Roman" panose="02020603050405020304"/>
                <a:cs typeface="Times New Roman" panose="02020603050405020304"/>
                <a:sym typeface="+mn-ea"/>
              </a:rPr>
              <a:t> </a:t>
            </a:r>
            <a:r>
              <a:rPr b="1" spc="-10" dirty="0">
                <a:solidFill>
                  <a:srgbClr val="000000"/>
                </a:solidFill>
                <a:latin typeface="Times New Roman" panose="02020603050405020304"/>
                <a:cs typeface="Times New Roman" panose="02020603050405020304"/>
                <a:sym typeface="+mn-ea"/>
              </a:rPr>
              <a:t>driver.</a:t>
            </a:r>
            <a:endParaRPr lang="en-US"/>
          </a:p>
        </p:txBody>
      </p:sp>
      <p:sp>
        <p:nvSpPr>
          <p:cNvPr id="3" name="Content Placeholder 2"/>
          <p:cNvSpPr>
            <a:spLocks noGrp="1"/>
          </p:cNvSpPr>
          <p:nvPr>
            <p:ph idx="1"/>
          </p:nvPr>
        </p:nvSpPr>
        <p:spPr/>
        <p:txBody>
          <a:bodyPr/>
          <a:p>
            <a:pPr>
              <a:lnSpc>
                <a:spcPct val="100000"/>
              </a:lnSpc>
              <a:spcBef>
                <a:spcPts val="105"/>
              </a:spcBef>
            </a:pPr>
            <a:r>
              <a:rPr b="1" dirty="0">
                <a:latin typeface="Times New Roman" panose="02020603050405020304"/>
                <a:cs typeface="Times New Roman" panose="02020603050405020304"/>
                <a:sym typeface="+mn-ea"/>
              </a:rPr>
              <a:t>Figure</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2.4</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summarizes</a:t>
            </a:r>
            <a:r>
              <a:rPr b="1" spc="-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the</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PEAS</a:t>
            </a:r>
            <a:r>
              <a:rPr b="1" spc="-2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description</a:t>
            </a:r>
            <a:endParaRPr b="1">
              <a:latin typeface="Times New Roman" panose="02020603050405020304"/>
              <a:cs typeface="Times New Roman" panose="02020603050405020304"/>
            </a:endParaRPr>
          </a:p>
          <a:p>
            <a:pPr marR="5080">
              <a:lnSpc>
                <a:spcPct val="100000"/>
              </a:lnSpc>
            </a:pPr>
            <a:r>
              <a:rPr b="1" dirty="0">
                <a:latin typeface="Times New Roman" panose="02020603050405020304"/>
                <a:cs typeface="Times New Roman" panose="02020603050405020304"/>
                <a:sym typeface="+mn-ea"/>
              </a:rPr>
              <a:t>for</a:t>
            </a:r>
            <a:r>
              <a:rPr b="1" spc="-7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the</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taxi’s</a:t>
            </a:r>
            <a:r>
              <a:rPr b="1" spc="-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task</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environment.</a:t>
            </a:r>
            <a:r>
              <a:rPr b="1" spc="-8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We</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discuss</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each</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element</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in</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more</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detail</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in</a:t>
            </a:r>
            <a:r>
              <a:rPr b="1" spc="-30" dirty="0">
                <a:latin typeface="Times New Roman" panose="02020603050405020304"/>
                <a:cs typeface="Times New Roman" panose="02020603050405020304"/>
                <a:sym typeface="+mn-ea"/>
              </a:rPr>
              <a:t> </a:t>
            </a:r>
            <a:r>
              <a:rPr b="1" spc="-25" dirty="0">
                <a:latin typeface="Times New Roman" panose="02020603050405020304"/>
                <a:cs typeface="Times New Roman" panose="02020603050405020304"/>
                <a:sym typeface="+mn-ea"/>
              </a:rPr>
              <a:t>the </a:t>
            </a:r>
            <a:r>
              <a:rPr b="1" dirty="0">
                <a:latin typeface="Times New Roman" panose="02020603050405020304"/>
                <a:cs typeface="Times New Roman" panose="02020603050405020304"/>
                <a:sym typeface="+mn-ea"/>
              </a:rPr>
              <a:t>following</a:t>
            </a:r>
            <a:r>
              <a:rPr b="1" spc="-2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paragraphs.</a:t>
            </a:r>
            <a:endParaRPr b="1">
              <a:latin typeface="Times New Roman" panose="02020603050405020304"/>
              <a:cs typeface="Times New Roman" panose="02020603050405020304"/>
            </a:endParaRPr>
          </a:p>
          <a:p>
            <a:endParaRPr lang="en-US" b="1"/>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grpSp>
        <p:nvGrpSpPr>
          <p:cNvPr id="4" name="object 3"/>
          <p:cNvGrpSpPr/>
          <p:nvPr/>
        </p:nvGrpSpPr>
        <p:grpSpPr>
          <a:xfrm>
            <a:off x="152400" y="43815"/>
            <a:ext cx="8656320" cy="6724015"/>
            <a:chOff x="637031" y="-3175"/>
            <a:chExt cx="11555095" cy="6724015"/>
          </a:xfrm>
        </p:grpSpPr>
        <p:sp>
          <p:nvSpPr>
            <p:cNvPr id="5" name="object 4"/>
            <p:cNvSpPr/>
            <p:nvPr/>
          </p:nvSpPr>
          <p:spPr>
            <a:xfrm>
              <a:off x="7562088" y="0"/>
              <a:ext cx="4630420" cy="3533775"/>
            </a:xfrm>
            <a:custGeom>
              <a:avLst/>
              <a:gdLst/>
              <a:ahLst/>
              <a:cxnLst/>
              <a:rect l="l" t="t" r="r" b="b"/>
              <a:pathLst>
                <a:path w="4630420" h="3533775">
                  <a:moveTo>
                    <a:pt x="2263775" y="0"/>
                  </a:moveTo>
                  <a:lnTo>
                    <a:pt x="0" y="0"/>
                  </a:lnTo>
                  <a:lnTo>
                    <a:pt x="4629911" y="3533273"/>
                  </a:lnTo>
                  <a:lnTo>
                    <a:pt x="4629911" y="1805692"/>
                  </a:lnTo>
                  <a:lnTo>
                    <a:pt x="2263775" y="0"/>
                  </a:lnTo>
                  <a:close/>
                </a:path>
              </a:pathLst>
            </a:custGeom>
            <a:solidFill>
              <a:srgbClr val="F1F1F1"/>
            </a:solidFill>
          </p:spPr>
          <p:txBody>
            <a:bodyPr wrap="square" lIns="0" tIns="0" rIns="0" bIns="0" rtlCol="0"/>
            <a:p/>
          </p:txBody>
        </p:sp>
        <p:sp>
          <p:nvSpPr>
            <p:cNvPr id="6" name="object 5"/>
            <p:cNvSpPr/>
            <p:nvPr/>
          </p:nvSpPr>
          <p:spPr>
            <a:xfrm>
              <a:off x="9526524" y="0"/>
              <a:ext cx="1241425" cy="963930"/>
            </a:xfrm>
            <a:custGeom>
              <a:avLst/>
              <a:gdLst/>
              <a:ahLst/>
              <a:cxnLst/>
              <a:rect l="l" t="t" r="r" b="b"/>
              <a:pathLst>
                <a:path w="1241425" h="963930">
                  <a:moveTo>
                    <a:pt x="1240917" y="963929"/>
                  </a:moveTo>
                  <a:lnTo>
                    <a:pt x="0" y="0"/>
                  </a:lnTo>
                </a:path>
              </a:pathLst>
            </a:custGeom>
            <a:ln w="6349">
              <a:solidFill>
                <a:srgbClr val="BEBEBE"/>
              </a:solidFill>
            </a:ln>
          </p:spPr>
          <p:txBody>
            <a:bodyPr wrap="square" lIns="0" tIns="0" rIns="0" bIns="0" rtlCol="0"/>
            <a:p/>
          </p:txBody>
        </p:sp>
        <p:sp>
          <p:nvSpPr>
            <p:cNvPr id="7" name="object 6"/>
            <p:cNvSpPr/>
            <p:nvPr/>
          </p:nvSpPr>
          <p:spPr>
            <a:xfrm>
              <a:off x="11234547" y="820674"/>
              <a:ext cx="957580" cy="982344"/>
            </a:xfrm>
            <a:custGeom>
              <a:avLst/>
              <a:gdLst/>
              <a:ahLst/>
              <a:cxnLst/>
              <a:rect l="l" t="t" r="r" b="b"/>
              <a:pathLst>
                <a:path w="957579" h="982344">
                  <a:moveTo>
                    <a:pt x="2667" y="0"/>
                  </a:moveTo>
                  <a:lnTo>
                    <a:pt x="0" y="278511"/>
                  </a:lnTo>
                  <a:lnTo>
                    <a:pt x="957452" y="982289"/>
                  </a:lnTo>
                  <a:lnTo>
                    <a:pt x="957452" y="701599"/>
                  </a:lnTo>
                  <a:lnTo>
                    <a:pt x="2667" y="0"/>
                  </a:lnTo>
                  <a:close/>
                </a:path>
              </a:pathLst>
            </a:custGeom>
            <a:solidFill>
              <a:srgbClr val="EAB100"/>
            </a:solidFill>
          </p:spPr>
          <p:txBody>
            <a:bodyPr wrap="square" lIns="0" tIns="0" rIns="0" bIns="0" rtlCol="0"/>
            <a:p/>
          </p:txBody>
        </p:sp>
        <p:sp>
          <p:nvSpPr>
            <p:cNvPr id="8" name="object 7"/>
            <p:cNvSpPr/>
            <p:nvPr/>
          </p:nvSpPr>
          <p:spPr>
            <a:xfrm>
              <a:off x="6679691" y="0"/>
              <a:ext cx="1447800" cy="638810"/>
            </a:xfrm>
            <a:custGeom>
              <a:avLst/>
              <a:gdLst/>
              <a:ahLst/>
              <a:cxnLst/>
              <a:rect l="l" t="t" r="r" b="b"/>
              <a:pathLst>
                <a:path w="1447800" h="638810">
                  <a:moveTo>
                    <a:pt x="581786" y="0"/>
                  </a:moveTo>
                  <a:lnTo>
                    <a:pt x="0" y="0"/>
                  </a:lnTo>
                  <a:lnTo>
                    <a:pt x="866012" y="638555"/>
                  </a:lnTo>
                  <a:lnTo>
                    <a:pt x="1447800" y="638555"/>
                  </a:lnTo>
                  <a:lnTo>
                    <a:pt x="581786" y="0"/>
                  </a:lnTo>
                  <a:close/>
                </a:path>
              </a:pathLst>
            </a:custGeom>
            <a:solidFill>
              <a:srgbClr val="014067"/>
            </a:solidFill>
          </p:spPr>
          <p:txBody>
            <a:bodyPr wrap="square" lIns="0" tIns="0" rIns="0" bIns="0" rtlCol="0"/>
            <a:p/>
          </p:txBody>
        </p:sp>
        <p:pic>
          <p:nvPicPr>
            <p:cNvPr id="9" name="object 8"/>
            <p:cNvPicPr/>
            <p:nvPr/>
          </p:nvPicPr>
          <p:blipFill>
            <a:blip r:embed="rId1" cstate="print"/>
            <a:stretch>
              <a:fillRect/>
            </a:stretch>
          </p:blipFill>
          <p:spPr>
            <a:xfrm>
              <a:off x="637031" y="1629155"/>
              <a:ext cx="10916412" cy="5091684"/>
            </a:xfrm>
            <a:prstGeom prst="rect">
              <a:avLst/>
            </a:prstGeom>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50000"/>
          </a:bodyPr>
          <a:p>
            <a:pPr marL="0" indent="0">
              <a:lnSpc>
                <a:spcPct val="100000"/>
              </a:lnSpc>
              <a:spcBef>
                <a:spcPts val="100"/>
              </a:spcBef>
              <a:buNone/>
            </a:pPr>
            <a:r>
              <a:rPr dirty="0">
                <a:latin typeface="Times New Roman" panose="02020603050405020304"/>
                <a:cs typeface="Times New Roman" panose="02020603050405020304"/>
                <a:sym typeface="+mn-ea"/>
              </a:rPr>
              <a:t>1.</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First,</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what</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0" dirty="0">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performance</a:t>
            </a:r>
            <a:r>
              <a:rPr b="1" spc="-25"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measure</a:t>
            </a:r>
            <a:endParaRPr>
              <a:latin typeface="Times New Roman" panose="02020603050405020304"/>
              <a:cs typeface="Times New Roman" panose="02020603050405020304"/>
            </a:endParaRPr>
          </a:p>
          <a:p>
            <a:pPr marL="0" indent="0">
              <a:lnSpc>
                <a:spcPct val="100000"/>
              </a:lnSpc>
              <a:spcBef>
                <a:spcPts val="5"/>
              </a:spcBef>
              <a:buNone/>
              <a:tabLst>
                <a:tab pos="5266055" algn="l"/>
              </a:tabLst>
            </a:pPr>
            <a:r>
              <a:rPr b="1" spc="-75" dirty="0">
                <a:latin typeface="Times New Roman" panose="02020603050405020304"/>
                <a:cs typeface="Times New Roman" panose="02020603050405020304"/>
                <a:sym typeface="+mn-ea"/>
              </a:rPr>
              <a:t>To</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which</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we</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would</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like</a:t>
            </a:r>
            <a:r>
              <a:rPr b="1" spc="-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our</a:t>
            </a:r>
            <a:r>
              <a:rPr b="1" spc="-8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automated</a:t>
            </a:r>
            <a:r>
              <a:rPr lang="en-US" b="1" spc="-1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driver</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to</a:t>
            </a:r>
            <a:r>
              <a:rPr b="1" spc="-10" dirty="0">
                <a:latin typeface="Times New Roman" panose="02020603050405020304"/>
                <a:cs typeface="Times New Roman" panose="02020603050405020304"/>
                <a:sym typeface="+mn-ea"/>
              </a:rPr>
              <a:t> aspire?</a:t>
            </a:r>
            <a:endParaRPr>
              <a:latin typeface="Times New Roman" panose="02020603050405020304"/>
              <a:cs typeface="Times New Roman" panose="02020603050405020304"/>
            </a:endParaRPr>
          </a:p>
          <a:p>
            <a:pPr marL="0" marR="8255" indent="0">
              <a:lnSpc>
                <a:spcPct val="100000"/>
              </a:lnSpc>
              <a:spcBef>
                <a:spcPts val="100"/>
              </a:spcBef>
              <a:buNone/>
            </a:pPr>
            <a:r>
              <a:rPr dirty="0">
                <a:latin typeface="Times New Roman" panose="02020603050405020304"/>
                <a:cs typeface="Times New Roman" panose="02020603050405020304"/>
                <a:sym typeface="+mn-ea"/>
              </a:rPr>
              <a:t>Desirable</a:t>
            </a:r>
            <a:r>
              <a:rPr spc="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qualities</a:t>
            </a:r>
            <a:r>
              <a:rPr spc="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include</a:t>
            </a:r>
            <a:r>
              <a:rPr spc="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getting</a:t>
            </a:r>
            <a:r>
              <a:rPr spc="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correct</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destination</a:t>
            </a:r>
            <a:r>
              <a:rPr dirty="0">
                <a:latin typeface="Times New Roman" panose="02020603050405020304"/>
                <a:cs typeface="Times New Roman" panose="02020603050405020304"/>
                <a:sym typeface="+mn-ea"/>
              </a:rPr>
              <a:t>;</a:t>
            </a:r>
            <a:r>
              <a:rPr spc="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minimizing</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fuel</a:t>
            </a:r>
            <a:r>
              <a:rPr b="1" spc="6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consumption </a:t>
            </a:r>
            <a:r>
              <a:rPr b="1" dirty="0">
                <a:latin typeface="Times New Roman" panose="02020603050405020304"/>
                <a:cs typeface="Times New Roman" panose="02020603050405020304"/>
                <a:sym typeface="+mn-ea"/>
              </a:rPr>
              <a:t>and</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wear</a:t>
            </a:r>
            <a:r>
              <a:rPr b="1" spc="-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tear</a:t>
            </a:r>
            <a:r>
              <a:rPr dirty="0">
                <a:latin typeface="Times New Roman" panose="02020603050405020304"/>
                <a:cs typeface="Times New Roman" panose="02020603050405020304"/>
                <a:sym typeface="+mn-ea"/>
              </a:rPr>
              <a:t>;</a:t>
            </a:r>
            <a:r>
              <a:rPr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minimizing</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the</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trip</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time</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or</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cost</a:t>
            </a:r>
            <a:r>
              <a:rPr dirty="0">
                <a:latin typeface="Times New Roman" panose="02020603050405020304"/>
                <a:cs typeface="Times New Roman" panose="02020603050405020304"/>
                <a:sym typeface="+mn-ea"/>
              </a:rPr>
              <a:t>;</a:t>
            </a:r>
            <a:r>
              <a:rPr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minimizing</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violations</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of</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traffic</a:t>
            </a:r>
            <a:r>
              <a:rPr b="1" spc="25" dirty="0">
                <a:latin typeface="Times New Roman" panose="02020603050405020304"/>
                <a:cs typeface="Times New Roman" panose="02020603050405020304"/>
                <a:sym typeface="+mn-ea"/>
              </a:rPr>
              <a:t> </a:t>
            </a:r>
            <a:r>
              <a:rPr b="1" spc="-20" dirty="0">
                <a:latin typeface="Times New Roman" panose="02020603050405020304"/>
                <a:cs typeface="Times New Roman" panose="02020603050405020304"/>
                <a:sym typeface="+mn-ea"/>
              </a:rPr>
              <a:t>laws </a:t>
            </a:r>
            <a:r>
              <a:rPr b="1" dirty="0">
                <a:latin typeface="Times New Roman" panose="02020603050405020304"/>
                <a:cs typeface="Times New Roman" panose="02020603050405020304"/>
                <a:sym typeface="+mn-ea"/>
              </a:rPr>
              <a:t>and</a:t>
            </a:r>
            <a:r>
              <a:rPr b="1" spc="-1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disturbances</a:t>
            </a:r>
            <a:r>
              <a:rPr b="1" spc="-1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to</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other</a:t>
            </a:r>
            <a:r>
              <a:rPr b="1" spc="-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drivers</a:t>
            </a:r>
            <a:r>
              <a:rPr dirty="0">
                <a:latin typeface="Times New Roman" panose="02020603050405020304"/>
                <a:cs typeface="Times New Roman" panose="02020603050405020304"/>
                <a:sym typeface="+mn-ea"/>
              </a:rPr>
              <a:t>;</a:t>
            </a:r>
            <a:r>
              <a:rPr spc="5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maximizing</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safety</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passenger</a:t>
            </a:r>
            <a:r>
              <a:rPr b="1" spc="-6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comfort.</a:t>
            </a:r>
            <a:endParaRPr>
              <a:latin typeface="Times New Roman" panose="02020603050405020304"/>
              <a:cs typeface="Times New Roman" panose="02020603050405020304"/>
            </a:endParaRPr>
          </a:p>
          <a:p>
            <a:pPr>
              <a:lnSpc>
                <a:spcPct val="100000"/>
              </a:lnSpc>
              <a:spcBef>
                <a:spcPts val="120"/>
              </a:spcBef>
            </a:pPr>
            <a:endParaRPr>
              <a:latin typeface="Times New Roman" panose="02020603050405020304"/>
              <a:cs typeface="Times New Roman" panose="02020603050405020304"/>
            </a:endParaRPr>
          </a:p>
          <a:p>
            <a:pPr marL="0" indent="0">
              <a:lnSpc>
                <a:spcPct val="100000"/>
              </a:lnSpc>
              <a:buNone/>
              <a:tabLst>
                <a:tab pos="317500" algn="l"/>
              </a:tabLst>
            </a:pPr>
            <a:r>
              <a:rPr lang="en-US" b="1" dirty="0">
                <a:latin typeface="Times New Roman" panose="02020603050405020304"/>
                <a:cs typeface="Times New Roman" panose="02020603050405020304"/>
                <a:sym typeface="+mn-ea"/>
              </a:rPr>
              <a:t>2. </a:t>
            </a:r>
            <a:r>
              <a:rPr b="1" dirty="0">
                <a:latin typeface="Times New Roman" panose="02020603050405020304"/>
                <a:cs typeface="Times New Roman" panose="02020603050405020304"/>
                <a:sym typeface="+mn-ea"/>
              </a:rPr>
              <a:t>Next,</a:t>
            </a:r>
            <a:r>
              <a:rPr b="1" spc="-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what</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is</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the</a:t>
            </a:r>
            <a:r>
              <a:rPr b="1" spc="-35" dirty="0">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driving</a:t>
            </a:r>
            <a:r>
              <a:rPr b="1" spc="-5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environment</a:t>
            </a:r>
            <a:r>
              <a:rPr b="1" spc="-45" dirty="0">
                <a:solidFill>
                  <a:srgbClr val="FF0000"/>
                </a:solidFill>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that</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the</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taxi</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will</a:t>
            </a:r>
            <a:r>
              <a:rPr b="1" spc="-4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face?</a:t>
            </a:r>
            <a:endParaRPr>
              <a:latin typeface="Times New Roman" panose="02020603050405020304"/>
              <a:cs typeface="Times New Roman" panose="02020603050405020304"/>
            </a:endParaRPr>
          </a:p>
          <a:p>
            <a:pPr marL="0" marR="5080" indent="0">
              <a:lnSpc>
                <a:spcPct val="100000"/>
              </a:lnSpc>
              <a:buNone/>
            </a:pPr>
            <a:r>
              <a:rPr dirty="0">
                <a:latin typeface="Times New Roman" panose="02020603050405020304"/>
                <a:cs typeface="Times New Roman" panose="02020603050405020304"/>
                <a:sym typeface="+mn-ea"/>
              </a:rPr>
              <a:t>Any</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taxi</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driver</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must</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deal</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with</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variety</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roads,</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ranging</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1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rural</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lanes</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urban</a:t>
            </a:r>
            <a:r>
              <a:rPr b="1" spc="1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alleys </a:t>
            </a:r>
            <a:r>
              <a:rPr b="1" dirty="0">
                <a:latin typeface="Times New Roman" panose="02020603050405020304"/>
                <a:cs typeface="Times New Roman" panose="02020603050405020304"/>
                <a:sym typeface="+mn-ea"/>
              </a:rPr>
              <a:t>to</a:t>
            </a:r>
            <a:r>
              <a:rPr b="1" spc="45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12-</a:t>
            </a:r>
            <a:r>
              <a:rPr b="1" dirty="0">
                <a:latin typeface="Times New Roman" panose="02020603050405020304"/>
                <a:cs typeface="Times New Roman" panose="02020603050405020304"/>
                <a:sym typeface="+mn-ea"/>
              </a:rPr>
              <a:t>lane</a:t>
            </a:r>
            <a:r>
              <a:rPr b="1" spc="4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freeways.</a:t>
            </a:r>
            <a:r>
              <a:rPr b="1" spc="45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4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roads</a:t>
            </a:r>
            <a:r>
              <a:rPr spc="45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contain</a:t>
            </a:r>
            <a:r>
              <a:rPr spc="4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other</a:t>
            </a:r>
            <a:r>
              <a:rPr spc="4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traffic,</a:t>
            </a:r>
            <a:r>
              <a:rPr b="1" spc="459"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pedestrians,</a:t>
            </a:r>
            <a:r>
              <a:rPr b="1" spc="4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stray</a:t>
            </a:r>
            <a:r>
              <a:rPr b="1" spc="459"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animals,</a:t>
            </a:r>
            <a:r>
              <a:rPr b="1" spc="459" dirty="0">
                <a:latin typeface="Times New Roman" panose="02020603050405020304"/>
                <a:cs typeface="Times New Roman" panose="02020603050405020304"/>
                <a:sym typeface="+mn-ea"/>
              </a:rPr>
              <a:t>  </a:t>
            </a:r>
            <a:r>
              <a:rPr b="1" spc="-20" dirty="0">
                <a:latin typeface="Times New Roman" panose="02020603050405020304"/>
                <a:cs typeface="Times New Roman" panose="02020603050405020304"/>
                <a:sym typeface="+mn-ea"/>
              </a:rPr>
              <a:t>road </a:t>
            </a:r>
            <a:r>
              <a:rPr b="1" dirty="0">
                <a:latin typeface="Times New Roman" panose="02020603050405020304"/>
                <a:cs typeface="Times New Roman" panose="02020603050405020304"/>
                <a:sym typeface="+mn-ea"/>
              </a:rPr>
              <a:t>works,</a:t>
            </a:r>
            <a:r>
              <a:rPr b="1" spc="3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police</a:t>
            </a:r>
            <a:r>
              <a:rPr b="1" spc="3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cars,</a:t>
            </a:r>
            <a:r>
              <a:rPr b="1" spc="3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puddles,</a:t>
            </a:r>
            <a:r>
              <a:rPr b="1" spc="3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3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potholes</a:t>
            </a:r>
            <a:r>
              <a:rPr dirty="0">
                <a:latin typeface="Times New Roman" panose="02020603050405020304"/>
                <a:cs typeface="Times New Roman" panose="02020603050405020304"/>
                <a:sym typeface="+mn-ea"/>
              </a:rPr>
              <a:t>.</a:t>
            </a:r>
            <a:r>
              <a:rPr spc="3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taxi</a:t>
            </a:r>
            <a:r>
              <a:rPr spc="3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must</a:t>
            </a:r>
            <a:r>
              <a:rPr spc="3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also</a:t>
            </a:r>
            <a:r>
              <a:rPr spc="3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interact</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with</a:t>
            </a:r>
            <a:r>
              <a:rPr spc="3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potential</a:t>
            </a:r>
            <a:r>
              <a:rPr spc="33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and </a:t>
            </a:r>
            <a:r>
              <a:rPr dirty="0">
                <a:latin typeface="Times New Roman" panose="02020603050405020304"/>
                <a:cs typeface="Times New Roman" panose="02020603050405020304"/>
                <a:sym typeface="+mn-ea"/>
              </a:rPr>
              <a:t>actual</a:t>
            </a:r>
            <a:r>
              <a:rPr spc="-3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passengers.</a:t>
            </a:r>
            <a:endParaRPr>
              <a:latin typeface="Times New Roman" panose="02020603050405020304"/>
              <a:cs typeface="Times New Roman" panose="02020603050405020304"/>
            </a:endParaRPr>
          </a:p>
          <a:p>
            <a:pPr>
              <a:lnSpc>
                <a:spcPct val="100000"/>
              </a:lnSpc>
              <a:spcBef>
                <a:spcPts val="125"/>
              </a:spcBef>
            </a:pPr>
            <a:endParaRPr>
              <a:latin typeface="Times New Roman" panose="02020603050405020304"/>
              <a:cs typeface="Times New Roman" panose="02020603050405020304"/>
            </a:endParaRPr>
          </a:p>
          <a:p>
            <a:pPr marL="0" marR="5715" indent="0">
              <a:lnSpc>
                <a:spcPct val="100000"/>
              </a:lnSpc>
              <a:buNone/>
              <a:tabLst>
                <a:tab pos="323215" algn="l"/>
              </a:tabLst>
            </a:pPr>
            <a:r>
              <a:rPr lang="en-US" b="1" dirty="0">
                <a:latin typeface="Times New Roman" panose="02020603050405020304"/>
                <a:cs typeface="Times New Roman" panose="02020603050405020304"/>
                <a:sym typeface="+mn-ea"/>
              </a:rPr>
              <a:t>3. </a:t>
            </a:r>
            <a:r>
              <a:rPr b="1" dirty="0">
                <a:latin typeface="Times New Roman" panose="02020603050405020304"/>
                <a:cs typeface="Times New Roman" panose="02020603050405020304"/>
                <a:sym typeface="+mn-ea"/>
              </a:rPr>
              <a:t>The</a:t>
            </a:r>
            <a:r>
              <a:rPr b="1" spc="20" dirty="0">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actuators</a:t>
            </a:r>
            <a:r>
              <a:rPr b="1" spc="35" dirty="0">
                <a:solidFill>
                  <a:srgbClr val="FF0000"/>
                </a:solidFill>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for</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automated</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taxi</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include</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those</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available</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to</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human</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driver:</a:t>
            </a:r>
            <a:r>
              <a:rPr b="1"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control </a:t>
            </a:r>
            <a:r>
              <a:rPr dirty="0">
                <a:latin typeface="Times New Roman" panose="02020603050405020304"/>
                <a:cs typeface="Times New Roman" panose="02020603050405020304"/>
                <a:sym typeface="+mn-ea"/>
              </a:rPr>
              <a:t>over</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0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engine</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through</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accelerator</a:t>
            </a:r>
            <a:r>
              <a:rPr spc="2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and</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control</a:t>
            </a:r>
            <a:r>
              <a:rPr spc="2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over</a:t>
            </a:r>
            <a:r>
              <a:rPr spc="2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steering</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and</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braking.</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a:t>
            </a:r>
            <a:r>
              <a:rPr spc="20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addition,</a:t>
            </a:r>
            <a:r>
              <a:rPr spc="18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it </a:t>
            </a:r>
            <a:r>
              <a:rPr dirty="0">
                <a:latin typeface="Times New Roman" panose="02020603050405020304"/>
                <a:cs typeface="Times New Roman" panose="02020603050405020304"/>
                <a:sym typeface="+mn-ea"/>
              </a:rPr>
              <a:t>will</a:t>
            </a:r>
            <a:r>
              <a:rPr spc="1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need</a:t>
            </a:r>
            <a:r>
              <a:rPr spc="1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output</a:t>
            </a:r>
            <a:r>
              <a:rPr spc="1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1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display</a:t>
            </a:r>
            <a:r>
              <a:rPr b="1" spc="17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screen</a:t>
            </a:r>
            <a:r>
              <a:rPr b="1" spc="1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1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voice</a:t>
            </a:r>
            <a:r>
              <a:rPr spc="1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synthesizer</a:t>
            </a:r>
            <a:r>
              <a:rPr spc="1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1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talk</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back</a:t>
            </a:r>
            <a:r>
              <a:rPr spc="1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1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passengers,</a:t>
            </a:r>
            <a:r>
              <a:rPr spc="175"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and </a:t>
            </a:r>
            <a:r>
              <a:rPr dirty="0">
                <a:latin typeface="Times New Roman" panose="02020603050405020304"/>
                <a:cs typeface="Times New Roman" panose="02020603050405020304"/>
                <a:sym typeface="+mn-ea"/>
              </a:rPr>
              <a:t>perhaps</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some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way</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communicate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with</a:t>
            </a:r>
            <a:r>
              <a:rPr spc="5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other</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vehicles,</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politely</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10" dirty="0">
                <a:latin typeface="Times New Roman" panose="02020603050405020304"/>
                <a:cs typeface="Times New Roman" panose="02020603050405020304"/>
                <a:sym typeface="+mn-ea"/>
              </a:rPr>
              <a:t> otherwise</a:t>
            </a:r>
            <a:endParaRPr>
              <a:latin typeface="Times New Roman" panose="02020603050405020304"/>
              <a:cs typeface="Times New Roman" panose="02020603050405020304"/>
            </a:endParaRPr>
          </a:p>
          <a:p>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50000"/>
          </a:bodyPr>
          <a:p>
            <a:pPr marR="5080">
              <a:lnSpc>
                <a:spcPct val="100000"/>
              </a:lnSpc>
              <a:spcBef>
                <a:spcPts val="100"/>
              </a:spcBef>
              <a:tabLst>
                <a:tab pos="347980" algn="l"/>
              </a:tabLst>
            </a:pPr>
            <a:r>
              <a:rPr sz="3200" dirty="0">
                <a:latin typeface="Times New Roman" panose="02020603050405020304"/>
                <a:cs typeface="Times New Roman" panose="02020603050405020304"/>
                <a:sym typeface="+mn-ea"/>
              </a:rPr>
              <a:t>The</a:t>
            </a:r>
            <a:r>
              <a:rPr sz="3200" spc="22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basic</a:t>
            </a:r>
            <a:r>
              <a:rPr sz="3200" spc="215" dirty="0">
                <a:latin typeface="Times New Roman" panose="02020603050405020304"/>
                <a:cs typeface="Times New Roman" panose="02020603050405020304"/>
                <a:sym typeface="+mn-ea"/>
              </a:rPr>
              <a:t> </a:t>
            </a:r>
            <a:r>
              <a:rPr sz="3200" b="1" dirty="0">
                <a:solidFill>
                  <a:srgbClr val="FF0000"/>
                </a:solidFill>
                <a:latin typeface="Times New Roman" panose="02020603050405020304"/>
                <a:cs typeface="Times New Roman" panose="02020603050405020304"/>
                <a:sym typeface="+mn-ea"/>
              </a:rPr>
              <a:t>sensors</a:t>
            </a:r>
            <a:r>
              <a:rPr sz="3200" b="1" spc="229" dirty="0">
                <a:solidFill>
                  <a:srgbClr val="FF0000"/>
                </a:solidFill>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for</a:t>
            </a:r>
            <a:r>
              <a:rPr sz="3200" spc="21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the</a:t>
            </a:r>
            <a:r>
              <a:rPr sz="3200" spc="21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taxi</a:t>
            </a:r>
            <a:r>
              <a:rPr sz="3200" spc="22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will</a:t>
            </a:r>
            <a:r>
              <a:rPr sz="3200" spc="21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include</a:t>
            </a:r>
            <a:r>
              <a:rPr sz="3200" spc="229"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one</a:t>
            </a:r>
            <a:r>
              <a:rPr sz="3200" spc="22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or</a:t>
            </a:r>
            <a:r>
              <a:rPr sz="3200" spc="22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more</a:t>
            </a:r>
            <a:r>
              <a:rPr sz="3200" spc="229"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video</a:t>
            </a:r>
            <a:r>
              <a:rPr sz="3200" spc="21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cameras</a:t>
            </a:r>
            <a:r>
              <a:rPr sz="3200" spc="22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so</a:t>
            </a:r>
            <a:r>
              <a:rPr sz="3200" spc="21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that</a:t>
            </a:r>
            <a:r>
              <a:rPr sz="3200" spc="220" dirty="0">
                <a:latin typeface="Times New Roman" panose="02020603050405020304"/>
                <a:cs typeface="Times New Roman" panose="02020603050405020304"/>
                <a:sym typeface="+mn-ea"/>
              </a:rPr>
              <a:t> </a:t>
            </a:r>
            <a:r>
              <a:rPr sz="3200" spc="-25" dirty="0">
                <a:latin typeface="Times New Roman" panose="02020603050405020304"/>
                <a:cs typeface="Times New Roman" panose="02020603050405020304"/>
                <a:sym typeface="+mn-ea"/>
              </a:rPr>
              <a:t>it </a:t>
            </a:r>
            <a:r>
              <a:rPr sz="3200" dirty="0">
                <a:latin typeface="Times New Roman" panose="02020603050405020304"/>
                <a:cs typeface="Times New Roman" panose="02020603050405020304"/>
                <a:sym typeface="+mn-ea"/>
              </a:rPr>
              <a:t>can</a:t>
            </a:r>
            <a:r>
              <a:rPr sz="3200" spc="10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see,</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as</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well</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as</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lidar</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and</a:t>
            </a:r>
            <a:r>
              <a:rPr sz="3200" spc="10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ultrasound</a:t>
            </a:r>
            <a:r>
              <a:rPr sz="3200" spc="10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sensors</a:t>
            </a:r>
            <a:r>
              <a:rPr sz="3200" spc="9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to</a:t>
            </a:r>
            <a:r>
              <a:rPr sz="3200" spc="10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detect</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distances</a:t>
            </a:r>
            <a:r>
              <a:rPr sz="3200" spc="9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to</a:t>
            </a:r>
            <a:r>
              <a:rPr sz="3200" spc="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other</a:t>
            </a:r>
            <a:r>
              <a:rPr sz="3200" spc="9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cars</a:t>
            </a:r>
            <a:r>
              <a:rPr sz="3200" spc="110" dirty="0">
                <a:latin typeface="Times New Roman" panose="02020603050405020304"/>
                <a:cs typeface="Times New Roman" panose="02020603050405020304"/>
                <a:sym typeface="+mn-ea"/>
              </a:rPr>
              <a:t> </a:t>
            </a:r>
            <a:r>
              <a:rPr sz="3200" spc="-25" dirty="0">
                <a:latin typeface="Times New Roman" panose="02020603050405020304"/>
                <a:cs typeface="Times New Roman" panose="02020603050405020304"/>
                <a:sym typeface="+mn-ea"/>
              </a:rPr>
              <a:t>and </a:t>
            </a:r>
            <a:r>
              <a:rPr sz="3200" dirty="0">
                <a:latin typeface="Times New Roman" panose="02020603050405020304"/>
                <a:cs typeface="Times New Roman" panose="02020603050405020304"/>
                <a:sym typeface="+mn-ea"/>
              </a:rPr>
              <a:t>obstacles.</a:t>
            </a:r>
            <a:r>
              <a:rPr sz="3200" spc="18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To</a:t>
            </a:r>
            <a:r>
              <a:rPr sz="3200" spc="185"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avoid</a:t>
            </a:r>
            <a:r>
              <a:rPr sz="3200" spc="190" dirty="0">
                <a:latin typeface="Times New Roman" panose="02020603050405020304"/>
                <a:cs typeface="Times New Roman" panose="02020603050405020304"/>
                <a:sym typeface="+mn-ea"/>
              </a:rPr>
              <a:t> </a:t>
            </a:r>
            <a:r>
              <a:rPr sz="3200" dirty="0">
                <a:latin typeface="Times New Roman" panose="02020603050405020304"/>
                <a:cs typeface="Times New Roman" panose="02020603050405020304"/>
                <a:sym typeface="+mn-ea"/>
              </a:rPr>
              <a:t>speeding</a:t>
            </a:r>
            <a:r>
              <a:rPr sz="3200" spc="18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tickets,</a:t>
            </a:r>
            <a:r>
              <a:rPr sz="3200" b="1" spc="17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the</a:t>
            </a:r>
            <a:r>
              <a:rPr sz="3200" b="1" spc="1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taxi</a:t>
            </a:r>
            <a:r>
              <a:rPr sz="3200" b="1" spc="18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should</a:t>
            </a:r>
            <a:r>
              <a:rPr sz="3200" b="1" spc="18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have</a:t>
            </a:r>
            <a:r>
              <a:rPr sz="3200" b="1" spc="1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a</a:t>
            </a:r>
            <a:r>
              <a:rPr sz="3200" b="1" spc="1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speedometer,</a:t>
            </a:r>
            <a:r>
              <a:rPr sz="3200" b="1" spc="1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and</a:t>
            </a:r>
            <a:r>
              <a:rPr sz="3200" b="1" spc="180" dirty="0">
                <a:latin typeface="Times New Roman" panose="02020603050405020304"/>
                <a:cs typeface="Times New Roman" panose="02020603050405020304"/>
                <a:sym typeface="+mn-ea"/>
              </a:rPr>
              <a:t> </a:t>
            </a:r>
            <a:r>
              <a:rPr sz="3200" b="1" spc="-25" dirty="0">
                <a:latin typeface="Times New Roman" panose="02020603050405020304"/>
                <a:cs typeface="Times New Roman" panose="02020603050405020304"/>
                <a:sym typeface="+mn-ea"/>
              </a:rPr>
              <a:t>to </a:t>
            </a:r>
            <a:r>
              <a:rPr sz="3200" b="1" dirty="0">
                <a:latin typeface="Times New Roman" panose="02020603050405020304"/>
                <a:cs typeface="Times New Roman" panose="02020603050405020304"/>
                <a:sym typeface="+mn-ea"/>
              </a:rPr>
              <a:t>control</a:t>
            </a:r>
            <a:r>
              <a:rPr sz="3200" b="1" spc="29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the</a:t>
            </a:r>
            <a:r>
              <a:rPr sz="3200" b="1" spc="29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vehicle</a:t>
            </a:r>
            <a:r>
              <a:rPr sz="3200" b="1" spc="2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properly,</a:t>
            </a:r>
            <a:r>
              <a:rPr sz="3200" b="1" spc="29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especially</a:t>
            </a:r>
            <a:r>
              <a:rPr sz="3200" b="1" spc="29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on</a:t>
            </a:r>
            <a:r>
              <a:rPr sz="3200" b="1" spc="2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curves,</a:t>
            </a:r>
            <a:r>
              <a:rPr sz="3200" b="1" spc="29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it</a:t>
            </a:r>
            <a:r>
              <a:rPr sz="3200" b="1" spc="585"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should</a:t>
            </a:r>
            <a:r>
              <a:rPr sz="3200" b="1" spc="290" dirty="0">
                <a:latin typeface="Times New Roman" panose="02020603050405020304"/>
                <a:cs typeface="Times New Roman" panose="02020603050405020304"/>
                <a:sym typeface="+mn-ea"/>
              </a:rPr>
              <a:t>  </a:t>
            </a:r>
            <a:r>
              <a:rPr sz="3200" b="1" dirty="0">
                <a:latin typeface="Times New Roman" panose="02020603050405020304"/>
                <a:cs typeface="Times New Roman" panose="02020603050405020304"/>
                <a:sym typeface="+mn-ea"/>
              </a:rPr>
              <a:t>have</a:t>
            </a:r>
            <a:r>
              <a:rPr sz="3200" b="1" spc="290" dirty="0">
                <a:latin typeface="Times New Roman" panose="02020603050405020304"/>
                <a:cs typeface="Times New Roman" panose="02020603050405020304"/>
                <a:sym typeface="+mn-ea"/>
              </a:rPr>
              <a:t>  </a:t>
            </a:r>
            <a:r>
              <a:rPr sz="3200" b="1" spc="-25" dirty="0">
                <a:latin typeface="Times New Roman" panose="02020603050405020304"/>
                <a:cs typeface="Times New Roman" panose="02020603050405020304"/>
                <a:sym typeface="+mn-ea"/>
              </a:rPr>
              <a:t>an </a:t>
            </a:r>
            <a:r>
              <a:rPr sz="3200" b="1" spc="-10" dirty="0">
                <a:latin typeface="Times New Roman" panose="02020603050405020304"/>
                <a:cs typeface="Times New Roman" panose="02020603050405020304"/>
                <a:sym typeface="+mn-ea"/>
              </a:rPr>
              <a:t>accelerometer.</a:t>
            </a:r>
            <a:endParaRPr sz="3200">
              <a:latin typeface="Times New Roman" panose="02020603050405020304"/>
              <a:cs typeface="Times New Roman" panose="02020603050405020304"/>
            </a:endParaRPr>
          </a:p>
          <a:p>
            <a:pPr>
              <a:lnSpc>
                <a:spcPct val="100000"/>
              </a:lnSpc>
              <a:spcBef>
                <a:spcPts val="120"/>
              </a:spcBef>
            </a:pPr>
            <a:endParaRPr sz="3200">
              <a:latin typeface="Times New Roman" panose="02020603050405020304"/>
              <a:cs typeface="Times New Roman" panose="02020603050405020304"/>
            </a:endParaRPr>
          </a:p>
          <a:p>
            <a:pPr>
              <a:lnSpc>
                <a:spcPct val="100000"/>
              </a:lnSpc>
            </a:pPr>
            <a:r>
              <a:rPr sz="3200" b="1" dirty="0">
                <a:solidFill>
                  <a:srgbClr val="FF0000"/>
                </a:solidFill>
                <a:latin typeface="Times New Roman" panose="02020603050405020304"/>
                <a:cs typeface="Times New Roman" panose="02020603050405020304"/>
                <a:sym typeface="+mn-ea"/>
              </a:rPr>
              <a:t>Properties</a:t>
            </a:r>
            <a:r>
              <a:rPr sz="3200" b="1" spc="-80" dirty="0">
                <a:solidFill>
                  <a:srgbClr val="FF0000"/>
                </a:solidFill>
                <a:latin typeface="Times New Roman" panose="02020603050405020304"/>
                <a:cs typeface="Times New Roman" panose="02020603050405020304"/>
                <a:sym typeface="+mn-ea"/>
              </a:rPr>
              <a:t> </a:t>
            </a:r>
            <a:r>
              <a:rPr sz="3200" b="1" dirty="0">
                <a:solidFill>
                  <a:srgbClr val="FF0000"/>
                </a:solidFill>
                <a:latin typeface="Times New Roman" panose="02020603050405020304"/>
                <a:cs typeface="Times New Roman" panose="02020603050405020304"/>
                <a:sym typeface="+mn-ea"/>
              </a:rPr>
              <a:t>of</a:t>
            </a:r>
            <a:r>
              <a:rPr sz="3200" b="1" spc="-60" dirty="0">
                <a:solidFill>
                  <a:srgbClr val="FF0000"/>
                </a:solidFill>
                <a:latin typeface="Times New Roman" panose="02020603050405020304"/>
                <a:cs typeface="Times New Roman" panose="02020603050405020304"/>
                <a:sym typeface="+mn-ea"/>
              </a:rPr>
              <a:t> </a:t>
            </a:r>
            <a:r>
              <a:rPr sz="3200" b="1" dirty="0">
                <a:solidFill>
                  <a:srgbClr val="FF0000"/>
                </a:solidFill>
                <a:latin typeface="Times New Roman" panose="02020603050405020304"/>
                <a:cs typeface="Times New Roman" panose="02020603050405020304"/>
                <a:sym typeface="+mn-ea"/>
              </a:rPr>
              <a:t>task</a:t>
            </a:r>
            <a:r>
              <a:rPr sz="3200" b="1" spc="-65" dirty="0">
                <a:solidFill>
                  <a:srgbClr val="FF0000"/>
                </a:solidFill>
                <a:latin typeface="Times New Roman" panose="02020603050405020304"/>
                <a:cs typeface="Times New Roman" panose="02020603050405020304"/>
                <a:sym typeface="+mn-ea"/>
              </a:rPr>
              <a:t> </a:t>
            </a:r>
            <a:r>
              <a:rPr sz="3200" b="1" dirty="0">
                <a:solidFill>
                  <a:srgbClr val="FF0000"/>
                </a:solidFill>
                <a:latin typeface="Times New Roman" panose="02020603050405020304"/>
                <a:cs typeface="Times New Roman" panose="02020603050405020304"/>
                <a:sym typeface="+mn-ea"/>
              </a:rPr>
              <a:t>environments</a:t>
            </a:r>
            <a:r>
              <a:rPr sz="3200" b="1" spc="-65" dirty="0">
                <a:solidFill>
                  <a:srgbClr val="FF0000"/>
                </a:solidFill>
                <a:latin typeface="Times New Roman" panose="02020603050405020304"/>
                <a:cs typeface="Times New Roman" panose="02020603050405020304"/>
                <a:sym typeface="+mn-ea"/>
              </a:rPr>
              <a:t> </a:t>
            </a:r>
            <a:r>
              <a:rPr sz="3200" b="1" spc="-50" dirty="0">
                <a:solidFill>
                  <a:srgbClr val="FF0000"/>
                </a:solidFill>
                <a:latin typeface="Times New Roman" panose="02020603050405020304"/>
                <a:cs typeface="Times New Roman" panose="02020603050405020304"/>
                <a:sym typeface="+mn-ea"/>
              </a:rPr>
              <a:t>:</a:t>
            </a:r>
            <a:endParaRPr sz="3200">
              <a:latin typeface="Times New Roman" panose="02020603050405020304"/>
              <a:cs typeface="Times New Roman" panose="02020603050405020304"/>
            </a:endParaRPr>
          </a:p>
          <a:p>
            <a:pPr>
              <a:lnSpc>
                <a:spcPct val="100000"/>
              </a:lnSpc>
              <a:spcBef>
                <a:spcPts val="125"/>
              </a:spcBef>
            </a:pPr>
            <a:endParaRPr sz="3200">
              <a:latin typeface="Times New Roman" panose="02020603050405020304"/>
              <a:cs typeface="Times New Roman" panose="02020603050405020304"/>
            </a:endParaRPr>
          </a:p>
          <a:p>
            <a:pPr lvl="1">
              <a:lnSpc>
                <a:spcPct val="100000"/>
              </a:lnSpc>
              <a:tabLst>
                <a:tab pos="241300" algn="l"/>
              </a:tabLst>
            </a:pPr>
            <a:r>
              <a:rPr sz="3200" spc="-65" dirty="0">
                <a:solidFill>
                  <a:srgbClr val="3E3E3E"/>
                </a:solidFill>
                <a:latin typeface="Times New Roman" panose="02020603050405020304"/>
                <a:cs typeface="Times New Roman" panose="02020603050405020304"/>
                <a:sym typeface="+mn-ea"/>
              </a:rPr>
              <a:t>FULLY</a:t>
            </a:r>
            <a:r>
              <a:rPr sz="3200" spc="-85" dirty="0">
                <a:solidFill>
                  <a:srgbClr val="3E3E3E"/>
                </a:solidFill>
                <a:latin typeface="Times New Roman" panose="02020603050405020304"/>
                <a:cs typeface="Times New Roman" panose="02020603050405020304"/>
                <a:sym typeface="+mn-ea"/>
              </a:rPr>
              <a:t> </a:t>
            </a:r>
            <a:r>
              <a:rPr sz="3200" spc="-55" dirty="0">
                <a:solidFill>
                  <a:srgbClr val="3E3E3E"/>
                </a:solidFill>
                <a:latin typeface="Times New Roman" panose="02020603050405020304"/>
                <a:cs typeface="Times New Roman" panose="02020603050405020304"/>
                <a:sym typeface="+mn-ea"/>
              </a:rPr>
              <a:t>OBSERVABLE </a:t>
            </a:r>
            <a:r>
              <a:rPr sz="3200" dirty="0">
                <a:solidFill>
                  <a:srgbClr val="3E3E3E"/>
                </a:solidFill>
                <a:latin typeface="Times New Roman" panose="02020603050405020304"/>
                <a:cs typeface="Times New Roman" panose="02020603050405020304"/>
                <a:sym typeface="+mn-ea"/>
              </a:rPr>
              <a:t>VS. </a:t>
            </a:r>
            <a:r>
              <a:rPr sz="3200" spc="-80" dirty="0">
                <a:solidFill>
                  <a:srgbClr val="3E3E3E"/>
                </a:solidFill>
                <a:latin typeface="Times New Roman" panose="02020603050405020304"/>
                <a:cs typeface="Times New Roman" panose="02020603050405020304"/>
                <a:sym typeface="+mn-ea"/>
              </a:rPr>
              <a:t>PARTIALLY</a:t>
            </a:r>
            <a:r>
              <a:rPr sz="3200" spc="-95"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OBSERVABLE</a:t>
            </a:r>
            <a:endParaRPr sz="3200">
              <a:latin typeface="Times New Roman" panose="02020603050405020304"/>
              <a:cs typeface="Times New Roman" panose="02020603050405020304"/>
            </a:endParaRPr>
          </a:p>
          <a:p>
            <a:pPr lvl="1">
              <a:lnSpc>
                <a:spcPct val="100000"/>
              </a:lnSpc>
              <a:tabLst>
                <a:tab pos="317500" algn="l"/>
              </a:tabLst>
            </a:pPr>
            <a:r>
              <a:rPr sz="3200" spc="-20" dirty="0">
                <a:solidFill>
                  <a:srgbClr val="3E3E3E"/>
                </a:solidFill>
                <a:latin typeface="Times New Roman" panose="02020603050405020304"/>
                <a:cs typeface="Times New Roman" panose="02020603050405020304"/>
                <a:sym typeface="+mn-ea"/>
              </a:rPr>
              <a:t>SINGLE-</a:t>
            </a:r>
            <a:r>
              <a:rPr sz="3200" dirty="0">
                <a:solidFill>
                  <a:srgbClr val="3E3E3E"/>
                </a:solidFill>
                <a:latin typeface="Times New Roman" panose="02020603050405020304"/>
                <a:cs typeface="Times New Roman" panose="02020603050405020304"/>
                <a:sym typeface="+mn-ea"/>
              </a:rPr>
              <a:t>AGENT</a:t>
            </a:r>
            <a:r>
              <a:rPr sz="3200" spc="-90" dirty="0">
                <a:solidFill>
                  <a:srgbClr val="3E3E3E"/>
                </a:solidFill>
                <a:latin typeface="Times New Roman" panose="02020603050405020304"/>
                <a:cs typeface="Times New Roman" panose="02020603050405020304"/>
                <a:sym typeface="+mn-ea"/>
              </a:rPr>
              <a:t> </a:t>
            </a:r>
            <a:r>
              <a:rPr sz="3200" dirty="0">
                <a:solidFill>
                  <a:srgbClr val="3E3E3E"/>
                </a:solidFill>
                <a:latin typeface="Times New Roman" panose="02020603050405020304"/>
                <a:cs typeface="Times New Roman" panose="02020603050405020304"/>
                <a:sym typeface="+mn-ea"/>
              </a:rPr>
              <a:t>VS.</a:t>
            </a:r>
            <a:r>
              <a:rPr sz="3200" spc="-25"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MULTIAGENT</a:t>
            </a:r>
            <a:endParaRPr sz="3200">
              <a:latin typeface="Times New Roman" panose="02020603050405020304"/>
              <a:cs typeface="Times New Roman" panose="02020603050405020304"/>
            </a:endParaRPr>
          </a:p>
          <a:p>
            <a:pPr lvl="1">
              <a:lnSpc>
                <a:spcPct val="100000"/>
              </a:lnSpc>
              <a:tabLst>
                <a:tab pos="241300" algn="l"/>
              </a:tabLst>
            </a:pPr>
            <a:r>
              <a:rPr sz="3200" dirty="0">
                <a:solidFill>
                  <a:srgbClr val="3E3E3E"/>
                </a:solidFill>
                <a:latin typeface="Times New Roman" panose="02020603050405020304"/>
                <a:cs typeface="Times New Roman" panose="02020603050405020304"/>
                <a:sym typeface="+mn-ea"/>
              </a:rPr>
              <a:t>Deterministic</a:t>
            </a:r>
            <a:r>
              <a:rPr sz="3200" spc="-50" dirty="0">
                <a:solidFill>
                  <a:srgbClr val="3E3E3E"/>
                </a:solidFill>
                <a:latin typeface="Times New Roman" panose="02020603050405020304"/>
                <a:cs typeface="Times New Roman" panose="02020603050405020304"/>
                <a:sym typeface="+mn-ea"/>
              </a:rPr>
              <a:t> </a:t>
            </a:r>
            <a:r>
              <a:rPr sz="3200" dirty="0">
                <a:solidFill>
                  <a:srgbClr val="3E3E3E"/>
                </a:solidFill>
                <a:latin typeface="Times New Roman" panose="02020603050405020304"/>
                <a:cs typeface="Times New Roman" panose="02020603050405020304"/>
                <a:sym typeface="+mn-ea"/>
              </a:rPr>
              <a:t>vs.</a:t>
            </a:r>
            <a:r>
              <a:rPr sz="3200" spc="-5"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nondeterministic</a:t>
            </a:r>
            <a:endParaRPr sz="3200">
              <a:latin typeface="Times New Roman" panose="02020603050405020304"/>
              <a:cs typeface="Times New Roman" panose="02020603050405020304"/>
            </a:endParaRPr>
          </a:p>
          <a:p>
            <a:pPr lvl="1">
              <a:lnSpc>
                <a:spcPct val="100000"/>
              </a:lnSpc>
              <a:tabLst>
                <a:tab pos="241300" algn="l"/>
              </a:tabLst>
            </a:pPr>
            <a:r>
              <a:rPr sz="3200" dirty="0">
                <a:solidFill>
                  <a:srgbClr val="3E3E3E"/>
                </a:solidFill>
                <a:latin typeface="Times New Roman" panose="02020603050405020304"/>
                <a:cs typeface="Times New Roman" panose="02020603050405020304"/>
                <a:sym typeface="+mn-ea"/>
              </a:rPr>
              <a:t>EPISODIC</a:t>
            </a:r>
            <a:r>
              <a:rPr sz="3200" spc="-95" dirty="0">
                <a:solidFill>
                  <a:srgbClr val="3E3E3E"/>
                </a:solidFill>
                <a:latin typeface="Times New Roman" panose="02020603050405020304"/>
                <a:cs typeface="Times New Roman" panose="02020603050405020304"/>
                <a:sym typeface="+mn-ea"/>
              </a:rPr>
              <a:t> </a:t>
            </a:r>
            <a:r>
              <a:rPr sz="3200" dirty="0">
                <a:solidFill>
                  <a:srgbClr val="3E3E3E"/>
                </a:solidFill>
                <a:latin typeface="Times New Roman" panose="02020603050405020304"/>
                <a:cs typeface="Times New Roman" panose="02020603050405020304"/>
                <a:sym typeface="+mn-ea"/>
              </a:rPr>
              <a:t>VS.</a:t>
            </a:r>
            <a:r>
              <a:rPr sz="3200" spc="-50"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SEQUENTIAL</a:t>
            </a:r>
            <a:endParaRPr sz="3200">
              <a:latin typeface="Times New Roman" panose="02020603050405020304"/>
              <a:cs typeface="Times New Roman" panose="02020603050405020304"/>
            </a:endParaRPr>
          </a:p>
          <a:p>
            <a:pPr lvl="1">
              <a:lnSpc>
                <a:spcPct val="100000"/>
              </a:lnSpc>
              <a:tabLst>
                <a:tab pos="241300" algn="l"/>
              </a:tabLst>
            </a:pPr>
            <a:r>
              <a:rPr sz="3200" spc="-85" dirty="0">
                <a:solidFill>
                  <a:srgbClr val="3E3E3E"/>
                </a:solidFill>
                <a:latin typeface="Times New Roman" panose="02020603050405020304"/>
                <a:cs typeface="Times New Roman" panose="02020603050405020304"/>
                <a:sym typeface="+mn-ea"/>
              </a:rPr>
              <a:t>STATIC</a:t>
            </a:r>
            <a:r>
              <a:rPr sz="3200" spc="-60" dirty="0">
                <a:solidFill>
                  <a:srgbClr val="3E3E3E"/>
                </a:solidFill>
                <a:latin typeface="Times New Roman" panose="02020603050405020304"/>
                <a:cs typeface="Times New Roman" panose="02020603050405020304"/>
                <a:sym typeface="+mn-ea"/>
              </a:rPr>
              <a:t> </a:t>
            </a:r>
            <a:r>
              <a:rPr sz="3200" dirty="0">
                <a:solidFill>
                  <a:srgbClr val="3E3E3E"/>
                </a:solidFill>
                <a:latin typeface="Times New Roman" panose="02020603050405020304"/>
                <a:cs typeface="Times New Roman" panose="02020603050405020304"/>
                <a:sym typeface="+mn-ea"/>
              </a:rPr>
              <a:t>VS.</a:t>
            </a:r>
            <a:r>
              <a:rPr sz="3200" spc="-5"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DYNAMIC</a:t>
            </a:r>
            <a:endParaRPr sz="3200">
              <a:latin typeface="Times New Roman" panose="02020603050405020304"/>
              <a:cs typeface="Times New Roman" panose="02020603050405020304"/>
            </a:endParaRPr>
          </a:p>
          <a:p>
            <a:pPr lvl="1">
              <a:lnSpc>
                <a:spcPct val="100000"/>
              </a:lnSpc>
              <a:tabLst>
                <a:tab pos="241300" algn="l"/>
              </a:tabLst>
            </a:pPr>
            <a:r>
              <a:rPr sz="3200" dirty="0">
                <a:solidFill>
                  <a:srgbClr val="3E3E3E"/>
                </a:solidFill>
                <a:latin typeface="Times New Roman" panose="02020603050405020304"/>
                <a:cs typeface="Times New Roman" panose="02020603050405020304"/>
                <a:sym typeface="+mn-ea"/>
              </a:rPr>
              <a:t>DISCRETE</a:t>
            </a:r>
            <a:r>
              <a:rPr sz="3200" spc="-85" dirty="0">
                <a:solidFill>
                  <a:srgbClr val="3E3E3E"/>
                </a:solidFill>
                <a:latin typeface="Times New Roman" panose="02020603050405020304"/>
                <a:cs typeface="Times New Roman" panose="02020603050405020304"/>
                <a:sym typeface="+mn-ea"/>
              </a:rPr>
              <a:t> </a:t>
            </a:r>
            <a:r>
              <a:rPr sz="3200" dirty="0">
                <a:solidFill>
                  <a:srgbClr val="3E3E3E"/>
                </a:solidFill>
                <a:latin typeface="Times New Roman" panose="02020603050405020304"/>
                <a:cs typeface="Times New Roman" panose="02020603050405020304"/>
                <a:sym typeface="+mn-ea"/>
              </a:rPr>
              <a:t>VS.</a:t>
            </a:r>
            <a:r>
              <a:rPr sz="3200" spc="-50"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CONTINUOUS</a:t>
            </a:r>
            <a:endParaRPr sz="3200">
              <a:latin typeface="Times New Roman" panose="02020603050405020304"/>
              <a:cs typeface="Times New Roman" panose="02020603050405020304"/>
            </a:endParaRPr>
          </a:p>
          <a:p>
            <a:pPr lvl="1">
              <a:lnSpc>
                <a:spcPct val="100000"/>
              </a:lnSpc>
              <a:tabLst>
                <a:tab pos="241300" algn="l"/>
              </a:tabLst>
            </a:pPr>
            <a:r>
              <a:rPr sz="3200" dirty="0">
                <a:solidFill>
                  <a:srgbClr val="3E3E3E"/>
                </a:solidFill>
                <a:latin typeface="Times New Roman" panose="02020603050405020304"/>
                <a:cs typeface="Times New Roman" panose="02020603050405020304"/>
                <a:sym typeface="+mn-ea"/>
              </a:rPr>
              <a:t>KNOWN</a:t>
            </a:r>
            <a:r>
              <a:rPr sz="3200" spc="-85" dirty="0">
                <a:solidFill>
                  <a:srgbClr val="3E3E3E"/>
                </a:solidFill>
                <a:latin typeface="Times New Roman" panose="02020603050405020304"/>
                <a:cs typeface="Times New Roman" panose="02020603050405020304"/>
                <a:sym typeface="+mn-ea"/>
              </a:rPr>
              <a:t> </a:t>
            </a:r>
            <a:r>
              <a:rPr sz="3200" dirty="0">
                <a:solidFill>
                  <a:srgbClr val="3E3E3E"/>
                </a:solidFill>
                <a:latin typeface="Times New Roman" panose="02020603050405020304"/>
                <a:cs typeface="Times New Roman" panose="02020603050405020304"/>
                <a:sym typeface="+mn-ea"/>
              </a:rPr>
              <a:t>VS.</a:t>
            </a:r>
            <a:r>
              <a:rPr sz="3200" spc="-75" dirty="0">
                <a:solidFill>
                  <a:srgbClr val="3E3E3E"/>
                </a:solidFill>
                <a:latin typeface="Times New Roman" panose="02020603050405020304"/>
                <a:cs typeface="Times New Roman" panose="02020603050405020304"/>
                <a:sym typeface="+mn-ea"/>
              </a:rPr>
              <a:t> </a:t>
            </a:r>
            <a:r>
              <a:rPr sz="3200" spc="-10" dirty="0">
                <a:solidFill>
                  <a:srgbClr val="3E3E3E"/>
                </a:solidFill>
                <a:latin typeface="Times New Roman" panose="02020603050405020304"/>
                <a:cs typeface="Times New Roman" panose="02020603050405020304"/>
                <a:sym typeface="+mn-ea"/>
              </a:rPr>
              <a:t>UNKNOWN</a:t>
            </a:r>
            <a:endParaRPr sz="3200">
              <a:latin typeface="Times New Roman" panose="02020603050405020304"/>
              <a:cs typeface="Times New Roman" panose="02020603050405020304"/>
            </a:endParaRPr>
          </a:p>
          <a:p>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50000"/>
          </a:bodyPr>
          <a:p>
            <a:pPr marR="5715">
              <a:lnSpc>
                <a:spcPct val="100000"/>
              </a:lnSpc>
              <a:spcBef>
                <a:spcPts val="100"/>
              </a:spcBef>
            </a:pPr>
            <a:r>
              <a:rPr spc="-45" dirty="0">
                <a:solidFill>
                  <a:srgbClr val="C00000"/>
                </a:solidFill>
                <a:latin typeface="Times New Roman" panose="02020603050405020304"/>
                <a:cs typeface="Times New Roman" panose="02020603050405020304"/>
                <a:sym typeface="+mn-ea"/>
              </a:rPr>
              <a:t>FULLY</a:t>
            </a:r>
            <a:r>
              <a:rPr spc="-105" dirty="0">
                <a:solidFill>
                  <a:srgbClr val="C00000"/>
                </a:solidFill>
                <a:latin typeface="Times New Roman" panose="02020603050405020304"/>
                <a:cs typeface="Times New Roman" panose="02020603050405020304"/>
                <a:sym typeface="+mn-ea"/>
              </a:rPr>
              <a:t> </a:t>
            </a:r>
            <a:r>
              <a:rPr spc="-55" dirty="0">
                <a:solidFill>
                  <a:srgbClr val="C00000"/>
                </a:solidFill>
                <a:latin typeface="Times New Roman" panose="02020603050405020304"/>
                <a:cs typeface="Times New Roman" panose="02020603050405020304"/>
                <a:sym typeface="+mn-ea"/>
              </a:rPr>
              <a:t>OBSERVABLE</a:t>
            </a:r>
            <a:r>
              <a:rPr spc="-70"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VS.</a:t>
            </a:r>
            <a:r>
              <a:rPr spc="-10" dirty="0">
                <a:solidFill>
                  <a:srgbClr val="C00000"/>
                </a:solidFill>
                <a:latin typeface="Times New Roman" panose="02020603050405020304"/>
                <a:cs typeface="Times New Roman" panose="02020603050405020304"/>
                <a:sym typeface="+mn-ea"/>
              </a:rPr>
              <a:t> </a:t>
            </a:r>
            <a:r>
              <a:rPr spc="-85" dirty="0">
                <a:solidFill>
                  <a:srgbClr val="C00000"/>
                </a:solidFill>
                <a:latin typeface="Times New Roman" panose="02020603050405020304"/>
                <a:cs typeface="Times New Roman" panose="02020603050405020304"/>
                <a:sym typeface="+mn-ea"/>
              </a:rPr>
              <a:t>PARTIALLY</a:t>
            </a:r>
            <a:r>
              <a:rPr spc="-80" dirty="0">
                <a:solidFill>
                  <a:srgbClr val="C00000"/>
                </a:solidFill>
                <a:latin typeface="Times New Roman" panose="02020603050405020304"/>
                <a:cs typeface="Times New Roman" panose="02020603050405020304"/>
                <a:sym typeface="+mn-ea"/>
              </a:rPr>
              <a:t> </a:t>
            </a:r>
            <a:r>
              <a:rPr spc="-50" dirty="0">
                <a:solidFill>
                  <a:srgbClr val="C00000"/>
                </a:solidFill>
                <a:latin typeface="Times New Roman" panose="02020603050405020304"/>
                <a:cs typeface="Times New Roman" panose="02020603050405020304"/>
                <a:sym typeface="+mn-ea"/>
              </a:rPr>
              <a:t>OBSERVABLE</a:t>
            </a:r>
            <a:endParaRPr spc="-50" dirty="0">
              <a:solidFill>
                <a:srgbClr val="C00000"/>
              </a:solidFill>
              <a:latin typeface="Times New Roman" panose="02020603050405020304"/>
              <a:cs typeface="Times New Roman" panose="02020603050405020304"/>
              <a:sym typeface="+mn-ea"/>
            </a:endParaRPr>
          </a:p>
          <a:p>
            <a:pPr marR="5715">
              <a:lnSpc>
                <a:spcPct val="100000"/>
              </a:lnSpc>
              <a:spcBef>
                <a:spcPts val="100"/>
              </a:spcBef>
            </a:pPr>
            <a:r>
              <a:rPr dirty="0">
                <a:solidFill>
                  <a:srgbClr val="3E3E3E"/>
                </a:solidFill>
                <a:latin typeface="Times New Roman" panose="02020603050405020304"/>
                <a:cs typeface="Times New Roman" panose="02020603050405020304"/>
                <a:sym typeface="+mn-ea"/>
              </a:rPr>
              <a:t>Full</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or</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Partial?</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If</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sensors</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get</a:t>
            </a:r>
            <a:r>
              <a:rPr spc="2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full</a:t>
            </a:r>
            <a:r>
              <a:rPr b="1" spc="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access</a:t>
            </a:r>
            <a:r>
              <a:rPr b="1"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then</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they</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do</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not</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need</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pre-</a:t>
            </a:r>
            <a:r>
              <a:rPr dirty="0">
                <a:solidFill>
                  <a:srgbClr val="3E3E3E"/>
                </a:solidFill>
                <a:latin typeface="Times New Roman" panose="02020603050405020304"/>
                <a:cs typeface="Times New Roman" panose="02020603050405020304"/>
                <a:sym typeface="+mn-ea"/>
              </a:rPr>
              <a:t>store </a:t>
            </a:r>
            <a:r>
              <a:rPr spc="-25" dirty="0">
                <a:solidFill>
                  <a:srgbClr val="3E3E3E"/>
                </a:solidFill>
                <a:latin typeface="Times New Roman" panose="02020603050405020304"/>
                <a:cs typeface="Times New Roman" panose="02020603050405020304"/>
                <a:sym typeface="+mn-ea"/>
              </a:rPr>
              <a:t>any </a:t>
            </a:r>
            <a:r>
              <a:rPr dirty="0">
                <a:solidFill>
                  <a:srgbClr val="3E3E3E"/>
                </a:solidFill>
                <a:latin typeface="Times New Roman" panose="02020603050405020304"/>
                <a:cs typeface="Times New Roman" panose="02020603050405020304"/>
                <a:sym typeface="+mn-ea"/>
              </a:rPr>
              <a:t>information.</a:t>
            </a:r>
            <a:r>
              <a:rPr spc="2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Partial</a:t>
            </a:r>
            <a:r>
              <a:rPr spc="3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may</a:t>
            </a:r>
            <a:r>
              <a:rPr spc="3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a:t>
            </a:r>
            <a:r>
              <a:rPr spc="3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due</a:t>
            </a:r>
            <a:r>
              <a:rPr spc="2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29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inaccuracy</a:t>
            </a:r>
            <a:r>
              <a:rPr b="1" spc="29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of</a:t>
            </a:r>
            <a:r>
              <a:rPr b="1" spc="30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sensors</a:t>
            </a:r>
            <a:r>
              <a:rPr b="1" spc="30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or</a:t>
            </a:r>
            <a:r>
              <a:rPr b="1" spc="2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incomplete</a:t>
            </a:r>
            <a:r>
              <a:rPr b="1" spc="305"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information </a:t>
            </a:r>
            <a:r>
              <a:rPr b="1" dirty="0">
                <a:solidFill>
                  <a:srgbClr val="3E3E3E"/>
                </a:solidFill>
                <a:latin typeface="Times New Roman" panose="02020603050405020304"/>
                <a:cs typeface="Times New Roman" panose="02020603050405020304"/>
                <a:sym typeface="+mn-ea"/>
              </a:rPr>
              <a:t>about</a:t>
            </a:r>
            <a:r>
              <a:rPr b="1" spc="-2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an</a:t>
            </a:r>
            <a:r>
              <a:rPr b="1" spc="-4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environment,</a:t>
            </a:r>
            <a:r>
              <a:rPr b="1" spc="-4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like</a:t>
            </a:r>
            <a:r>
              <a:rPr b="1" spc="-6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limited</a:t>
            </a:r>
            <a:r>
              <a:rPr b="1" spc="-5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access</a:t>
            </a:r>
            <a:r>
              <a:rPr b="1" spc="-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to</a:t>
            </a:r>
            <a:r>
              <a:rPr b="1" spc="-3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enemy</a:t>
            </a:r>
            <a:r>
              <a:rPr b="1" spc="-45"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territory</a:t>
            </a:r>
            <a:endParaRPr>
              <a:latin typeface="Times New Roman" panose="02020603050405020304"/>
              <a:cs typeface="Times New Roman" panose="02020603050405020304"/>
            </a:endParaRPr>
          </a:p>
          <a:p>
            <a:pPr>
              <a:lnSpc>
                <a:spcPct val="100000"/>
              </a:lnSpc>
              <a:spcBef>
                <a:spcPts val="120"/>
              </a:spcBef>
            </a:pPr>
            <a:endParaRPr>
              <a:latin typeface="Times New Roman" panose="02020603050405020304"/>
              <a:cs typeface="Times New Roman" panose="02020603050405020304"/>
            </a:endParaRPr>
          </a:p>
          <a:p>
            <a:pPr>
              <a:lnSpc>
                <a:spcPct val="100000"/>
              </a:lnSpc>
              <a:tabLst>
                <a:tab pos="317500" algn="l"/>
              </a:tabLst>
            </a:pPr>
            <a:r>
              <a:rPr spc="-20" dirty="0">
                <a:solidFill>
                  <a:srgbClr val="C00000"/>
                </a:solidFill>
                <a:latin typeface="Times New Roman" panose="02020603050405020304"/>
                <a:cs typeface="Times New Roman" panose="02020603050405020304"/>
                <a:sym typeface="+mn-ea"/>
              </a:rPr>
              <a:t>SINGLE-</a:t>
            </a:r>
            <a:r>
              <a:rPr dirty="0">
                <a:solidFill>
                  <a:srgbClr val="C00000"/>
                </a:solidFill>
                <a:latin typeface="Times New Roman" panose="02020603050405020304"/>
                <a:cs typeface="Times New Roman" panose="02020603050405020304"/>
                <a:sym typeface="+mn-ea"/>
              </a:rPr>
              <a:t>AGENT</a:t>
            </a:r>
            <a:r>
              <a:rPr spc="-100"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VS.</a:t>
            </a:r>
            <a:r>
              <a:rPr spc="-40" dirty="0">
                <a:solidFill>
                  <a:srgbClr val="C00000"/>
                </a:solidFill>
                <a:latin typeface="Times New Roman" panose="02020603050405020304"/>
                <a:cs typeface="Times New Roman" panose="02020603050405020304"/>
                <a:sym typeface="+mn-ea"/>
              </a:rPr>
              <a:t> </a:t>
            </a:r>
            <a:r>
              <a:rPr spc="-30" dirty="0">
                <a:solidFill>
                  <a:srgbClr val="C00000"/>
                </a:solidFill>
                <a:latin typeface="Times New Roman" panose="02020603050405020304"/>
                <a:cs typeface="Times New Roman" panose="02020603050405020304"/>
                <a:sym typeface="+mn-ea"/>
              </a:rPr>
              <a:t>MULTIAGENT</a:t>
            </a:r>
            <a:r>
              <a:rPr spc="-60" dirty="0">
                <a:solidFill>
                  <a:srgbClr val="C00000"/>
                </a:solidFill>
                <a:latin typeface="Times New Roman" panose="02020603050405020304"/>
                <a:cs typeface="Times New Roman" panose="02020603050405020304"/>
                <a:sym typeface="+mn-ea"/>
              </a:rPr>
              <a:t> </a:t>
            </a:r>
            <a:r>
              <a:rPr spc="-50" dirty="0">
                <a:solidFill>
                  <a:srgbClr val="C00000"/>
                </a:solidFill>
                <a:latin typeface="Times New Roman" panose="02020603050405020304"/>
                <a:cs typeface="Times New Roman" panose="02020603050405020304"/>
                <a:sym typeface="+mn-ea"/>
              </a:rPr>
              <a:t>:</a:t>
            </a:r>
            <a:endParaRPr>
              <a:latin typeface="Times New Roman" panose="02020603050405020304"/>
              <a:cs typeface="Times New Roman" panose="02020603050405020304"/>
            </a:endParaRPr>
          </a:p>
          <a:p>
            <a:pPr marR="5080">
              <a:lnSpc>
                <a:spcPct val="100000"/>
              </a:lnSpc>
            </a:pPr>
            <a:r>
              <a:rPr dirty="0">
                <a:solidFill>
                  <a:srgbClr val="3E3E3E"/>
                </a:solidFill>
                <a:latin typeface="Times New Roman" panose="02020603050405020304"/>
                <a:cs typeface="Times New Roman" panose="02020603050405020304"/>
                <a:sym typeface="+mn-ea"/>
              </a:rPr>
              <a:t>The</a:t>
            </a:r>
            <a:r>
              <a:rPr spc="4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distinction</a:t>
            </a:r>
            <a:r>
              <a:rPr spc="4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between</a:t>
            </a:r>
            <a:r>
              <a:rPr spc="44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single-</a:t>
            </a:r>
            <a:r>
              <a:rPr dirty="0">
                <a:solidFill>
                  <a:srgbClr val="3E3E3E"/>
                </a:solidFill>
                <a:latin typeface="Times New Roman" panose="02020603050405020304"/>
                <a:cs typeface="Times New Roman" panose="02020603050405020304"/>
                <a:sym typeface="+mn-ea"/>
              </a:rPr>
              <a:t>agent</a:t>
            </a:r>
            <a:r>
              <a:rPr spc="4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4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multiagent</a:t>
            </a:r>
            <a:r>
              <a:rPr spc="45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environments</a:t>
            </a:r>
            <a:r>
              <a:rPr spc="4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may</a:t>
            </a:r>
            <a:r>
              <a:rPr spc="4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seem</a:t>
            </a:r>
            <a:r>
              <a:rPr spc="42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simple </a:t>
            </a:r>
            <a:r>
              <a:rPr dirty="0">
                <a:solidFill>
                  <a:srgbClr val="3E3E3E"/>
                </a:solidFill>
                <a:latin typeface="Times New Roman" panose="02020603050405020304"/>
                <a:cs typeface="Times New Roman" panose="02020603050405020304"/>
                <a:sym typeface="+mn-ea"/>
              </a:rPr>
              <a:t>enough.</a:t>
            </a:r>
            <a:r>
              <a:rPr spc="3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a:t>
            </a:r>
            <a:r>
              <a:rPr spc="3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example,</a:t>
            </a:r>
            <a:r>
              <a:rPr spc="3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a:t>
            </a:r>
            <a:r>
              <a:rPr spc="3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3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solving</a:t>
            </a:r>
            <a:r>
              <a:rPr b="1" spc="3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a:t>
            </a:r>
            <a:r>
              <a:rPr b="1" spc="3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crossword</a:t>
            </a:r>
            <a:r>
              <a:rPr b="1" spc="35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puzzle</a:t>
            </a:r>
            <a:r>
              <a:rPr b="1" spc="3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by</a:t>
            </a:r>
            <a:r>
              <a:rPr b="1" spc="3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itself</a:t>
            </a:r>
            <a:r>
              <a:rPr b="1" spc="3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is</a:t>
            </a:r>
            <a:r>
              <a:rPr b="1" spc="3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clearly</a:t>
            </a:r>
            <a:r>
              <a:rPr b="1" spc="3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in</a:t>
            </a:r>
            <a:r>
              <a:rPr b="1" spc="345" dirty="0">
                <a:solidFill>
                  <a:srgbClr val="3E3E3E"/>
                </a:solidFill>
                <a:latin typeface="Times New Roman" panose="02020603050405020304"/>
                <a:cs typeface="Times New Roman" panose="02020603050405020304"/>
                <a:sym typeface="+mn-ea"/>
              </a:rPr>
              <a:t> </a:t>
            </a:r>
            <a:r>
              <a:rPr b="1" spc="-50" dirty="0">
                <a:solidFill>
                  <a:srgbClr val="3E3E3E"/>
                </a:solidFill>
                <a:latin typeface="Times New Roman" panose="02020603050405020304"/>
                <a:cs typeface="Times New Roman" panose="02020603050405020304"/>
                <a:sym typeface="+mn-ea"/>
              </a:rPr>
              <a:t>a </a:t>
            </a:r>
            <a:r>
              <a:rPr b="1" spc="-10" dirty="0">
                <a:solidFill>
                  <a:srgbClr val="3E3E3E"/>
                </a:solidFill>
                <a:latin typeface="Times New Roman" panose="02020603050405020304"/>
                <a:cs typeface="Times New Roman" panose="02020603050405020304"/>
                <a:sym typeface="+mn-ea"/>
              </a:rPr>
              <a:t>single-</a:t>
            </a:r>
            <a:r>
              <a:rPr b="1" dirty="0">
                <a:solidFill>
                  <a:srgbClr val="3E3E3E"/>
                </a:solidFill>
                <a:latin typeface="Times New Roman" panose="02020603050405020304"/>
                <a:cs typeface="Times New Roman" panose="02020603050405020304"/>
                <a:sym typeface="+mn-ea"/>
              </a:rPr>
              <a:t>agent</a:t>
            </a:r>
            <a:r>
              <a:rPr b="1" spc="14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environment,</a:t>
            </a:r>
            <a:r>
              <a:rPr b="1" spc="39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whereas</a:t>
            </a:r>
            <a:r>
              <a:rPr b="1" spc="1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an</a:t>
            </a:r>
            <a:r>
              <a:rPr b="1" spc="1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agent</a:t>
            </a:r>
            <a:r>
              <a:rPr b="1" spc="1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playing</a:t>
            </a:r>
            <a:r>
              <a:rPr b="1" spc="1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chess</a:t>
            </a:r>
            <a:r>
              <a:rPr b="1" spc="1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is</a:t>
            </a:r>
            <a:r>
              <a:rPr b="1" spc="1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in</a:t>
            </a:r>
            <a:r>
              <a:rPr b="1" spc="14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a:t>
            </a:r>
            <a:r>
              <a:rPr b="1" spc="145"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twoagent environment.</a:t>
            </a:r>
            <a:endParaRPr>
              <a:latin typeface="Times New Roman" panose="02020603050405020304"/>
              <a:cs typeface="Times New Roman" panose="02020603050405020304"/>
            </a:endParaRPr>
          </a:p>
          <a:p>
            <a:pPr>
              <a:lnSpc>
                <a:spcPct val="100000"/>
              </a:lnSpc>
              <a:spcBef>
                <a:spcPts val="125"/>
              </a:spcBef>
            </a:pPr>
            <a:endParaRPr>
              <a:latin typeface="Times New Roman" panose="02020603050405020304"/>
              <a:cs typeface="Times New Roman" panose="02020603050405020304"/>
            </a:endParaRPr>
          </a:p>
          <a:p>
            <a:pPr>
              <a:lnSpc>
                <a:spcPct val="100000"/>
              </a:lnSpc>
              <a:tabLst>
                <a:tab pos="241300" algn="l"/>
              </a:tabLst>
            </a:pPr>
            <a:r>
              <a:rPr dirty="0">
                <a:solidFill>
                  <a:srgbClr val="C00000"/>
                </a:solidFill>
                <a:latin typeface="Times New Roman" panose="02020603050405020304"/>
                <a:cs typeface="Times New Roman" panose="02020603050405020304"/>
                <a:sym typeface="+mn-ea"/>
              </a:rPr>
              <a:t>Deterministic</a:t>
            </a:r>
            <a:r>
              <a:rPr spc="-55"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vs.</a:t>
            </a:r>
            <a:r>
              <a:rPr spc="-5"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Non</a:t>
            </a:r>
            <a:r>
              <a:rPr spc="-30"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deterministic</a:t>
            </a:r>
            <a:r>
              <a:rPr spc="-50" dirty="0">
                <a:solidFill>
                  <a:srgbClr val="C00000"/>
                </a:solidFill>
                <a:latin typeface="Times New Roman" panose="02020603050405020304"/>
                <a:cs typeface="Times New Roman" panose="02020603050405020304"/>
                <a:sym typeface="+mn-ea"/>
              </a:rPr>
              <a:t> :</a:t>
            </a:r>
            <a:endParaRPr>
              <a:latin typeface="Times New Roman" panose="02020603050405020304"/>
              <a:cs typeface="Times New Roman" panose="02020603050405020304"/>
            </a:endParaRPr>
          </a:p>
          <a:p>
            <a:pPr marR="5080">
              <a:lnSpc>
                <a:spcPct val="100000"/>
              </a:lnSpc>
            </a:pPr>
            <a:r>
              <a:rPr dirty="0">
                <a:solidFill>
                  <a:srgbClr val="3E3E3E"/>
                </a:solidFill>
                <a:latin typeface="Times New Roman" panose="02020603050405020304"/>
                <a:cs typeface="Times New Roman" panose="02020603050405020304"/>
                <a:sym typeface="+mn-ea"/>
              </a:rPr>
              <a:t>If</a:t>
            </a:r>
            <a:r>
              <a:rPr spc="9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next</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state</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1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completely</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determined</a:t>
            </a:r>
            <a:r>
              <a:rPr spc="12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by</a:t>
            </a:r>
            <a:r>
              <a:rPr b="1" spc="10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the</a:t>
            </a:r>
            <a:r>
              <a:rPr b="1" spc="10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current</a:t>
            </a:r>
            <a:r>
              <a:rPr b="1" spc="12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state</a:t>
            </a:r>
            <a:r>
              <a:rPr b="1" spc="9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and </a:t>
            </a:r>
            <a:r>
              <a:rPr dirty="0">
                <a:solidFill>
                  <a:srgbClr val="3E3E3E"/>
                </a:solidFill>
                <a:latin typeface="Times New Roman" panose="02020603050405020304"/>
                <a:cs typeface="Times New Roman" panose="02020603050405020304"/>
                <a:sym typeface="+mn-ea"/>
              </a:rPr>
              <a:t>the</a:t>
            </a:r>
            <a:r>
              <a:rPr spc="5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action</a:t>
            </a:r>
            <a:r>
              <a:rPr spc="5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executed</a:t>
            </a:r>
            <a:r>
              <a:rPr spc="5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by</a:t>
            </a:r>
            <a:r>
              <a:rPr spc="5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5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5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then</a:t>
            </a:r>
            <a:r>
              <a:rPr spc="5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we</a:t>
            </a:r>
            <a:r>
              <a:rPr spc="5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say</a:t>
            </a:r>
            <a:r>
              <a:rPr spc="5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5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5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56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deterministic; </a:t>
            </a:r>
            <a:r>
              <a:rPr dirty="0">
                <a:solidFill>
                  <a:srgbClr val="3E3E3E"/>
                </a:solidFill>
                <a:latin typeface="Times New Roman" panose="02020603050405020304"/>
                <a:cs typeface="Times New Roman" panose="02020603050405020304"/>
                <a:sym typeface="+mn-ea"/>
              </a:rPr>
              <a:t>otherwise,</a:t>
            </a:r>
            <a:r>
              <a:rPr spc="-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it</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2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nondeterministic.</a:t>
            </a:r>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50000"/>
          </a:bodyPr>
          <a:p>
            <a:pPr>
              <a:lnSpc>
                <a:spcPct val="100000"/>
              </a:lnSpc>
              <a:spcBef>
                <a:spcPts val="100"/>
              </a:spcBef>
            </a:pPr>
            <a:r>
              <a:rPr dirty="0">
                <a:solidFill>
                  <a:srgbClr val="C00000"/>
                </a:solidFill>
                <a:latin typeface="Times New Roman" panose="02020603050405020304"/>
                <a:cs typeface="Times New Roman" panose="02020603050405020304"/>
                <a:sym typeface="+mn-ea"/>
              </a:rPr>
              <a:t>4.</a:t>
            </a:r>
            <a:r>
              <a:rPr spc="-60"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EPISODIC</a:t>
            </a:r>
            <a:r>
              <a:rPr spc="-80"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VS.</a:t>
            </a:r>
            <a:r>
              <a:rPr spc="-35" dirty="0">
                <a:solidFill>
                  <a:srgbClr val="C00000"/>
                </a:solidFill>
                <a:latin typeface="Times New Roman" panose="02020603050405020304"/>
                <a:cs typeface="Times New Roman" panose="02020603050405020304"/>
                <a:sym typeface="+mn-ea"/>
              </a:rPr>
              <a:t> </a:t>
            </a:r>
            <a:r>
              <a:rPr spc="-10" dirty="0">
                <a:solidFill>
                  <a:srgbClr val="C00000"/>
                </a:solidFill>
                <a:latin typeface="Times New Roman" panose="02020603050405020304"/>
                <a:cs typeface="Times New Roman" panose="02020603050405020304"/>
                <a:sym typeface="+mn-ea"/>
              </a:rPr>
              <a:t>SEQUENTIAL</a:t>
            </a:r>
            <a:r>
              <a:rPr spc="-110" dirty="0">
                <a:solidFill>
                  <a:srgbClr val="C00000"/>
                </a:solidFill>
                <a:latin typeface="Times New Roman" panose="02020603050405020304"/>
                <a:cs typeface="Times New Roman" panose="02020603050405020304"/>
                <a:sym typeface="+mn-ea"/>
              </a:rPr>
              <a:t> </a:t>
            </a:r>
            <a:r>
              <a:rPr spc="-50" dirty="0">
                <a:solidFill>
                  <a:srgbClr val="C00000"/>
                </a:solidFill>
                <a:latin typeface="Times New Roman" panose="02020603050405020304"/>
                <a:cs typeface="Times New Roman" panose="02020603050405020304"/>
                <a:sym typeface="+mn-ea"/>
              </a:rPr>
              <a:t>:</a:t>
            </a:r>
            <a:endParaRPr>
              <a:latin typeface="Times New Roman" panose="02020603050405020304"/>
              <a:cs typeface="Times New Roman" panose="02020603050405020304"/>
            </a:endParaRPr>
          </a:p>
          <a:p>
            <a:pPr marL="0" indent="0">
              <a:lnSpc>
                <a:spcPct val="100000"/>
              </a:lnSpc>
              <a:buNone/>
              <a:tabLst>
                <a:tab pos="406400" algn="l"/>
                <a:tab pos="835025" algn="l"/>
                <a:tab pos="1989455" algn="l"/>
                <a:tab pos="2621915" algn="l"/>
                <a:tab pos="4376420" algn="l"/>
                <a:tab pos="4923155" algn="l"/>
                <a:tab pos="6123940" algn="l"/>
                <a:tab pos="7651750" algn="l"/>
                <a:tab pos="7995920" algn="l"/>
                <a:tab pos="9099550" algn="l"/>
                <a:tab pos="9748520" algn="l"/>
              </a:tabLst>
            </a:pPr>
            <a:r>
              <a:rPr spc="-25" dirty="0">
                <a:solidFill>
                  <a:srgbClr val="3E3E3E"/>
                </a:solidFill>
                <a:latin typeface="Times New Roman" panose="02020603050405020304"/>
                <a:cs typeface="Times New Roman" panose="02020603050405020304"/>
                <a:sym typeface="+mn-ea"/>
              </a:rPr>
              <a:t>In</a:t>
            </a:r>
            <a:r>
              <a:rPr lang="en-US" spc="-2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an</a:t>
            </a:r>
            <a:r>
              <a:rPr lang="en-US" spc="-2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episodic</a:t>
            </a:r>
            <a:r>
              <a:rPr lang="en-US" spc="-10" dirty="0">
                <a:solidFill>
                  <a:srgbClr val="3E3E3E"/>
                </a:solidFill>
                <a:latin typeface="Times New Roman" panose="02020603050405020304"/>
                <a:cs typeface="Times New Roman" panose="02020603050405020304"/>
                <a:sym typeface="+mn-ea"/>
              </a:rPr>
              <a:t> </a:t>
            </a:r>
            <a:r>
              <a:rPr spc="-20" dirty="0">
                <a:solidFill>
                  <a:srgbClr val="3E3E3E"/>
                </a:solidFill>
                <a:latin typeface="Times New Roman" panose="02020603050405020304"/>
                <a:cs typeface="Times New Roman" panose="02020603050405020304"/>
                <a:sym typeface="+mn-ea"/>
              </a:rPr>
              <a:t>task</a:t>
            </a:r>
            <a:r>
              <a:rPr lang="en-US" spc="-2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environment,</a:t>
            </a:r>
            <a:r>
              <a:rPr lang="en-US" spc="-10" dirty="0">
                <a:solidFill>
                  <a:srgbClr val="3E3E3E"/>
                </a:solidFill>
                <a:latin typeface="Times New Roman" panose="02020603050405020304"/>
                <a:cs typeface="Times New Roman" panose="02020603050405020304"/>
                <a:sym typeface="+mn-ea"/>
              </a:rPr>
              <a:t> </a:t>
            </a:r>
            <a:r>
              <a:rPr b="1" spc="-25" dirty="0">
                <a:solidFill>
                  <a:srgbClr val="3E3E3E"/>
                </a:solidFill>
                <a:latin typeface="Times New Roman" panose="02020603050405020304"/>
                <a:cs typeface="Times New Roman" panose="02020603050405020304"/>
                <a:sym typeface="+mn-ea"/>
              </a:rPr>
              <a:t>the</a:t>
            </a:r>
            <a:r>
              <a:rPr lang="en-US" b="1" spc="-25"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agent’s</a:t>
            </a:r>
            <a:r>
              <a:rPr lang="en-US" b="1" spc="-10"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experience</a:t>
            </a:r>
            <a:r>
              <a:rPr b="1" spc="-25" dirty="0">
                <a:solidFill>
                  <a:srgbClr val="3E3E3E"/>
                </a:solidFill>
                <a:latin typeface="Times New Roman" panose="02020603050405020304"/>
                <a:cs typeface="Times New Roman" panose="02020603050405020304"/>
                <a:sym typeface="+mn-ea"/>
              </a:rPr>
              <a:t>is</a:t>
            </a:r>
            <a:r>
              <a:rPr lang="en-US" b="1" spc="-25"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divided</a:t>
            </a:r>
            <a:r>
              <a:rPr lang="en-US" b="1" spc="-10" dirty="0">
                <a:solidFill>
                  <a:srgbClr val="3E3E3E"/>
                </a:solidFill>
                <a:latin typeface="Times New Roman" panose="02020603050405020304"/>
                <a:cs typeface="Times New Roman" panose="02020603050405020304"/>
                <a:sym typeface="+mn-ea"/>
              </a:rPr>
              <a:t> </a:t>
            </a:r>
            <a:r>
              <a:rPr b="1" spc="-20" dirty="0">
                <a:solidFill>
                  <a:srgbClr val="3E3E3E"/>
                </a:solidFill>
                <a:latin typeface="Times New Roman" panose="02020603050405020304"/>
                <a:cs typeface="Times New Roman" panose="02020603050405020304"/>
                <a:sym typeface="+mn-ea"/>
              </a:rPr>
              <a:t>into</a:t>
            </a:r>
            <a:r>
              <a:rPr b="1"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atomic</a:t>
            </a:r>
            <a:r>
              <a:rPr lang="en-US" b="1" spc="-1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episodes.</a:t>
            </a:r>
            <a:r>
              <a:rPr b="1" spc="1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In</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each</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episode</a:t>
            </a:r>
            <a:r>
              <a:rPr spc="1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17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receives</a:t>
            </a:r>
            <a:r>
              <a:rPr lang="en-US"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15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percept</a:t>
            </a:r>
            <a:r>
              <a:rPr b="1" spc="17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and</a:t>
            </a:r>
            <a:r>
              <a:rPr b="1" spc="16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then</a:t>
            </a:r>
            <a:r>
              <a:rPr b="1" spc="16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performs</a:t>
            </a:r>
            <a:r>
              <a:rPr b="1" spc="17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a:t>
            </a:r>
            <a:r>
              <a:rPr b="1" spc="170" dirty="0">
                <a:solidFill>
                  <a:srgbClr val="3E3E3E"/>
                </a:solidFill>
                <a:latin typeface="Times New Roman" panose="02020603050405020304"/>
                <a:cs typeface="Times New Roman" panose="02020603050405020304"/>
                <a:sym typeface="+mn-ea"/>
              </a:rPr>
              <a:t> </a:t>
            </a:r>
            <a:r>
              <a:rPr b="1" spc="-10" dirty="0">
                <a:solidFill>
                  <a:srgbClr val="3E3E3E"/>
                </a:solidFill>
                <a:latin typeface="Times New Roman" panose="02020603050405020304"/>
                <a:cs typeface="Times New Roman" panose="02020603050405020304"/>
                <a:sym typeface="+mn-ea"/>
              </a:rPr>
              <a:t>single</a:t>
            </a:r>
            <a:r>
              <a:rPr b="1" dirty="0">
                <a:solidFill>
                  <a:srgbClr val="3E3E3E"/>
                </a:solidFill>
                <a:latin typeface="Times New Roman" panose="02020603050405020304"/>
                <a:cs typeface="Times New Roman" panose="02020603050405020304"/>
                <a:sym typeface="+mn-ea"/>
              </a:rPr>
              <a:t>action</a:t>
            </a:r>
            <a:r>
              <a:rPr dirty="0">
                <a:solidFill>
                  <a:srgbClr val="3E3E3E"/>
                </a:solidFill>
                <a:latin typeface="Times New Roman" panose="02020603050405020304"/>
                <a:cs typeface="Times New Roman" panose="02020603050405020304"/>
                <a:sym typeface="+mn-ea"/>
              </a:rPr>
              <a:t>.</a:t>
            </a:r>
            <a:r>
              <a:rPr spc="1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Crucially,</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next</a:t>
            </a:r>
            <a:r>
              <a:rPr spc="1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episode</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does</a:t>
            </a:r>
            <a:r>
              <a:rPr spc="1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not</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depend</a:t>
            </a:r>
            <a:r>
              <a:rPr spc="18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on</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actions</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taken</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in</a:t>
            </a:r>
            <a:r>
              <a:rPr spc="18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previous </a:t>
            </a:r>
            <a:r>
              <a:rPr dirty="0">
                <a:solidFill>
                  <a:srgbClr val="3E3E3E"/>
                </a:solidFill>
                <a:latin typeface="Times New Roman" panose="02020603050405020304"/>
                <a:cs typeface="Times New Roman" panose="02020603050405020304"/>
                <a:sym typeface="+mn-ea"/>
              </a:rPr>
              <a:t>episodes.</a:t>
            </a:r>
            <a:r>
              <a:rPr spc="-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Many</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classification</a:t>
            </a:r>
            <a:r>
              <a:rPr spc="-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tasks</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are</a:t>
            </a:r>
            <a:r>
              <a:rPr spc="-30"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episodic.</a:t>
            </a:r>
            <a:endParaRPr>
              <a:latin typeface="Times New Roman" panose="02020603050405020304"/>
              <a:cs typeface="Times New Roman" panose="02020603050405020304"/>
            </a:endParaRPr>
          </a:p>
          <a:p>
            <a:pPr>
              <a:lnSpc>
                <a:spcPct val="100000"/>
              </a:lnSpc>
              <a:spcBef>
                <a:spcPts val="120"/>
              </a:spcBef>
            </a:pPr>
            <a:endParaRPr>
              <a:latin typeface="Times New Roman" panose="02020603050405020304"/>
              <a:cs typeface="Times New Roman" panose="02020603050405020304"/>
            </a:endParaRPr>
          </a:p>
          <a:p>
            <a:pPr>
              <a:lnSpc>
                <a:spcPct val="100000"/>
              </a:lnSpc>
              <a:tabLst>
                <a:tab pos="241300" algn="l"/>
              </a:tabLst>
            </a:pPr>
            <a:r>
              <a:rPr spc="-85" dirty="0">
                <a:solidFill>
                  <a:srgbClr val="C00000"/>
                </a:solidFill>
                <a:latin typeface="Times New Roman" panose="02020603050405020304"/>
                <a:cs typeface="Times New Roman" panose="02020603050405020304"/>
                <a:sym typeface="+mn-ea"/>
              </a:rPr>
              <a:t>STATIC</a:t>
            </a:r>
            <a:r>
              <a:rPr spc="-60"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VS.</a:t>
            </a:r>
            <a:r>
              <a:rPr spc="-5" dirty="0">
                <a:solidFill>
                  <a:srgbClr val="C00000"/>
                </a:solidFill>
                <a:latin typeface="Times New Roman" panose="02020603050405020304"/>
                <a:cs typeface="Times New Roman" panose="02020603050405020304"/>
                <a:sym typeface="+mn-ea"/>
              </a:rPr>
              <a:t> </a:t>
            </a:r>
            <a:r>
              <a:rPr spc="-10" dirty="0">
                <a:solidFill>
                  <a:srgbClr val="C00000"/>
                </a:solidFill>
                <a:latin typeface="Times New Roman" panose="02020603050405020304"/>
                <a:cs typeface="Times New Roman" panose="02020603050405020304"/>
                <a:sym typeface="+mn-ea"/>
              </a:rPr>
              <a:t>DYNAMIC</a:t>
            </a:r>
            <a:endParaRPr>
              <a:latin typeface="Times New Roman" panose="02020603050405020304"/>
              <a:cs typeface="Times New Roman" panose="02020603050405020304"/>
            </a:endParaRPr>
          </a:p>
          <a:p>
            <a:pPr marL="0" marR="5080" indent="0">
              <a:lnSpc>
                <a:spcPct val="100000"/>
              </a:lnSpc>
              <a:buNone/>
            </a:pPr>
            <a:r>
              <a:rPr dirty="0">
                <a:solidFill>
                  <a:srgbClr val="3E3E3E"/>
                </a:solidFill>
                <a:latin typeface="Times New Roman" panose="02020603050405020304"/>
                <a:cs typeface="Times New Roman" panose="02020603050405020304"/>
                <a:sym typeface="+mn-ea"/>
              </a:rPr>
              <a:t>If</a:t>
            </a:r>
            <a:r>
              <a:rPr spc="4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4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495"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can</a:t>
            </a:r>
            <a:r>
              <a:rPr b="1" spc="48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change</a:t>
            </a:r>
            <a:r>
              <a:rPr b="1" spc="484"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while</a:t>
            </a:r>
            <a:r>
              <a:rPr b="1" spc="484"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an</a:t>
            </a:r>
            <a:r>
              <a:rPr b="1" spc="48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agent</a:t>
            </a:r>
            <a:r>
              <a:rPr b="1" spc="484"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is</a:t>
            </a:r>
            <a:r>
              <a:rPr b="1" spc="484"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deliberating</a:t>
            </a:r>
            <a:r>
              <a:rPr dirty="0">
                <a:solidFill>
                  <a:srgbClr val="3E3E3E"/>
                </a:solidFill>
                <a:latin typeface="Times New Roman" panose="02020603050405020304"/>
                <a:cs typeface="Times New Roman" panose="02020603050405020304"/>
                <a:sym typeface="+mn-ea"/>
              </a:rPr>
              <a:t>,</a:t>
            </a:r>
            <a:r>
              <a:rPr spc="48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then</a:t>
            </a:r>
            <a:r>
              <a:rPr spc="4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we</a:t>
            </a:r>
            <a:r>
              <a:rPr spc="49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say</a:t>
            </a:r>
            <a:r>
              <a:rPr spc="470"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the </a:t>
            </a:r>
            <a:r>
              <a:rPr dirty="0">
                <a:solidFill>
                  <a:srgbClr val="3E3E3E"/>
                </a:solidFill>
                <a:latin typeface="Times New Roman" panose="02020603050405020304"/>
                <a:cs typeface="Times New Roman" panose="02020603050405020304"/>
                <a:sym typeface="+mn-ea"/>
              </a:rPr>
              <a:t>environment</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dynamic</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that</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17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otherwise,</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it</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static.</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Static</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environments</a:t>
            </a:r>
            <a:r>
              <a:rPr spc="15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are </a:t>
            </a:r>
            <a:r>
              <a:rPr dirty="0">
                <a:solidFill>
                  <a:srgbClr val="3E3E3E"/>
                </a:solidFill>
                <a:latin typeface="Times New Roman" panose="02020603050405020304"/>
                <a:cs typeface="Times New Roman" panose="02020603050405020304"/>
                <a:sym typeface="+mn-ea"/>
              </a:rPr>
              <a:t>easy</a:t>
            </a:r>
            <a:r>
              <a:rPr spc="3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3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deal</a:t>
            </a:r>
            <a:r>
              <a:rPr spc="3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with</a:t>
            </a:r>
            <a:r>
              <a:rPr spc="3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because</a:t>
            </a:r>
            <a:r>
              <a:rPr spc="3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3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3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need</a:t>
            </a:r>
            <a:r>
              <a:rPr spc="3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not</a:t>
            </a:r>
            <a:r>
              <a:rPr spc="3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keep</a:t>
            </a:r>
            <a:r>
              <a:rPr spc="3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looking</a:t>
            </a:r>
            <a:r>
              <a:rPr spc="3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at</a:t>
            </a:r>
            <a:r>
              <a:rPr spc="3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3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world</a:t>
            </a:r>
            <a:r>
              <a:rPr spc="3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while</a:t>
            </a:r>
            <a:r>
              <a:rPr spc="3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it</a:t>
            </a:r>
            <a:r>
              <a:rPr spc="370"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is </a:t>
            </a:r>
            <a:r>
              <a:rPr dirty="0">
                <a:solidFill>
                  <a:srgbClr val="3E3E3E"/>
                </a:solidFill>
                <a:latin typeface="Times New Roman" panose="02020603050405020304"/>
                <a:cs typeface="Times New Roman" panose="02020603050405020304"/>
                <a:sym typeface="+mn-ea"/>
              </a:rPr>
              <a:t>deciding</a:t>
            </a:r>
            <a:r>
              <a:rPr spc="-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on</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a:t>
            </a:r>
            <a:r>
              <a:rPr spc="-1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action,</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nor</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need</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it</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worry</a:t>
            </a:r>
            <a:r>
              <a:rPr spc="-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about</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passage</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15" dirty="0">
                <a:solidFill>
                  <a:srgbClr val="3E3E3E"/>
                </a:solidFill>
                <a:latin typeface="Times New Roman" panose="02020603050405020304"/>
                <a:cs typeface="Times New Roman" panose="02020603050405020304"/>
                <a:sym typeface="+mn-ea"/>
              </a:rPr>
              <a:t> </a:t>
            </a:r>
            <a:r>
              <a:rPr spc="-20" dirty="0">
                <a:solidFill>
                  <a:srgbClr val="3E3E3E"/>
                </a:solidFill>
                <a:latin typeface="Times New Roman" panose="02020603050405020304"/>
                <a:cs typeface="Times New Roman" panose="02020603050405020304"/>
                <a:sym typeface="+mn-ea"/>
              </a:rPr>
              <a:t>time</a:t>
            </a:r>
            <a:endParaRPr>
              <a:latin typeface="Times New Roman" panose="02020603050405020304"/>
              <a:cs typeface="Times New Roman" panose="02020603050405020304"/>
            </a:endParaRPr>
          </a:p>
          <a:p>
            <a:pPr>
              <a:lnSpc>
                <a:spcPct val="100000"/>
              </a:lnSpc>
              <a:spcBef>
                <a:spcPts val="125"/>
              </a:spcBef>
            </a:pPr>
            <a:endParaRPr>
              <a:latin typeface="Times New Roman" panose="02020603050405020304"/>
              <a:cs typeface="Times New Roman" panose="02020603050405020304"/>
            </a:endParaRPr>
          </a:p>
          <a:p>
            <a:pPr>
              <a:lnSpc>
                <a:spcPct val="100000"/>
              </a:lnSpc>
              <a:tabLst>
                <a:tab pos="241300" algn="l"/>
              </a:tabLst>
            </a:pPr>
            <a:r>
              <a:rPr dirty="0">
                <a:solidFill>
                  <a:srgbClr val="C00000"/>
                </a:solidFill>
                <a:latin typeface="Times New Roman" panose="02020603050405020304"/>
                <a:cs typeface="Times New Roman" panose="02020603050405020304"/>
                <a:sym typeface="+mn-ea"/>
              </a:rPr>
              <a:t>DISCRETE</a:t>
            </a:r>
            <a:r>
              <a:rPr spc="-85" dirty="0">
                <a:solidFill>
                  <a:srgbClr val="C00000"/>
                </a:solidFill>
                <a:latin typeface="Times New Roman" panose="02020603050405020304"/>
                <a:cs typeface="Times New Roman" panose="02020603050405020304"/>
                <a:sym typeface="+mn-ea"/>
              </a:rPr>
              <a:t> </a:t>
            </a:r>
            <a:r>
              <a:rPr dirty="0">
                <a:solidFill>
                  <a:srgbClr val="C00000"/>
                </a:solidFill>
                <a:latin typeface="Times New Roman" panose="02020603050405020304"/>
                <a:cs typeface="Times New Roman" panose="02020603050405020304"/>
                <a:sym typeface="+mn-ea"/>
              </a:rPr>
              <a:t>VS.</a:t>
            </a:r>
            <a:r>
              <a:rPr spc="-50" dirty="0">
                <a:solidFill>
                  <a:srgbClr val="C00000"/>
                </a:solidFill>
                <a:latin typeface="Times New Roman" panose="02020603050405020304"/>
                <a:cs typeface="Times New Roman" panose="02020603050405020304"/>
                <a:sym typeface="+mn-ea"/>
              </a:rPr>
              <a:t> </a:t>
            </a:r>
            <a:r>
              <a:rPr spc="-10" dirty="0">
                <a:solidFill>
                  <a:srgbClr val="C00000"/>
                </a:solidFill>
                <a:latin typeface="Times New Roman" panose="02020603050405020304"/>
                <a:cs typeface="Times New Roman" panose="02020603050405020304"/>
                <a:sym typeface="+mn-ea"/>
              </a:rPr>
              <a:t>CONTINUOUS</a:t>
            </a:r>
            <a:endParaRPr>
              <a:latin typeface="Times New Roman" panose="02020603050405020304"/>
              <a:cs typeface="Times New Roman" panose="02020603050405020304"/>
            </a:endParaRPr>
          </a:p>
          <a:p>
            <a:pPr marL="0" marR="5080" indent="0">
              <a:lnSpc>
                <a:spcPct val="100000"/>
              </a:lnSpc>
              <a:buNone/>
            </a:pPr>
            <a:r>
              <a:rPr dirty="0">
                <a:solidFill>
                  <a:srgbClr val="3E3E3E"/>
                </a:solidFill>
                <a:latin typeface="Times New Roman" panose="02020603050405020304"/>
                <a:cs typeface="Times New Roman" panose="02020603050405020304"/>
                <a:sym typeface="+mn-ea"/>
              </a:rPr>
              <a:t>The</a:t>
            </a:r>
            <a:r>
              <a:rPr spc="10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discrete/continuous</a:t>
            </a:r>
            <a:r>
              <a:rPr spc="11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distinction</a:t>
            </a:r>
            <a:r>
              <a:rPr spc="11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applies</a:t>
            </a:r>
            <a:r>
              <a:rPr spc="11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state</a:t>
            </a:r>
            <a:r>
              <a:rPr spc="114"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1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0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environment,</a:t>
            </a:r>
            <a:r>
              <a:rPr spc="1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1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25"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way </a:t>
            </a:r>
            <a:r>
              <a:rPr dirty="0">
                <a:solidFill>
                  <a:srgbClr val="3E3E3E"/>
                </a:solidFill>
                <a:latin typeface="Times New Roman" panose="02020603050405020304"/>
                <a:cs typeface="Times New Roman" panose="02020603050405020304"/>
                <a:sym typeface="+mn-ea"/>
              </a:rPr>
              <a:t>time</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handled,</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percepts</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actions</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example,</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5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chess </a:t>
            </a:r>
            <a:r>
              <a:rPr dirty="0">
                <a:solidFill>
                  <a:srgbClr val="3E3E3E"/>
                </a:solidFill>
                <a:latin typeface="Times New Roman" panose="02020603050405020304"/>
                <a:cs typeface="Times New Roman" panose="02020603050405020304"/>
                <a:sym typeface="+mn-ea"/>
              </a:rPr>
              <a:t>environment</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has</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finite</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number</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distinct</a:t>
            </a:r>
            <a:r>
              <a:rPr spc="-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states</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(excluding</a:t>
            </a:r>
            <a:r>
              <a:rPr spc="-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0" dirty="0">
                <a:solidFill>
                  <a:srgbClr val="3E3E3E"/>
                </a:solidFill>
                <a:latin typeface="Times New Roman" panose="02020603050405020304"/>
                <a:cs typeface="Times New Roman" panose="02020603050405020304"/>
                <a:sym typeface="+mn-ea"/>
              </a:rPr>
              <a:t> clock).</a:t>
            </a:r>
            <a:endParaRPr>
              <a:latin typeface="Times New Roman" panose="02020603050405020304"/>
              <a:cs typeface="Times New Roman" panose="02020603050405020304"/>
            </a:endParaRPr>
          </a:p>
          <a:p>
            <a:pPr>
              <a:lnSpc>
                <a:spcPct val="100000"/>
              </a:lnSpc>
              <a:tabLst>
                <a:tab pos="5748020" algn="l"/>
              </a:tabLst>
            </a:pPr>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a:bodyPr>
          <a:p>
            <a:pPr marL="0" indent="0" algn="just">
              <a:lnSpc>
                <a:spcPct val="100000"/>
              </a:lnSpc>
              <a:spcBef>
                <a:spcPts val="100"/>
              </a:spcBef>
              <a:buNone/>
            </a:pPr>
            <a:r>
              <a:rPr dirty="0">
                <a:solidFill>
                  <a:srgbClr val="C00000"/>
                </a:solidFill>
                <a:latin typeface="Times New Roman" panose="02020603050405020304"/>
                <a:cs typeface="Times New Roman" panose="02020603050405020304"/>
                <a:sym typeface="+mn-ea"/>
              </a:rPr>
              <a:t>7</a:t>
            </a:r>
            <a:r>
              <a:rPr sz="2700" dirty="0">
                <a:solidFill>
                  <a:srgbClr val="C00000"/>
                </a:solidFill>
                <a:latin typeface="Times New Roman" panose="02020603050405020304"/>
                <a:cs typeface="Times New Roman" panose="02020603050405020304"/>
                <a:sym typeface="+mn-ea"/>
              </a:rPr>
              <a:t>.KNOWN</a:t>
            </a:r>
            <a:r>
              <a:rPr sz="2700" spc="-80" dirty="0">
                <a:solidFill>
                  <a:srgbClr val="C00000"/>
                </a:solidFill>
                <a:latin typeface="Times New Roman" panose="02020603050405020304"/>
                <a:cs typeface="Times New Roman" panose="02020603050405020304"/>
                <a:sym typeface="+mn-ea"/>
              </a:rPr>
              <a:t> </a:t>
            </a:r>
            <a:r>
              <a:rPr sz="2700" dirty="0">
                <a:solidFill>
                  <a:srgbClr val="C00000"/>
                </a:solidFill>
                <a:latin typeface="Times New Roman" panose="02020603050405020304"/>
                <a:cs typeface="Times New Roman" panose="02020603050405020304"/>
                <a:sym typeface="+mn-ea"/>
              </a:rPr>
              <a:t>VS.</a:t>
            </a:r>
            <a:r>
              <a:rPr sz="2700" spc="-65" dirty="0">
                <a:solidFill>
                  <a:srgbClr val="C00000"/>
                </a:solidFill>
                <a:latin typeface="Times New Roman" panose="02020603050405020304"/>
                <a:cs typeface="Times New Roman" panose="02020603050405020304"/>
                <a:sym typeface="+mn-ea"/>
              </a:rPr>
              <a:t> </a:t>
            </a:r>
            <a:r>
              <a:rPr sz="2700" spc="-10" dirty="0">
                <a:solidFill>
                  <a:srgbClr val="C00000"/>
                </a:solidFill>
                <a:latin typeface="Times New Roman" panose="02020603050405020304"/>
                <a:cs typeface="Times New Roman" panose="02020603050405020304"/>
                <a:sym typeface="+mn-ea"/>
              </a:rPr>
              <a:t>UNKNOWN</a:t>
            </a:r>
            <a:endParaRPr sz="2700">
              <a:latin typeface="Times New Roman" panose="02020603050405020304"/>
              <a:cs typeface="Times New Roman" panose="02020603050405020304"/>
            </a:endParaRPr>
          </a:p>
          <a:p>
            <a:pPr algn="just">
              <a:lnSpc>
                <a:spcPct val="100000"/>
              </a:lnSpc>
              <a:spcBef>
                <a:spcPts val="5"/>
              </a:spcBef>
              <a:tabLst>
                <a:tab pos="9700260" algn="l"/>
              </a:tabLst>
            </a:pPr>
            <a:r>
              <a:rPr sz="2700" dirty="0">
                <a:solidFill>
                  <a:srgbClr val="3E3E3E"/>
                </a:solidFill>
                <a:latin typeface="Times New Roman" panose="02020603050405020304"/>
                <a:cs typeface="Times New Roman" panose="02020603050405020304"/>
                <a:sym typeface="+mn-ea"/>
              </a:rPr>
              <a:t>The</a:t>
            </a:r>
            <a:r>
              <a:rPr sz="2700" spc="-1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distinction</a:t>
            </a:r>
            <a:r>
              <a:rPr sz="2700" spc="-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between</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known</a:t>
            </a:r>
            <a:r>
              <a:rPr sz="2700" spc="-1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and</a:t>
            </a:r>
            <a:r>
              <a:rPr sz="2700" spc="-1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unknown</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environments</a:t>
            </a:r>
            <a:r>
              <a:rPr sz="2700" spc="-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is</a:t>
            </a:r>
            <a:r>
              <a:rPr sz="2700" spc="-1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not</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the same</a:t>
            </a:r>
            <a:r>
              <a:rPr sz="2700" spc="-10" dirty="0">
                <a:solidFill>
                  <a:srgbClr val="3E3E3E"/>
                </a:solidFill>
                <a:latin typeface="Times New Roman" panose="02020603050405020304"/>
                <a:cs typeface="Times New Roman" panose="02020603050405020304"/>
                <a:sym typeface="+mn-ea"/>
              </a:rPr>
              <a:t> </a:t>
            </a:r>
            <a:r>
              <a:rPr sz="2700" spc="-25" dirty="0">
                <a:solidFill>
                  <a:srgbClr val="3E3E3E"/>
                </a:solidFill>
                <a:latin typeface="Times New Roman" panose="02020603050405020304"/>
                <a:cs typeface="Times New Roman" panose="02020603050405020304"/>
                <a:sym typeface="+mn-ea"/>
              </a:rPr>
              <a:t>a</a:t>
            </a:r>
            <a:r>
              <a:rPr lang="en-US" sz="2700" spc="-25" dirty="0">
                <a:solidFill>
                  <a:srgbClr val="3E3E3E"/>
                </a:solidFill>
                <a:latin typeface="Times New Roman" panose="02020603050405020304"/>
                <a:cs typeface="Times New Roman" panose="02020603050405020304"/>
                <a:sym typeface="+mn-ea"/>
              </a:rPr>
              <a:t>s </a:t>
            </a:r>
            <a:r>
              <a:rPr sz="2700" spc="-25" dirty="0">
                <a:solidFill>
                  <a:srgbClr val="3E3E3E"/>
                </a:solidFill>
                <a:latin typeface="Times New Roman" panose="02020603050405020304"/>
                <a:cs typeface="Times New Roman" panose="02020603050405020304"/>
                <a:sym typeface="+mn-ea"/>
              </a:rPr>
              <a:t>the</a:t>
            </a:r>
            <a:r>
              <a:rPr lang="en-US" sz="2700" spc="-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one</a:t>
            </a:r>
            <a:r>
              <a:rPr sz="2700" spc="204"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between</a:t>
            </a:r>
            <a:r>
              <a:rPr sz="2700" spc="200" dirty="0">
                <a:solidFill>
                  <a:srgbClr val="3E3E3E"/>
                </a:solidFill>
                <a:latin typeface="Times New Roman" panose="02020603050405020304"/>
                <a:cs typeface="Times New Roman" panose="02020603050405020304"/>
                <a:sym typeface="+mn-ea"/>
              </a:rPr>
              <a:t> </a:t>
            </a:r>
            <a:r>
              <a:rPr sz="2700" b="1" dirty="0">
                <a:solidFill>
                  <a:srgbClr val="3E3E3E"/>
                </a:solidFill>
                <a:latin typeface="Times New Roman" panose="02020603050405020304"/>
                <a:cs typeface="Times New Roman" panose="02020603050405020304"/>
                <a:sym typeface="+mn-ea"/>
              </a:rPr>
              <a:t>fully</a:t>
            </a:r>
            <a:r>
              <a:rPr sz="2700" b="1" spc="200" dirty="0">
                <a:solidFill>
                  <a:srgbClr val="3E3E3E"/>
                </a:solidFill>
                <a:latin typeface="Times New Roman" panose="02020603050405020304"/>
                <a:cs typeface="Times New Roman" panose="02020603050405020304"/>
                <a:sym typeface="+mn-ea"/>
              </a:rPr>
              <a:t> </a:t>
            </a:r>
            <a:r>
              <a:rPr sz="2700" b="1" dirty="0">
                <a:solidFill>
                  <a:srgbClr val="3E3E3E"/>
                </a:solidFill>
                <a:latin typeface="Times New Roman" panose="02020603050405020304"/>
                <a:cs typeface="Times New Roman" panose="02020603050405020304"/>
                <a:sym typeface="+mn-ea"/>
              </a:rPr>
              <a:t>and</a:t>
            </a:r>
            <a:r>
              <a:rPr sz="2700" b="1" spc="200" dirty="0">
                <a:solidFill>
                  <a:srgbClr val="3E3E3E"/>
                </a:solidFill>
                <a:latin typeface="Times New Roman" panose="02020603050405020304"/>
                <a:cs typeface="Times New Roman" panose="02020603050405020304"/>
                <a:sym typeface="+mn-ea"/>
              </a:rPr>
              <a:t> </a:t>
            </a:r>
            <a:r>
              <a:rPr sz="2700" b="1" dirty="0">
                <a:solidFill>
                  <a:srgbClr val="3E3E3E"/>
                </a:solidFill>
                <a:latin typeface="Times New Roman" panose="02020603050405020304"/>
                <a:cs typeface="Times New Roman" panose="02020603050405020304"/>
                <a:sym typeface="+mn-ea"/>
              </a:rPr>
              <a:t>partially</a:t>
            </a:r>
            <a:r>
              <a:rPr sz="2700" b="1" spc="204" dirty="0">
                <a:solidFill>
                  <a:srgbClr val="3E3E3E"/>
                </a:solidFill>
                <a:latin typeface="Times New Roman" panose="02020603050405020304"/>
                <a:cs typeface="Times New Roman" panose="02020603050405020304"/>
                <a:sym typeface="+mn-ea"/>
              </a:rPr>
              <a:t> </a:t>
            </a:r>
            <a:r>
              <a:rPr sz="2700" b="1" dirty="0">
                <a:solidFill>
                  <a:srgbClr val="3E3E3E"/>
                </a:solidFill>
                <a:latin typeface="Times New Roman" panose="02020603050405020304"/>
                <a:cs typeface="Times New Roman" panose="02020603050405020304"/>
                <a:sym typeface="+mn-ea"/>
              </a:rPr>
              <a:t>observable</a:t>
            </a:r>
            <a:r>
              <a:rPr sz="2700" b="1" spc="204" dirty="0">
                <a:solidFill>
                  <a:srgbClr val="3E3E3E"/>
                </a:solidFill>
                <a:latin typeface="Times New Roman" panose="02020603050405020304"/>
                <a:cs typeface="Times New Roman" panose="02020603050405020304"/>
                <a:sym typeface="+mn-ea"/>
              </a:rPr>
              <a:t> </a:t>
            </a:r>
            <a:r>
              <a:rPr sz="2700" b="1" dirty="0">
                <a:solidFill>
                  <a:srgbClr val="3E3E3E"/>
                </a:solidFill>
                <a:latin typeface="Times New Roman" panose="02020603050405020304"/>
                <a:cs typeface="Times New Roman" panose="02020603050405020304"/>
                <a:sym typeface="+mn-ea"/>
              </a:rPr>
              <a:t>environments</a:t>
            </a:r>
            <a:r>
              <a:rPr sz="2700" dirty="0">
                <a:solidFill>
                  <a:srgbClr val="3E3E3E"/>
                </a:solidFill>
                <a:latin typeface="Times New Roman" panose="02020603050405020304"/>
                <a:cs typeface="Times New Roman" panose="02020603050405020304"/>
                <a:sym typeface="+mn-ea"/>
              </a:rPr>
              <a:t>.</a:t>
            </a:r>
            <a:r>
              <a:rPr sz="2700" spc="19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It</a:t>
            </a:r>
            <a:r>
              <a:rPr sz="2700" spc="20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is</a:t>
            </a:r>
            <a:r>
              <a:rPr sz="2700" spc="204" dirty="0">
                <a:solidFill>
                  <a:srgbClr val="3E3E3E"/>
                </a:solidFill>
                <a:latin typeface="Times New Roman" panose="02020603050405020304"/>
                <a:cs typeface="Times New Roman" panose="02020603050405020304"/>
                <a:sym typeface="+mn-ea"/>
              </a:rPr>
              <a:t> </a:t>
            </a:r>
            <a:r>
              <a:rPr sz="2700" spc="-10" dirty="0">
                <a:solidFill>
                  <a:srgbClr val="3E3E3E"/>
                </a:solidFill>
                <a:latin typeface="Times New Roman" panose="02020603050405020304"/>
                <a:cs typeface="Times New Roman" panose="02020603050405020304"/>
                <a:sym typeface="+mn-ea"/>
              </a:rPr>
              <a:t>quite</a:t>
            </a:r>
            <a:r>
              <a:rPr lang="en-US" sz="2700" spc="-10" dirty="0">
                <a:solidFill>
                  <a:srgbClr val="3E3E3E"/>
                </a:solidFill>
                <a:latin typeface="Times New Roman" panose="02020603050405020304"/>
                <a:cs typeface="Times New Roman" panose="02020603050405020304"/>
                <a:sym typeface="+mn-ea"/>
              </a:rPr>
              <a:t> </a:t>
            </a:r>
            <a:r>
              <a:rPr sz="2700" spc="-10" dirty="0">
                <a:solidFill>
                  <a:srgbClr val="3E3E3E"/>
                </a:solidFill>
                <a:latin typeface="Times New Roman" panose="02020603050405020304"/>
                <a:cs typeface="Times New Roman" panose="02020603050405020304"/>
                <a:sym typeface="+mn-ea"/>
              </a:rPr>
              <a:t>possible solitaire </a:t>
            </a:r>
            <a:r>
              <a:rPr sz="2700" dirty="0">
                <a:solidFill>
                  <a:srgbClr val="3E3E3E"/>
                </a:solidFill>
                <a:latin typeface="Times New Roman" panose="02020603050405020304"/>
                <a:cs typeface="Times New Roman" panose="02020603050405020304"/>
                <a:sym typeface="+mn-ea"/>
              </a:rPr>
              <a:t>for</a:t>
            </a:r>
            <a:r>
              <a:rPr sz="2700" spc="35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a</a:t>
            </a:r>
            <a:r>
              <a:rPr sz="2700" spc="36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known</a:t>
            </a:r>
            <a:r>
              <a:rPr sz="2700" spc="37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environment</a:t>
            </a:r>
            <a:r>
              <a:rPr sz="2700" spc="36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to</a:t>
            </a:r>
            <a:r>
              <a:rPr sz="2700" spc="36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be</a:t>
            </a:r>
            <a:r>
              <a:rPr sz="2700" spc="37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partially</a:t>
            </a:r>
            <a:r>
              <a:rPr sz="2700" spc="360" dirty="0">
                <a:solidFill>
                  <a:srgbClr val="3E3E3E"/>
                </a:solidFill>
                <a:latin typeface="Times New Roman" panose="02020603050405020304"/>
                <a:cs typeface="Times New Roman" panose="02020603050405020304"/>
                <a:sym typeface="+mn-ea"/>
              </a:rPr>
              <a:t> </a:t>
            </a:r>
            <a:r>
              <a:rPr sz="2700" spc="-10" dirty="0">
                <a:solidFill>
                  <a:srgbClr val="3E3E3E"/>
                </a:solidFill>
                <a:latin typeface="Times New Roman" panose="02020603050405020304"/>
                <a:cs typeface="Times New Roman" panose="02020603050405020304"/>
                <a:sym typeface="+mn-ea"/>
              </a:rPr>
              <a:t>observable—</a:t>
            </a:r>
            <a:r>
              <a:rPr sz="2700" dirty="0">
                <a:solidFill>
                  <a:srgbClr val="3E3E3E"/>
                </a:solidFill>
                <a:latin typeface="Times New Roman" panose="02020603050405020304"/>
                <a:cs typeface="Times New Roman" panose="02020603050405020304"/>
                <a:sym typeface="+mn-ea"/>
              </a:rPr>
              <a:t>for</a:t>
            </a:r>
            <a:r>
              <a:rPr sz="2700" spc="36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example,</a:t>
            </a:r>
            <a:r>
              <a:rPr sz="2700" spc="355" dirty="0">
                <a:solidFill>
                  <a:srgbClr val="3E3E3E"/>
                </a:solidFill>
                <a:latin typeface="Times New Roman" panose="02020603050405020304"/>
                <a:cs typeface="Times New Roman" panose="02020603050405020304"/>
                <a:sym typeface="+mn-ea"/>
              </a:rPr>
              <a:t> </a:t>
            </a:r>
            <a:r>
              <a:rPr sz="2700" spc="-25" dirty="0">
                <a:solidFill>
                  <a:srgbClr val="3E3E3E"/>
                </a:solidFill>
                <a:latin typeface="Times New Roman" panose="02020603050405020304"/>
                <a:cs typeface="Times New Roman" panose="02020603050405020304"/>
                <a:sym typeface="+mn-ea"/>
              </a:rPr>
              <a:t>in</a:t>
            </a:r>
            <a:r>
              <a:rPr lang="en-US" sz="2700" spc="-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card</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games,</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I</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know</a:t>
            </a:r>
            <a:r>
              <a:rPr sz="2700" spc="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the</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rules</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but</a:t>
            </a:r>
            <a:r>
              <a:rPr sz="2700" spc="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am</a:t>
            </a:r>
            <a:r>
              <a:rPr sz="2700" spc="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still</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unable</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to</a:t>
            </a:r>
            <a:r>
              <a:rPr sz="2700" spc="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see</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the</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cards</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that</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have</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not</a:t>
            </a:r>
            <a:r>
              <a:rPr sz="2700" spc="45" dirty="0">
                <a:solidFill>
                  <a:srgbClr val="3E3E3E"/>
                </a:solidFill>
                <a:latin typeface="Times New Roman" panose="02020603050405020304"/>
                <a:cs typeface="Times New Roman" panose="02020603050405020304"/>
                <a:sym typeface="+mn-ea"/>
              </a:rPr>
              <a:t> </a:t>
            </a:r>
            <a:r>
              <a:rPr sz="2700" spc="-25" dirty="0">
                <a:solidFill>
                  <a:srgbClr val="3E3E3E"/>
                </a:solidFill>
                <a:latin typeface="Times New Roman" panose="02020603050405020304"/>
                <a:cs typeface="Times New Roman" panose="02020603050405020304"/>
                <a:sym typeface="+mn-ea"/>
              </a:rPr>
              <a:t>yet </a:t>
            </a:r>
            <a:r>
              <a:rPr sz="2700" dirty="0">
                <a:solidFill>
                  <a:srgbClr val="3E3E3E"/>
                </a:solidFill>
                <a:latin typeface="Times New Roman" panose="02020603050405020304"/>
                <a:cs typeface="Times New Roman" panose="02020603050405020304"/>
                <a:sym typeface="+mn-ea"/>
              </a:rPr>
              <a:t>been</a:t>
            </a:r>
            <a:r>
              <a:rPr sz="2700" spc="3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turned</a:t>
            </a:r>
            <a:r>
              <a:rPr sz="2700" spc="3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over.</a:t>
            </a:r>
            <a:r>
              <a:rPr sz="2700" spc="3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Conversely,</a:t>
            </a:r>
            <a:r>
              <a:rPr sz="2700" spc="3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an</a:t>
            </a:r>
            <a:r>
              <a:rPr sz="2700" spc="3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unknown</a:t>
            </a:r>
            <a:r>
              <a:rPr sz="2700" spc="3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environment</a:t>
            </a:r>
            <a:r>
              <a:rPr sz="2700" spc="3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can</a:t>
            </a:r>
            <a:r>
              <a:rPr sz="2700" spc="3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be</a:t>
            </a:r>
            <a:r>
              <a:rPr sz="2700" spc="330" dirty="0">
                <a:solidFill>
                  <a:srgbClr val="3E3E3E"/>
                </a:solidFill>
                <a:latin typeface="Times New Roman" panose="02020603050405020304"/>
                <a:cs typeface="Times New Roman" panose="02020603050405020304"/>
                <a:sym typeface="+mn-ea"/>
              </a:rPr>
              <a:t>    </a:t>
            </a:r>
            <a:r>
              <a:rPr sz="2700" spc="-10" dirty="0">
                <a:solidFill>
                  <a:srgbClr val="3E3E3E"/>
                </a:solidFill>
                <a:latin typeface="Times New Roman" panose="02020603050405020304"/>
                <a:cs typeface="Times New Roman" panose="02020603050405020304"/>
                <a:sym typeface="+mn-ea"/>
              </a:rPr>
              <a:t>fully observable—</a:t>
            </a:r>
            <a:r>
              <a:rPr sz="2700" dirty="0">
                <a:solidFill>
                  <a:srgbClr val="3E3E3E"/>
                </a:solidFill>
                <a:latin typeface="Times New Roman" panose="02020603050405020304"/>
                <a:cs typeface="Times New Roman" panose="02020603050405020304"/>
                <a:sym typeface="+mn-ea"/>
              </a:rPr>
              <a:t>in</a:t>
            </a:r>
            <a:r>
              <a:rPr sz="2700" spc="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a</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new</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video</a:t>
            </a:r>
            <a:r>
              <a:rPr sz="2700" spc="4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game,</a:t>
            </a:r>
            <a:r>
              <a:rPr sz="2700" spc="3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the</a:t>
            </a:r>
            <a:r>
              <a:rPr sz="2700" spc="4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screen</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may</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show</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the</a:t>
            </a:r>
            <a:r>
              <a:rPr sz="2700" spc="4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entire</a:t>
            </a:r>
            <a:r>
              <a:rPr sz="2700" spc="5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game</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state</a:t>
            </a:r>
            <a:r>
              <a:rPr sz="2700" spc="50" dirty="0">
                <a:solidFill>
                  <a:srgbClr val="3E3E3E"/>
                </a:solidFill>
                <a:latin typeface="Times New Roman" panose="02020603050405020304"/>
                <a:cs typeface="Times New Roman" panose="02020603050405020304"/>
                <a:sym typeface="+mn-ea"/>
              </a:rPr>
              <a:t> </a:t>
            </a:r>
            <a:r>
              <a:rPr sz="2700" spc="-25" dirty="0">
                <a:solidFill>
                  <a:srgbClr val="3E3E3E"/>
                </a:solidFill>
                <a:latin typeface="Times New Roman" panose="02020603050405020304"/>
                <a:cs typeface="Times New Roman" panose="02020603050405020304"/>
                <a:sym typeface="+mn-ea"/>
              </a:rPr>
              <a:t>but </a:t>
            </a:r>
            <a:r>
              <a:rPr sz="2700" dirty="0">
                <a:solidFill>
                  <a:srgbClr val="3E3E3E"/>
                </a:solidFill>
                <a:latin typeface="Times New Roman" panose="02020603050405020304"/>
                <a:cs typeface="Times New Roman" panose="02020603050405020304"/>
                <a:sym typeface="+mn-ea"/>
              </a:rPr>
              <a:t>I</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still</a:t>
            </a:r>
            <a:r>
              <a:rPr sz="2700" spc="-4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don’t</a:t>
            </a:r>
            <a:r>
              <a:rPr sz="2700" spc="-2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know</a:t>
            </a:r>
            <a:r>
              <a:rPr sz="2700" spc="-1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what</a:t>
            </a:r>
            <a:r>
              <a:rPr sz="2700" spc="-3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the</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buttons</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do</a:t>
            </a:r>
            <a:r>
              <a:rPr sz="2700" spc="-1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until</a:t>
            </a:r>
            <a:r>
              <a:rPr sz="2700" spc="-45"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I</a:t>
            </a:r>
            <a:r>
              <a:rPr sz="2700" spc="-20" dirty="0">
                <a:solidFill>
                  <a:srgbClr val="3E3E3E"/>
                </a:solidFill>
                <a:latin typeface="Times New Roman" panose="02020603050405020304"/>
                <a:cs typeface="Times New Roman" panose="02020603050405020304"/>
                <a:sym typeface="+mn-ea"/>
              </a:rPr>
              <a:t> </a:t>
            </a:r>
            <a:r>
              <a:rPr sz="2700" dirty="0">
                <a:solidFill>
                  <a:srgbClr val="3E3E3E"/>
                </a:solidFill>
                <a:latin typeface="Times New Roman" panose="02020603050405020304"/>
                <a:cs typeface="Times New Roman" panose="02020603050405020304"/>
                <a:sym typeface="+mn-ea"/>
              </a:rPr>
              <a:t>try</a:t>
            </a:r>
            <a:r>
              <a:rPr sz="2700" spc="-30" dirty="0">
                <a:solidFill>
                  <a:srgbClr val="3E3E3E"/>
                </a:solidFill>
                <a:latin typeface="Times New Roman" panose="02020603050405020304"/>
                <a:cs typeface="Times New Roman" panose="02020603050405020304"/>
                <a:sym typeface="+mn-ea"/>
              </a:rPr>
              <a:t> </a:t>
            </a:r>
            <a:r>
              <a:rPr sz="2700" spc="-10" dirty="0">
                <a:solidFill>
                  <a:srgbClr val="3E3E3E"/>
                </a:solidFill>
                <a:latin typeface="Times New Roman" panose="02020603050405020304"/>
                <a:cs typeface="Times New Roman" panose="02020603050405020304"/>
                <a:sym typeface="+mn-ea"/>
              </a:rPr>
              <a:t>them.</a:t>
            </a:r>
            <a:endParaRPr sz="2700">
              <a:latin typeface="Times New Roman" panose="02020603050405020304"/>
              <a:cs typeface="Times New Roman" panose="02020603050405020304"/>
            </a:endParaRPr>
          </a:p>
          <a:p>
            <a:pPr algn="l">
              <a:lnSpc>
                <a:spcPct val="100000"/>
              </a:lnSpc>
              <a:spcBef>
                <a:spcPts val="5"/>
              </a:spcBef>
              <a:tabLst>
                <a:tab pos="9700260" algn="l"/>
              </a:tabLst>
            </a:pPr>
            <a:endParaRPr lang="en-US" sz="2700" spc="-25" dirty="0">
              <a:solidFill>
                <a:srgbClr val="3E3E3E"/>
              </a:solidFill>
              <a:latin typeface="Times New Roman" panose="02020603050405020304"/>
              <a:cs typeface="Times New Roman" panose="02020603050405020304"/>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pitchFamily="18" charset="0"/>
                <a:cs typeface="Times New Roman" panose="02020603050405020304" pitchFamily="18" charset="0"/>
                <a:sym typeface="+mn-ea"/>
              </a:rPr>
              <a:t>The</a:t>
            </a:r>
            <a:r>
              <a:rPr b="1" spc="-9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Structure</a:t>
            </a:r>
            <a:r>
              <a:rPr b="1" spc="-90" dirty="0">
                <a:solidFill>
                  <a:srgbClr val="FF0000"/>
                </a:solidFill>
                <a:latin typeface="Times New Roman" panose="02020603050405020304" pitchFamily="18" charset="0"/>
                <a:cs typeface="Times New Roman" panose="02020603050405020304" pitchFamily="18" charset="0"/>
                <a:sym typeface="+mn-ea"/>
              </a:rPr>
              <a:t> </a:t>
            </a:r>
            <a:r>
              <a:rPr b="1" dirty="0">
                <a:solidFill>
                  <a:srgbClr val="FF0000"/>
                </a:solidFill>
                <a:latin typeface="Times New Roman" panose="02020603050405020304" pitchFamily="18" charset="0"/>
                <a:cs typeface="Times New Roman" panose="02020603050405020304" pitchFamily="18" charset="0"/>
                <a:sym typeface="+mn-ea"/>
              </a:rPr>
              <a:t>of</a:t>
            </a:r>
            <a:r>
              <a:rPr b="1" spc="-90" dirty="0">
                <a:solidFill>
                  <a:srgbClr val="FF0000"/>
                </a:solidFill>
                <a:latin typeface="Times New Roman" panose="02020603050405020304" pitchFamily="18" charset="0"/>
                <a:cs typeface="Times New Roman" panose="02020603050405020304" pitchFamily="18" charset="0"/>
                <a:sym typeface="+mn-ea"/>
              </a:rPr>
              <a:t> </a:t>
            </a:r>
            <a:r>
              <a:rPr b="1" spc="-10" dirty="0">
                <a:solidFill>
                  <a:srgbClr val="FF0000"/>
                </a:solidFill>
                <a:latin typeface="Times New Roman" panose="02020603050405020304" pitchFamily="18" charset="0"/>
                <a:cs typeface="Times New Roman" panose="02020603050405020304" pitchFamily="18" charset="0"/>
                <a:sym typeface="+mn-ea"/>
              </a:rPr>
              <a:t>Agents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a:bodyPr>
          <a:p>
            <a:pPr algn="just"/>
            <a:r>
              <a:rPr dirty="0">
                <a:latin typeface="Times New Roman" panose="02020603050405020304"/>
                <a:cs typeface="Times New Roman" panose="02020603050405020304"/>
                <a:sym typeface="+mn-ea"/>
              </a:rPr>
              <a:t>So</a:t>
            </a:r>
            <a:r>
              <a:rPr spc="2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far</a:t>
            </a:r>
            <a:r>
              <a:rPr spc="2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we</a:t>
            </a:r>
            <a:r>
              <a:rPr spc="2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have</a:t>
            </a:r>
            <a:r>
              <a:rPr spc="2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talked</a:t>
            </a:r>
            <a:r>
              <a:rPr spc="2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about</a:t>
            </a:r>
            <a:r>
              <a:rPr spc="2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agents</a:t>
            </a:r>
            <a:r>
              <a:rPr spc="2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by</a:t>
            </a:r>
            <a:r>
              <a:rPr spc="2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describing</a:t>
            </a:r>
            <a:r>
              <a:rPr spc="29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behavior—</a:t>
            </a:r>
            <a:r>
              <a:rPr dirty="0">
                <a:latin typeface="Times New Roman" panose="02020603050405020304"/>
                <a:cs typeface="Times New Roman" panose="02020603050405020304"/>
                <a:sym typeface="+mn-ea"/>
              </a:rPr>
              <a:t>the</a:t>
            </a:r>
            <a:r>
              <a:rPr spc="2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action</a:t>
            </a:r>
            <a:r>
              <a:rPr spc="2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that</a:t>
            </a:r>
            <a:r>
              <a:rPr spc="275"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is </a:t>
            </a:r>
            <a:r>
              <a:rPr lang="en-US" spc="-25" dirty="0">
                <a:latin typeface="Times New Roman" panose="02020603050405020304"/>
                <a:cs typeface="Times New Roman" panose="02020603050405020304"/>
                <a:sym typeface="+mn-ea"/>
              </a:rPr>
              <a:t>p</a:t>
            </a:r>
            <a:r>
              <a:rPr spc="-10" dirty="0">
                <a:latin typeface="Times New Roman" panose="02020603050405020304"/>
                <a:cs typeface="Times New Roman" panose="02020603050405020304"/>
                <a:sym typeface="+mn-ea"/>
              </a:rPr>
              <a:t>erforme</a:t>
            </a:r>
            <a:r>
              <a:rPr lang="en-US"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after</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any</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given</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sequence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 </a:t>
            </a:r>
            <a:r>
              <a:rPr spc="-10" dirty="0">
                <a:latin typeface="Times New Roman" panose="02020603050405020304"/>
                <a:cs typeface="Times New Roman" panose="02020603050405020304"/>
                <a:sym typeface="+mn-ea"/>
              </a:rPr>
              <a:t>percepts.</a:t>
            </a:r>
            <a:endParaRPr>
              <a:latin typeface="Times New Roman" panose="02020603050405020304"/>
              <a:cs typeface="Times New Roman" panose="02020603050405020304"/>
            </a:endParaRPr>
          </a:p>
          <a:p>
            <a:pPr marR="8255" algn="just">
              <a:lnSpc>
                <a:spcPct val="100000"/>
              </a:lnSpc>
              <a:spcBef>
                <a:spcPts val="100"/>
              </a:spcBef>
            </a:pPr>
            <a:r>
              <a:rPr dirty="0">
                <a:solidFill>
                  <a:srgbClr val="3E3E3E"/>
                </a:solidFill>
                <a:latin typeface="Times New Roman" panose="02020603050405020304"/>
                <a:cs typeface="Times New Roman" panose="02020603050405020304"/>
                <a:sym typeface="+mn-ea"/>
              </a:rPr>
              <a:t>To</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understand</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structure</a:t>
            </a:r>
            <a:r>
              <a:rPr spc="16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Intelligent</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Agents,</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we</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should</a:t>
            </a:r>
            <a:r>
              <a:rPr spc="1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be</a:t>
            </a:r>
            <a:r>
              <a:rPr spc="16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familiar</a:t>
            </a:r>
            <a:r>
              <a:rPr spc="150" dirty="0">
                <a:solidFill>
                  <a:srgbClr val="3E3E3E"/>
                </a:solidFill>
                <a:latin typeface="Times New Roman" panose="02020603050405020304"/>
                <a:cs typeface="Times New Roman" panose="02020603050405020304"/>
                <a:sym typeface="+mn-ea"/>
              </a:rPr>
              <a:t>  </a:t>
            </a:r>
            <a:r>
              <a:rPr spc="-20" dirty="0">
                <a:solidFill>
                  <a:srgbClr val="3E3E3E"/>
                </a:solidFill>
                <a:latin typeface="Times New Roman" panose="02020603050405020304"/>
                <a:cs typeface="Times New Roman" panose="02020603050405020304"/>
                <a:sym typeface="+mn-ea"/>
              </a:rPr>
              <a:t>with </a:t>
            </a:r>
            <a:r>
              <a:rPr dirty="0">
                <a:solidFill>
                  <a:srgbClr val="0837C8"/>
                </a:solidFill>
                <a:latin typeface="Times New Roman" panose="02020603050405020304"/>
                <a:cs typeface="Times New Roman" panose="02020603050405020304"/>
                <a:sym typeface="+mn-ea"/>
              </a:rPr>
              <a:t>Architecture</a:t>
            </a:r>
            <a:r>
              <a:rPr spc="-130" dirty="0">
                <a:solidFill>
                  <a:srgbClr val="0837C8"/>
                </a:solidFill>
                <a:latin typeface="Times New Roman" panose="02020603050405020304"/>
                <a:cs typeface="Times New Roman" panose="02020603050405020304"/>
                <a:sym typeface="+mn-ea"/>
              </a:rPr>
              <a:t> </a:t>
            </a:r>
            <a:r>
              <a:rPr spc="-10" dirty="0">
                <a:solidFill>
                  <a:srgbClr val="0837C8"/>
                </a:solidFill>
                <a:latin typeface="Times New Roman" panose="02020603050405020304"/>
                <a:cs typeface="Times New Roman" panose="02020603050405020304"/>
                <a:sym typeface="+mn-ea"/>
              </a:rPr>
              <a:t>and</a:t>
            </a:r>
            <a:r>
              <a:rPr spc="-140" dirty="0">
                <a:solidFill>
                  <a:srgbClr val="0837C8"/>
                </a:solidFill>
                <a:latin typeface="Times New Roman" panose="02020603050405020304"/>
                <a:cs typeface="Times New Roman" panose="02020603050405020304"/>
                <a:sym typeface="+mn-ea"/>
              </a:rPr>
              <a:t> </a:t>
            </a:r>
            <a:r>
              <a:rPr dirty="0">
                <a:solidFill>
                  <a:srgbClr val="0837C8"/>
                </a:solidFill>
                <a:latin typeface="Times New Roman" panose="02020603050405020304"/>
                <a:cs typeface="Times New Roman" panose="02020603050405020304"/>
                <a:sym typeface="+mn-ea"/>
              </a:rPr>
              <a:t>Agent</a:t>
            </a:r>
            <a:r>
              <a:rPr spc="-60" dirty="0">
                <a:solidFill>
                  <a:srgbClr val="0837C8"/>
                </a:solidFill>
                <a:latin typeface="Times New Roman" panose="02020603050405020304"/>
                <a:cs typeface="Times New Roman" panose="02020603050405020304"/>
                <a:sym typeface="+mn-ea"/>
              </a:rPr>
              <a:t> </a:t>
            </a:r>
            <a:r>
              <a:rPr spc="-10" dirty="0">
                <a:solidFill>
                  <a:srgbClr val="0837C8"/>
                </a:solidFill>
                <a:latin typeface="Times New Roman" panose="02020603050405020304"/>
                <a:cs typeface="Times New Roman" panose="02020603050405020304"/>
                <a:sym typeface="+mn-ea"/>
              </a:rPr>
              <a:t>programs.</a:t>
            </a:r>
            <a:endParaRPr>
              <a:latin typeface="Times New Roman" panose="02020603050405020304"/>
              <a:cs typeface="Times New Roman" panose="02020603050405020304"/>
            </a:endParaRPr>
          </a:p>
          <a:p>
            <a:pPr algn="just">
              <a:lnSpc>
                <a:spcPct val="100000"/>
              </a:lnSpc>
              <a:spcBef>
                <a:spcPts val="120"/>
              </a:spcBef>
            </a:pPr>
            <a:r>
              <a:rPr b="1" dirty="0">
                <a:solidFill>
                  <a:srgbClr val="3E3E3E"/>
                </a:solidFill>
                <a:latin typeface="Times New Roman" panose="02020603050405020304"/>
                <a:cs typeface="Times New Roman" panose="02020603050405020304"/>
                <a:sym typeface="+mn-ea"/>
              </a:rPr>
              <a:t>Architecture</a:t>
            </a:r>
            <a:r>
              <a:rPr b="1" spc="15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t>
            </a:r>
            <a:r>
              <a:rPr b="1" spc="145" dirty="0">
                <a:solidFill>
                  <a:srgbClr val="3E3E3E"/>
                </a:solidFill>
                <a:latin typeface="Times New Roman" panose="02020603050405020304"/>
                <a:cs typeface="Times New Roman" panose="02020603050405020304"/>
                <a:sym typeface="+mn-ea"/>
              </a:rPr>
              <a:t> </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1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machinery</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that</a:t>
            </a:r>
            <a:r>
              <a:rPr spc="15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1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executes</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on.</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It</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1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1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device</a:t>
            </a:r>
            <a:r>
              <a:rPr spc="1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with</a:t>
            </a:r>
            <a:r>
              <a:rPr spc="145" dirty="0">
                <a:solidFill>
                  <a:srgbClr val="3E3E3E"/>
                </a:solidFill>
                <a:latin typeface="Times New Roman" panose="02020603050405020304"/>
                <a:cs typeface="Times New Roman" panose="02020603050405020304"/>
                <a:sym typeface="+mn-ea"/>
              </a:rPr>
              <a:t> </a:t>
            </a:r>
            <a:r>
              <a:rPr spc="-10" dirty="0">
                <a:solidFill>
                  <a:srgbClr val="3E3E3E"/>
                </a:solidFill>
                <a:latin typeface="Times New Roman" panose="02020603050405020304"/>
                <a:cs typeface="Times New Roman" panose="02020603050405020304"/>
                <a:sym typeface="+mn-ea"/>
              </a:rPr>
              <a:t>sensors </a:t>
            </a:r>
            <a:r>
              <a:rPr dirty="0">
                <a:solidFill>
                  <a:srgbClr val="3E3E3E"/>
                </a:solidFill>
                <a:latin typeface="Times New Roman" panose="02020603050405020304"/>
                <a:cs typeface="Times New Roman" panose="02020603050405020304"/>
                <a:sym typeface="+mn-ea"/>
              </a:rPr>
              <a:t>and</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actuators,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for</a:t>
            </a:r>
            <a:r>
              <a:rPr spc="-7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example,</a:t>
            </a:r>
            <a:r>
              <a:rPr spc="-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robotic</a:t>
            </a:r>
            <a:r>
              <a:rPr spc="-35" dirty="0">
                <a:solidFill>
                  <a:srgbClr val="3E3E3E"/>
                </a:solidFill>
                <a:latin typeface="Times New Roman" panose="02020603050405020304"/>
                <a:cs typeface="Times New Roman" panose="02020603050405020304"/>
                <a:sym typeface="+mn-ea"/>
              </a:rPr>
              <a:t> </a:t>
            </a:r>
            <a:r>
              <a:rPr spc="-30" dirty="0">
                <a:solidFill>
                  <a:srgbClr val="3E3E3E"/>
                </a:solidFill>
                <a:latin typeface="Times New Roman" panose="02020603050405020304"/>
                <a:cs typeface="Times New Roman" panose="02020603050405020304"/>
                <a:sym typeface="+mn-ea"/>
              </a:rPr>
              <a:t>car,</a:t>
            </a:r>
            <a:r>
              <a:rPr spc="-5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camera,</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and</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a:t>
            </a:r>
            <a:r>
              <a:rPr spc="-25" dirty="0">
                <a:solidFill>
                  <a:srgbClr val="3E3E3E"/>
                </a:solidFill>
                <a:latin typeface="Times New Roman" panose="02020603050405020304"/>
                <a:cs typeface="Times New Roman" panose="02020603050405020304"/>
                <a:sym typeface="+mn-ea"/>
              </a:rPr>
              <a:t> PC.</a:t>
            </a:r>
            <a:endParaRPr>
              <a:latin typeface="Times New Roman" panose="02020603050405020304"/>
              <a:cs typeface="Times New Roman" panose="02020603050405020304"/>
            </a:endParaRPr>
          </a:p>
          <a:p>
            <a:pPr marR="5080" algn="just">
              <a:lnSpc>
                <a:spcPct val="100000"/>
              </a:lnSpc>
            </a:pPr>
            <a:r>
              <a:rPr b="1" dirty="0">
                <a:solidFill>
                  <a:srgbClr val="3E3E3E"/>
                </a:solidFill>
                <a:latin typeface="Times New Roman" panose="02020603050405020304"/>
                <a:cs typeface="Times New Roman" panose="02020603050405020304"/>
                <a:sym typeface="+mn-ea"/>
              </a:rPr>
              <a:t>An</a:t>
            </a:r>
            <a:r>
              <a:rPr b="1" spc="229"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agent</a:t>
            </a:r>
            <a:r>
              <a:rPr b="1" spc="240" dirty="0">
                <a:solidFill>
                  <a:srgbClr val="3E3E3E"/>
                </a:solidFill>
                <a:latin typeface="Times New Roman" panose="02020603050405020304"/>
                <a:cs typeface="Times New Roman" panose="02020603050405020304"/>
                <a:sym typeface="+mn-ea"/>
              </a:rPr>
              <a:t> </a:t>
            </a:r>
            <a:r>
              <a:rPr b="1" dirty="0">
                <a:solidFill>
                  <a:srgbClr val="3E3E3E"/>
                </a:solidFill>
                <a:latin typeface="Times New Roman" panose="02020603050405020304"/>
                <a:cs typeface="Times New Roman" panose="02020603050405020304"/>
                <a:sym typeface="+mn-ea"/>
              </a:rPr>
              <a:t>program</a:t>
            </a:r>
            <a:r>
              <a:rPr b="1" spc="2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2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a:t>
            </a:r>
            <a:r>
              <a:rPr spc="22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implementation</a:t>
            </a:r>
            <a:r>
              <a:rPr spc="24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22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a:t>
            </a:r>
            <a:r>
              <a:rPr spc="22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24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function.</a:t>
            </a:r>
            <a:r>
              <a:rPr spc="2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a:t>
            </a:r>
            <a:r>
              <a:rPr spc="2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2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function</a:t>
            </a:r>
            <a:r>
              <a:rPr spc="229"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is</a:t>
            </a:r>
            <a:r>
              <a:rPr spc="240" dirty="0">
                <a:solidFill>
                  <a:srgbClr val="3E3E3E"/>
                </a:solidFill>
                <a:latin typeface="Times New Roman" panose="02020603050405020304"/>
                <a:cs typeface="Times New Roman" panose="02020603050405020304"/>
                <a:sym typeface="+mn-ea"/>
              </a:rPr>
              <a:t> </a:t>
            </a:r>
            <a:r>
              <a:rPr spc="-50" dirty="0">
                <a:solidFill>
                  <a:srgbClr val="3E3E3E"/>
                </a:solidFill>
                <a:latin typeface="Times New Roman" panose="02020603050405020304"/>
                <a:cs typeface="Times New Roman" panose="02020603050405020304"/>
                <a:sym typeface="+mn-ea"/>
              </a:rPr>
              <a:t>a </a:t>
            </a:r>
            <a:r>
              <a:rPr dirty="0">
                <a:solidFill>
                  <a:srgbClr val="3E3E3E"/>
                </a:solidFill>
                <a:latin typeface="Times New Roman" panose="02020603050405020304"/>
                <a:cs typeface="Times New Roman" panose="02020603050405020304"/>
                <a:sym typeface="+mn-ea"/>
              </a:rPr>
              <a:t>map</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from</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the</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percept</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sequence(history</a:t>
            </a:r>
            <a:r>
              <a:rPr spc="3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of</a:t>
            </a:r>
            <a:r>
              <a:rPr spc="2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all</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that</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an</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agent</a:t>
            </a:r>
            <a:r>
              <a:rPr spc="25"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has</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perceived</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date)</a:t>
            </a:r>
            <a:r>
              <a:rPr spc="30" dirty="0">
                <a:solidFill>
                  <a:srgbClr val="3E3E3E"/>
                </a:solidFill>
                <a:latin typeface="Times New Roman" panose="02020603050405020304"/>
                <a:cs typeface="Times New Roman" panose="02020603050405020304"/>
                <a:sym typeface="+mn-ea"/>
              </a:rPr>
              <a:t> </a:t>
            </a:r>
            <a:r>
              <a:rPr dirty="0">
                <a:solidFill>
                  <a:srgbClr val="3E3E3E"/>
                </a:solidFill>
                <a:latin typeface="Times New Roman" panose="02020603050405020304"/>
                <a:cs typeface="Times New Roman" panose="02020603050405020304"/>
                <a:sym typeface="+mn-ea"/>
              </a:rPr>
              <a:t>to</a:t>
            </a:r>
            <a:r>
              <a:rPr spc="20" dirty="0">
                <a:solidFill>
                  <a:srgbClr val="3E3E3E"/>
                </a:solidFill>
                <a:latin typeface="Times New Roman" panose="02020603050405020304"/>
                <a:cs typeface="Times New Roman" panose="02020603050405020304"/>
                <a:sym typeface="+mn-ea"/>
              </a:rPr>
              <a:t> </a:t>
            </a:r>
            <a:r>
              <a:rPr spc="-25" dirty="0">
                <a:solidFill>
                  <a:srgbClr val="3E3E3E"/>
                </a:solidFill>
                <a:latin typeface="Times New Roman" panose="02020603050405020304"/>
                <a:cs typeface="Times New Roman" panose="02020603050405020304"/>
                <a:sym typeface="+mn-ea"/>
              </a:rPr>
              <a:t>an </a:t>
            </a:r>
            <a:r>
              <a:rPr spc="-10" dirty="0">
                <a:solidFill>
                  <a:srgbClr val="3E3E3E"/>
                </a:solidFill>
                <a:latin typeface="Times New Roman" panose="02020603050405020304"/>
                <a:cs typeface="Times New Roman" panose="02020603050405020304"/>
                <a:sym typeface="+mn-ea"/>
              </a:rPr>
              <a:t>action.</a:t>
            </a:r>
            <a:endParaRPr>
              <a:latin typeface="Times New Roman" panose="02020603050405020304"/>
              <a:cs typeface="Times New Roman" panose="02020603050405020304"/>
            </a:endParaRPr>
          </a:p>
          <a:p>
            <a:pPr algn="ctr">
              <a:lnSpc>
                <a:spcPct val="100000"/>
              </a:lnSpc>
              <a:spcBef>
                <a:spcPts val="5"/>
              </a:spcBef>
            </a:pPr>
            <a:r>
              <a:rPr spc="-10" dirty="0">
                <a:solidFill>
                  <a:srgbClr val="FF0000"/>
                </a:solidFill>
                <a:latin typeface="Times New Roman" panose="02020603050405020304"/>
                <a:cs typeface="Times New Roman" panose="02020603050405020304"/>
                <a:sym typeface="+mn-ea"/>
              </a:rPr>
              <a:t>Agent=Architecture+Agent</a:t>
            </a:r>
            <a:r>
              <a:rPr spc="15" dirty="0">
                <a:solidFill>
                  <a:srgbClr val="FF0000"/>
                </a:solidFill>
                <a:latin typeface="Times New Roman" panose="02020603050405020304"/>
                <a:cs typeface="Times New Roman" panose="02020603050405020304"/>
                <a:sym typeface="+mn-ea"/>
              </a:rPr>
              <a:t> </a:t>
            </a:r>
            <a:r>
              <a:rPr spc="-10" dirty="0">
                <a:solidFill>
                  <a:srgbClr val="FF0000"/>
                </a:solidFill>
                <a:latin typeface="Times New Roman" panose="02020603050405020304"/>
                <a:cs typeface="Times New Roman" panose="02020603050405020304"/>
                <a:sym typeface="+mn-ea"/>
              </a:rPr>
              <a:t>Program</a:t>
            </a:r>
            <a:endParaRPr>
              <a:latin typeface="Times New Roman" panose="02020603050405020304"/>
              <a:cs typeface="Times New Roman" panose="02020603050405020304"/>
            </a:endParaRPr>
          </a:p>
          <a:p>
            <a:pPr algn="ctr">
              <a:lnSpc>
                <a:spcPct val="100000"/>
              </a:lnSpc>
            </a:pPr>
            <a:r>
              <a:rPr dirty="0">
                <a:solidFill>
                  <a:srgbClr val="FF0000"/>
                </a:solidFill>
                <a:latin typeface="Times New Roman" panose="02020603050405020304"/>
                <a:cs typeface="Times New Roman" panose="02020603050405020304"/>
                <a:sym typeface="+mn-ea"/>
              </a:rPr>
              <a:t>f:P*</a:t>
            </a:r>
            <a:r>
              <a:rPr spc="-25" dirty="0">
                <a:solidFill>
                  <a:srgbClr val="FF0000"/>
                </a:solidFill>
                <a:latin typeface="Times New Roman" panose="02020603050405020304"/>
                <a:cs typeface="Times New Roman" panose="02020603050405020304"/>
                <a:sym typeface="+mn-ea"/>
              </a:rPr>
              <a:t> </a:t>
            </a:r>
            <a:r>
              <a:rPr dirty="0">
                <a:solidFill>
                  <a:srgbClr val="FF0000"/>
                </a:solidFill>
                <a:latin typeface="Times New Roman" panose="02020603050405020304"/>
                <a:cs typeface="Times New Roman" panose="02020603050405020304"/>
                <a:sym typeface="+mn-ea"/>
              </a:rPr>
              <a:t>→</a:t>
            </a:r>
            <a:r>
              <a:rPr spc="-140" dirty="0">
                <a:solidFill>
                  <a:srgbClr val="FF0000"/>
                </a:solidFill>
                <a:latin typeface="Times New Roman" panose="02020603050405020304"/>
                <a:cs typeface="Times New Roman" panose="02020603050405020304"/>
                <a:sym typeface="+mn-ea"/>
              </a:rPr>
              <a:t> </a:t>
            </a:r>
            <a:r>
              <a:rPr spc="-50" dirty="0">
                <a:solidFill>
                  <a:srgbClr val="FF0000"/>
                </a:solidFill>
                <a:latin typeface="Times New Roman" panose="02020603050405020304"/>
                <a:cs typeface="Times New Roman" panose="02020603050405020304"/>
                <a:sym typeface="+mn-ea"/>
              </a:rPr>
              <a:t>A</a:t>
            </a:r>
            <a:endParaRPr>
              <a:latin typeface="Times New Roman" panose="02020603050405020304"/>
              <a:cs typeface="Times New Roman" panose="02020603050405020304"/>
            </a:endParaRPr>
          </a:p>
          <a:p>
            <a:pPr algn="just"/>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a:cs typeface="Times New Roman" panose="02020603050405020304"/>
                <a:sym typeface="+mn-ea"/>
              </a:rPr>
              <a:t>Agent</a:t>
            </a:r>
            <a:r>
              <a:rPr b="1" spc="-2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programs</a:t>
            </a:r>
            <a:endParaRPr lang="en-US"/>
          </a:p>
        </p:txBody>
      </p:sp>
      <p:sp>
        <p:nvSpPr>
          <p:cNvPr id="3" name="Content Placeholder 2"/>
          <p:cNvSpPr>
            <a:spLocks noGrp="1"/>
          </p:cNvSpPr>
          <p:nvPr>
            <p:ph idx="1"/>
          </p:nvPr>
        </p:nvSpPr>
        <p:spPr/>
        <p:txBody>
          <a:bodyPr>
            <a:normAutofit fontScale="60000"/>
          </a:bodyPr>
          <a:p>
            <a:pPr marR="7620">
              <a:lnSpc>
                <a:spcPct val="100000"/>
              </a:lnSpc>
              <a:spcBef>
                <a:spcPts val="100"/>
              </a:spcBef>
            </a:pPr>
            <a:r>
              <a:rPr b="1" dirty="0">
                <a:latin typeface="Times New Roman" panose="02020603050405020304"/>
                <a:cs typeface="Times New Roman" panose="02020603050405020304"/>
                <a:sym typeface="+mn-ea"/>
              </a:rPr>
              <a:t>“An</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AI</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agent</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program</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is</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software</a:t>
            </a:r>
            <a:r>
              <a:rPr b="1" spc="7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program</a:t>
            </a:r>
            <a:r>
              <a:rPr b="1" spc="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that</a:t>
            </a:r>
            <a:r>
              <a:rPr b="1" spc="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uses</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artificial</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intelligence</a:t>
            </a:r>
            <a:r>
              <a:rPr b="1" spc="65" dirty="0">
                <a:latin typeface="Times New Roman" panose="02020603050405020304"/>
                <a:cs typeface="Times New Roman" panose="02020603050405020304"/>
                <a:sym typeface="+mn-ea"/>
              </a:rPr>
              <a:t> </a:t>
            </a:r>
            <a:r>
              <a:rPr b="1" spc="-20" dirty="0">
                <a:latin typeface="Times New Roman" panose="02020603050405020304"/>
                <a:cs typeface="Times New Roman" panose="02020603050405020304"/>
                <a:sym typeface="+mn-ea"/>
              </a:rPr>
              <a:t>(AI) </a:t>
            </a:r>
            <a:r>
              <a:rPr b="1" dirty="0">
                <a:latin typeface="Times New Roman" panose="02020603050405020304"/>
                <a:cs typeface="Times New Roman" panose="02020603050405020304"/>
                <a:sym typeface="+mn-ea"/>
              </a:rPr>
              <a:t>to</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perform</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tasks,</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make</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decisions,</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interact</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with</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its</a:t>
            </a:r>
            <a:r>
              <a:rPr b="1" spc="-4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environment”</a:t>
            </a:r>
            <a:endParaRPr>
              <a:latin typeface="Times New Roman" panose="02020603050405020304"/>
              <a:cs typeface="Times New Roman" panose="02020603050405020304"/>
            </a:endParaRPr>
          </a:p>
          <a:p>
            <a:pPr>
              <a:lnSpc>
                <a:spcPct val="100000"/>
              </a:lnSpc>
              <a:spcBef>
                <a:spcPts val="120"/>
              </a:spcBef>
            </a:pPr>
            <a:endParaRPr>
              <a:latin typeface="Times New Roman" panose="02020603050405020304"/>
              <a:cs typeface="Times New Roman" panose="02020603050405020304"/>
            </a:endParaRPr>
          </a:p>
          <a:p>
            <a:pPr marR="5080">
              <a:lnSpc>
                <a:spcPct val="100000"/>
              </a:lnSpc>
            </a:pPr>
            <a:r>
              <a:rPr dirty="0">
                <a:latin typeface="Times New Roman" panose="02020603050405020304"/>
                <a:cs typeface="Times New Roman" panose="02020603050405020304"/>
                <a:sym typeface="+mn-ea"/>
              </a:rPr>
              <a:t>They</a:t>
            </a:r>
            <a:r>
              <a:rPr spc="2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take</a:t>
            </a:r>
            <a:r>
              <a:rPr spc="2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current</a:t>
            </a:r>
            <a:r>
              <a:rPr spc="2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percept</a:t>
            </a:r>
            <a:r>
              <a:rPr spc="2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as</a:t>
            </a:r>
            <a:r>
              <a:rPr spc="2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input</a:t>
            </a:r>
            <a:r>
              <a:rPr spc="2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22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sensors</a:t>
            </a:r>
            <a:r>
              <a:rPr spc="2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and</a:t>
            </a:r>
            <a:r>
              <a:rPr spc="2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return</a:t>
            </a:r>
            <a:r>
              <a:rPr spc="2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a:t>
            </a:r>
            <a:r>
              <a:rPr spc="2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action</a:t>
            </a:r>
            <a:r>
              <a:rPr spc="2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4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the </a:t>
            </a:r>
            <a:r>
              <a:rPr dirty="0">
                <a:latin typeface="Times New Roman" panose="02020603050405020304"/>
                <a:cs typeface="Times New Roman" panose="02020603050405020304"/>
                <a:sym typeface="+mn-ea"/>
              </a:rPr>
              <a:t>actuators.</a:t>
            </a:r>
            <a:r>
              <a:rPr spc="2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Notice</a:t>
            </a:r>
            <a:r>
              <a:rPr spc="2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difference</a:t>
            </a:r>
            <a:r>
              <a:rPr spc="2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between</a:t>
            </a:r>
            <a:r>
              <a:rPr spc="2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2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program,</a:t>
            </a:r>
            <a:r>
              <a:rPr spc="22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which</a:t>
            </a:r>
            <a:r>
              <a:rPr spc="2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takes</a:t>
            </a:r>
            <a:r>
              <a:rPr spc="2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3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current </a:t>
            </a:r>
            <a:r>
              <a:rPr dirty="0">
                <a:latin typeface="Times New Roman" panose="02020603050405020304"/>
                <a:cs typeface="Times New Roman" panose="02020603050405020304"/>
                <a:sym typeface="+mn-ea"/>
              </a:rPr>
              <a:t>percept</a:t>
            </a:r>
            <a:r>
              <a:rPr spc="4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as</a:t>
            </a:r>
            <a:r>
              <a:rPr spc="4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input,</a:t>
            </a:r>
            <a:r>
              <a:rPr spc="48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and</a:t>
            </a:r>
            <a:r>
              <a:rPr spc="4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48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48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function,</a:t>
            </a:r>
            <a:r>
              <a:rPr spc="48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which</a:t>
            </a:r>
            <a:r>
              <a:rPr spc="4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may</a:t>
            </a:r>
            <a:r>
              <a:rPr spc="48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depend</a:t>
            </a:r>
            <a:r>
              <a:rPr spc="48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a:t>
            </a:r>
            <a:r>
              <a:rPr spc="4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4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entire</a:t>
            </a:r>
            <a:r>
              <a:rPr spc="484"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percept history.</a:t>
            </a:r>
            <a:endParaRPr>
              <a:latin typeface="Times New Roman" panose="02020603050405020304"/>
              <a:cs typeface="Times New Roman" panose="02020603050405020304"/>
            </a:endParaRPr>
          </a:p>
          <a:p>
            <a:pPr>
              <a:lnSpc>
                <a:spcPct val="100000"/>
              </a:lnSpc>
              <a:spcBef>
                <a:spcPts val="125"/>
              </a:spcBef>
            </a:pPr>
            <a:endParaRPr>
              <a:latin typeface="Times New Roman" panose="02020603050405020304"/>
              <a:cs typeface="Times New Roman" panose="02020603050405020304"/>
            </a:endParaRPr>
          </a:p>
          <a:p>
            <a:pPr marR="5715">
              <a:lnSpc>
                <a:spcPct val="100000"/>
              </a:lnSpc>
            </a:pPr>
            <a:r>
              <a:rPr b="1" dirty="0">
                <a:latin typeface="Times New Roman" panose="02020603050405020304"/>
                <a:cs typeface="Times New Roman" panose="02020603050405020304"/>
                <a:sym typeface="+mn-ea"/>
              </a:rPr>
              <a:t>Agent</a:t>
            </a:r>
            <a:r>
              <a:rPr b="1" spc="1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programs</a:t>
            </a:r>
            <a:r>
              <a:rPr b="1" spc="1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are</a:t>
            </a:r>
            <a:r>
              <a:rPr b="1" spc="1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fundamental</a:t>
            </a:r>
            <a:r>
              <a:rPr b="1" spc="1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concepts</a:t>
            </a:r>
            <a:r>
              <a:rPr b="1" spc="1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that</a:t>
            </a:r>
            <a:r>
              <a:rPr b="1" spc="1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define</a:t>
            </a:r>
            <a:r>
              <a:rPr b="1" spc="1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how</a:t>
            </a:r>
            <a:r>
              <a:rPr b="1" spc="1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autonomous</a:t>
            </a:r>
            <a:r>
              <a:rPr b="1" spc="16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systems </a:t>
            </a:r>
            <a:r>
              <a:rPr b="1" dirty="0">
                <a:latin typeface="Times New Roman" panose="02020603050405020304"/>
                <a:cs typeface="Times New Roman" panose="02020603050405020304"/>
                <a:sym typeface="+mn-ea"/>
              </a:rPr>
              <a:t>or</a:t>
            </a:r>
            <a:r>
              <a:rPr b="1" spc="2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agents</a:t>
            </a:r>
            <a:r>
              <a:rPr b="1" spc="2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perceive</a:t>
            </a:r>
            <a:r>
              <a:rPr b="1" spc="28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their</a:t>
            </a:r>
            <a:r>
              <a:rPr b="1" spc="2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environment</a:t>
            </a:r>
            <a:r>
              <a:rPr b="1" spc="27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26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take</a:t>
            </a:r>
            <a:r>
              <a:rPr b="1" spc="27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actions</a:t>
            </a:r>
            <a:r>
              <a:rPr b="1" spc="2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to</a:t>
            </a:r>
            <a:r>
              <a:rPr b="1" spc="2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achieve</a:t>
            </a:r>
            <a:r>
              <a:rPr b="1" spc="28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specific</a:t>
            </a:r>
            <a:r>
              <a:rPr b="1" spc="27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goals. </a:t>
            </a:r>
            <a:r>
              <a:rPr b="1" dirty="0">
                <a:latin typeface="Times New Roman" panose="02020603050405020304"/>
                <a:cs typeface="Times New Roman" panose="02020603050405020304"/>
                <a:sym typeface="+mn-ea"/>
              </a:rPr>
              <a:t>An</a:t>
            </a:r>
            <a:r>
              <a:rPr b="1" spc="29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agent</a:t>
            </a:r>
            <a:r>
              <a:rPr b="1" spc="30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can</a:t>
            </a:r>
            <a:r>
              <a:rPr b="1" spc="30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be</a:t>
            </a:r>
            <a:r>
              <a:rPr b="1" spc="30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29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software</a:t>
            </a:r>
            <a:r>
              <a:rPr b="1" spc="30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entity</a:t>
            </a:r>
            <a:r>
              <a:rPr b="1" spc="29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(like</a:t>
            </a:r>
            <a:r>
              <a:rPr b="1" spc="29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28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chatbot</a:t>
            </a:r>
            <a:r>
              <a:rPr b="1" spc="30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or</a:t>
            </a:r>
            <a:r>
              <a:rPr b="1" spc="25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28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robot)</a:t>
            </a:r>
            <a:r>
              <a:rPr b="1" spc="30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that</a:t>
            </a:r>
            <a:r>
              <a:rPr b="1" spc="29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perceives</a:t>
            </a:r>
            <a:r>
              <a:rPr b="1" spc="290" dirty="0">
                <a:latin typeface="Times New Roman" panose="02020603050405020304"/>
                <a:cs typeface="Times New Roman" panose="02020603050405020304"/>
                <a:sym typeface="+mn-ea"/>
              </a:rPr>
              <a:t> </a:t>
            </a:r>
            <a:r>
              <a:rPr b="1" spc="-25" dirty="0">
                <a:latin typeface="Times New Roman" panose="02020603050405020304"/>
                <a:cs typeface="Times New Roman" panose="02020603050405020304"/>
                <a:sym typeface="+mn-ea"/>
              </a:rPr>
              <a:t>its </a:t>
            </a:r>
            <a:r>
              <a:rPr b="1" dirty="0">
                <a:latin typeface="Times New Roman" panose="02020603050405020304"/>
                <a:cs typeface="Times New Roman" panose="02020603050405020304"/>
                <a:sym typeface="+mn-ea"/>
              </a:rPr>
              <a:t>environment</a:t>
            </a:r>
            <a:r>
              <a:rPr b="1" spc="-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through</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sensors</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and</a:t>
            </a:r>
            <a:r>
              <a:rPr b="1" spc="-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acts</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upon</a:t>
            </a:r>
            <a:r>
              <a:rPr b="1" spc="-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it</a:t>
            </a:r>
            <a:r>
              <a:rPr b="1" spc="-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through</a:t>
            </a:r>
            <a:r>
              <a:rPr b="1" spc="-65"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actuators.</a:t>
            </a:r>
            <a:endParaRPr>
              <a:latin typeface="Times New Roman" panose="02020603050405020304"/>
              <a:cs typeface="Times New Roman" panose="02020603050405020304"/>
            </a:endParaRPr>
          </a:p>
          <a:p>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60000"/>
          </a:bodyPr>
          <a:p>
            <a:pPr marR="6350">
              <a:lnSpc>
                <a:spcPct val="100000"/>
              </a:lnSpc>
              <a:spcBef>
                <a:spcPts val="100"/>
              </a:spcBef>
            </a:pPr>
            <a:r>
              <a:rPr dirty="0">
                <a:latin typeface="Times New Roman" panose="02020603050405020304"/>
                <a:cs typeface="Times New Roman" panose="02020603050405020304"/>
                <a:sym typeface="+mn-ea"/>
              </a:rPr>
              <a:t>The</a:t>
            </a:r>
            <a:r>
              <a:rPr spc="5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50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program</a:t>
            </a:r>
            <a:r>
              <a:rPr spc="4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has</a:t>
            </a:r>
            <a:r>
              <a:rPr spc="50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no</a:t>
            </a:r>
            <a:r>
              <a:rPr spc="50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choice</a:t>
            </a:r>
            <a:r>
              <a:rPr spc="5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but</a:t>
            </a:r>
            <a:r>
              <a:rPr spc="50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5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take</a:t>
            </a:r>
            <a:r>
              <a:rPr spc="4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just</a:t>
            </a:r>
            <a:r>
              <a:rPr spc="5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50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current</a:t>
            </a:r>
            <a:r>
              <a:rPr spc="50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percept</a:t>
            </a:r>
            <a:r>
              <a:rPr spc="509"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as</a:t>
            </a:r>
            <a:r>
              <a:rPr spc="50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input </a:t>
            </a:r>
            <a:r>
              <a:rPr dirty="0">
                <a:latin typeface="Times New Roman" panose="02020603050405020304"/>
                <a:cs typeface="Times New Roman" panose="02020603050405020304"/>
                <a:sym typeface="+mn-ea"/>
              </a:rPr>
              <a:t>because</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nothing</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more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available</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 </a:t>
            </a:r>
            <a:r>
              <a:rPr spc="-25" dirty="0">
                <a:latin typeface="Times New Roman" panose="02020603050405020304"/>
                <a:cs typeface="Times New Roman" panose="02020603050405020304"/>
                <a:sym typeface="+mn-ea"/>
              </a:rPr>
              <a:t>the</a:t>
            </a:r>
            <a:r>
              <a:rPr lang="en-US"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environment;</a:t>
            </a:r>
            <a:r>
              <a:rPr spc="1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if</a:t>
            </a:r>
            <a:r>
              <a:rPr spc="1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agent’s</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actions</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need</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depend</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entire</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percept</a:t>
            </a:r>
            <a:r>
              <a:rPr spc="14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sequence, </a:t>
            </a:r>
            <a:r>
              <a:rPr dirty="0">
                <a:latin typeface="Times New Roman" panose="02020603050405020304"/>
                <a:cs typeface="Times New Roman" panose="02020603050405020304"/>
                <a:sym typeface="+mn-ea"/>
              </a:rPr>
              <a:t>the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will</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have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remember the</a:t>
            </a:r>
            <a:r>
              <a:rPr spc="-10" dirty="0">
                <a:latin typeface="Times New Roman" panose="02020603050405020304"/>
                <a:cs typeface="Times New Roman" panose="02020603050405020304"/>
                <a:sym typeface="+mn-ea"/>
              </a:rPr>
              <a:t> percepts.</a:t>
            </a:r>
            <a:endParaRPr>
              <a:latin typeface="Times New Roman" panose="02020603050405020304"/>
              <a:cs typeface="Times New Roman" panose="02020603050405020304"/>
            </a:endParaRPr>
          </a:p>
          <a:p>
            <a:pPr>
              <a:lnSpc>
                <a:spcPct val="100000"/>
              </a:lnSpc>
              <a:spcBef>
                <a:spcPts val="120"/>
              </a:spcBef>
            </a:pPr>
            <a:r>
              <a:rPr dirty="0">
                <a:latin typeface="Times New Roman" panose="02020603050405020304"/>
                <a:cs typeface="Times New Roman" panose="02020603050405020304"/>
                <a:sym typeface="+mn-ea"/>
              </a:rPr>
              <a:t>Now</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next</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question</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how</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make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work</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proper</a:t>
            </a:r>
            <a:r>
              <a:rPr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order?</a:t>
            </a:r>
            <a:endParaRPr>
              <a:latin typeface="Times New Roman" panose="02020603050405020304"/>
              <a:cs typeface="Times New Roman" panose="02020603050405020304"/>
            </a:endParaRPr>
          </a:p>
          <a:p>
            <a:pPr>
              <a:lnSpc>
                <a:spcPct val="100000"/>
              </a:lnSpc>
            </a:pPr>
            <a:r>
              <a:rPr spc="-10" dirty="0">
                <a:latin typeface="Times New Roman" panose="02020603050405020304"/>
                <a:cs typeface="Times New Roman" panose="02020603050405020304"/>
                <a:sym typeface="+mn-ea"/>
              </a:rPr>
              <a:t>Taking</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percept</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environment</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and</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generating</a:t>
            </a:r>
            <a:r>
              <a:rPr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action</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based</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a:t>
            </a:r>
            <a:r>
              <a:rPr spc="-10" dirty="0">
                <a:latin typeface="Times New Roman" panose="02020603050405020304"/>
                <a:cs typeface="Times New Roman" panose="02020603050405020304"/>
                <a:sym typeface="+mn-ea"/>
              </a:rPr>
              <a:t> environment.</a:t>
            </a:r>
            <a:endParaRPr>
              <a:latin typeface="Times New Roman" panose="02020603050405020304"/>
              <a:cs typeface="Times New Roman" panose="02020603050405020304"/>
            </a:endParaRPr>
          </a:p>
          <a:p>
            <a:pPr>
              <a:lnSpc>
                <a:spcPct val="100000"/>
              </a:lnSpc>
            </a:pPr>
            <a:r>
              <a:rPr dirty="0">
                <a:latin typeface="Times New Roman" panose="02020603050405020304"/>
                <a:cs typeface="Times New Roman" panose="02020603050405020304"/>
                <a:sym typeface="+mn-ea"/>
              </a:rPr>
              <a:t>How</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can</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do</a:t>
            </a:r>
            <a:r>
              <a:rPr spc="-20" dirty="0">
                <a:latin typeface="Times New Roman" panose="02020603050405020304"/>
                <a:cs typeface="Times New Roman" panose="02020603050405020304"/>
                <a:sym typeface="+mn-ea"/>
              </a:rPr>
              <a:t> this?</a:t>
            </a:r>
            <a:endParaRPr>
              <a:latin typeface="Times New Roman" panose="02020603050405020304"/>
              <a:cs typeface="Times New Roman" panose="02020603050405020304"/>
            </a:endParaRPr>
          </a:p>
          <a:p>
            <a:pPr>
              <a:lnSpc>
                <a:spcPct val="100000"/>
              </a:lnSpc>
            </a:pPr>
            <a:r>
              <a:rPr dirty="0">
                <a:latin typeface="Times New Roman" panose="02020603050405020304"/>
                <a:cs typeface="Times New Roman" panose="02020603050405020304"/>
                <a:sym typeface="+mn-ea"/>
              </a:rPr>
              <a:t>This</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can</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done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by good agent</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program.</a:t>
            </a:r>
            <a:endParaRPr>
              <a:latin typeface="Times New Roman" panose="02020603050405020304"/>
              <a:cs typeface="Times New Roman" panose="02020603050405020304"/>
            </a:endParaRPr>
          </a:p>
          <a:p>
            <a:pPr>
              <a:lnSpc>
                <a:spcPct val="100000"/>
              </a:lnSpc>
            </a:pPr>
            <a:r>
              <a:rPr dirty="0">
                <a:latin typeface="Times New Roman" panose="02020603050405020304"/>
                <a:cs typeface="Times New Roman" panose="02020603050405020304"/>
                <a:sym typeface="+mn-ea"/>
              </a:rPr>
              <a:t>There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are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two</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things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note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about</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skeleton</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program,</a:t>
            </a:r>
            <a:endParaRPr>
              <a:latin typeface="Times New Roman" panose="02020603050405020304"/>
              <a:cs typeface="Times New Roman" panose="02020603050405020304"/>
            </a:endParaRPr>
          </a:p>
          <a:p>
            <a:pPr marR="5080">
              <a:lnSpc>
                <a:spcPct val="100000"/>
              </a:lnSpc>
            </a:pPr>
            <a:r>
              <a:rPr dirty="0">
                <a:latin typeface="Times New Roman" panose="02020603050405020304"/>
                <a:cs typeface="Times New Roman" panose="02020603050405020304"/>
                <a:sym typeface="+mn-ea"/>
              </a:rPr>
              <a:t>generally,</a:t>
            </a:r>
            <a:r>
              <a:rPr spc="11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we</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recieve</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agent</a:t>
            </a:r>
            <a:r>
              <a:rPr b="1" spc="1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mapping</a:t>
            </a:r>
            <a:r>
              <a:rPr b="1" spc="1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as</a:t>
            </a:r>
            <a:r>
              <a:rPr b="1" spc="1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1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function</a:t>
            </a:r>
            <a:r>
              <a:rPr dirty="0">
                <a:latin typeface="Times New Roman" panose="02020603050405020304"/>
                <a:cs typeface="Times New Roman" panose="02020603050405020304"/>
                <a:sym typeface="+mn-ea"/>
              </a:rPr>
              <a:t>,</a:t>
            </a:r>
            <a:r>
              <a:rPr spc="1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1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percept</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sequence</a:t>
            </a:r>
            <a:r>
              <a:rPr spc="125"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to </a:t>
            </a:r>
            <a:r>
              <a:rPr dirty="0">
                <a:latin typeface="Times New Roman" panose="02020603050405020304"/>
                <a:cs typeface="Times New Roman" panose="02020603050405020304"/>
                <a:sym typeface="+mn-ea"/>
              </a:rPr>
              <a:t>action</a:t>
            </a:r>
            <a:r>
              <a:rPr spc="25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a:t>
            </a:r>
            <a:r>
              <a:rPr spc="2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just</a:t>
            </a:r>
            <a:r>
              <a:rPr spc="2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recieve</a:t>
            </a:r>
            <a:r>
              <a:rPr spc="2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only</a:t>
            </a:r>
            <a:r>
              <a:rPr spc="2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single</a:t>
            </a:r>
            <a:r>
              <a:rPr spc="2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input,</a:t>
            </a:r>
            <a:r>
              <a:rPr spc="2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if</a:t>
            </a:r>
            <a:r>
              <a:rPr spc="2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2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wants</a:t>
            </a:r>
            <a:r>
              <a:rPr spc="2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recieve</a:t>
            </a:r>
            <a:r>
              <a:rPr spc="2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multiple</a:t>
            </a:r>
            <a:r>
              <a:rPr spc="27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percept, </a:t>
            </a:r>
            <a:r>
              <a:rPr dirty="0">
                <a:latin typeface="Times New Roman" panose="02020603050405020304"/>
                <a:cs typeface="Times New Roman" panose="02020603050405020304"/>
                <a:sym typeface="+mn-ea"/>
              </a:rPr>
              <a:t>now</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should</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have</a:t>
            </a:r>
            <a:r>
              <a:rPr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“specalized</a:t>
            </a:r>
            <a:r>
              <a:rPr b="1" spc="-3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memory”</a:t>
            </a: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066483"/>
            <a:ext cx="8229600" cy="1143000"/>
          </a:xfrm>
        </p:spPr>
        <p:txBody>
          <a:bodyPr>
            <a:noAutofit/>
          </a:bodyPr>
          <a:p>
            <a:pPr algn="just"/>
            <a:r>
              <a:rPr sz="2400" spc="-25" dirty="0">
                <a:solidFill>
                  <a:srgbClr val="3E3E3E"/>
                </a:solidFill>
                <a:latin typeface="Times New Roman" panose="02020603050405020304" pitchFamily="18" charset="0"/>
                <a:cs typeface="Times New Roman" panose="02020603050405020304" pitchFamily="18" charset="0"/>
                <a:sym typeface="+mn-ea"/>
              </a:rPr>
              <a:t>Now</a:t>
            </a:r>
            <a:r>
              <a:rPr sz="2400" dirty="0">
                <a:solidFill>
                  <a:srgbClr val="3E3E3E"/>
                </a:solidFill>
                <a:latin typeface="Times New Roman" panose="02020603050405020304" pitchFamily="18" charset="0"/>
                <a:cs typeface="Times New Roman" panose="02020603050405020304" pitchFamily="18" charset="0"/>
                <a:sym typeface="+mn-ea"/>
              </a:rPr>
              <a:t>	</a:t>
            </a:r>
            <a:r>
              <a:rPr sz="2400" spc="-25" dirty="0">
                <a:solidFill>
                  <a:srgbClr val="3E3E3E"/>
                </a:solidFill>
                <a:latin typeface="Times New Roman" panose="02020603050405020304" pitchFamily="18" charset="0"/>
                <a:cs typeface="Times New Roman" panose="02020603050405020304" pitchFamily="18" charset="0"/>
                <a:sym typeface="+mn-ea"/>
              </a:rPr>
              <a:t>we</a:t>
            </a:r>
            <a:r>
              <a:rPr sz="2400" dirty="0">
                <a:solidFill>
                  <a:srgbClr val="3E3E3E"/>
                </a:solidFill>
                <a:latin typeface="Times New Roman" panose="02020603050405020304" pitchFamily="18" charset="0"/>
                <a:cs typeface="Times New Roman" panose="02020603050405020304" pitchFamily="18" charset="0"/>
                <a:sym typeface="+mn-ea"/>
              </a:rPr>
              <a:t>	</a:t>
            </a:r>
            <a:r>
              <a:rPr sz="2400" spc="-20" dirty="0">
                <a:solidFill>
                  <a:srgbClr val="3E3E3E"/>
                </a:solidFill>
                <a:latin typeface="Times New Roman" panose="02020603050405020304" pitchFamily="18" charset="0"/>
                <a:cs typeface="Times New Roman" panose="02020603050405020304" pitchFamily="18" charset="0"/>
                <a:sym typeface="+mn-ea"/>
              </a:rPr>
              <a:t>have</a:t>
            </a:r>
            <a:r>
              <a:rPr sz="2400" dirty="0">
                <a:solidFill>
                  <a:srgbClr val="3E3E3E"/>
                </a:solidFill>
                <a:latin typeface="Times New Roman" panose="02020603050405020304" pitchFamily="18" charset="0"/>
                <a:cs typeface="Times New Roman" panose="02020603050405020304" pitchFamily="18" charset="0"/>
                <a:sym typeface="+mn-ea"/>
              </a:rPr>
              <a:t>	</a:t>
            </a:r>
            <a:r>
              <a:rPr sz="2400" spc="-25" dirty="0">
                <a:solidFill>
                  <a:srgbClr val="3E3E3E"/>
                </a:solidFill>
                <a:latin typeface="Times New Roman" panose="02020603050405020304" pitchFamily="18" charset="0"/>
                <a:cs typeface="Times New Roman" panose="02020603050405020304" pitchFamily="18" charset="0"/>
                <a:sym typeface="+mn-ea"/>
              </a:rPr>
              <a:t>to</a:t>
            </a:r>
            <a:r>
              <a:rPr sz="240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design</a:t>
            </a:r>
            <a:r>
              <a:rPr sz="2400" dirty="0">
                <a:solidFill>
                  <a:srgbClr val="3E3E3E"/>
                </a:solidFill>
                <a:latin typeface="Times New Roman" panose="02020603050405020304" pitchFamily="18" charset="0"/>
                <a:cs typeface="Times New Roman" panose="02020603050405020304" pitchFamily="18" charset="0"/>
                <a:sym typeface="+mn-ea"/>
              </a:rPr>
              <a:t>	</a:t>
            </a:r>
            <a:r>
              <a:rPr sz="2400" spc="-50" dirty="0">
                <a:solidFill>
                  <a:srgbClr val="3E3E3E"/>
                </a:solidFill>
                <a:latin typeface="Times New Roman" panose="02020603050405020304" pitchFamily="18" charset="0"/>
                <a:cs typeface="Times New Roman" panose="02020603050405020304" pitchFamily="18" charset="0"/>
                <a:sym typeface="+mn-ea"/>
              </a:rPr>
              <a:t>a</a:t>
            </a:r>
            <a:r>
              <a:rPr sz="2400" dirty="0">
                <a:solidFill>
                  <a:srgbClr val="3E3E3E"/>
                </a:solidFill>
                <a:latin typeface="Times New Roman" panose="02020603050405020304" pitchFamily="18" charset="0"/>
                <a:cs typeface="Times New Roman" panose="02020603050405020304" pitchFamily="18" charset="0"/>
                <a:sym typeface="+mn-ea"/>
              </a:rPr>
              <a:t>	</a:t>
            </a:r>
            <a:r>
              <a:rPr sz="2400" spc="-10" dirty="0">
                <a:solidFill>
                  <a:srgbClr val="3E3E3E"/>
                </a:solidFill>
                <a:latin typeface="Times New Roman" panose="02020603050405020304" pitchFamily="18" charset="0"/>
                <a:cs typeface="Times New Roman" panose="02020603050405020304" pitchFamily="18" charset="0"/>
                <a:sym typeface="+mn-ea"/>
              </a:rPr>
              <a:t>agent</a:t>
            </a:r>
            <a:r>
              <a:rPr sz="2400" dirty="0">
                <a:solidFill>
                  <a:srgbClr val="3E3E3E"/>
                </a:solidFill>
                <a:latin typeface="Times New Roman" panose="02020603050405020304" pitchFamily="18" charset="0"/>
                <a:cs typeface="Times New Roman" panose="02020603050405020304" pitchFamily="18" charset="0"/>
                <a:sym typeface="+mn-ea"/>
              </a:rPr>
              <a:t>	</a:t>
            </a:r>
            <a:r>
              <a:rPr sz="2400" spc="-25" dirty="0">
                <a:solidFill>
                  <a:srgbClr val="3E3E3E"/>
                </a:solidFill>
                <a:latin typeface="Times New Roman" panose="02020603050405020304" pitchFamily="18" charset="0"/>
                <a:cs typeface="Times New Roman" panose="02020603050405020304" pitchFamily="18" charset="0"/>
                <a:sym typeface="+mn-ea"/>
              </a:rPr>
              <a:t>progarm, </a:t>
            </a:r>
            <a:r>
              <a:rPr lang="en-US" sz="2400" spc="-25" dirty="0">
                <a:solidFill>
                  <a:srgbClr val="3E3E3E"/>
                </a:solidFill>
                <a:latin typeface="Times New Roman" panose="02020603050405020304" pitchFamily="18" charset="0"/>
                <a:cs typeface="Times New Roman" panose="02020603050405020304" pitchFamily="18" charset="0"/>
                <a:sym typeface="+mn-ea"/>
              </a:rPr>
              <a:t>that it should </a:t>
            </a:r>
            <a:r>
              <a:rPr sz="2400" dirty="0">
                <a:solidFill>
                  <a:srgbClr val="3E3E3E"/>
                </a:solidFill>
                <a:latin typeface="Times New Roman" panose="02020603050405020304" pitchFamily="18" charset="0"/>
                <a:cs typeface="Times New Roman" panose="02020603050405020304" pitchFamily="18" charset="0"/>
                <a:sym typeface="+mn-ea"/>
              </a:rPr>
              <a:t>perform</a:t>
            </a:r>
            <a:r>
              <a:rPr sz="2400" spc="-120" dirty="0">
                <a:solidFill>
                  <a:srgbClr val="3E3E3E"/>
                </a:solidFill>
                <a:latin typeface="Times New Roman" panose="02020603050405020304" pitchFamily="18" charset="0"/>
                <a:cs typeface="Times New Roman" panose="02020603050405020304" pitchFamily="18" charset="0"/>
                <a:sym typeface="+mn-ea"/>
              </a:rPr>
              <a:t> </a:t>
            </a:r>
            <a:r>
              <a:rPr sz="2400" b="1" dirty="0">
                <a:solidFill>
                  <a:srgbClr val="3E3E3E"/>
                </a:solidFill>
                <a:latin typeface="Times New Roman" panose="02020603050405020304" pitchFamily="18" charset="0"/>
                <a:cs typeface="Times New Roman" panose="02020603050405020304" pitchFamily="18" charset="0"/>
                <a:sym typeface="+mn-ea"/>
              </a:rPr>
              <a:t>mapping</a:t>
            </a:r>
            <a:r>
              <a:rPr sz="2400" b="1" spc="-114" dirty="0">
                <a:solidFill>
                  <a:srgbClr val="3E3E3E"/>
                </a:solidFill>
                <a:latin typeface="Times New Roman" panose="02020603050405020304" pitchFamily="18" charset="0"/>
                <a:cs typeface="Times New Roman" panose="02020603050405020304" pitchFamily="18" charset="0"/>
                <a:sym typeface="+mn-ea"/>
              </a:rPr>
              <a:t> </a:t>
            </a:r>
            <a:r>
              <a:rPr sz="2400" b="1" spc="-10" dirty="0">
                <a:solidFill>
                  <a:srgbClr val="3E3E3E"/>
                </a:solidFill>
                <a:latin typeface="Times New Roman" panose="02020603050405020304" pitchFamily="18" charset="0"/>
                <a:cs typeface="Times New Roman" panose="02020603050405020304" pitchFamily="18" charset="0"/>
                <a:sym typeface="+mn-ea"/>
              </a:rPr>
              <a:t>function</a:t>
            </a:r>
            <a:r>
              <a:rPr lang="en-US" sz="2400" b="1" spc="-10" dirty="0">
                <a:solidFill>
                  <a:srgbClr val="3E3E3E"/>
                </a:solidFill>
                <a:latin typeface="Times New Roman" panose="02020603050405020304" pitchFamily="18" charset="0"/>
                <a:cs typeface="Times New Roman" panose="02020603050405020304" pitchFamily="18" charset="0"/>
                <a:sym typeface="+mn-ea"/>
              </a:rPr>
              <a:t> </a:t>
            </a:r>
            <a:r>
              <a:rPr sz="2000" b="1" dirty="0">
                <a:solidFill>
                  <a:srgbClr val="3E3E3E"/>
                </a:solidFill>
                <a:latin typeface="Times New Roman" panose="02020603050405020304" pitchFamily="18" charset="0"/>
                <a:cs typeface="Times New Roman" panose="02020603050405020304" pitchFamily="18" charset="0"/>
                <a:sym typeface="+mn-ea"/>
              </a:rPr>
              <a:t>i.e</a:t>
            </a:r>
            <a:r>
              <a:rPr sz="2000" b="1" spc="-20" dirty="0">
                <a:solidFill>
                  <a:srgbClr val="3E3E3E"/>
                </a:solidFill>
                <a:latin typeface="Times New Roman" panose="02020603050405020304" pitchFamily="18" charset="0"/>
                <a:cs typeface="Times New Roman" panose="02020603050405020304" pitchFamily="18" charset="0"/>
                <a:sym typeface="+mn-ea"/>
              </a:rPr>
              <a:t> </a:t>
            </a:r>
            <a:r>
              <a:rPr sz="2000" b="1" spc="-10" dirty="0">
                <a:solidFill>
                  <a:srgbClr val="3E3E3E"/>
                </a:solidFill>
                <a:latin typeface="Times New Roman" panose="02020603050405020304" pitchFamily="18" charset="0"/>
                <a:cs typeface="Times New Roman" panose="02020603050405020304" pitchFamily="18" charset="0"/>
                <a:sym typeface="+mn-ea"/>
              </a:rPr>
              <a:t>AGENT</a:t>
            </a:r>
            <a:r>
              <a:rPr lang="en-US" sz="2000" b="1" spc="-10" dirty="0">
                <a:solidFill>
                  <a:srgbClr val="3E3E3E"/>
                </a:solidFill>
                <a:latin typeface="Times New Roman" panose="02020603050405020304" pitchFamily="18" charset="0"/>
                <a:cs typeface="Times New Roman" panose="02020603050405020304" pitchFamily="18" charset="0"/>
                <a:sym typeface="+mn-ea"/>
              </a:rPr>
              <a:t> TO </a:t>
            </a:r>
            <a:r>
              <a:rPr sz="2000" b="1" dirty="0">
                <a:solidFill>
                  <a:srgbClr val="3E3E3E"/>
                </a:solidFill>
                <a:latin typeface="Times New Roman" panose="02020603050405020304" pitchFamily="18" charset="0"/>
                <a:cs typeface="Times New Roman" panose="02020603050405020304" pitchFamily="18" charset="0"/>
                <a:sym typeface="+mn-ea"/>
              </a:rPr>
              <a:t>PERCEPT</a:t>
            </a:r>
            <a:r>
              <a:rPr sz="2000" b="1" spc="-85" dirty="0">
                <a:solidFill>
                  <a:srgbClr val="3E3E3E"/>
                </a:solidFill>
                <a:latin typeface="Times New Roman" panose="02020603050405020304" pitchFamily="18" charset="0"/>
                <a:cs typeface="Times New Roman" panose="02020603050405020304" pitchFamily="18" charset="0"/>
                <a:sym typeface="+mn-ea"/>
              </a:rPr>
              <a:t> </a:t>
            </a:r>
            <a:r>
              <a:rPr sz="2000" b="1" spc="-10" dirty="0">
                <a:solidFill>
                  <a:srgbClr val="3E3E3E"/>
                </a:solidFill>
                <a:latin typeface="Times New Roman" panose="02020603050405020304" pitchFamily="18" charset="0"/>
                <a:cs typeface="Times New Roman" panose="02020603050405020304" pitchFamily="18" charset="0"/>
                <a:sym typeface="+mn-ea"/>
              </a:rPr>
              <a:t>(PROGRAM)</a:t>
            </a:r>
            <a:endParaRPr lang="en-US" sz="2000" b="1" spc="-10" dirty="0">
              <a:solidFill>
                <a:srgbClr val="3E3E3E"/>
              </a:solidFill>
              <a:latin typeface="Times New Roman" panose="02020603050405020304" pitchFamily="18" charset="0"/>
              <a:cs typeface="Times New Roman" panose="02020603050405020304" pitchFamily="18" charset="0"/>
              <a:sym typeface="+mn-ea"/>
            </a:endParaRPr>
          </a:p>
        </p:txBody>
      </p:sp>
      <p:pic>
        <p:nvPicPr>
          <p:cNvPr id="10" name="object 10"/>
          <p:cNvPicPr>
            <a:picLocks noChangeAspect="1"/>
          </p:cNvPicPr>
          <p:nvPr>
            <p:ph idx="1"/>
          </p:nvPr>
        </p:nvPicPr>
        <p:blipFill>
          <a:blip r:embed="rId1" cstate="print"/>
          <a:stretch>
            <a:fillRect/>
          </a:stretch>
        </p:blipFill>
        <p:spPr>
          <a:xfrm>
            <a:off x="685800" y="2362200"/>
            <a:ext cx="7663180" cy="293941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marR="6350">
              <a:lnSpc>
                <a:spcPct val="100000"/>
              </a:lnSpc>
              <a:spcBef>
                <a:spcPts val="100"/>
              </a:spcBef>
            </a:pPr>
            <a:r>
              <a:rPr dirty="0">
                <a:latin typeface="Times New Roman" panose="02020603050405020304"/>
                <a:cs typeface="Times New Roman" panose="02020603050405020304"/>
                <a:sym typeface="+mn-ea"/>
              </a:rPr>
              <a:t>Four</a:t>
            </a:r>
            <a:r>
              <a:rPr spc="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basic</a:t>
            </a:r>
            <a:r>
              <a:rPr spc="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kinds</a:t>
            </a:r>
            <a:r>
              <a:rPr spc="1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spc="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programs</a:t>
            </a:r>
            <a:r>
              <a:rPr spc="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that</a:t>
            </a:r>
            <a:r>
              <a:rPr spc="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embody</a:t>
            </a:r>
            <a:r>
              <a:rPr spc="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principles</a:t>
            </a:r>
            <a:r>
              <a:rPr spc="1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underlying</a:t>
            </a:r>
            <a:r>
              <a:rPr spc="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almost</a:t>
            </a:r>
            <a:r>
              <a:rPr spc="10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all </a:t>
            </a:r>
            <a:r>
              <a:rPr dirty="0">
                <a:latin typeface="Times New Roman" panose="02020603050405020304"/>
                <a:cs typeface="Times New Roman" panose="02020603050405020304"/>
                <a:sym typeface="+mn-ea"/>
              </a:rPr>
              <a:t>intelligent</a:t>
            </a:r>
            <a:r>
              <a:rPr spc="-5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systems:</a:t>
            </a:r>
            <a:endParaRPr>
              <a:latin typeface="Times New Roman" panose="02020603050405020304"/>
              <a:cs typeface="Times New Roman" panose="02020603050405020304"/>
            </a:endParaRPr>
          </a:p>
          <a:p>
            <a:pPr>
              <a:lnSpc>
                <a:spcPct val="100000"/>
              </a:lnSpc>
              <a:tabLst>
                <a:tab pos="317500" algn="l"/>
              </a:tabLst>
            </a:pPr>
            <a:r>
              <a:rPr b="1" dirty="0">
                <a:latin typeface="Times New Roman" panose="02020603050405020304"/>
                <a:cs typeface="Times New Roman" panose="02020603050405020304"/>
                <a:sym typeface="+mn-ea"/>
              </a:rPr>
              <a:t>Simple</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reflex</a:t>
            </a:r>
            <a:r>
              <a:rPr b="1" spc="-5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agents</a:t>
            </a:r>
            <a:endParaRPr>
              <a:latin typeface="Times New Roman" panose="02020603050405020304"/>
              <a:cs typeface="Times New Roman" panose="02020603050405020304"/>
            </a:endParaRPr>
          </a:p>
          <a:p>
            <a:pPr>
              <a:lnSpc>
                <a:spcPct val="100000"/>
              </a:lnSpc>
              <a:tabLst>
                <a:tab pos="393065" algn="l"/>
              </a:tabLst>
            </a:pPr>
            <a:r>
              <a:rPr b="1" dirty="0">
                <a:latin typeface="Times New Roman" panose="02020603050405020304"/>
                <a:cs typeface="Times New Roman" panose="02020603050405020304"/>
                <a:sym typeface="+mn-ea"/>
              </a:rPr>
              <a:t>Model-based</a:t>
            </a:r>
            <a:r>
              <a:rPr b="1" spc="-7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reflex</a:t>
            </a:r>
            <a:r>
              <a:rPr b="1" spc="-7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agents</a:t>
            </a:r>
            <a:endParaRPr>
              <a:latin typeface="Times New Roman" panose="02020603050405020304"/>
              <a:cs typeface="Times New Roman" panose="02020603050405020304"/>
            </a:endParaRPr>
          </a:p>
          <a:p>
            <a:pPr>
              <a:lnSpc>
                <a:spcPct val="100000"/>
              </a:lnSpc>
              <a:tabLst>
                <a:tab pos="316230" algn="l"/>
                <a:tab pos="2848610" algn="l"/>
              </a:tabLst>
            </a:pPr>
            <a:r>
              <a:rPr b="1" dirty="0">
                <a:latin typeface="Times New Roman" panose="02020603050405020304"/>
                <a:cs typeface="Times New Roman" panose="02020603050405020304"/>
                <a:sym typeface="+mn-ea"/>
              </a:rPr>
              <a:t>Goal-based</a:t>
            </a:r>
            <a:r>
              <a:rPr b="1" spc="-10" dirty="0">
                <a:latin typeface="Times New Roman" panose="02020603050405020304"/>
                <a:cs typeface="Times New Roman" panose="02020603050405020304"/>
                <a:sym typeface="+mn-ea"/>
              </a:rPr>
              <a:t> agents</a:t>
            </a:r>
            <a:r>
              <a:rPr lang="en-US" b="1" spc="-10" dirty="0">
                <a:latin typeface="Times New Roman" panose="02020603050405020304"/>
                <a:cs typeface="Times New Roman" panose="02020603050405020304"/>
                <a:sym typeface="+mn-ea"/>
              </a:rPr>
              <a:t> </a:t>
            </a:r>
            <a:r>
              <a:rPr b="1" spc="-25" dirty="0">
                <a:latin typeface="Times New Roman" panose="02020603050405020304"/>
                <a:cs typeface="Times New Roman" panose="02020603050405020304"/>
                <a:sym typeface="+mn-ea"/>
              </a:rPr>
              <a:t>and</a:t>
            </a:r>
            <a:endParaRPr>
              <a:latin typeface="Times New Roman" panose="02020603050405020304"/>
              <a:cs typeface="Times New Roman" panose="02020603050405020304"/>
            </a:endParaRPr>
          </a:p>
          <a:p>
            <a:pPr>
              <a:lnSpc>
                <a:spcPct val="100000"/>
              </a:lnSpc>
              <a:spcBef>
                <a:spcPts val="5"/>
              </a:spcBef>
              <a:tabLst>
                <a:tab pos="317500" algn="l"/>
              </a:tabLst>
            </a:pPr>
            <a:r>
              <a:rPr b="1" dirty="0">
                <a:latin typeface="Times New Roman" panose="02020603050405020304"/>
                <a:cs typeface="Times New Roman" panose="02020603050405020304"/>
                <a:sym typeface="+mn-ea"/>
              </a:rPr>
              <a:t>Utility-based</a:t>
            </a:r>
            <a:r>
              <a:rPr b="1" spc="-8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agents.</a:t>
            </a:r>
            <a:endParaRPr>
              <a:latin typeface="Times New Roman" panose="02020603050405020304"/>
              <a:cs typeface="Times New Roman" panose="02020603050405020304"/>
            </a:endParaRPr>
          </a:p>
          <a:p>
            <a:pPr>
              <a:lnSpc>
                <a:spcPct val="100000"/>
              </a:lnSpc>
              <a:spcBef>
                <a:spcPts val="120"/>
              </a:spcBef>
            </a:pPr>
            <a:endParaRPr>
              <a:latin typeface="Times New Roman" panose="02020603050405020304"/>
              <a:cs typeface="Times New Roman" panose="02020603050405020304"/>
            </a:endParaRPr>
          </a:p>
          <a:p>
            <a:pPr>
              <a:lnSpc>
                <a:spcPct val="100000"/>
              </a:lnSpc>
              <a:tabLst>
                <a:tab pos="317500" algn="l"/>
              </a:tabLst>
            </a:pP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a:cs typeface="Times New Roman" panose="02020603050405020304"/>
                <a:sym typeface="+mn-ea"/>
              </a:rPr>
              <a:t>Simple</a:t>
            </a:r>
            <a:r>
              <a:rPr b="1" spc="-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Reflex</a:t>
            </a:r>
            <a:r>
              <a:rPr b="1" spc="-2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agent</a:t>
            </a:r>
            <a:endParaRPr lang="en-US"/>
          </a:p>
        </p:txBody>
      </p:sp>
      <p:sp>
        <p:nvSpPr>
          <p:cNvPr id="3" name="Content Placeholder 2"/>
          <p:cNvSpPr>
            <a:spLocks noGrp="1"/>
          </p:cNvSpPr>
          <p:nvPr>
            <p:ph idx="1"/>
          </p:nvPr>
        </p:nvSpPr>
        <p:spPr/>
        <p:txBody>
          <a:bodyPr>
            <a:normAutofit lnSpcReduction="20000"/>
          </a:bodyPr>
          <a:p>
            <a:pPr marR="5080" algn="just">
              <a:lnSpc>
                <a:spcPct val="100000"/>
              </a:lnSpc>
            </a:pPr>
            <a:r>
              <a:rPr sz="2800" dirty="0">
                <a:latin typeface="Times New Roman" panose="02020603050405020304"/>
                <a:cs typeface="Times New Roman" panose="02020603050405020304"/>
                <a:sym typeface="+mn-ea"/>
              </a:rPr>
              <a:t>The</a:t>
            </a:r>
            <a:r>
              <a:rPr sz="2800" spc="14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Simple</a:t>
            </a:r>
            <a:r>
              <a:rPr sz="2800" spc="15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reflex</a:t>
            </a:r>
            <a:r>
              <a:rPr sz="2800" spc="15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agents</a:t>
            </a:r>
            <a:r>
              <a:rPr sz="2800" spc="13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are</a:t>
            </a:r>
            <a:r>
              <a:rPr sz="2800" spc="14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the</a:t>
            </a:r>
            <a:r>
              <a:rPr sz="2800" spc="15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simplest</a:t>
            </a:r>
            <a:r>
              <a:rPr sz="2800" b="1" spc="155"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agents</a:t>
            </a:r>
            <a:r>
              <a:rPr sz="2800" dirty="0">
                <a:latin typeface="Times New Roman" panose="02020603050405020304"/>
                <a:cs typeface="Times New Roman" panose="02020603050405020304"/>
                <a:sym typeface="+mn-ea"/>
              </a:rPr>
              <a:t>.</a:t>
            </a:r>
            <a:r>
              <a:rPr sz="2800" spc="14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These</a:t>
            </a:r>
            <a:r>
              <a:rPr sz="2800" spc="15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agents</a:t>
            </a:r>
            <a:r>
              <a:rPr sz="2800" spc="15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take</a:t>
            </a:r>
            <a:r>
              <a:rPr sz="2800" spc="14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decisions</a:t>
            </a:r>
            <a:r>
              <a:rPr sz="2800" spc="15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on</a:t>
            </a:r>
            <a:r>
              <a:rPr sz="2800" spc="145" dirty="0">
                <a:latin typeface="Times New Roman" panose="02020603050405020304"/>
                <a:cs typeface="Times New Roman" panose="02020603050405020304"/>
                <a:sym typeface="+mn-ea"/>
              </a:rPr>
              <a:t> </a:t>
            </a:r>
            <a:r>
              <a:rPr sz="2800" spc="-25" dirty="0">
                <a:latin typeface="Times New Roman" panose="02020603050405020304"/>
                <a:cs typeface="Times New Roman" panose="02020603050405020304"/>
                <a:sym typeface="+mn-ea"/>
              </a:rPr>
              <a:t>the </a:t>
            </a:r>
            <a:r>
              <a:rPr sz="2800" dirty="0">
                <a:latin typeface="Times New Roman" panose="02020603050405020304"/>
                <a:cs typeface="Times New Roman" panose="02020603050405020304"/>
                <a:sym typeface="+mn-ea"/>
              </a:rPr>
              <a:t>basis</a:t>
            </a:r>
            <a:r>
              <a:rPr sz="2800" spc="44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of</a:t>
            </a:r>
            <a:r>
              <a:rPr sz="2800" spc="42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the</a:t>
            </a:r>
            <a:r>
              <a:rPr sz="2800" spc="425"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current</a:t>
            </a:r>
            <a:r>
              <a:rPr sz="2800" b="1" spc="434"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percepts</a:t>
            </a:r>
            <a:r>
              <a:rPr sz="2800" b="1" spc="44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and</a:t>
            </a:r>
            <a:r>
              <a:rPr sz="2800" b="1" spc="434"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ignore</a:t>
            </a:r>
            <a:r>
              <a:rPr sz="2800" b="1" spc="43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the</a:t>
            </a:r>
            <a:r>
              <a:rPr sz="2800" b="1" spc="425"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rest</a:t>
            </a:r>
            <a:r>
              <a:rPr sz="2800" b="1" spc="434"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of</a:t>
            </a:r>
            <a:r>
              <a:rPr sz="2800" b="1" spc="434"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the</a:t>
            </a:r>
            <a:r>
              <a:rPr sz="2800" b="1" spc="42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percept</a:t>
            </a:r>
            <a:r>
              <a:rPr sz="2800" b="1" spc="44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history.</a:t>
            </a:r>
            <a:r>
              <a:rPr sz="2800" b="1" spc="430" dirty="0">
                <a:latin typeface="Times New Roman" panose="02020603050405020304"/>
                <a:cs typeface="Times New Roman" panose="02020603050405020304"/>
                <a:sym typeface="+mn-ea"/>
              </a:rPr>
              <a:t> </a:t>
            </a:r>
            <a:r>
              <a:rPr sz="2800" spc="-10" dirty="0">
                <a:latin typeface="Times New Roman" panose="02020603050405020304"/>
                <a:cs typeface="Times New Roman" panose="02020603050405020304"/>
                <a:sym typeface="+mn-ea"/>
              </a:rPr>
              <a:t>These </a:t>
            </a:r>
            <a:r>
              <a:rPr sz="2800" dirty="0">
                <a:latin typeface="Times New Roman" panose="02020603050405020304"/>
                <a:cs typeface="Times New Roman" panose="02020603050405020304"/>
                <a:sym typeface="+mn-ea"/>
              </a:rPr>
              <a:t>agents</a:t>
            </a:r>
            <a:r>
              <a:rPr sz="2800" spc="33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only</a:t>
            </a:r>
            <a:r>
              <a:rPr sz="2800" b="1" spc="31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succeed</a:t>
            </a:r>
            <a:r>
              <a:rPr sz="2800" b="1" spc="33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in</a:t>
            </a:r>
            <a:r>
              <a:rPr sz="2800" b="1" spc="31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the</a:t>
            </a:r>
            <a:r>
              <a:rPr sz="2800" b="1" spc="33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fully</a:t>
            </a:r>
            <a:r>
              <a:rPr sz="2800" b="1" spc="330"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observable</a:t>
            </a:r>
            <a:r>
              <a:rPr sz="2800" b="1" spc="335" dirty="0">
                <a:latin typeface="Times New Roman" panose="02020603050405020304"/>
                <a:cs typeface="Times New Roman" panose="02020603050405020304"/>
                <a:sym typeface="+mn-ea"/>
              </a:rPr>
              <a:t> </a:t>
            </a:r>
            <a:r>
              <a:rPr sz="2800" b="1" dirty="0">
                <a:latin typeface="Times New Roman" panose="02020603050405020304"/>
                <a:cs typeface="Times New Roman" panose="02020603050405020304"/>
                <a:sym typeface="+mn-ea"/>
              </a:rPr>
              <a:t>environmen</a:t>
            </a:r>
            <a:r>
              <a:rPr sz="2800" dirty="0">
                <a:latin typeface="Times New Roman" panose="02020603050405020304"/>
                <a:cs typeface="Times New Roman" panose="02020603050405020304"/>
                <a:sym typeface="+mn-ea"/>
              </a:rPr>
              <a:t>t.The</a:t>
            </a:r>
            <a:r>
              <a:rPr sz="2800" spc="33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Simple</a:t>
            </a:r>
            <a:r>
              <a:rPr sz="2800" spc="32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reflex</a:t>
            </a:r>
            <a:r>
              <a:rPr sz="2800" spc="335" dirty="0">
                <a:latin typeface="Times New Roman" panose="02020603050405020304"/>
                <a:cs typeface="Times New Roman" panose="02020603050405020304"/>
                <a:sym typeface="+mn-ea"/>
              </a:rPr>
              <a:t> </a:t>
            </a:r>
            <a:r>
              <a:rPr sz="2800" spc="-10" dirty="0">
                <a:latin typeface="Times New Roman" panose="02020603050405020304"/>
                <a:cs typeface="Times New Roman" panose="02020603050405020304"/>
                <a:sym typeface="+mn-ea"/>
              </a:rPr>
              <a:t>agent </a:t>
            </a:r>
            <a:r>
              <a:rPr sz="2800" dirty="0">
                <a:latin typeface="Times New Roman" panose="02020603050405020304"/>
                <a:cs typeface="Times New Roman" panose="02020603050405020304"/>
                <a:sym typeface="+mn-ea"/>
              </a:rPr>
              <a:t>does</a:t>
            </a:r>
            <a:r>
              <a:rPr sz="2800" spc="-1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not</a:t>
            </a:r>
            <a:r>
              <a:rPr sz="2800" spc="-1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consider</a:t>
            </a:r>
            <a:r>
              <a:rPr sz="2800" spc="-2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any</a:t>
            </a:r>
            <a:r>
              <a:rPr sz="2800" spc="-1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part</a:t>
            </a:r>
            <a:r>
              <a:rPr sz="2800" spc="-3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of</a:t>
            </a:r>
            <a:r>
              <a:rPr sz="2800" spc="-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percepts</a:t>
            </a:r>
            <a:r>
              <a:rPr sz="2800" spc="-4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history</a:t>
            </a:r>
            <a:r>
              <a:rPr sz="2800" spc="-3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during</a:t>
            </a:r>
            <a:r>
              <a:rPr sz="2800" spc="-25"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their</a:t>
            </a:r>
            <a:r>
              <a:rPr sz="2800" spc="-3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decision</a:t>
            </a:r>
            <a:r>
              <a:rPr sz="2800" spc="-2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and</a:t>
            </a:r>
            <a:r>
              <a:rPr sz="2800" spc="-20" dirty="0">
                <a:latin typeface="Times New Roman" panose="02020603050405020304"/>
                <a:cs typeface="Times New Roman" panose="02020603050405020304"/>
                <a:sym typeface="+mn-ea"/>
              </a:rPr>
              <a:t> </a:t>
            </a:r>
            <a:r>
              <a:rPr sz="2800" dirty="0">
                <a:latin typeface="Times New Roman" panose="02020603050405020304"/>
                <a:cs typeface="Times New Roman" panose="02020603050405020304"/>
                <a:sym typeface="+mn-ea"/>
              </a:rPr>
              <a:t>action</a:t>
            </a:r>
            <a:r>
              <a:rPr sz="2800" spc="-30" dirty="0">
                <a:latin typeface="Times New Roman" panose="02020603050405020304"/>
                <a:cs typeface="Times New Roman" panose="02020603050405020304"/>
                <a:sym typeface="+mn-ea"/>
              </a:rPr>
              <a:t> </a:t>
            </a:r>
            <a:r>
              <a:rPr sz="2800" spc="-10" dirty="0">
                <a:latin typeface="Times New Roman" panose="02020603050405020304"/>
                <a:cs typeface="Times New Roman" panose="02020603050405020304"/>
                <a:sym typeface="+mn-ea"/>
              </a:rPr>
              <a:t>process.</a:t>
            </a:r>
            <a:endParaRPr lang="en-US" sz="2800"/>
          </a:p>
          <a:p>
            <a:pPr marR="5080" algn="just">
              <a:lnSpc>
                <a:spcPct val="100000"/>
              </a:lnSpc>
              <a:spcBef>
                <a:spcPts val="100"/>
              </a:spcBef>
            </a:pPr>
            <a:r>
              <a:rPr sz="2800" dirty="0">
                <a:solidFill>
                  <a:srgbClr val="3E3E3E"/>
                </a:solidFill>
                <a:latin typeface="Times New Roman" panose="02020603050405020304"/>
                <a:cs typeface="Times New Roman" panose="02020603050405020304"/>
                <a:sym typeface="+mn-ea"/>
              </a:rPr>
              <a:t>The</a:t>
            </a:r>
            <a:r>
              <a:rPr sz="2800" spc="409"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Simple</a:t>
            </a:r>
            <a:r>
              <a:rPr sz="2800" spc="40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reflex</a:t>
            </a:r>
            <a:r>
              <a:rPr sz="2800" spc="40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agent</a:t>
            </a:r>
            <a:r>
              <a:rPr sz="2800" spc="41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works</a:t>
            </a:r>
            <a:r>
              <a:rPr sz="2800" spc="409"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on</a:t>
            </a:r>
            <a:r>
              <a:rPr sz="2800" spc="415" dirty="0">
                <a:solidFill>
                  <a:srgbClr val="3E3E3E"/>
                </a:solidFill>
                <a:latin typeface="Times New Roman" panose="02020603050405020304"/>
                <a:cs typeface="Times New Roman" panose="02020603050405020304"/>
                <a:sym typeface="+mn-ea"/>
              </a:rPr>
              <a:t> </a:t>
            </a:r>
            <a:r>
              <a:rPr sz="2800" spc="-10" dirty="0">
                <a:solidFill>
                  <a:srgbClr val="3E3E3E"/>
                </a:solidFill>
                <a:latin typeface="Times New Roman" panose="02020603050405020304"/>
                <a:cs typeface="Times New Roman" panose="02020603050405020304"/>
                <a:sym typeface="+mn-ea"/>
              </a:rPr>
              <a:t>Condition-</a:t>
            </a:r>
            <a:r>
              <a:rPr sz="2800" dirty="0">
                <a:solidFill>
                  <a:srgbClr val="3E3E3E"/>
                </a:solidFill>
                <a:latin typeface="Times New Roman" panose="02020603050405020304"/>
                <a:cs typeface="Times New Roman" panose="02020603050405020304"/>
                <a:sym typeface="+mn-ea"/>
              </a:rPr>
              <a:t>action</a:t>
            </a:r>
            <a:r>
              <a:rPr sz="2800" spc="409"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rule,</a:t>
            </a:r>
            <a:r>
              <a:rPr sz="2800" spc="400"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which</a:t>
            </a:r>
            <a:r>
              <a:rPr sz="2800" spc="409"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means</a:t>
            </a:r>
            <a:r>
              <a:rPr sz="2800" spc="41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it</a:t>
            </a:r>
            <a:r>
              <a:rPr sz="2800" spc="420"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maps</a:t>
            </a:r>
            <a:r>
              <a:rPr sz="2800" spc="415" dirty="0">
                <a:solidFill>
                  <a:srgbClr val="3E3E3E"/>
                </a:solidFill>
                <a:latin typeface="Times New Roman" panose="02020603050405020304"/>
                <a:cs typeface="Times New Roman" panose="02020603050405020304"/>
                <a:sym typeface="+mn-ea"/>
              </a:rPr>
              <a:t> </a:t>
            </a:r>
            <a:r>
              <a:rPr sz="2800" spc="-25" dirty="0">
                <a:solidFill>
                  <a:srgbClr val="3E3E3E"/>
                </a:solidFill>
                <a:latin typeface="Times New Roman" panose="02020603050405020304"/>
                <a:cs typeface="Times New Roman" panose="02020603050405020304"/>
                <a:sym typeface="+mn-ea"/>
              </a:rPr>
              <a:t>the </a:t>
            </a:r>
            <a:r>
              <a:rPr sz="2800" dirty="0">
                <a:solidFill>
                  <a:srgbClr val="3E3E3E"/>
                </a:solidFill>
                <a:latin typeface="Times New Roman" panose="02020603050405020304"/>
                <a:cs typeface="Times New Roman" panose="02020603050405020304"/>
                <a:sym typeface="+mn-ea"/>
              </a:rPr>
              <a:t>current</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state</a:t>
            </a:r>
            <a:r>
              <a:rPr sz="2800" spc="120"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to</a:t>
            </a:r>
            <a:r>
              <a:rPr sz="2800" spc="130"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action.</a:t>
            </a:r>
            <a:r>
              <a:rPr sz="2800" spc="130" dirty="0">
                <a:solidFill>
                  <a:srgbClr val="3E3E3E"/>
                </a:solidFill>
                <a:latin typeface="Times New Roman" panose="02020603050405020304"/>
                <a:cs typeface="Times New Roman" panose="02020603050405020304"/>
                <a:sym typeface="+mn-ea"/>
              </a:rPr>
              <a:t> </a:t>
            </a:r>
            <a:endParaRPr sz="2800" spc="130" dirty="0">
              <a:solidFill>
                <a:srgbClr val="3E3E3E"/>
              </a:solidFill>
              <a:latin typeface="Times New Roman" panose="02020603050405020304"/>
              <a:cs typeface="Times New Roman" panose="02020603050405020304"/>
              <a:sym typeface="+mn-ea"/>
            </a:endParaRPr>
          </a:p>
          <a:p>
            <a:pPr marR="5080" algn="just">
              <a:lnSpc>
                <a:spcPct val="100000"/>
              </a:lnSpc>
              <a:spcBef>
                <a:spcPts val="100"/>
              </a:spcBef>
            </a:pPr>
            <a:r>
              <a:rPr sz="2800" dirty="0">
                <a:solidFill>
                  <a:srgbClr val="3E3E3E"/>
                </a:solidFill>
                <a:latin typeface="Times New Roman" panose="02020603050405020304"/>
                <a:cs typeface="Times New Roman" panose="02020603050405020304"/>
                <a:sym typeface="+mn-ea"/>
              </a:rPr>
              <a:t>Such</a:t>
            </a:r>
            <a:r>
              <a:rPr sz="2800" spc="12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as</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a</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Room</a:t>
            </a:r>
            <a:r>
              <a:rPr sz="2800" spc="12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Cleaner</a:t>
            </a:r>
            <a:r>
              <a:rPr sz="2800" spc="140"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agent,</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it</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works</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only</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if</a:t>
            </a:r>
            <a:r>
              <a:rPr sz="2800" spc="12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there</a:t>
            </a:r>
            <a:r>
              <a:rPr sz="2800" spc="12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is</a:t>
            </a:r>
            <a:r>
              <a:rPr sz="2800" spc="135" dirty="0">
                <a:solidFill>
                  <a:srgbClr val="3E3E3E"/>
                </a:solidFill>
                <a:latin typeface="Times New Roman" panose="02020603050405020304"/>
                <a:cs typeface="Times New Roman" panose="02020603050405020304"/>
                <a:sym typeface="+mn-ea"/>
              </a:rPr>
              <a:t> </a:t>
            </a:r>
            <a:r>
              <a:rPr sz="2800" dirty="0">
                <a:solidFill>
                  <a:srgbClr val="3E3E3E"/>
                </a:solidFill>
                <a:latin typeface="Times New Roman" panose="02020603050405020304"/>
                <a:cs typeface="Times New Roman" panose="02020603050405020304"/>
                <a:sym typeface="+mn-ea"/>
              </a:rPr>
              <a:t>dirt</a:t>
            </a:r>
            <a:r>
              <a:rPr sz="2800" spc="120" dirty="0">
                <a:solidFill>
                  <a:srgbClr val="3E3E3E"/>
                </a:solidFill>
                <a:latin typeface="Times New Roman" panose="02020603050405020304"/>
                <a:cs typeface="Times New Roman" panose="02020603050405020304"/>
                <a:sym typeface="+mn-ea"/>
              </a:rPr>
              <a:t> </a:t>
            </a:r>
            <a:r>
              <a:rPr sz="2800" spc="-25" dirty="0">
                <a:solidFill>
                  <a:srgbClr val="3E3E3E"/>
                </a:solidFill>
                <a:latin typeface="Times New Roman" panose="02020603050405020304"/>
                <a:cs typeface="Times New Roman" panose="02020603050405020304"/>
                <a:sym typeface="+mn-ea"/>
              </a:rPr>
              <a:t>in </a:t>
            </a:r>
            <a:r>
              <a:rPr sz="2800" dirty="0">
                <a:solidFill>
                  <a:srgbClr val="3E3E3E"/>
                </a:solidFill>
                <a:latin typeface="Times New Roman" panose="02020603050405020304"/>
                <a:cs typeface="Times New Roman" panose="02020603050405020304"/>
                <a:sym typeface="+mn-ea"/>
              </a:rPr>
              <a:t>the</a:t>
            </a:r>
            <a:r>
              <a:rPr sz="2800" spc="-5" dirty="0">
                <a:solidFill>
                  <a:srgbClr val="3E3E3E"/>
                </a:solidFill>
                <a:latin typeface="Times New Roman" panose="02020603050405020304"/>
                <a:cs typeface="Times New Roman" panose="02020603050405020304"/>
                <a:sym typeface="+mn-ea"/>
              </a:rPr>
              <a:t> </a:t>
            </a:r>
            <a:r>
              <a:rPr sz="2800" spc="-10" dirty="0">
                <a:solidFill>
                  <a:srgbClr val="3E3E3E"/>
                </a:solidFill>
                <a:latin typeface="Times New Roman" panose="02020603050405020304"/>
                <a:cs typeface="Times New Roman" panose="02020603050405020304"/>
                <a:sym typeface="+mn-ea"/>
              </a:rPr>
              <a:t>room.</a:t>
            </a:r>
            <a:endParaRPr sz="2800">
              <a:latin typeface="Times New Roman" panose="02020603050405020304"/>
              <a:cs typeface="Times New Roman" panose="02020603050405020304"/>
            </a:endParaRPr>
          </a:p>
          <a:p>
            <a:pPr marR="5080" algn="just">
              <a:lnSpc>
                <a:spcPct val="100000"/>
              </a:lnSpc>
            </a:pPr>
            <a:endParaRPr lang="en-US" sz="28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algn="just">
              <a:lnSpc>
                <a:spcPct val="100000"/>
              </a:lnSpc>
            </a:pPr>
            <a:r>
              <a:rPr sz="2000" b="1" dirty="0">
                <a:solidFill>
                  <a:srgbClr val="3E3E3E"/>
                </a:solidFill>
                <a:latin typeface="Times New Roman" panose="02020603050405020304"/>
                <a:cs typeface="Times New Roman" panose="02020603050405020304"/>
                <a:sym typeface="+mn-ea"/>
              </a:rPr>
              <a:t>Problems</a:t>
            </a:r>
            <a:r>
              <a:rPr sz="2000" b="1" spc="-40" dirty="0">
                <a:solidFill>
                  <a:srgbClr val="3E3E3E"/>
                </a:solidFill>
                <a:latin typeface="Times New Roman" panose="02020603050405020304"/>
                <a:cs typeface="Times New Roman" panose="02020603050405020304"/>
                <a:sym typeface="+mn-ea"/>
              </a:rPr>
              <a:t> </a:t>
            </a:r>
            <a:r>
              <a:rPr sz="2000" b="1" dirty="0">
                <a:solidFill>
                  <a:srgbClr val="3E3E3E"/>
                </a:solidFill>
                <a:latin typeface="Times New Roman" panose="02020603050405020304"/>
                <a:cs typeface="Times New Roman" panose="02020603050405020304"/>
                <a:sym typeface="+mn-ea"/>
              </a:rPr>
              <a:t>for</a:t>
            </a:r>
            <a:r>
              <a:rPr sz="2000" b="1" spc="-85" dirty="0">
                <a:solidFill>
                  <a:srgbClr val="3E3E3E"/>
                </a:solidFill>
                <a:latin typeface="Times New Roman" panose="02020603050405020304"/>
                <a:cs typeface="Times New Roman" panose="02020603050405020304"/>
                <a:sym typeface="+mn-ea"/>
              </a:rPr>
              <a:t> </a:t>
            </a:r>
            <a:r>
              <a:rPr sz="2000" b="1" dirty="0">
                <a:solidFill>
                  <a:srgbClr val="3E3E3E"/>
                </a:solidFill>
                <a:latin typeface="Times New Roman" panose="02020603050405020304"/>
                <a:cs typeface="Times New Roman" panose="02020603050405020304"/>
                <a:sym typeface="+mn-ea"/>
              </a:rPr>
              <a:t>the</a:t>
            </a:r>
            <a:r>
              <a:rPr sz="2000" b="1" spc="-25" dirty="0">
                <a:solidFill>
                  <a:srgbClr val="3E3E3E"/>
                </a:solidFill>
                <a:latin typeface="Times New Roman" panose="02020603050405020304"/>
                <a:cs typeface="Times New Roman" panose="02020603050405020304"/>
                <a:sym typeface="+mn-ea"/>
              </a:rPr>
              <a:t> </a:t>
            </a:r>
            <a:r>
              <a:rPr sz="2000" b="1" dirty="0">
                <a:solidFill>
                  <a:srgbClr val="3E3E3E"/>
                </a:solidFill>
                <a:latin typeface="Times New Roman" panose="02020603050405020304"/>
                <a:cs typeface="Times New Roman" panose="02020603050405020304"/>
                <a:sym typeface="+mn-ea"/>
              </a:rPr>
              <a:t>simple</a:t>
            </a:r>
            <a:r>
              <a:rPr sz="2000" b="1" spc="-50" dirty="0">
                <a:solidFill>
                  <a:srgbClr val="3E3E3E"/>
                </a:solidFill>
                <a:latin typeface="Times New Roman" panose="02020603050405020304"/>
                <a:cs typeface="Times New Roman" panose="02020603050405020304"/>
                <a:sym typeface="+mn-ea"/>
              </a:rPr>
              <a:t> </a:t>
            </a:r>
            <a:r>
              <a:rPr sz="2000" b="1" dirty="0">
                <a:solidFill>
                  <a:srgbClr val="3E3E3E"/>
                </a:solidFill>
                <a:latin typeface="Times New Roman" panose="02020603050405020304"/>
                <a:cs typeface="Times New Roman" panose="02020603050405020304"/>
                <a:sym typeface="+mn-ea"/>
              </a:rPr>
              <a:t>reflex</a:t>
            </a:r>
            <a:r>
              <a:rPr sz="2000" b="1" spc="-50" dirty="0">
                <a:solidFill>
                  <a:srgbClr val="3E3E3E"/>
                </a:solidFill>
                <a:latin typeface="Times New Roman" panose="02020603050405020304"/>
                <a:cs typeface="Times New Roman" panose="02020603050405020304"/>
                <a:sym typeface="+mn-ea"/>
              </a:rPr>
              <a:t> </a:t>
            </a:r>
            <a:r>
              <a:rPr sz="2000" b="1" dirty="0">
                <a:solidFill>
                  <a:srgbClr val="3E3E3E"/>
                </a:solidFill>
                <a:latin typeface="Times New Roman" panose="02020603050405020304"/>
                <a:cs typeface="Times New Roman" panose="02020603050405020304"/>
                <a:sym typeface="+mn-ea"/>
              </a:rPr>
              <a:t>agent</a:t>
            </a:r>
            <a:r>
              <a:rPr sz="2000" b="1" spc="-25" dirty="0">
                <a:solidFill>
                  <a:srgbClr val="3E3E3E"/>
                </a:solidFill>
                <a:latin typeface="Times New Roman" panose="02020603050405020304"/>
                <a:cs typeface="Times New Roman" panose="02020603050405020304"/>
                <a:sym typeface="+mn-ea"/>
              </a:rPr>
              <a:t> </a:t>
            </a:r>
            <a:r>
              <a:rPr sz="2000" b="1" dirty="0">
                <a:solidFill>
                  <a:srgbClr val="3E3E3E"/>
                </a:solidFill>
                <a:latin typeface="Times New Roman" panose="02020603050405020304"/>
                <a:cs typeface="Times New Roman" panose="02020603050405020304"/>
                <a:sym typeface="+mn-ea"/>
              </a:rPr>
              <a:t>design</a:t>
            </a:r>
            <a:r>
              <a:rPr sz="2000" b="1" spc="-35" dirty="0">
                <a:solidFill>
                  <a:srgbClr val="3E3E3E"/>
                </a:solidFill>
                <a:latin typeface="Times New Roman" panose="02020603050405020304"/>
                <a:cs typeface="Times New Roman" panose="02020603050405020304"/>
                <a:sym typeface="+mn-ea"/>
              </a:rPr>
              <a:t> </a:t>
            </a:r>
            <a:r>
              <a:rPr sz="2000" b="1" spc="-10" dirty="0">
                <a:solidFill>
                  <a:srgbClr val="3E3E3E"/>
                </a:solidFill>
                <a:latin typeface="Times New Roman" panose="02020603050405020304"/>
                <a:cs typeface="Times New Roman" panose="02020603050405020304"/>
                <a:sym typeface="+mn-ea"/>
              </a:rPr>
              <a:t>approach:</a:t>
            </a:r>
            <a:endParaRPr sz="2000">
              <a:latin typeface="Times New Roman" panose="02020603050405020304"/>
              <a:cs typeface="Times New Roman" panose="02020603050405020304"/>
            </a:endParaRPr>
          </a:p>
          <a:p>
            <a:pPr algn="just">
              <a:lnSpc>
                <a:spcPct val="100000"/>
              </a:lnSpc>
              <a:tabLst>
                <a:tab pos="354965" algn="l"/>
              </a:tabLst>
            </a:pPr>
            <a:r>
              <a:rPr sz="2000" dirty="0">
                <a:solidFill>
                  <a:srgbClr val="3E3E3E"/>
                </a:solidFill>
                <a:latin typeface="Times New Roman" panose="02020603050405020304"/>
                <a:cs typeface="Times New Roman" panose="02020603050405020304"/>
                <a:sym typeface="+mn-ea"/>
              </a:rPr>
              <a:t>They</a:t>
            </a:r>
            <a:r>
              <a:rPr sz="2000" spc="-3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have</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very limited</a:t>
            </a:r>
            <a:r>
              <a:rPr sz="2000" spc="-30"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intelligence</a:t>
            </a:r>
            <a:endParaRPr sz="2000">
              <a:latin typeface="Times New Roman" panose="02020603050405020304"/>
              <a:cs typeface="Times New Roman" panose="02020603050405020304"/>
            </a:endParaRPr>
          </a:p>
          <a:p>
            <a:pPr algn="just">
              <a:lnSpc>
                <a:spcPct val="100000"/>
              </a:lnSpc>
              <a:tabLst>
                <a:tab pos="354965" algn="l"/>
              </a:tabLst>
            </a:pPr>
            <a:r>
              <a:rPr sz="2000" dirty="0">
                <a:solidFill>
                  <a:srgbClr val="3E3E3E"/>
                </a:solidFill>
                <a:latin typeface="Times New Roman" panose="02020603050405020304"/>
                <a:cs typeface="Times New Roman" panose="02020603050405020304"/>
                <a:sym typeface="+mn-ea"/>
              </a:rPr>
              <a:t>They</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do not</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have</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knowledge</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10" dirty="0">
                <a:solidFill>
                  <a:srgbClr val="3E3E3E"/>
                </a:solidFill>
                <a:latin typeface="Times New Roman" panose="02020603050405020304"/>
                <a:cs typeface="Times New Roman" panose="02020603050405020304"/>
                <a:sym typeface="+mn-ea"/>
              </a:rPr>
              <a:t> non-</a:t>
            </a:r>
            <a:r>
              <a:rPr sz="2000" dirty="0">
                <a:solidFill>
                  <a:srgbClr val="3E3E3E"/>
                </a:solidFill>
                <a:latin typeface="Times New Roman" panose="02020603050405020304"/>
                <a:cs typeface="Times New Roman" panose="02020603050405020304"/>
                <a:sym typeface="+mn-ea"/>
              </a:rPr>
              <a:t>perceptual</a:t>
            </a:r>
            <a:r>
              <a:rPr sz="2000" spc="-3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parts</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of</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current</a:t>
            </a:r>
            <a:r>
              <a:rPr sz="2000" spc="-15"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state</a:t>
            </a:r>
            <a:endParaRPr sz="2000">
              <a:latin typeface="Times New Roman" panose="02020603050405020304"/>
              <a:cs typeface="Times New Roman" panose="02020603050405020304"/>
            </a:endParaRPr>
          </a:p>
          <a:p>
            <a:pPr algn="just">
              <a:lnSpc>
                <a:spcPct val="100000"/>
              </a:lnSpc>
              <a:spcBef>
                <a:spcPts val="5"/>
              </a:spcBef>
              <a:tabLst>
                <a:tab pos="354965" algn="l"/>
              </a:tabLst>
            </a:pPr>
            <a:r>
              <a:rPr sz="2000" dirty="0">
                <a:solidFill>
                  <a:srgbClr val="3E3E3E"/>
                </a:solidFill>
                <a:latin typeface="Times New Roman" panose="02020603050405020304"/>
                <a:cs typeface="Times New Roman" panose="02020603050405020304"/>
                <a:sym typeface="+mn-ea"/>
              </a:rPr>
              <a:t>Mostly</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too</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big</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to</a:t>
            </a:r>
            <a:r>
              <a:rPr sz="2000" spc="-2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generate</a:t>
            </a:r>
            <a:r>
              <a:rPr sz="2000" spc="-3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and</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to</a:t>
            </a:r>
            <a:r>
              <a:rPr sz="2000" spc="-20" dirty="0">
                <a:solidFill>
                  <a:srgbClr val="3E3E3E"/>
                </a:solidFill>
                <a:latin typeface="Times New Roman" panose="02020603050405020304"/>
                <a:cs typeface="Times New Roman" panose="02020603050405020304"/>
                <a:sym typeface="+mn-ea"/>
              </a:rPr>
              <a:t> </a:t>
            </a:r>
            <a:r>
              <a:rPr sz="2000" spc="-10" dirty="0">
                <a:solidFill>
                  <a:srgbClr val="3E3E3E"/>
                </a:solidFill>
                <a:latin typeface="Times New Roman" panose="02020603050405020304"/>
                <a:cs typeface="Times New Roman" panose="02020603050405020304"/>
                <a:sym typeface="+mn-ea"/>
              </a:rPr>
              <a:t>store.</a:t>
            </a:r>
            <a:endParaRPr sz="2000">
              <a:latin typeface="Times New Roman" panose="02020603050405020304"/>
              <a:cs typeface="Times New Roman" panose="02020603050405020304"/>
            </a:endParaRPr>
          </a:p>
          <a:p>
            <a:pPr algn="just">
              <a:lnSpc>
                <a:spcPct val="100000"/>
              </a:lnSpc>
              <a:tabLst>
                <a:tab pos="354965" algn="l"/>
              </a:tabLst>
            </a:pPr>
            <a:r>
              <a:rPr sz="2000" dirty="0">
                <a:solidFill>
                  <a:srgbClr val="3E3E3E"/>
                </a:solidFill>
                <a:latin typeface="Times New Roman" panose="02020603050405020304"/>
                <a:cs typeface="Times New Roman" panose="02020603050405020304"/>
                <a:sym typeface="+mn-ea"/>
              </a:rPr>
              <a:t>Not</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adaptive</a:t>
            </a:r>
            <a:r>
              <a:rPr sz="2000" spc="-2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to</a:t>
            </a:r>
            <a:r>
              <a:rPr sz="2000" spc="-10"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changes</a:t>
            </a:r>
            <a:r>
              <a:rPr sz="2000" spc="-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in</a:t>
            </a:r>
            <a:r>
              <a:rPr sz="2000" spc="-15" dirty="0">
                <a:solidFill>
                  <a:srgbClr val="3E3E3E"/>
                </a:solidFill>
                <a:latin typeface="Times New Roman" panose="02020603050405020304"/>
                <a:cs typeface="Times New Roman" panose="02020603050405020304"/>
                <a:sym typeface="+mn-ea"/>
              </a:rPr>
              <a:t> </a:t>
            </a:r>
            <a:r>
              <a:rPr sz="2000" dirty="0">
                <a:solidFill>
                  <a:srgbClr val="3E3E3E"/>
                </a:solidFill>
                <a:latin typeface="Times New Roman" panose="02020603050405020304"/>
                <a:cs typeface="Times New Roman" panose="02020603050405020304"/>
                <a:sym typeface="+mn-ea"/>
              </a:rPr>
              <a:t>the </a:t>
            </a:r>
            <a:r>
              <a:rPr sz="2000" spc="-10" dirty="0">
                <a:solidFill>
                  <a:srgbClr val="3E3E3E"/>
                </a:solidFill>
                <a:latin typeface="Times New Roman" panose="02020603050405020304"/>
                <a:cs typeface="Times New Roman" panose="02020603050405020304"/>
                <a:sym typeface="+mn-ea"/>
              </a:rPr>
              <a:t>environment.</a:t>
            </a:r>
            <a:endParaRPr sz="2000">
              <a:latin typeface="Times New Roman" panose="02020603050405020304"/>
              <a:cs typeface="Times New Roman" panose="02020603050405020304"/>
            </a:endParaRPr>
          </a:p>
          <a:p>
            <a:pPr algn="just">
              <a:lnSpc>
                <a:spcPct val="100000"/>
              </a:lnSpc>
            </a:pPr>
            <a:endParaRPr lang="en-US" sz="2000">
              <a:latin typeface="Times New Roman" panose="02020603050405020304"/>
              <a:cs typeface="Times New Roman" panose="02020603050405020304"/>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8" name="object 8"/>
          <p:cNvPicPr>
            <a:picLocks noChangeAspect="1"/>
          </p:cNvPicPr>
          <p:nvPr>
            <p:ph idx="1"/>
          </p:nvPr>
        </p:nvPicPr>
        <p:blipFill>
          <a:blip r:embed="rId1" cstate="print"/>
          <a:stretch>
            <a:fillRect/>
          </a:stretch>
        </p:blipFill>
        <p:spPr>
          <a:xfrm>
            <a:off x="182245" y="1600200"/>
            <a:ext cx="8272145" cy="250507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spc="-6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The </a:t>
            </a:r>
            <a:r>
              <a:rPr b="1" spc="-20" dirty="0">
                <a:solidFill>
                  <a:srgbClr val="FF0000"/>
                </a:solidFill>
                <a:latin typeface="Times New Roman" panose="02020603050405020304"/>
                <a:cs typeface="Times New Roman" panose="02020603050405020304"/>
                <a:sym typeface="+mn-ea"/>
              </a:rPr>
              <a:t>Model-based</a:t>
            </a:r>
            <a:endParaRPr lang="en-US"/>
          </a:p>
        </p:txBody>
      </p:sp>
      <p:sp>
        <p:nvSpPr>
          <p:cNvPr id="3" name="Content Placeholder 2"/>
          <p:cNvSpPr>
            <a:spLocks noGrp="1"/>
          </p:cNvSpPr>
          <p:nvPr>
            <p:ph idx="1"/>
          </p:nvPr>
        </p:nvSpPr>
        <p:spPr>
          <a:xfrm>
            <a:off x="223520" y="1348740"/>
            <a:ext cx="8997315" cy="4777740"/>
          </a:xfrm>
        </p:spPr>
        <p:txBody>
          <a:bodyPr>
            <a:noAutofit/>
          </a:bodyPr>
          <a:p>
            <a:pPr>
              <a:lnSpc>
                <a:spcPct val="100000"/>
              </a:lnSpc>
              <a:spcBef>
                <a:spcPts val="105"/>
              </a:spcBef>
            </a:pPr>
            <a:r>
              <a:rPr lang="en-US" sz="2400" dirty="0">
                <a:solidFill>
                  <a:srgbClr val="1D1D27"/>
                </a:solidFill>
                <a:latin typeface="Times New Roman" panose="02020603050405020304"/>
                <a:cs typeface="Times New Roman" panose="02020603050405020304"/>
                <a:sym typeface="+mn-ea"/>
              </a:rPr>
              <a:t>A</a:t>
            </a:r>
            <a:r>
              <a:rPr sz="2400" dirty="0">
                <a:solidFill>
                  <a:srgbClr val="1D1D27"/>
                </a:solidFill>
                <a:latin typeface="Times New Roman" panose="02020603050405020304"/>
                <a:cs typeface="Times New Roman" panose="02020603050405020304"/>
                <a:sym typeface="+mn-ea"/>
              </a:rPr>
              <a:t>gent</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can</a:t>
            </a:r>
            <a:r>
              <a:rPr sz="2400" spc="-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work</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in a partially</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observable</a:t>
            </a:r>
            <a:r>
              <a:rPr sz="2400" spc="-5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environment,</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and</a:t>
            </a:r>
            <a:r>
              <a:rPr sz="2400" spc="-1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track</a:t>
            </a:r>
            <a:r>
              <a:rPr sz="2400" spc="-2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10" dirty="0">
                <a:solidFill>
                  <a:srgbClr val="1D1D27"/>
                </a:solidFill>
                <a:latin typeface="Times New Roman" panose="02020603050405020304"/>
                <a:cs typeface="Times New Roman" panose="02020603050405020304"/>
                <a:sym typeface="+mn-ea"/>
              </a:rPr>
              <a:t> situation</a:t>
            </a:r>
            <a:r>
              <a:rPr lang="en-US" sz="2400" spc="-10" dirty="0">
                <a:solidFill>
                  <a:srgbClr val="1D1D27"/>
                </a:solidFill>
                <a:latin typeface="Times New Roman" panose="02020603050405020304"/>
                <a:cs typeface="Times New Roman" panose="02020603050405020304"/>
                <a:sym typeface="+mn-ea"/>
              </a:rPr>
              <a:t>.</a:t>
            </a:r>
            <a:endParaRPr lang="en-US"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spc="-20" dirty="0">
                <a:solidFill>
                  <a:srgbClr val="1D1D27"/>
                </a:solidFill>
                <a:latin typeface="Times New Roman" panose="02020603050405020304"/>
                <a:cs typeface="Times New Roman" panose="02020603050405020304"/>
                <a:sym typeface="+mn-ea"/>
              </a:rPr>
              <a:t>A</a:t>
            </a:r>
            <a:r>
              <a:rPr sz="2400" spc="-114"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model-</a:t>
            </a:r>
            <a:r>
              <a:rPr sz="2400" dirty="0">
                <a:solidFill>
                  <a:srgbClr val="1D1D27"/>
                </a:solidFill>
                <a:latin typeface="Times New Roman" panose="02020603050405020304"/>
                <a:cs typeface="Times New Roman" panose="02020603050405020304"/>
                <a:sym typeface="+mn-ea"/>
              </a:rPr>
              <a:t>based</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agent</a:t>
            </a:r>
            <a:r>
              <a:rPr sz="2400" spc="-2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has</a:t>
            </a:r>
            <a:r>
              <a:rPr sz="2400" spc="-1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two</a:t>
            </a:r>
            <a:r>
              <a:rPr sz="2400" spc="-2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important</a:t>
            </a:r>
            <a:r>
              <a:rPr sz="2400" spc="-20"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factors:</a:t>
            </a:r>
            <a:endParaRPr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b="1" dirty="0">
                <a:solidFill>
                  <a:srgbClr val="1D1D27"/>
                </a:solidFill>
                <a:latin typeface="Times New Roman" panose="02020603050405020304"/>
                <a:cs typeface="Times New Roman" panose="02020603050405020304"/>
                <a:sym typeface="+mn-ea"/>
              </a:rPr>
              <a:t>Model:</a:t>
            </a:r>
            <a:r>
              <a:rPr sz="2400" b="1" spc="2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It</a:t>
            </a:r>
            <a:r>
              <a:rPr sz="2400" spc="23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is</a:t>
            </a:r>
            <a:r>
              <a:rPr sz="2400" spc="2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knowledge</a:t>
            </a:r>
            <a:r>
              <a:rPr sz="2400" spc="24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about</a:t>
            </a:r>
            <a:r>
              <a:rPr sz="2400" spc="24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"how</a:t>
            </a:r>
            <a:r>
              <a:rPr sz="2400" spc="25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things</a:t>
            </a:r>
            <a:r>
              <a:rPr sz="2400" spc="24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happen</a:t>
            </a:r>
            <a:r>
              <a:rPr sz="2400" spc="2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in</a:t>
            </a:r>
            <a:r>
              <a:rPr sz="2400" spc="25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24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world,"</a:t>
            </a:r>
            <a:r>
              <a:rPr sz="2400" spc="2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so</a:t>
            </a:r>
            <a:r>
              <a:rPr sz="2400" spc="254"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it</a:t>
            </a:r>
            <a:r>
              <a:rPr sz="2400" spc="22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is</a:t>
            </a:r>
            <a:r>
              <a:rPr sz="2400" spc="25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called</a:t>
            </a:r>
            <a:r>
              <a:rPr sz="2400" spc="25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a:t>
            </a:r>
            <a:r>
              <a:rPr sz="2400" spc="235"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Model-based agent.</a:t>
            </a:r>
            <a:endParaRPr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b="1" dirty="0">
                <a:solidFill>
                  <a:srgbClr val="1D1D27"/>
                </a:solidFill>
                <a:latin typeface="Times New Roman" panose="02020603050405020304"/>
                <a:cs typeface="Times New Roman" panose="02020603050405020304"/>
                <a:sym typeface="+mn-ea"/>
              </a:rPr>
              <a:t>Internal</a:t>
            </a:r>
            <a:r>
              <a:rPr sz="2400" b="1" spc="-40" dirty="0">
                <a:solidFill>
                  <a:srgbClr val="1D1D27"/>
                </a:solidFill>
                <a:latin typeface="Times New Roman" panose="02020603050405020304"/>
                <a:cs typeface="Times New Roman" panose="02020603050405020304"/>
                <a:sym typeface="+mn-ea"/>
              </a:rPr>
              <a:t> </a:t>
            </a:r>
            <a:r>
              <a:rPr sz="2400" b="1" dirty="0">
                <a:solidFill>
                  <a:srgbClr val="1D1D27"/>
                </a:solidFill>
                <a:latin typeface="Times New Roman" panose="02020603050405020304"/>
                <a:cs typeface="Times New Roman" panose="02020603050405020304"/>
                <a:sym typeface="+mn-ea"/>
              </a:rPr>
              <a:t>State:</a:t>
            </a:r>
            <a:r>
              <a:rPr sz="2400" b="1" spc="-4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It</a:t>
            </a:r>
            <a:r>
              <a:rPr sz="2400" spc="-1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is</a:t>
            </a:r>
            <a:r>
              <a:rPr sz="2400" spc="-1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 representation</a:t>
            </a:r>
            <a:r>
              <a:rPr sz="2400" spc="-3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of</a:t>
            </a:r>
            <a:r>
              <a:rPr sz="2400" spc="-2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1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current</a:t>
            </a:r>
            <a:r>
              <a:rPr sz="2400" spc="-3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state</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based</a:t>
            </a:r>
            <a:r>
              <a:rPr sz="2400" spc="-1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on</a:t>
            </a:r>
            <a:r>
              <a:rPr sz="2400" spc="-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percept</a:t>
            </a:r>
            <a:r>
              <a:rPr sz="2400" spc="-35"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history.</a:t>
            </a:r>
            <a:endParaRPr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dirty="0">
                <a:solidFill>
                  <a:srgbClr val="1D1D27"/>
                </a:solidFill>
                <a:latin typeface="Times New Roman" panose="02020603050405020304"/>
                <a:cs typeface="Times New Roman" panose="02020603050405020304"/>
                <a:sym typeface="+mn-ea"/>
              </a:rPr>
              <a:t>These</a:t>
            </a:r>
            <a:r>
              <a:rPr sz="2400" spc="15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agents</a:t>
            </a:r>
            <a:r>
              <a:rPr sz="2400" spc="15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have</a:t>
            </a:r>
            <a:r>
              <a:rPr sz="2400" spc="17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15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model,</a:t>
            </a:r>
            <a:r>
              <a:rPr sz="2400" spc="1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t>
            </a:r>
            <a:r>
              <a:rPr sz="2400" b="1" dirty="0">
                <a:solidFill>
                  <a:srgbClr val="1D1D27"/>
                </a:solidFill>
                <a:latin typeface="Times New Roman" panose="02020603050405020304"/>
                <a:cs typeface="Times New Roman" panose="02020603050405020304"/>
                <a:sym typeface="+mn-ea"/>
              </a:rPr>
              <a:t>which</a:t>
            </a:r>
            <a:r>
              <a:rPr sz="2400" b="1" spc="155" dirty="0">
                <a:solidFill>
                  <a:srgbClr val="1D1D27"/>
                </a:solidFill>
                <a:latin typeface="Times New Roman" panose="02020603050405020304"/>
                <a:cs typeface="Times New Roman" panose="02020603050405020304"/>
                <a:sym typeface="+mn-ea"/>
              </a:rPr>
              <a:t> </a:t>
            </a:r>
            <a:r>
              <a:rPr sz="2400" b="1" dirty="0">
                <a:solidFill>
                  <a:srgbClr val="1D1D27"/>
                </a:solidFill>
                <a:latin typeface="Times New Roman" panose="02020603050405020304"/>
                <a:cs typeface="Times New Roman" panose="02020603050405020304"/>
                <a:sym typeface="+mn-ea"/>
              </a:rPr>
              <a:t>is</a:t>
            </a:r>
            <a:r>
              <a:rPr sz="2400" b="1" spc="155" dirty="0">
                <a:solidFill>
                  <a:srgbClr val="1D1D27"/>
                </a:solidFill>
                <a:latin typeface="Times New Roman" panose="02020603050405020304"/>
                <a:cs typeface="Times New Roman" panose="02020603050405020304"/>
                <a:sym typeface="+mn-ea"/>
              </a:rPr>
              <a:t> </a:t>
            </a:r>
            <a:r>
              <a:rPr sz="2400" b="1" dirty="0">
                <a:solidFill>
                  <a:srgbClr val="1D1D27"/>
                </a:solidFill>
                <a:latin typeface="Times New Roman" panose="02020603050405020304"/>
                <a:cs typeface="Times New Roman" panose="02020603050405020304"/>
                <a:sym typeface="+mn-ea"/>
              </a:rPr>
              <a:t>knowledge</a:t>
            </a:r>
            <a:r>
              <a:rPr sz="2400" b="1" spc="145" dirty="0">
                <a:solidFill>
                  <a:srgbClr val="1D1D27"/>
                </a:solidFill>
                <a:latin typeface="Times New Roman" panose="02020603050405020304"/>
                <a:cs typeface="Times New Roman" panose="02020603050405020304"/>
                <a:sym typeface="+mn-ea"/>
              </a:rPr>
              <a:t> </a:t>
            </a:r>
            <a:r>
              <a:rPr sz="2400" b="1" dirty="0">
                <a:solidFill>
                  <a:srgbClr val="1D1D27"/>
                </a:solidFill>
                <a:latin typeface="Times New Roman" panose="02020603050405020304"/>
                <a:cs typeface="Times New Roman" panose="02020603050405020304"/>
                <a:sym typeface="+mn-ea"/>
              </a:rPr>
              <a:t>of</a:t>
            </a:r>
            <a:r>
              <a:rPr sz="2400" b="1" spc="145" dirty="0">
                <a:solidFill>
                  <a:srgbClr val="1D1D27"/>
                </a:solidFill>
                <a:latin typeface="Times New Roman" panose="02020603050405020304"/>
                <a:cs typeface="Times New Roman" panose="02020603050405020304"/>
                <a:sym typeface="+mn-ea"/>
              </a:rPr>
              <a:t> </a:t>
            </a:r>
            <a:r>
              <a:rPr sz="2400" b="1" dirty="0">
                <a:solidFill>
                  <a:srgbClr val="1D1D27"/>
                </a:solidFill>
                <a:latin typeface="Times New Roman" panose="02020603050405020304"/>
                <a:cs typeface="Times New Roman" panose="02020603050405020304"/>
                <a:sym typeface="+mn-ea"/>
              </a:rPr>
              <a:t>the</a:t>
            </a:r>
            <a:r>
              <a:rPr sz="2400" b="1" spc="165" dirty="0">
                <a:solidFill>
                  <a:srgbClr val="1D1D27"/>
                </a:solidFill>
                <a:latin typeface="Times New Roman" panose="02020603050405020304"/>
                <a:cs typeface="Times New Roman" panose="02020603050405020304"/>
                <a:sym typeface="+mn-ea"/>
              </a:rPr>
              <a:t> </a:t>
            </a:r>
            <a:r>
              <a:rPr sz="2400" b="1" dirty="0">
                <a:solidFill>
                  <a:srgbClr val="1D1D27"/>
                </a:solidFill>
                <a:latin typeface="Times New Roman" panose="02020603050405020304"/>
                <a:cs typeface="Times New Roman" panose="02020603050405020304"/>
                <a:sym typeface="+mn-ea"/>
              </a:rPr>
              <a:t>world</a:t>
            </a:r>
            <a:r>
              <a:rPr sz="2400" dirty="0">
                <a:solidFill>
                  <a:srgbClr val="1D1D27"/>
                </a:solidFill>
                <a:latin typeface="Times New Roman" panose="02020603050405020304"/>
                <a:cs typeface="Times New Roman" panose="02020603050405020304"/>
                <a:sym typeface="+mn-ea"/>
              </a:rPr>
              <a:t>"</a:t>
            </a:r>
            <a:r>
              <a:rPr sz="2400" spc="15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and</a:t>
            </a:r>
            <a:r>
              <a:rPr sz="2400" spc="15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based</a:t>
            </a:r>
            <a:r>
              <a:rPr sz="2400" spc="16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on</a:t>
            </a:r>
            <a:r>
              <a:rPr sz="2400" spc="16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16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model</a:t>
            </a:r>
            <a:r>
              <a:rPr sz="2400" spc="170" dirty="0">
                <a:solidFill>
                  <a:srgbClr val="1D1D27"/>
                </a:solidFill>
                <a:latin typeface="Times New Roman" panose="02020603050405020304"/>
                <a:cs typeface="Times New Roman" panose="02020603050405020304"/>
                <a:sym typeface="+mn-ea"/>
              </a:rPr>
              <a:t> </a:t>
            </a:r>
            <a:r>
              <a:rPr sz="2400" spc="-20" dirty="0">
                <a:solidFill>
                  <a:srgbClr val="1D1D27"/>
                </a:solidFill>
                <a:latin typeface="Times New Roman" panose="02020603050405020304"/>
                <a:cs typeface="Times New Roman" panose="02020603050405020304"/>
                <a:sym typeface="+mn-ea"/>
              </a:rPr>
              <a:t>they </a:t>
            </a:r>
            <a:r>
              <a:rPr sz="2400" dirty="0">
                <a:solidFill>
                  <a:srgbClr val="1D1D27"/>
                </a:solidFill>
                <a:latin typeface="Times New Roman" panose="02020603050405020304"/>
                <a:cs typeface="Times New Roman" panose="02020603050405020304"/>
                <a:sym typeface="+mn-ea"/>
              </a:rPr>
              <a:t>perform</a:t>
            </a:r>
            <a:r>
              <a:rPr sz="2400" spc="-40"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actions.</a:t>
            </a:r>
            <a:endParaRPr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dirty="0">
                <a:solidFill>
                  <a:srgbClr val="1D1D27"/>
                </a:solidFill>
                <a:latin typeface="Times New Roman" panose="02020603050405020304"/>
                <a:cs typeface="Times New Roman" panose="02020603050405020304"/>
                <a:sym typeface="+mn-ea"/>
              </a:rPr>
              <a:t>Updating</a:t>
            </a:r>
            <a:r>
              <a:rPr sz="2400" spc="-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1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agent</a:t>
            </a:r>
            <a:r>
              <a:rPr sz="2400" spc="-2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state</a:t>
            </a:r>
            <a:r>
              <a:rPr sz="2400" spc="-2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requires</a:t>
            </a:r>
            <a:r>
              <a:rPr sz="2400" spc="-4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information</a:t>
            </a:r>
            <a:r>
              <a:rPr sz="2400" spc="-40"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about:</a:t>
            </a:r>
            <a:endParaRPr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dirty="0">
                <a:solidFill>
                  <a:srgbClr val="1D1D27"/>
                </a:solidFill>
                <a:latin typeface="Times New Roman" panose="02020603050405020304"/>
                <a:cs typeface="Times New Roman" panose="02020603050405020304"/>
                <a:sym typeface="+mn-ea"/>
              </a:rPr>
              <a:t>How</a:t>
            </a:r>
            <a:r>
              <a:rPr sz="2400" spc="-1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2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world</a:t>
            </a:r>
            <a:r>
              <a:rPr sz="2400" spc="-15"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evolve</a:t>
            </a:r>
            <a:r>
              <a:rPr lang="en-US" sz="2400" spc="-10" dirty="0">
                <a:solidFill>
                  <a:srgbClr val="1D1D27"/>
                </a:solidFill>
                <a:latin typeface="Times New Roman" panose="02020603050405020304"/>
                <a:cs typeface="Times New Roman" panose="02020603050405020304"/>
                <a:sym typeface="+mn-ea"/>
              </a:rPr>
              <a:t>s</a:t>
            </a:r>
            <a:endParaRPr lang="en-US" sz="2400" spc="-10" dirty="0">
              <a:solidFill>
                <a:srgbClr val="1D1D27"/>
              </a:solidFill>
              <a:latin typeface="Times New Roman" panose="02020603050405020304"/>
              <a:cs typeface="Times New Roman" panose="02020603050405020304"/>
              <a:sym typeface="+mn-ea"/>
            </a:endParaRPr>
          </a:p>
          <a:p>
            <a:pPr>
              <a:lnSpc>
                <a:spcPct val="100000"/>
              </a:lnSpc>
              <a:spcBef>
                <a:spcPts val="105"/>
              </a:spcBef>
            </a:pPr>
            <a:r>
              <a:rPr sz="2400" dirty="0">
                <a:solidFill>
                  <a:srgbClr val="1D1D27"/>
                </a:solidFill>
                <a:latin typeface="Times New Roman" panose="02020603050405020304"/>
                <a:cs typeface="Times New Roman" panose="02020603050405020304"/>
                <a:sym typeface="+mn-ea"/>
              </a:rPr>
              <a:t>How</a:t>
            </a:r>
            <a:r>
              <a:rPr sz="2400" spc="-2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35"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agent's</a:t>
            </a:r>
            <a:r>
              <a:rPr sz="2400" spc="-2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action</a:t>
            </a:r>
            <a:r>
              <a:rPr sz="2400" spc="-3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affects</a:t>
            </a:r>
            <a:r>
              <a:rPr sz="2400" spc="-40" dirty="0">
                <a:solidFill>
                  <a:srgbClr val="1D1D27"/>
                </a:solidFill>
                <a:latin typeface="Times New Roman" panose="02020603050405020304"/>
                <a:cs typeface="Times New Roman" panose="02020603050405020304"/>
                <a:sym typeface="+mn-ea"/>
              </a:rPr>
              <a:t> </a:t>
            </a:r>
            <a:r>
              <a:rPr sz="2400" dirty="0">
                <a:solidFill>
                  <a:srgbClr val="1D1D27"/>
                </a:solidFill>
                <a:latin typeface="Times New Roman" panose="02020603050405020304"/>
                <a:cs typeface="Times New Roman" panose="02020603050405020304"/>
                <a:sym typeface="+mn-ea"/>
              </a:rPr>
              <a:t>the</a:t>
            </a:r>
            <a:r>
              <a:rPr sz="2400" spc="-40" dirty="0">
                <a:solidFill>
                  <a:srgbClr val="1D1D27"/>
                </a:solidFill>
                <a:latin typeface="Times New Roman" panose="02020603050405020304"/>
                <a:cs typeface="Times New Roman" panose="02020603050405020304"/>
                <a:sym typeface="+mn-ea"/>
              </a:rPr>
              <a:t> </a:t>
            </a:r>
            <a:r>
              <a:rPr sz="2400" spc="-10" dirty="0">
                <a:solidFill>
                  <a:srgbClr val="1D1D27"/>
                </a:solidFill>
                <a:latin typeface="Times New Roman" panose="02020603050405020304"/>
                <a:cs typeface="Times New Roman" panose="02020603050405020304"/>
                <a:sym typeface="+mn-ea"/>
              </a:rPr>
              <a:t>world.</a:t>
            </a:r>
            <a:endParaRPr lang="en-US" sz="2400" spc="-10" dirty="0">
              <a:solidFill>
                <a:srgbClr val="1D1D27"/>
              </a:solidFill>
              <a:latin typeface="Times New Roman" panose="02020603050405020304"/>
              <a:cs typeface="Times New Roman" panose="02020603050405020304"/>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marR="40005" algn="just">
              <a:lnSpc>
                <a:spcPct val="100000"/>
              </a:lnSpc>
              <a:spcBef>
                <a:spcPts val="95"/>
              </a:spcBef>
              <a:tabLst>
                <a:tab pos="1668145" algn="l"/>
                <a:tab pos="2120900" algn="l"/>
                <a:tab pos="2750185" algn="l"/>
                <a:tab pos="3707765" algn="l"/>
                <a:tab pos="4965065" algn="l"/>
                <a:tab pos="6382385" algn="l"/>
                <a:tab pos="7315200" algn="l"/>
                <a:tab pos="8028305" algn="l"/>
                <a:tab pos="8470900" algn="l"/>
                <a:tab pos="9734550" algn="l"/>
                <a:tab pos="10587990" algn="l"/>
              </a:tabLst>
            </a:pPr>
            <a:r>
              <a:rPr sz="2400" spc="-20" dirty="0">
                <a:latin typeface="Times New Roman" panose="02020603050405020304" pitchFamily="18" charset="0"/>
                <a:cs typeface="Times New Roman" panose="02020603050405020304" pitchFamily="18" charset="0"/>
                <a:sym typeface="+mn-ea"/>
              </a:rPr>
              <a:t>That</a:t>
            </a:r>
            <a:r>
              <a:rPr lang="en-US" sz="2400" spc="-20"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is,</a:t>
            </a:r>
            <a:r>
              <a:rPr lang="en-US" sz="2400" spc="-25"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the</a:t>
            </a:r>
            <a:r>
              <a:rPr lang="en-US" sz="2400" spc="-25" dirty="0">
                <a:latin typeface="Times New Roman" panose="02020603050405020304" pitchFamily="18" charset="0"/>
                <a:cs typeface="Times New Roman" panose="02020603050405020304" pitchFamily="18" charset="0"/>
                <a:sym typeface="+mn-ea"/>
              </a:rPr>
              <a:t> </a:t>
            </a:r>
            <a:r>
              <a:rPr sz="2400" spc="-20" dirty="0">
                <a:latin typeface="Times New Roman" panose="02020603050405020304" pitchFamily="18" charset="0"/>
                <a:cs typeface="Times New Roman" panose="02020603050405020304" pitchFamily="18" charset="0"/>
                <a:sym typeface="+mn-ea"/>
              </a:rPr>
              <a:t>agent</a:t>
            </a:r>
            <a:r>
              <a:rPr lang="en-US" sz="2400" spc="-20"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should</a:t>
            </a:r>
            <a:r>
              <a:rPr lang="en-US" sz="2400" spc="-10"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maintain</a:t>
            </a:r>
            <a:r>
              <a:rPr lang="en-US" sz="2400" spc="-10" dirty="0">
                <a:latin typeface="Times New Roman" panose="02020603050405020304" pitchFamily="18" charset="0"/>
                <a:cs typeface="Times New Roman" panose="02020603050405020304" pitchFamily="18" charset="0"/>
                <a:sym typeface="+mn-ea"/>
              </a:rPr>
              <a:t> </a:t>
            </a:r>
            <a:r>
              <a:rPr sz="2400" spc="-20" dirty="0">
                <a:latin typeface="Times New Roman" panose="02020603050405020304" pitchFamily="18" charset="0"/>
                <a:cs typeface="Times New Roman" panose="02020603050405020304" pitchFamily="18" charset="0"/>
                <a:sym typeface="+mn-ea"/>
              </a:rPr>
              <a:t>some</a:t>
            </a:r>
            <a:r>
              <a:rPr lang="en-US" sz="2400" spc="-20" dirty="0">
                <a:latin typeface="Times New Roman" panose="02020603050405020304" pitchFamily="18" charset="0"/>
                <a:cs typeface="Times New Roman" panose="02020603050405020304" pitchFamily="18" charset="0"/>
                <a:sym typeface="+mn-ea"/>
              </a:rPr>
              <a:t> </a:t>
            </a:r>
            <a:r>
              <a:rPr sz="2400" spc="-20" dirty="0">
                <a:latin typeface="Times New Roman" panose="02020603050405020304" pitchFamily="18" charset="0"/>
                <a:cs typeface="Times New Roman" panose="02020603050405020304" pitchFamily="18" charset="0"/>
                <a:sym typeface="+mn-ea"/>
              </a:rPr>
              <a:t>sort</a:t>
            </a:r>
            <a:r>
              <a:rPr lang="en-US" sz="2400" spc="-20"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of</a:t>
            </a:r>
            <a:r>
              <a:rPr lang="en-US" sz="2400" spc="-25"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internal</a:t>
            </a:r>
            <a:r>
              <a:rPr lang="en-US" sz="2400" spc="-10"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state</a:t>
            </a:r>
            <a:r>
              <a:rPr lang="en-US" sz="2400" spc="-10"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that </a:t>
            </a:r>
            <a:r>
              <a:rPr sz="2400" dirty="0">
                <a:latin typeface="Times New Roman" panose="02020603050405020304" pitchFamily="18" charset="0"/>
                <a:cs typeface="Times New Roman" panose="02020603050405020304" pitchFamily="18" charset="0"/>
                <a:sym typeface="+mn-ea"/>
              </a:rPr>
              <a:t>depends</a:t>
            </a:r>
            <a:r>
              <a:rPr sz="2400" spc="-6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on</a:t>
            </a:r>
            <a:r>
              <a:rPr sz="2400" spc="-8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10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percept</a:t>
            </a:r>
            <a:r>
              <a:rPr sz="2400" spc="-8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history</a:t>
            </a:r>
            <a:r>
              <a:rPr sz="2400" spc="-80"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and</a:t>
            </a:r>
            <a:endParaRPr sz="2400">
              <a:latin typeface="Times New Roman" panose="02020603050405020304" pitchFamily="18" charset="0"/>
              <a:cs typeface="Times New Roman" panose="02020603050405020304" pitchFamily="18" charset="0"/>
            </a:endParaRPr>
          </a:p>
          <a:p>
            <a:pPr algn="just">
              <a:lnSpc>
                <a:spcPct val="100000"/>
              </a:lnSpc>
            </a:pPr>
            <a:r>
              <a:rPr sz="2400" dirty="0">
                <a:latin typeface="Times New Roman" panose="02020603050405020304" pitchFamily="18" charset="0"/>
                <a:cs typeface="Times New Roman" panose="02020603050405020304" pitchFamily="18" charset="0"/>
                <a:sym typeface="+mn-ea"/>
              </a:rPr>
              <a:t>thereby</a:t>
            </a:r>
            <a:r>
              <a:rPr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reflects</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at</a:t>
            </a:r>
            <a:r>
              <a:rPr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least</a:t>
            </a:r>
            <a:r>
              <a:rPr sz="2400" spc="-1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some</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of</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unobserved</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aspects</a:t>
            </a:r>
            <a:r>
              <a:rPr sz="2400" spc="-1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of</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10" dirty="0">
                <a:latin typeface="Times New Roman" panose="02020603050405020304" pitchFamily="18" charset="0"/>
                <a:cs typeface="Times New Roman" panose="02020603050405020304" pitchFamily="18" charset="0"/>
                <a:sym typeface="+mn-ea"/>
              </a:rPr>
              <a:t> current</a:t>
            </a:r>
            <a:r>
              <a:rPr sz="2400" spc="120" dirty="0">
                <a:solidFill>
                  <a:srgbClr val="A4A4A4"/>
                </a:solidFill>
                <a:latin typeface="Times New Roman" panose="02020603050405020304" pitchFamily="18" charset="0"/>
                <a:cs typeface="Times New Roman" panose="02020603050405020304" pitchFamily="18" charset="0"/>
                <a:sym typeface="+mn-ea"/>
              </a:rPr>
              <a:t> </a:t>
            </a:r>
            <a:r>
              <a:rPr sz="2400" spc="-15" dirty="0">
                <a:latin typeface="Times New Roman" panose="02020603050405020304" pitchFamily="18" charset="0"/>
                <a:cs typeface="Times New Roman" panose="02020603050405020304" pitchFamily="18" charset="0"/>
                <a:sym typeface="+mn-ea"/>
              </a:rPr>
              <a:t>state.</a:t>
            </a:r>
            <a:endParaRPr sz="2400" baseline="10000">
              <a:latin typeface="Times New Roman" panose="02020603050405020304" pitchFamily="18" charset="0"/>
              <a:cs typeface="Times New Roman" panose="02020603050405020304" pitchFamily="18" charset="0"/>
            </a:endParaRPr>
          </a:p>
          <a:p>
            <a:pPr algn="just">
              <a:lnSpc>
                <a:spcPct val="100000"/>
              </a:lnSpc>
            </a:pPr>
            <a:endParaRPr lang="en-US" sz="2400" baseline="10000">
              <a:latin typeface="Times New Roman" panose="02020603050405020304" pitchFamily="18" charset="0"/>
              <a:cs typeface="Times New Roman" panose="02020603050405020304" pitchFamily="18" charset="0"/>
            </a:endParaRPr>
          </a:p>
        </p:txBody>
      </p:sp>
      <p:grpSp>
        <p:nvGrpSpPr>
          <p:cNvPr id="4" name="object 3"/>
          <p:cNvGrpSpPr/>
          <p:nvPr/>
        </p:nvGrpSpPr>
        <p:grpSpPr>
          <a:xfrm>
            <a:off x="2057400" y="3218815"/>
            <a:ext cx="5163820" cy="2713990"/>
            <a:chOff x="1517903" y="0"/>
            <a:chExt cx="8456676" cy="4593336"/>
          </a:xfrm>
        </p:grpSpPr>
        <p:sp>
          <p:nvSpPr>
            <p:cNvPr id="8" name="object 7"/>
            <p:cNvSpPr/>
            <p:nvPr/>
          </p:nvSpPr>
          <p:spPr>
            <a:xfrm>
              <a:off x="6679691" y="0"/>
              <a:ext cx="1447800" cy="638810"/>
            </a:xfrm>
            <a:custGeom>
              <a:avLst/>
              <a:gdLst/>
              <a:ahLst/>
              <a:cxnLst/>
              <a:rect l="l" t="t" r="r" b="b"/>
              <a:pathLst>
                <a:path w="1447800" h="638810">
                  <a:moveTo>
                    <a:pt x="581786" y="0"/>
                  </a:moveTo>
                  <a:lnTo>
                    <a:pt x="0" y="0"/>
                  </a:lnTo>
                  <a:lnTo>
                    <a:pt x="866012" y="638555"/>
                  </a:lnTo>
                  <a:lnTo>
                    <a:pt x="1447800" y="638555"/>
                  </a:lnTo>
                  <a:lnTo>
                    <a:pt x="581786" y="0"/>
                  </a:lnTo>
                  <a:close/>
                </a:path>
              </a:pathLst>
            </a:custGeom>
            <a:solidFill>
              <a:srgbClr val="014067"/>
            </a:solidFill>
          </p:spPr>
          <p:txBody>
            <a:bodyPr wrap="square" lIns="0" tIns="0" rIns="0" bIns="0" rtlCol="0"/>
            <a:p/>
          </p:txBody>
        </p:sp>
        <p:pic>
          <p:nvPicPr>
            <p:cNvPr id="9" name="object 8"/>
            <p:cNvPicPr/>
            <p:nvPr/>
          </p:nvPicPr>
          <p:blipFill>
            <a:blip r:embed="rId1" cstate="print"/>
            <a:stretch>
              <a:fillRect/>
            </a:stretch>
          </p:blipFill>
          <p:spPr>
            <a:xfrm>
              <a:off x="1517903" y="0"/>
              <a:ext cx="8456676" cy="4593336"/>
            </a:xfrm>
            <a:prstGeom prst="rect">
              <a:avLst/>
            </a:prstGeom>
          </p:spPr>
        </p:pic>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spc="-25" dirty="0">
                <a:solidFill>
                  <a:srgbClr val="FF0000"/>
                </a:solidFill>
                <a:latin typeface="Times New Roman" panose="02020603050405020304" pitchFamily="18" charset="0"/>
                <a:cs typeface="Times New Roman" panose="02020603050405020304" pitchFamily="18" charset="0"/>
                <a:sym typeface="+mn-ea"/>
              </a:rPr>
              <a:t>Goal-</a:t>
            </a:r>
            <a:r>
              <a:rPr b="1" dirty="0">
                <a:solidFill>
                  <a:srgbClr val="FF0000"/>
                </a:solidFill>
                <a:latin typeface="Times New Roman" panose="02020603050405020304" pitchFamily="18" charset="0"/>
                <a:cs typeface="Times New Roman" panose="02020603050405020304" pitchFamily="18" charset="0"/>
                <a:sym typeface="+mn-ea"/>
              </a:rPr>
              <a:t>based</a:t>
            </a:r>
            <a:r>
              <a:rPr b="1" spc="15" dirty="0">
                <a:solidFill>
                  <a:srgbClr val="FF0000"/>
                </a:solidFill>
                <a:latin typeface="Times New Roman" panose="02020603050405020304" pitchFamily="18" charset="0"/>
                <a:cs typeface="Times New Roman" panose="02020603050405020304" pitchFamily="18" charset="0"/>
                <a:sym typeface="+mn-ea"/>
              </a:rPr>
              <a:t> </a:t>
            </a:r>
            <a:r>
              <a:rPr b="1" spc="-10" dirty="0">
                <a:solidFill>
                  <a:srgbClr val="FF0000"/>
                </a:solidFill>
                <a:latin typeface="Times New Roman" panose="02020603050405020304" pitchFamily="18" charset="0"/>
                <a:cs typeface="Times New Roman" panose="02020603050405020304" pitchFamily="18" charset="0"/>
                <a:sym typeface="+mn-ea"/>
              </a:rPr>
              <a:t>agents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000" y="1295400"/>
            <a:ext cx="8229600" cy="4525963"/>
          </a:xfrm>
        </p:spPr>
        <p:txBody>
          <a:bodyPr>
            <a:noAutofit/>
          </a:bodyPr>
          <a:p>
            <a:pPr algn="just">
              <a:lnSpc>
                <a:spcPct val="100000"/>
              </a:lnSpc>
              <a:spcBef>
                <a:spcPts val="100"/>
              </a:spcBef>
            </a:pPr>
            <a:r>
              <a:rPr sz="2400" dirty="0">
                <a:latin typeface="Times New Roman" panose="02020603050405020304" pitchFamily="18" charset="0"/>
                <a:cs typeface="Times New Roman" panose="02020603050405020304" pitchFamily="18" charset="0"/>
                <a:sym typeface="+mn-ea"/>
              </a:rPr>
              <a:t>The</a:t>
            </a:r>
            <a:r>
              <a:rPr sz="2400" spc="4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knowledge</a:t>
            </a:r>
            <a:r>
              <a:rPr sz="2400" spc="6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of</a:t>
            </a:r>
            <a:r>
              <a:rPr sz="2400" spc="6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current</a:t>
            </a:r>
            <a:r>
              <a:rPr sz="2400" spc="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state</a:t>
            </a:r>
            <a:r>
              <a:rPr sz="2400" spc="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environment</a:t>
            </a:r>
            <a:r>
              <a:rPr sz="2400" spc="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is</a:t>
            </a:r>
            <a:r>
              <a:rPr sz="2400" spc="6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not</a:t>
            </a:r>
            <a:r>
              <a:rPr sz="2400" spc="6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always</a:t>
            </a:r>
            <a:r>
              <a:rPr sz="2400" spc="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sufficient</a:t>
            </a:r>
            <a:r>
              <a:rPr sz="2400" spc="6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to</a:t>
            </a:r>
            <a:r>
              <a:rPr sz="2400" spc="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decide</a:t>
            </a:r>
            <a:r>
              <a:rPr sz="2400" spc="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for</a:t>
            </a:r>
            <a:r>
              <a:rPr sz="2400" spc="20"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an</a:t>
            </a:r>
            <a:r>
              <a:rPr lang="en-US"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agent</a:t>
            </a:r>
            <a:r>
              <a:rPr sz="2400" spc="-4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to</a:t>
            </a:r>
            <a:r>
              <a:rPr sz="2400" spc="-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what</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to</a:t>
            </a:r>
            <a:r>
              <a:rPr sz="2400" spc="-40" dirty="0">
                <a:latin typeface="Times New Roman" panose="02020603050405020304" pitchFamily="18" charset="0"/>
                <a:cs typeface="Times New Roman" panose="02020603050405020304" pitchFamily="18" charset="0"/>
                <a:sym typeface="+mn-ea"/>
              </a:rPr>
              <a:t> </a:t>
            </a:r>
            <a:r>
              <a:rPr sz="2400" spc="-25" dirty="0">
                <a:latin typeface="Times New Roman" panose="02020603050405020304" pitchFamily="18" charset="0"/>
                <a:cs typeface="Times New Roman" panose="02020603050405020304" pitchFamily="18" charset="0"/>
                <a:sym typeface="+mn-ea"/>
              </a:rPr>
              <a:t>do.</a:t>
            </a:r>
            <a:endParaRPr sz="2400" spc="-25" dirty="0">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sz="2400" dirty="0">
                <a:latin typeface="Times New Roman" panose="02020603050405020304" pitchFamily="18" charset="0"/>
                <a:cs typeface="Times New Roman" panose="02020603050405020304" pitchFamily="18" charset="0"/>
                <a:sym typeface="+mn-ea"/>
              </a:rPr>
              <a:t>The</a:t>
            </a:r>
            <a:r>
              <a:rPr sz="2400" spc="-3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agent</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needs</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to</a:t>
            </a:r>
            <a:r>
              <a:rPr sz="2400" spc="-1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know</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its</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goal</a:t>
            </a:r>
            <a:r>
              <a:rPr sz="2400" spc="-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which</a:t>
            </a:r>
            <a:r>
              <a:rPr sz="2400" spc="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describes</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desirable</a:t>
            </a:r>
            <a:r>
              <a:rPr sz="2400" spc="-25"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situations</a:t>
            </a:r>
            <a:r>
              <a:rPr lang="en-US" sz="2400" spc="-10" dirty="0">
                <a:latin typeface="Times New Roman" panose="02020603050405020304" pitchFamily="18" charset="0"/>
                <a:cs typeface="Times New Roman" panose="02020603050405020304" pitchFamily="18" charset="0"/>
                <a:sym typeface="+mn-ea"/>
              </a:rPr>
              <a:t>.</a:t>
            </a:r>
            <a:endParaRPr lang="en-US" sz="2400" spc="-10" dirty="0">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sz="2400" spc="-10" dirty="0">
                <a:latin typeface="Times New Roman" panose="02020603050405020304" pitchFamily="18" charset="0"/>
                <a:cs typeface="Times New Roman" panose="02020603050405020304" pitchFamily="18" charset="0"/>
                <a:sym typeface="+mn-ea"/>
              </a:rPr>
              <a:t>Goal-</a:t>
            </a:r>
            <a:r>
              <a:rPr sz="2400" dirty="0">
                <a:latin typeface="Times New Roman" panose="02020603050405020304" pitchFamily="18" charset="0"/>
                <a:cs typeface="Times New Roman" panose="02020603050405020304" pitchFamily="18" charset="0"/>
                <a:sym typeface="+mn-ea"/>
              </a:rPr>
              <a:t>based</a:t>
            </a:r>
            <a:r>
              <a:rPr sz="2400" spc="33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agents</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expand</a:t>
            </a:r>
            <a:r>
              <a:rPr sz="2400" spc="34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34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capabilities</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of</a:t>
            </a:r>
            <a:r>
              <a:rPr sz="2400" spc="33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340"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model-</a:t>
            </a:r>
            <a:r>
              <a:rPr sz="2400" dirty="0">
                <a:latin typeface="Times New Roman" panose="02020603050405020304" pitchFamily="18" charset="0"/>
                <a:cs typeface="Times New Roman" panose="02020603050405020304" pitchFamily="18" charset="0"/>
                <a:sym typeface="+mn-ea"/>
              </a:rPr>
              <a:t>based</a:t>
            </a:r>
            <a:r>
              <a:rPr sz="2400" spc="34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agent</a:t>
            </a:r>
            <a:r>
              <a:rPr sz="2400" spc="34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by</a:t>
            </a:r>
            <a:r>
              <a:rPr sz="2400" spc="3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having</a:t>
            </a:r>
            <a:r>
              <a:rPr sz="2400" spc="3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335"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"goal"</a:t>
            </a:r>
            <a:r>
              <a:rPr lang="en-US" sz="2400" spc="-10"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information.</a:t>
            </a:r>
            <a:endParaRPr sz="2400" spc="-10" dirty="0">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sz="2400" dirty="0">
                <a:latin typeface="Times New Roman" panose="02020603050405020304" pitchFamily="18" charset="0"/>
                <a:cs typeface="Times New Roman" panose="02020603050405020304" pitchFamily="18" charset="0"/>
                <a:sym typeface="+mn-ea"/>
              </a:rPr>
              <a:t>They</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choose an</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action,</a:t>
            </a:r>
            <a:r>
              <a:rPr sz="2400" spc="-3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so</a:t>
            </a:r>
            <a:r>
              <a:rPr sz="2400" spc="-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that</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they</a:t>
            </a:r>
            <a:r>
              <a:rPr sz="2400" spc="-1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can</a:t>
            </a:r>
            <a:r>
              <a:rPr sz="2400" spc="-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achieve</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15"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goal.</a:t>
            </a:r>
            <a:endParaRPr sz="2400" spc="-10" dirty="0">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sz="2400" dirty="0">
                <a:latin typeface="Times New Roman" panose="02020603050405020304" pitchFamily="18" charset="0"/>
                <a:cs typeface="Times New Roman" panose="02020603050405020304" pitchFamily="18" charset="0"/>
                <a:sym typeface="+mn-ea"/>
              </a:rPr>
              <a:t>These</a:t>
            </a:r>
            <a:r>
              <a:rPr sz="2400" spc="33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agents</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may</a:t>
            </a:r>
            <a:r>
              <a:rPr sz="2400" spc="3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have</a:t>
            </a:r>
            <a:r>
              <a:rPr sz="2400" spc="34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to</a:t>
            </a:r>
            <a:r>
              <a:rPr sz="2400" spc="34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consider</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long</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sequence</a:t>
            </a:r>
            <a:r>
              <a:rPr sz="2400" spc="3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of</a:t>
            </a:r>
            <a:r>
              <a:rPr sz="2400" spc="35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possible</a:t>
            </a:r>
            <a:r>
              <a:rPr sz="2400" spc="35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actions</a:t>
            </a:r>
            <a:r>
              <a:rPr sz="2400" spc="34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before</a:t>
            </a:r>
            <a:r>
              <a:rPr sz="2400" spc="340"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deciding</a:t>
            </a:r>
            <a:r>
              <a:rPr lang="en-US" sz="2400" spc="-1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whether</a:t>
            </a:r>
            <a:r>
              <a:rPr sz="2400" spc="-4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the</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goal</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is</a:t>
            </a:r>
            <a:r>
              <a:rPr sz="2400" spc="-1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achieved</a:t>
            </a:r>
            <a:r>
              <a:rPr sz="2400" spc="-4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or</a:t>
            </a:r>
            <a:r>
              <a:rPr sz="2400" spc="-60" dirty="0">
                <a:latin typeface="Times New Roman" panose="02020603050405020304" pitchFamily="18" charset="0"/>
                <a:cs typeface="Times New Roman" panose="02020603050405020304" pitchFamily="18" charset="0"/>
                <a:sym typeface="+mn-ea"/>
              </a:rPr>
              <a:t> </a:t>
            </a:r>
            <a:r>
              <a:rPr sz="2400" spc="-20" dirty="0">
                <a:latin typeface="Times New Roman" panose="02020603050405020304" pitchFamily="18" charset="0"/>
                <a:cs typeface="Times New Roman" panose="02020603050405020304" pitchFamily="18" charset="0"/>
                <a:sym typeface="+mn-ea"/>
              </a:rPr>
              <a:t>not.</a:t>
            </a:r>
            <a:endParaRPr sz="2400" spc="-20" dirty="0">
              <a:latin typeface="Times New Roman" panose="02020603050405020304" pitchFamily="18" charset="0"/>
              <a:cs typeface="Times New Roman" panose="02020603050405020304" pitchFamily="18" charset="0"/>
              <a:sym typeface="+mn-ea"/>
            </a:endParaRPr>
          </a:p>
          <a:p>
            <a:pPr algn="just">
              <a:lnSpc>
                <a:spcPct val="100000"/>
              </a:lnSpc>
              <a:spcBef>
                <a:spcPts val="100"/>
              </a:spcBef>
            </a:pPr>
            <a:r>
              <a:rPr sz="2400" dirty="0">
                <a:latin typeface="Times New Roman" panose="02020603050405020304" pitchFamily="18" charset="0"/>
                <a:cs typeface="Times New Roman" panose="02020603050405020304" pitchFamily="18" charset="0"/>
                <a:sym typeface="+mn-ea"/>
              </a:rPr>
              <a:t>Such</a:t>
            </a:r>
            <a:r>
              <a:rPr sz="2400" spc="-3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considerations</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of</a:t>
            </a:r>
            <a:r>
              <a:rPr sz="2400" spc="-3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different</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scenario</a:t>
            </a:r>
            <a:r>
              <a:rPr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are</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called</a:t>
            </a:r>
            <a:r>
              <a:rPr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searching</a:t>
            </a:r>
            <a:r>
              <a:rPr sz="2400" spc="-3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and</a:t>
            </a:r>
            <a:r>
              <a:rPr sz="2400" spc="-20"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planning,</a:t>
            </a:r>
            <a:r>
              <a:rPr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which</a:t>
            </a:r>
            <a:r>
              <a:rPr sz="2400" spc="-25" dirty="0">
                <a:latin typeface="Times New Roman" panose="02020603050405020304" pitchFamily="18" charset="0"/>
                <a:cs typeface="Times New Roman" panose="02020603050405020304" pitchFamily="18" charset="0"/>
                <a:sym typeface="+mn-ea"/>
              </a:rPr>
              <a:t> </a:t>
            </a:r>
            <a:r>
              <a:rPr sz="2400" dirty="0">
                <a:latin typeface="Times New Roman" panose="02020603050405020304" pitchFamily="18" charset="0"/>
                <a:cs typeface="Times New Roman" panose="02020603050405020304" pitchFamily="18" charset="0"/>
                <a:sym typeface="+mn-ea"/>
              </a:rPr>
              <a:t>makes</a:t>
            </a:r>
            <a:r>
              <a:rPr sz="2400" spc="-25" dirty="0">
                <a:latin typeface="Times New Roman" panose="02020603050405020304" pitchFamily="18" charset="0"/>
                <a:cs typeface="Times New Roman" panose="02020603050405020304" pitchFamily="18" charset="0"/>
                <a:sym typeface="+mn-ea"/>
              </a:rPr>
              <a:t> an </a:t>
            </a:r>
            <a:r>
              <a:rPr sz="2400" dirty="0">
                <a:latin typeface="Times New Roman" panose="02020603050405020304" pitchFamily="18" charset="0"/>
                <a:cs typeface="Times New Roman" panose="02020603050405020304" pitchFamily="18" charset="0"/>
                <a:sym typeface="+mn-ea"/>
              </a:rPr>
              <a:t>agent</a:t>
            </a:r>
            <a:r>
              <a:rPr sz="2400" spc="-25" dirty="0">
                <a:latin typeface="Times New Roman" panose="02020603050405020304" pitchFamily="18" charset="0"/>
                <a:cs typeface="Times New Roman" panose="02020603050405020304" pitchFamily="18" charset="0"/>
                <a:sym typeface="+mn-ea"/>
              </a:rPr>
              <a:t> </a:t>
            </a:r>
            <a:r>
              <a:rPr sz="2400" spc="-10" dirty="0">
                <a:latin typeface="Times New Roman" panose="02020603050405020304" pitchFamily="18" charset="0"/>
                <a:cs typeface="Times New Roman" panose="02020603050405020304" pitchFamily="18" charset="0"/>
                <a:sym typeface="+mn-ea"/>
              </a:rPr>
              <a:t>proactive.</a:t>
            </a:r>
            <a:endParaRPr sz="2400" b="0" spc="-10" dirty="0">
              <a:latin typeface="Times New Roman" panose="02020603050405020304" pitchFamily="18" charset="0"/>
              <a:cs typeface="Times New Roman" panose="02020603050405020304" pitchFamily="18" charset="0"/>
            </a:endParaRPr>
          </a:p>
          <a:p>
            <a:pPr algn="just"/>
            <a:endParaRPr lang="en-US" sz="2400" b="0" spc="-1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spc="-20" dirty="0">
                <a:solidFill>
                  <a:srgbClr val="FF0000"/>
                </a:solidFill>
                <a:latin typeface="Times New Roman" panose="02020603050405020304" pitchFamily="18" charset="0"/>
                <a:cs typeface="Times New Roman" panose="02020603050405020304" pitchFamily="18" charset="0"/>
                <a:sym typeface="+mn-ea"/>
              </a:rPr>
              <a:t>Utility-</a:t>
            </a:r>
            <a:r>
              <a:rPr b="1" dirty="0">
                <a:solidFill>
                  <a:srgbClr val="FF0000"/>
                </a:solidFill>
                <a:latin typeface="Times New Roman" panose="02020603050405020304" pitchFamily="18" charset="0"/>
                <a:cs typeface="Times New Roman" panose="02020603050405020304" pitchFamily="18" charset="0"/>
                <a:sym typeface="+mn-ea"/>
              </a:rPr>
              <a:t>based</a:t>
            </a:r>
            <a:r>
              <a:rPr b="1" spc="25" dirty="0">
                <a:solidFill>
                  <a:srgbClr val="FF0000"/>
                </a:solidFill>
                <a:latin typeface="Times New Roman" panose="02020603050405020304" pitchFamily="18" charset="0"/>
                <a:cs typeface="Times New Roman" panose="02020603050405020304" pitchFamily="18" charset="0"/>
                <a:sym typeface="+mn-ea"/>
              </a:rPr>
              <a:t> </a:t>
            </a:r>
            <a:r>
              <a:rPr b="1" spc="-10" dirty="0">
                <a:solidFill>
                  <a:srgbClr val="FF0000"/>
                </a:solidFill>
                <a:latin typeface="Times New Roman" panose="02020603050405020304" pitchFamily="18" charset="0"/>
                <a:cs typeface="Times New Roman" panose="02020603050405020304" pitchFamily="18" charset="0"/>
                <a:sym typeface="+mn-ea"/>
              </a:rPr>
              <a:t>agents</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95400"/>
            <a:ext cx="8229600" cy="4525963"/>
          </a:xfrm>
        </p:spPr>
        <p:txBody>
          <a:bodyPr>
            <a:normAutofit fontScale="80000"/>
          </a:bodyPr>
          <a:p>
            <a:pPr marR="5080" algn="just">
              <a:lnSpc>
                <a:spcPct val="100000"/>
              </a:lnSpc>
              <a:spcBef>
                <a:spcPts val="100"/>
              </a:spcBef>
            </a:pPr>
            <a:r>
              <a:rPr dirty="0">
                <a:solidFill>
                  <a:srgbClr val="1D1D27"/>
                </a:solidFill>
                <a:latin typeface="Times New Roman" panose="02020603050405020304" pitchFamily="18" charset="0"/>
                <a:cs typeface="Times New Roman" panose="02020603050405020304" pitchFamily="18" charset="0"/>
                <a:sym typeface="+mn-ea"/>
              </a:rPr>
              <a:t>These</a:t>
            </a:r>
            <a:r>
              <a:rPr spc="29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agents</a:t>
            </a:r>
            <a:r>
              <a:rPr spc="28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are</a:t>
            </a:r>
            <a:r>
              <a:rPr spc="30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similar</a:t>
            </a:r>
            <a:r>
              <a:rPr spc="29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to</a:t>
            </a:r>
            <a:r>
              <a:rPr spc="29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the</a:t>
            </a:r>
            <a:r>
              <a:rPr spc="285" dirty="0">
                <a:solidFill>
                  <a:srgbClr val="1D1D27"/>
                </a:solidFill>
                <a:latin typeface="Times New Roman" panose="02020603050405020304" pitchFamily="18" charset="0"/>
                <a:cs typeface="Times New Roman" panose="02020603050405020304" pitchFamily="18" charset="0"/>
                <a:sym typeface="+mn-ea"/>
              </a:rPr>
              <a:t> </a:t>
            </a:r>
            <a:r>
              <a:rPr spc="-10" dirty="0">
                <a:solidFill>
                  <a:srgbClr val="1D1D27"/>
                </a:solidFill>
                <a:latin typeface="Times New Roman" panose="02020603050405020304" pitchFamily="18" charset="0"/>
                <a:cs typeface="Times New Roman" panose="02020603050405020304" pitchFamily="18" charset="0"/>
                <a:sym typeface="+mn-ea"/>
              </a:rPr>
              <a:t>goal-</a:t>
            </a:r>
            <a:r>
              <a:rPr dirty="0">
                <a:solidFill>
                  <a:srgbClr val="1D1D27"/>
                </a:solidFill>
                <a:latin typeface="Times New Roman" panose="02020603050405020304" pitchFamily="18" charset="0"/>
                <a:cs typeface="Times New Roman" panose="02020603050405020304" pitchFamily="18" charset="0"/>
                <a:sym typeface="+mn-ea"/>
              </a:rPr>
              <a:t>based</a:t>
            </a:r>
            <a:r>
              <a:rPr spc="29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agent</a:t>
            </a:r>
            <a:r>
              <a:rPr spc="29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but</a:t>
            </a:r>
            <a:r>
              <a:rPr spc="29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provide</a:t>
            </a:r>
            <a:r>
              <a:rPr spc="29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an</a:t>
            </a:r>
            <a:r>
              <a:rPr spc="28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extra</a:t>
            </a:r>
            <a:r>
              <a:rPr spc="27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component</a:t>
            </a:r>
            <a:r>
              <a:rPr spc="295" dirty="0">
                <a:solidFill>
                  <a:srgbClr val="1D1D27"/>
                </a:solidFill>
                <a:latin typeface="Times New Roman" panose="02020603050405020304" pitchFamily="18" charset="0"/>
                <a:cs typeface="Times New Roman" panose="02020603050405020304" pitchFamily="18" charset="0"/>
                <a:sym typeface="+mn-ea"/>
              </a:rPr>
              <a:t> </a:t>
            </a:r>
            <a:r>
              <a:rPr spc="-25" dirty="0">
                <a:solidFill>
                  <a:srgbClr val="1D1D27"/>
                </a:solidFill>
                <a:latin typeface="Times New Roman" panose="02020603050405020304" pitchFamily="18" charset="0"/>
                <a:cs typeface="Times New Roman" panose="02020603050405020304" pitchFamily="18" charset="0"/>
                <a:sym typeface="+mn-ea"/>
              </a:rPr>
              <a:t>of </a:t>
            </a:r>
            <a:r>
              <a:rPr dirty="0">
                <a:solidFill>
                  <a:srgbClr val="1D1D27"/>
                </a:solidFill>
                <a:latin typeface="Times New Roman" panose="02020603050405020304" pitchFamily="18" charset="0"/>
                <a:cs typeface="Times New Roman" panose="02020603050405020304" pitchFamily="18" charset="0"/>
                <a:sym typeface="+mn-ea"/>
              </a:rPr>
              <a:t>utility</a:t>
            </a:r>
            <a:r>
              <a:rPr spc="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measurement</a:t>
            </a:r>
            <a:r>
              <a:rPr spc="6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which</a:t>
            </a:r>
            <a:r>
              <a:rPr spc="5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makes</a:t>
            </a:r>
            <a:r>
              <a:rPr spc="6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them</a:t>
            </a:r>
            <a:r>
              <a:rPr spc="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different</a:t>
            </a:r>
            <a:r>
              <a:rPr spc="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by</a:t>
            </a:r>
            <a:r>
              <a:rPr spc="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providing</a:t>
            </a:r>
            <a:r>
              <a:rPr spc="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a:t>
            </a:r>
            <a:r>
              <a:rPr spc="5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measure</a:t>
            </a:r>
            <a:r>
              <a:rPr spc="65" dirty="0">
                <a:solidFill>
                  <a:srgbClr val="1D1D27"/>
                </a:solidFill>
                <a:latin typeface="Times New Roman" panose="02020603050405020304" pitchFamily="18" charset="0"/>
                <a:cs typeface="Times New Roman" panose="02020603050405020304" pitchFamily="18" charset="0"/>
                <a:sym typeface="+mn-ea"/>
              </a:rPr>
              <a:t>  </a:t>
            </a:r>
            <a:r>
              <a:rPr spc="-25" dirty="0">
                <a:solidFill>
                  <a:srgbClr val="1D1D27"/>
                </a:solidFill>
                <a:latin typeface="Times New Roman" panose="02020603050405020304" pitchFamily="18" charset="0"/>
                <a:cs typeface="Times New Roman" panose="02020603050405020304" pitchFamily="18" charset="0"/>
                <a:sym typeface="+mn-ea"/>
              </a:rPr>
              <a:t>of </a:t>
            </a:r>
            <a:r>
              <a:rPr dirty="0">
                <a:solidFill>
                  <a:srgbClr val="1D1D27"/>
                </a:solidFill>
                <a:latin typeface="Times New Roman" panose="02020603050405020304" pitchFamily="18" charset="0"/>
                <a:cs typeface="Times New Roman" panose="02020603050405020304" pitchFamily="18" charset="0"/>
                <a:sym typeface="+mn-ea"/>
              </a:rPr>
              <a:t>success</a:t>
            </a:r>
            <a:r>
              <a:rPr spc="-1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at</a:t>
            </a:r>
            <a:r>
              <a:rPr spc="-1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a:t>
            </a:r>
            <a:r>
              <a:rPr spc="-1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given</a:t>
            </a:r>
            <a:r>
              <a:rPr spc="-20" dirty="0">
                <a:solidFill>
                  <a:srgbClr val="1D1D27"/>
                </a:solidFill>
                <a:latin typeface="Times New Roman" panose="02020603050405020304" pitchFamily="18" charset="0"/>
                <a:cs typeface="Times New Roman" panose="02020603050405020304" pitchFamily="18" charset="0"/>
                <a:sym typeface="+mn-ea"/>
              </a:rPr>
              <a:t> </a:t>
            </a:r>
            <a:r>
              <a:rPr spc="-10" dirty="0">
                <a:solidFill>
                  <a:srgbClr val="1D1D27"/>
                </a:solidFill>
                <a:latin typeface="Times New Roman" panose="02020603050405020304" pitchFamily="18" charset="0"/>
                <a:cs typeface="Times New Roman" panose="02020603050405020304" pitchFamily="18" charset="0"/>
                <a:sym typeface="+mn-ea"/>
              </a:rPr>
              <a:t>state.</a:t>
            </a:r>
            <a:endParaRPr spc="-10" dirty="0">
              <a:solidFill>
                <a:srgbClr val="1D1D27"/>
              </a:solidFill>
              <a:latin typeface="Times New Roman" panose="02020603050405020304" pitchFamily="18" charset="0"/>
              <a:cs typeface="Times New Roman" panose="02020603050405020304" pitchFamily="18" charset="0"/>
              <a:sym typeface="+mn-ea"/>
            </a:endParaRPr>
          </a:p>
          <a:p>
            <a:pPr marR="5080" algn="just">
              <a:lnSpc>
                <a:spcPct val="100000"/>
              </a:lnSpc>
              <a:spcBef>
                <a:spcPts val="100"/>
              </a:spcBef>
            </a:pPr>
            <a:r>
              <a:rPr spc="-10" dirty="0">
                <a:solidFill>
                  <a:srgbClr val="1D1D27"/>
                </a:solidFill>
                <a:latin typeface="Times New Roman" panose="02020603050405020304" pitchFamily="18" charset="0"/>
                <a:cs typeface="Times New Roman" panose="02020603050405020304" pitchFamily="18" charset="0"/>
                <a:sym typeface="+mn-ea"/>
              </a:rPr>
              <a:t>Utility-</a:t>
            </a:r>
            <a:r>
              <a:rPr dirty="0">
                <a:solidFill>
                  <a:srgbClr val="1D1D27"/>
                </a:solidFill>
                <a:latin typeface="Times New Roman" panose="02020603050405020304" pitchFamily="18" charset="0"/>
                <a:cs typeface="Times New Roman" panose="02020603050405020304" pitchFamily="18" charset="0"/>
                <a:sym typeface="+mn-ea"/>
              </a:rPr>
              <a:t>based</a:t>
            </a:r>
            <a:r>
              <a:rPr spc="3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agent</a:t>
            </a:r>
            <a:r>
              <a:rPr spc="35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act</a:t>
            </a:r>
            <a:r>
              <a:rPr spc="3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based</a:t>
            </a:r>
            <a:r>
              <a:rPr spc="35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not</a:t>
            </a:r>
            <a:r>
              <a:rPr spc="34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only</a:t>
            </a:r>
            <a:r>
              <a:rPr spc="36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goals</a:t>
            </a:r>
            <a:r>
              <a:rPr spc="35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but</a:t>
            </a:r>
            <a:r>
              <a:rPr spc="37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also</a:t>
            </a:r>
            <a:r>
              <a:rPr spc="36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the</a:t>
            </a:r>
            <a:r>
              <a:rPr spc="36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best</a:t>
            </a:r>
            <a:r>
              <a:rPr spc="35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way</a:t>
            </a:r>
            <a:r>
              <a:rPr spc="37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to</a:t>
            </a:r>
            <a:r>
              <a:rPr spc="36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achieve</a:t>
            </a:r>
            <a:r>
              <a:rPr spc="350" dirty="0">
                <a:solidFill>
                  <a:srgbClr val="1D1D27"/>
                </a:solidFill>
                <a:latin typeface="Times New Roman" panose="02020603050405020304" pitchFamily="18" charset="0"/>
                <a:cs typeface="Times New Roman" panose="02020603050405020304" pitchFamily="18" charset="0"/>
                <a:sym typeface="+mn-ea"/>
              </a:rPr>
              <a:t> </a:t>
            </a:r>
            <a:r>
              <a:rPr spc="-25" dirty="0">
                <a:solidFill>
                  <a:srgbClr val="1D1D27"/>
                </a:solidFill>
                <a:latin typeface="Times New Roman" panose="02020603050405020304" pitchFamily="18" charset="0"/>
                <a:cs typeface="Times New Roman" panose="02020603050405020304" pitchFamily="18" charset="0"/>
                <a:sym typeface="+mn-ea"/>
              </a:rPr>
              <a:t>the</a:t>
            </a:r>
            <a:r>
              <a:rPr lang="en-US" spc="-25" dirty="0">
                <a:solidFill>
                  <a:srgbClr val="1D1D27"/>
                </a:solidFill>
                <a:latin typeface="Times New Roman" panose="02020603050405020304" pitchFamily="18" charset="0"/>
                <a:cs typeface="Times New Roman" panose="02020603050405020304" pitchFamily="18" charset="0"/>
                <a:sym typeface="+mn-ea"/>
              </a:rPr>
              <a:t> </a:t>
            </a:r>
            <a:r>
              <a:rPr spc="-10" dirty="0">
                <a:solidFill>
                  <a:srgbClr val="1D1D27"/>
                </a:solidFill>
                <a:latin typeface="Times New Roman" panose="02020603050405020304" pitchFamily="18" charset="0"/>
                <a:cs typeface="Times New Roman" panose="02020603050405020304" pitchFamily="18" charset="0"/>
                <a:sym typeface="+mn-ea"/>
              </a:rPr>
              <a:t>goal.</a:t>
            </a:r>
            <a:endParaRPr spc="-10" dirty="0">
              <a:solidFill>
                <a:srgbClr val="1D1D27"/>
              </a:solidFill>
              <a:latin typeface="Times New Roman" panose="02020603050405020304" pitchFamily="18" charset="0"/>
              <a:cs typeface="Times New Roman" panose="02020603050405020304" pitchFamily="18" charset="0"/>
              <a:sym typeface="+mn-ea"/>
            </a:endParaRPr>
          </a:p>
          <a:p>
            <a:pPr algn="just">
              <a:lnSpc>
                <a:spcPct val="100000"/>
              </a:lnSpc>
              <a:spcBef>
                <a:spcPts val="5"/>
              </a:spcBef>
            </a:pPr>
            <a:r>
              <a:rPr dirty="0">
                <a:solidFill>
                  <a:srgbClr val="1D1D27"/>
                </a:solidFill>
                <a:latin typeface="Times New Roman" panose="02020603050405020304" pitchFamily="18" charset="0"/>
                <a:cs typeface="Times New Roman" panose="02020603050405020304" pitchFamily="18" charset="0"/>
                <a:sym typeface="+mn-ea"/>
              </a:rPr>
              <a:t>The</a:t>
            </a:r>
            <a:r>
              <a:rPr spc="210" dirty="0">
                <a:solidFill>
                  <a:srgbClr val="1D1D27"/>
                </a:solidFill>
                <a:latin typeface="Times New Roman" panose="02020603050405020304" pitchFamily="18" charset="0"/>
                <a:cs typeface="Times New Roman" panose="02020603050405020304" pitchFamily="18" charset="0"/>
                <a:sym typeface="+mn-ea"/>
              </a:rPr>
              <a:t> </a:t>
            </a:r>
            <a:r>
              <a:rPr spc="-10" dirty="0">
                <a:solidFill>
                  <a:srgbClr val="1D1D27"/>
                </a:solidFill>
                <a:latin typeface="Times New Roman" panose="02020603050405020304" pitchFamily="18" charset="0"/>
                <a:cs typeface="Times New Roman" panose="02020603050405020304" pitchFamily="18" charset="0"/>
                <a:sym typeface="+mn-ea"/>
              </a:rPr>
              <a:t>Utility-</a:t>
            </a:r>
            <a:r>
              <a:rPr dirty="0">
                <a:solidFill>
                  <a:srgbClr val="1D1D27"/>
                </a:solidFill>
                <a:latin typeface="Times New Roman" panose="02020603050405020304" pitchFamily="18" charset="0"/>
                <a:cs typeface="Times New Roman" panose="02020603050405020304" pitchFamily="18" charset="0"/>
                <a:sym typeface="+mn-ea"/>
              </a:rPr>
              <a:t>based</a:t>
            </a:r>
            <a:r>
              <a:rPr spc="21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agent</a:t>
            </a:r>
            <a:r>
              <a:rPr spc="21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is</a:t>
            </a:r>
            <a:r>
              <a:rPr spc="21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useful</a:t>
            </a:r>
            <a:r>
              <a:rPr spc="21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when</a:t>
            </a:r>
            <a:r>
              <a:rPr spc="21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there</a:t>
            </a:r>
            <a:r>
              <a:rPr spc="21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are</a:t>
            </a:r>
            <a:r>
              <a:rPr spc="21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multiple</a:t>
            </a:r>
            <a:r>
              <a:rPr spc="19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possible</a:t>
            </a:r>
            <a:r>
              <a:rPr spc="22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alternatives,</a:t>
            </a:r>
            <a:r>
              <a:rPr spc="215" dirty="0">
                <a:solidFill>
                  <a:srgbClr val="1D1D27"/>
                </a:solidFill>
                <a:latin typeface="Times New Roman" panose="02020603050405020304" pitchFamily="18" charset="0"/>
                <a:cs typeface="Times New Roman" panose="02020603050405020304" pitchFamily="18" charset="0"/>
                <a:sym typeface="+mn-ea"/>
              </a:rPr>
              <a:t> </a:t>
            </a:r>
            <a:r>
              <a:rPr spc="-25" dirty="0">
                <a:solidFill>
                  <a:srgbClr val="1D1D27"/>
                </a:solidFill>
                <a:latin typeface="Times New Roman" panose="02020603050405020304" pitchFamily="18" charset="0"/>
                <a:cs typeface="Times New Roman" panose="02020603050405020304" pitchFamily="18" charset="0"/>
                <a:sym typeface="+mn-ea"/>
              </a:rPr>
              <a:t>and </a:t>
            </a:r>
            <a:r>
              <a:rPr dirty="0">
                <a:solidFill>
                  <a:srgbClr val="1D1D27"/>
                </a:solidFill>
                <a:latin typeface="Times New Roman" panose="02020603050405020304" pitchFamily="18" charset="0"/>
                <a:cs typeface="Times New Roman" panose="02020603050405020304" pitchFamily="18" charset="0"/>
                <a:sym typeface="+mn-ea"/>
              </a:rPr>
              <a:t>an</a:t>
            </a:r>
            <a:r>
              <a:rPr spc="-3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agent</a:t>
            </a:r>
            <a:r>
              <a:rPr spc="-2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has</a:t>
            </a:r>
            <a:r>
              <a:rPr spc="-2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to</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choose</a:t>
            </a:r>
            <a:r>
              <a:rPr spc="-2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in</a:t>
            </a:r>
            <a:r>
              <a:rPr spc="-3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order</a:t>
            </a:r>
            <a:r>
              <a:rPr spc="-8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to</a:t>
            </a:r>
            <a:r>
              <a:rPr spc="-3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perform</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the</a:t>
            </a:r>
            <a:r>
              <a:rPr spc="-2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best</a:t>
            </a:r>
            <a:r>
              <a:rPr spc="-25" dirty="0">
                <a:solidFill>
                  <a:srgbClr val="1D1D27"/>
                </a:solidFill>
                <a:latin typeface="Times New Roman" panose="02020603050405020304" pitchFamily="18" charset="0"/>
                <a:cs typeface="Times New Roman" panose="02020603050405020304" pitchFamily="18" charset="0"/>
                <a:sym typeface="+mn-ea"/>
              </a:rPr>
              <a:t> </a:t>
            </a:r>
            <a:r>
              <a:rPr spc="-10" dirty="0">
                <a:solidFill>
                  <a:srgbClr val="1D1D27"/>
                </a:solidFill>
                <a:latin typeface="Times New Roman" panose="02020603050405020304" pitchFamily="18" charset="0"/>
                <a:cs typeface="Times New Roman" panose="02020603050405020304" pitchFamily="18" charset="0"/>
                <a:sym typeface="+mn-ea"/>
              </a:rPr>
              <a:t>action.</a:t>
            </a:r>
            <a:endParaRPr spc="-10" dirty="0">
              <a:solidFill>
                <a:srgbClr val="1D1D27"/>
              </a:solidFill>
              <a:latin typeface="Times New Roman" panose="02020603050405020304" pitchFamily="18" charset="0"/>
              <a:cs typeface="Times New Roman" panose="02020603050405020304" pitchFamily="18" charset="0"/>
              <a:sym typeface="+mn-ea"/>
            </a:endParaRPr>
          </a:p>
          <a:p>
            <a:pPr algn="just">
              <a:lnSpc>
                <a:spcPct val="100000"/>
              </a:lnSpc>
              <a:spcBef>
                <a:spcPts val="5"/>
              </a:spcBef>
            </a:pPr>
            <a:r>
              <a:rPr dirty="0">
                <a:solidFill>
                  <a:srgbClr val="1D1D27"/>
                </a:solidFill>
                <a:latin typeface="Times New Roman" panose="02020603050405020304" pitchFamily="18" charset="0"/>
                <a:cs typeface="Times New Roman" panose="02020603050405020304" pitchFamily="18" charset="0"/>
                <a:sym typeface="+mn-ea"/>
              </a:rPr>
              <a:t>The</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utility</a:t>
            </a:r>
            <a:r>
              <a:rPr spc="3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function</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maps</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each</a:t>
            </a:r>
            <a:r>
              <a:rPr spc="4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state</a:t>
            </a:r>
            <a:r>
              <a:rPr spc="3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to</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a:t>
            </a:r>
            <a:r>
              <a:rPr spc="3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real</a:t>
            </a:r>
            <a:r>
              <a:rPr spc="4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number to</a:t>
            </a:r>
            <a:r>
              <a:rPr spc="4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check</a:t>
            </a:r>
            <a:r>
              <a:rPr spc="5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how</a:t>
            </a:r>
            <a:r>
              <a:rPr spc="25"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efficiently</a:t>
            </a:r>
            <a:r>
              <a:rPr spc="45" dirty="0">
                <a:solidFill>
                  <a:srgbClr val="1D1D27"/>
                </a:solidFill>
                <a:latin typeface="Times New Roman" panose="02020603050405020304" pitchFamily="18" charset="0"/>
                <a:cs typeface="Times New Roman" panose="02020603050405020304" pitchFamily="18" charset="0"/>
                <a:sym typeface="+mn-ea"/>
              </a:rPr>
              <a:t> </a:t>
            </a:r>
            <a:r>
              <a:rPr spc="-20" dirty="0">
                <a:solidFill>
                  <a:srgbClr val="1D1D27"/>
                </a:solidFill>
                <a:latin typeface="Times New Roman" panose="02020603050405020304" pitchFamily="18" charset="0"/>
                <a:cs typeface="Times New Roman" panose="02020603050405020304" pitchFamily="18" charset="0"/>
                <a:sym typeface="+mn-ea"/>
              </a:rPr>
              <a:t>each </a:t>
            </a:r>
            <a:r>
              <a:rPr dirty="0">
                <a:solidFill>
                  <a:srgbClr val="1D1D27"/>
                </a:solidFill>
                <a:latin typeface="Times New Roman" panose="02020603050405020304" pitchFamily="18" charset="0"/>
                <a:cs typeface="Times New Roman" panose="02020603050405020304" pitchFamily="18" charset="0"/>
                <a:sym typeface="+mn-ea"/>
              </a:rPr>
              <a:t>action</a:t>
            </a:r>
            <a:r>
              <a:rPr spc="-2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achieves</a:t>
            </a:r>
            <a:r>
              <a:rPr spc="-30" dirty="0">
                <a:solidFill>
                  <a:srgbClr val="1D1D27"/>
                </a:solidFill>
                <a:latin typeface="Times New Roman" panose="02020603050405020304" pitchFamily="18" charset="0"/>
                <a:cs typeface="Times New Roman" panose="02020603050405020304" pitchFamily="18" charset="0"/>
                <a:sym typeface="+mn-ea"/>
              </a:rPr>
              <a:t> </a:t>
            </a:r>
            <a:r>
              <a:rPr dirty="0">
                <a:solidFill>
                  <a:srgbClr val="1D1D27"/>
                </a:solidFill>
                <a:latin typeface="Times New Roman" panose="02020603050405020304" pitchFamily="18" charset="0"/>
                <a:cs typeface="Times New Roman" panose="02020603050405020304" pitchFamily="18" charset="0"/>
                <a:sym typeface="+mn-ea"/>
              </a:rPr>
              <a:t>the</a:t>
            </a:r>
            <a:r>
              <a:rPr spc="-15" dirty="0">
                <a:solidFill>
                  <a:srgbClr val="1D1D27"/>
                </a:solidFill>
                <a:latin typeface="Times New Roman" panose="02020603050405020304" pitchFamily="18" charset="0"/>
                <a:cs typeface="Times New Roman" panose="02020603050405020304" pitchFamily="18" charset="0"/>
                <a:sym typeface="+mn-ea"/>
              </a:rPr>
              <a:t> </a:t>
            </a:r>
            <a:r>
              <a:rPr spc="-10" dirty="0">
                <a:solidFill>
                  <a:srgbClr val="1D1D27"/>
                </a:solidFill>
                <a:latin typeface="Times New Roman" panose="02020603050405020304" pitchFamily="18" charset="0"/>
                <a:cs typeface="Times New Roman" panose="02020603050405020304" pitchFamily="18" charset="0"/>
                <a:sym typeface="+mn-ea"/>
              </a:rPr>
              <a:t>goals.</a:t>
            </a:r>
            <a:endParaRPr>
              <a:latin typeface="Times New Roman" panose="02020603050405020304" pitchFamily="18" charset="0"/>
              <a:cs typeface="Times New Roman" panose="02020603050405020304" pitchFamily="18" charset="0"/>
            </a:endParaRPr>
          </a:p>
          <a:p>
            <a:pPr algn="just"/>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a:cs typeface="Times New Roman" panose="02020603050405020304"/>
                <a:sym typeface="+mn-ea"/>
              </a:rPr>
              <a:t>A</a:t>
            </a:r>
            <a:r>
              <a:rPr b="1" spc="-225" dirty="0">
                <a:solidFill>
                  <a:srgbClr val="FF0000"/>
                </a:solidFill>
                <a:latin typeface="Times New Roman" panose="02020603050405020304"/>
                <a:cs typeface="Times New Roman" panose="02020603050405020304"/>
                <a:sym typeface="+mn-ea"/>
              </a:rPr>
              <a:t> </a:t>
            </a:r>
            <a:r>
              <a:rPr b="1" spc="-35" dirty="0">
                <a:solidFill>
                  <a:srgbClr val="FF0000"/>
                </a:solidFill>
                <a:latin typeface="Times New Roman" panose="02020603050405020304"/>
                <a:cs typeface="Times New Roman" panose="02020603050405020304"/>
                <a:sym typeface="+mn-ea"/>
              </a:rPr>
              <a:t>Problem-</a:t>
            </a:r>
            <a:r>
              <a:rPr b="1" spc="-20" dirty="0">
                <a:solidFill>
                  <a:srgbClr val="FF0000"/>
                </a:solidFill>
                <a:latin typeface="Times New Roman" panose="02020603050405020304"/>
                <a:cs typeface="Times New Roman" panose="02020603050405020304"/>
                <a:sym typeface="+mn-ea"/>
              </a:rPr>
              <a:t>Solving</a:t>
            </a:r>
            <a:r>
              <a:rPr b="1" spc="-21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Agent</a:t>
            </a:r>
            <a:r>
              <a:rPr b="1" spc="20" dirty="0">
                <a:solidFill>
                  <a:srgbClr val="FF0000"/>
                </a:solidFill>
                <a:latin typeface="Times New Roman" panose="02020603050405020304"/>
                <a:cs typeface="Times New Roman" panose="02020603050405020304"/>
                <a:sym typeface="+mn-ea"/>
              </a:rPr>
              <a:t> </a:t>
            </a:r>
            <a:endParaRPr lang="en-US"/>
          </a:p>
        </p:txBody>
      </p:sp>
      <p:sp>
        <p:nvSpPr>
          <p:cNvPr id="3" name="Content Placeholder 2"/>
          <p:cNvSpPr>
            <a:spLocks noGrp="1"/>
          </p:cNvSpPr>
          <p:nvPr>
            <p:ph idx="1"/>
          </p:nvPr>
        </p:nvSpPr>
        <p:spPr/>
        <p:txBody>
          <a:bodyPr>
            <a:normAutofit fontScale="80000"/>
          </a:bodyPr>
          <a:p>
            <a:pPr marR="5080" algn="just">
              <a:lnSpc>
                <a:spcPct val="100000"/>
              </a:lnSpc>
              <a:spcBef>
                <a:spcPts val="95"/>
              </a:spcBef>
            </a:pPr>
            <a:r>
              <a:rPr dirty="0">
                <a:solidFill>
                  <a:srgbClr val="1F1F1F"/>
                </a:solidFill>
                <a:latin typeface="Times New Roman" panose="02020603050405020304"/>
                <a:cs typeface="Times New Roman" panose="02020603050405020304"/>
                <a:sym typeface="+mn-ea"/>
              </a:rPr>
              <a:t>In</a:t>
            </a:r>
            <a:r>
              <a:rPr spc="19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Artificial</a:t>
            </a:r>
            <a:r>
              <a:rPr spc="19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Intelligence,</a:t>
            </a:r>
            <a:r>
              <a:rPr spc="19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Search</a:t>
            </a:r>
            <a:r>
              <a:rPr spc="20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techniques</a:t>
            </a:r>
            <a:r>
              <a:rPr spc="19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are</a:t>
            </a:r>
            <a:r>
              <a:rPr spc="19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universal</a:t>
            </a:r>
            <a:r>
              <a:rPr spc="195" dirty="0">
                <a:solidFill>
                  <a:srgbClr val="1F1F1F"/>
                </a:solidFill>
                <a:latin typeface="Times New Roman" panose="02020603050405020304"/>
                <a:cs typeface="Times New Roman" panose="02020603050405020304"/>
                <a:sym typeface="+mn-ea"/>
              </a:rPr>
              <a:t> </a:t>
            </a:r>
            <a:r>
              <a:rPr spc="-10" dirty="0">
                <a:solidFill>
                  <a:srgbClr val="1F1F1F"/>
                </a:solidFill>
                <a:latin typeface="Times New Roman" panose="02020603050405020304"/>
                <a:cs typeface="Times New Roman" panose="02020603050405020304"/>
                <a:sym typeface="+mn-ea"/>
              </a:rPr>
              <a:t>problem-solving </a:t>
            </a:r>
            <a:r>
              <a:rPr dirty="0">
                <a:solidFill>
                  <a:srgbClr val="1F1F1F"/>
                </a:solidFill>
                <a:latin typeface="Times New Roman" panose="02020603050405020304"/>
                <a:cs typeface="Times New Roman" panose="02020603050405020304"/>
                <a:sym typeface="+mn-ea"/>
              </a:rPr>
              <a:t>methods.</a:t>
            </a:r>
            <a:r>
              <a:rPr spc="45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Rational</a:t>
            </a:r>
            <a:r>
              <a:rPr spc="46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agents</a:t>
            </a:r>
            <a:r>
              <a:rPr spc="47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or</a:t>
            </a:r>
            <a:r>
              <a:rPr spc="450" dirty="0">
                <a:solidFill>
                  <a:srgbClr val="1F1F1F"/>
                </a:solidFill>
                <a:latin typeface="Times New Roman" panose="02020603050405020304"/>
                <a:cs typeface="Times New Roman" panose="02020603050405020304"/>
                <a:sym typeface="+mn-ea"/>
              </a:rPr>
              <a:t> </a:t>
            </a:r>
            <a:r>
              <a:rPr spc="-10" dirty="0">
                <a:solidFill>
                  <a:srgbClr val="1F1F1F"/>
                </a:solidFill>
                <a:latin typeface="Times New Roman" panose="02020603050405020304"/>
                <a:cs typeface="Times New Roman" panose="02020603050405020304"/>
                <a:sym typeface="+mn-ea"/>
              </a:rPr>
              <a:t>Problem-</a:t>
            </a:r>
            <a:r>
              <a:rPr dirty="0">
                <a:solidFill>
                  <a:srgbClr val="1F1F1F"/>
                </a:solidFill>
                <a:latin typeface="Times New Roman" panose="02020603050405020304"/>
                <a:cs typeface="Times New Roman" panose="02020603050405020304"/>
                <a:sym typeface="+mn-ea"/>
              </a:rPr>
              <a:t>solving</a:t>
            </a:r>
            <a:r>
              <a:rPr spc="47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agents</a:t>
            </a:r>
            <a:r>
              <a:rPr spc="47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in</a:t>
            </a:r>
            <a:r>
              <a:rPr spc="46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AI</a:t>
            </a:r>
            <a:r>
              <a:rPr spc="47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mostly</a:t>
            </a:r>
            <a:r>
              <a:rPr spc="475" dirty="0">
                <a:solidFill>
                  <a:srgbClr val="1F1F1F"/>
                </a:solidFill>
                <a:latin typeface="Times New Roman" panose="02020603050405020304"/>
                <a:cs typeface="Times New Roman" panose="02020603050405020304"/>
                <a:sym typeface="+mn-ea"/>
              </a:rPr>
              <a:t> </a:t>
            </a:r>
            <a:r>
              <a:rPr spc="-20" dirty="0">
                <a:solidFill>
                  <a:srgbClr val="1F1F1F"/>
                </a:solidFill>
                <a:latin typeface="Times New Roman" panose="02020603050405020304"/>
                <a:cs typeface="Times New Roman" panose="02020603050405020304"/>
                <a:sym typeface="+mn-ea"/>
              </a:rPr>
              <a:t>used </a:t>
            </a:r>
            <a:r>
              <a:rPr dirty="0">
                <a:solidFill>
                  <a:srgbClr val="1F1F1F"/>
                </a:solidFill>
                <a:latin typeface="Times New Roman" panose="02020603050405020304"/>
                <a:cs typeface="Times New Roman" panose="02020603050405020304"/>
                <a:sym typeface="+mn-ea"/>
              </a:rPr>
              <a:t>these</a:t>
            </a:r>
            <a:r>
              <a:rPr spc="69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search  strategies</a:t>
            </a:r>
            <a:r>
              <a:rPr spc="69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or</a:t>
            </a:r>
            <a:r>
              <a:rPr spc="23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algorithms</a:t>
            </a:r>
            <a:r>
              <a:rPr spc="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to  solve  a  specific</a:t>
            </a:r>
            <a:r>
              <a:rPr spc="68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problem</a:t>
            </a:r>
            <a:r>
              <a:rPr spc="690" dirty="0">
                <a:solidFill>
                  <a:srgbClr val="1F1F1F"/>
                </a:solidFill>
                <a:latin typeface="Times New Roman" panose="02020603050405020304"/>
                <a:cs typeface="Times New Roman" panose="02020603050405020304"/>
                <a:sym typeface="+mn-ea"/>
              </a:rPr>
              <a:t> </a:t>
            </a:r>
            <a:r>
              <a:rPr spc="-25" dirty="0">
                <a:solidFill>
                  <a:srgbClr val="1F1F1F"/>
                </a:solidFill>
                <a:latin typeface="Times New Roman" panose="02020603050405020304"/>
                <a:cs typeface="Times New Roman" panose="02020603050405020304"/>
                <a:sym typeface="+mn-ea"/>
              </a:rPr>
              <a:t>and </a:t>
            </a:r>
            <a:r>
              <a:rPr dirty="0">
                <a:solidFill>
                  <a:srgbClr val="1F1F1F"/>
                </a:solidFill>
                <a:latin typeface="Times New Roman" panose="02020603050405020304"/>
                <a:cs typeface="Times New Roman" panose="02020603050405020304"/>
                <a:sym typeface="+mn-ea"/>
              </a:rPr>
              <a:t>provide</a:t>
            </a:r>
            <a:r>
              <a:rPr spc="-3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the</a:t>
            </a:r>
            <a:r>
              <a:rPr spc="-3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best</a:t>
            </a:r>
            <a:r>
              <a:rPr spc="-20" dirty="0">
                <a:solidFill>
                  <a:srgbClr val="1F1F1F"/>
                </a:solidFill>
                <a:latin typeface="Times New Roman" panose="02020603050405020304"/>
                <a:cs typeface="Times New Roman" panose="02020603050405020304"/>
                <a:sym typeface="+mn-ea"/>
              </a:rPr>
              <a:t> </a:t>
            </a:r>
            <a:r>
              <a:rPr spc="-10" dirty="0">
                <a:solidFill>
                  <a:srgbClr val="1F1F1F"/>
                </a:solidFill>
                <a:latin typeface="Times New Roman" panose="02020603050405020304"/>
                <a:cs typeface="Times New Roman" panose="02020603050405020304"/>
                <a:sym typeface="+mn-ea"/>
              </a:rPr>
              <a:t>result.</a:t>
            </a:r>
            <a:endParaRPr>
              <a:latin typeface="Times New Roman" panose="02020603050405020304"/>
              <a:cs typeface="Times New Roman" panose="02020603050405020304"/>
            </a:endParaRPr>
          </a:p>
          <a:p>
            <a:pPr marR="6985" algn="just">
              <a:lnSpc>
                <a:spcPct val="100000"/>
              </a:lnSpc>
            </a:pPr>
            <a:r>
              <a:rPr dirty="0">
                <a:solidFill>
                  <a:srgbClr val="1F1F1F"/>
                </a:solidFill>
                <a:latin typeface="Times New Roman" panose="02020603050405020304"/>
                <a:cs typeface="Times New Roman" panose="02020603050405020304"/>
                <a:sym typeface="+mn-ea"/>
              </a:rPr>
              <a:t>Problem-</a:t>
            </a:r>
            <a:r>
              <a:rPr spc="4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solving</a:t>
            </a:r>
            <a:r>
              <a:rPr spc="4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agents</a:t>
            </a:r>
            <a:r>
              <a:rPr spc="4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are</a:t>
            </a:r>
            <a:r>
              <a:rPr spc="285"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the</a:t>
            </a:r>
            <a:r>
              <a:rPr spc="40" dirty="0">
                <a:solidFill>
                  <a:srgbClr val="1F1F1F"/>
                </a:solidFill>
                <a:latin typeface="Times New Roman" panose="02020603050405020304"/>
                <a:cs typeface="Times New Roman" panose="02020603050405020304"/>
                <a:sym typeface="+mn-ea"/>
              </a:rPr>
              <a:t>  </a:t>
            </a:r>
            <a:r>
              <a:rPr b="1" spc="-10" dirty="0">
                <a:solidFill>
                  <a:srgbClr val="1F1F1F"/>
                </a:solidFill>
                <a:latin typeface="Times New Roman" panose="02020603050405020304"/>
                <a:cs typeface="Times New Roman" panose="02020603050405020304"/>
                <a:sym typeface="+mn-ea"/>
              </a:rPr>
              <a:t>goal-</a:t>
            </a:r>
            <a:r>
              <a:rPr b="1" dirty="0">
                <a:solidFill>
                  <a:srgbClr val="1F1F1F"/>
                </a:solidFill>
                <a:latin typeface="Times New Roman" panose="02020603050405020304"/>
                <a:cs typeface="Times New Roman" panose="02020603050405020304"/>
                <a:sym typeface="+mn-ea"/>
              </a:rPr>
              <a:t>based</a:t>
            </a:r>
            <a:r>
              <a:rPr b="1" spc="45"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agents</a:t>
            </a:r>
            <a:r>
              <a:rPr b="1" spc="40"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and</a:t>
            </a:r>
            <a:r>
              <a:rPr b="1" spc="45"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use</a:t>
            </a:r>
            <a:r>
              <a:rPr b="1" spc="35" dirty="0">
                <a:solidFill>
                  <a:srgbClr val="1F1F1F"/>
                </a:solidFill>
                <a:latin typeface="Times New Roman" panose="02020603050405020304"/>
                <a:cs typeface="Times New Roman" panose="02020603050405020304"/>
                <a:sym typeface="+mn-ea"/>
              </a:rPr>
              <a:t>  </a:t>
            </a:r>
            <a:r>
              <a:rPr b="1" spc="-10" dirty="0">
                <a:solidFill>
                  <a:srgbClr val="1F1F1F"/>
                </a:solidFill>
                <a:latin typeface="Times New Roman" panose="02020603050405020304"/>
                <a:cs typeface="Times New Roman" panose="02020603050405020304"/>
                <a:sym typeface="+mn-ea"/>
              </a:rPr>
              <a:t>atomic representation.</a:t>
            </a:r>
            <a:endParaRPr>
              <a:latin typeface="Times New Roman" panose="02020603050405020304"/>
              <a:cs typeface="Times New Roman" panose="02020603050405020304"/>
            </a:endParaRPr>
          </a:p>
          <a:p>
            <a:pPr algn="just">
              <a:lnSpc>
                <a:spcPct val="100000"/>
              </a:lnSpc>
            </a:pPr>
            <a:r>
              <a:rPr dirty="0">
                <a:solidFill>
                  <a:srgbClr val="1F1F1F"/>
                </a:solidFill>
                <a:latin typeface="Times New Roman" panose="02020603050405020304"/>
                <a:cs typeface="Times New Roman" panose="02020603050405020304"/>
                <a:sym typeface="+mn-ea"/>
              </a:rPr>
              <a:t>In</a:t>
            </a:r>
            <a:r>
              <a:rPr spc="-60" dirty="0">
                <a:solidFill>
                  <a:srgbClr val="1F1F1F"/>
                </a:solidFill>
                <a:latin typeface="Times New Roman" panose="02020603050405020304"/>
                <a:cs typeface="Times New Roman" panose="02020603050405020304"/>
                <a:sym typeface="+mn-ea"/>
              </a:rPr>
              <a:t> </a:t>
            </a:r>
            <a:r>
              <a:rPr dirty="0">
                <a:solidFill>
                  <a:srgbClr val="1F1F1F"/>
                </a:solidFill>
                <a:latin typeface="Times New Roman" panose="02020603050405020304"/>
                <a:cs typeface="Times New Roman" panose="02020603050405020304"/>
                <a:sym typeface="+mn-ea"/>
              </a:rPr>
              <a:t>general,</a:t>
            </a:r>
            <a:r>
              <a:rPr spc="-60"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“searching</a:t>
            </a:r>
            <a:r>
              <a:rPr b="1" spc="-55"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refers</a:t>
            </a:r>
            <a:r>
              <a:rPr b="1" spc="-45"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to</a:t>
            </a:r>
            <a:r>
              <a:rPr b="1" spc="-55"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as</a:t>
            </a:r>
            <a:r>
              <a:rPr b="1" spc="-70"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finding</a:t>
            </a:r>
            <a:r>
              <a:rPr b="1" spc="-50"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information</a:t>
            </a:r>
            <a:r>
              <a:rPr b="1" spc="-45" dirty="0">
                <a:solidFill>
                  <a:srgbClr val="1F1F1F"/>
                </a:solidFill>
                <a:latin typeface="Times New Roman" panose="02020603050405020304"/>
                <a:cs typeface="Times New Roman" panose="02020603050405020304"/>
                <a:sym typeface="+mn-ea"/>
              </a:rPr>
              <a:t> </a:t>
            </a:r>
            <a:r>
              <a:rPr b="1" dirty="0">
                <a:solidFill>
                  <a:srgbClr val="1F1F1F"/>
                </a:solidFill>
                <a:latin typeface="Times New Roman" panose="02020603050405020304"/>
                <a:cs typeface="Times New Roman" panose="02020603050405020304"/>
                <a:sym typeface="+mn-ea"/>
              </a:rPr>
              <a:t>one</a:t>
            </a:r>
            <a:r>
              <a:rPr b="1" spc="-55" dirty="0">
                <a:solidFill>
                  <a:srgbClr val="1F1F1F"/>
                </a:solidFill>
                <a:latin typeface="Times New Roman" panose="02020603050405020304"/>
                <a:cs typeface="Times New Roman" panose="02020603050405020304"/>
                <a:sym typeface="+mn-ea"/>
              </a:rPr>
              <a:t> </a:t>
            </a:r>
            <a:r>
              <a:rPr b="1" spc="-10" dirty="0">
                <a:solidFill>
                  <a:srgbClr val="1F1F1F"/>
                </a:solidFill>
                <a:latin typeface="Times New Roman" panose="02020603050405020304"/>
                <a:cs typeface="Times New Roman" panose="02020603050405020304"/>
                <a:sym typeface="+mn-ea"/>
              </a:rPr>
              <a:t>needs”.</a:t>
            </a:r>
            <a:endParaRPr>
              <a:latin typeface="Times New Roman" panose="02020603050405020304"/>
              <a:cs typeface="Times New Roman" panose="02020603050405020304"/>
            </a:endParaRPr>
          </a:p>
          <a:p>
            <a:pPr algn="just">
              <a:lnSpc>
                <a:spcPct val="100000"/>
              </a:lnSpc>
            </a:pP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nSpc>
                <a:spcPct val="100000"/>
              </a:lnSpc>
              <a:spcBef>
                <a:spcPts val="1200"/>
              </a:spcBef>
              <a:tabLst>
                <a:tab pos="1582420" algn="l"/>
              </a:tabLst>
            </a:pPr>
            <a:r>
              <a:rPr spc="-20" dirty="0">
                <a:latin typeface="Times New Roman" panose="02020603050405020304"/>
                <a:cs typeface="Times New Roman" panose="02020603050405020304"/>
                <a:sym typeface="+mn-ea"/>
              </a:rPr>
              <a:t>Some</a:t>
            </a:r>
            <a:r>
              <a:rPr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of</a:t>
            </a:r>
            <a:r>
              <a:rPr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the</a:t>
            </a:r>
            <a:r>
              <a:rPr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most</a:t>
            </a:r>
            <a:r>
              <a:rPr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popularly</a:t>
            </a:r>
            <a:r>
              <a:rPr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used</a:t>
            </a:r>
            <a:r>
              <a:rPr lang="en-US"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problem</a:t>
            </a:r>
            <a:r>
              <a:rPr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solving</a:t>
            </a:r>
            <a:r>
              <a:rPr lang="en-US" spc="-10"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with</a:t>
            </a:r>
            <a:r>
              <a:rPr lang="en-US" spc="-2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the</a:t>
            </a:r>
            <a:r>
              <a:rPr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help</a:t>
            </a:r>
            <a:r>
              <a:rPr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of</a:t>
            </a:r>
            <a:r>
              <a:rPr lang="en-US" spc="-2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artificial</a:t>
            </a:r>
            <a:r>
              <a:rPr lang="en-US" spc="-1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intelligence</a:t>
            </a:r>
            <a:r>
              <a:rPr lang="en-US" spc="-10"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are:</a:t>
            </a:r>
            <a:endParaRPr>
              <a:latin typeface="Times New Roman" panose="02020603050405020304"/>
              <a:cs typeface="Times New Roman" panose="02020603050405020304"/>
            </a:endParaRPr>
          </a:p>
          <a:p>
            <a:pPr>
              <a:lnSpc>
                <a:spcPct val="100000"/>
              </a:lnSpc>
              <a:spcBef>
                <a:spcPts val="1105"/>
              </a:spcBef>
              <a:tabLst>
                <a:tab pos="783590" algn="l"/>
              </a:tabLst>
            </a:pPr>
            <a:r>
              <a:rPr spc="-10" dirty="0">
                <a:latin typeface="Times New Roman" panose="02020603050405020304"/>
                <a:cs typeface="Times New Roman" panose="02020603050405020304"/>
                <a:sym typeface="+mn-ea"/>
              </a:rPr>
              <a:t>Chess.</a:t>
            </a:r>
            <a:endParaRPr>
              <a:latin typeface="Times New Roman" panose="02020603050405020304"/>
              <a:cs typeface="Times New Roman" panose="02020603050405020304"/>
            </a:endParaRPr>
          </a:p>
          <a:p>
            <a:pPr>
              <a:lnSpc>
                <a:spcPct val="100000"/>
              </a:lnSpc>
              <a:spcBef>
                <a:spcPts val="195"/>
              </a:spcBef>
              <a:tabLst>
                <a:tab pos="764540" algn="l"/>
              </a:tabLst>
            </a:pPr>
            <a:r>
              <a:rPr dirty="0">
                <a:latin typeface="Times New Roman" panose="02020603050405020304"/>
                <a:cs typeface="Times New Roman" panose="02020603050405020304"/>
                <a:sym typeface="+mn-ea"/>
              </a:rPr>
              <a:t>Travelling</a:t>
            </a:r>
            <a:r>
              <a:rPr spc="-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Salesman</a:t>
            </a:r>
            <a:r>
              <a:rPr spc="-6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Problem.</a:t>
            </a:r>
            <a:endParaRPr>
              <a:latin typeface="Times New Roman" panose="02020603050405020304"/>
              <a:cs typeface="Times New Roman" panose="02020603050405020304"/>
            </a:endParaRPr>
          </a:p>
          <a:p>
            <a:pPr>
              <a:lnSpc>
                <a:spcPct val="100000"/>
              </a:lnSpc>
              <a:spcBef>
                <a:spcPts val="205"/>
              </a:spcBef>
              <a:tabLst>
                <a:tab pos="766445" algn="l"/>
              </a:tabLst>
            </a:pPr>
            <a:r>
              <a:rPr spc="-20" dirty="0">
                <a:latin typeface="Times New Roman" panose="02020603050405020304"/>
                <a:cs typeface="Times New Roman" panose="02020603050405020304"/>
                <a:sym typeface="+mn-ea"/>
              </a:rPr>
              <a:t>Tower</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Hanoi</a:t>
            </a:r>
            <a:r>
              <a:rPr spc="-4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Problem.</a:t>
            </a:r>
            <a:endParaRPr>
              <a:latin typeface="Times New Roman" panose="02020603050405020304"/>
              <a:cs typeface="Times New Roman" panose="02020603050405020304"/>
            </a:endParaRPr>
          </a:p>
          <a:p>
            <a:pPr>
              <a:lnSpc>
                <a:spcPct val="100000"/>
              </a:lnSpc>
              <a:spcBef>
                <a:spcPts val="205"/>
              </a:spcBef>
              <a:tabLst>
                <a:tab pos="762000" algn="l"/>
              </a:tabLst>
            </a:pPr>
            <a:r>
              <a:rPr spc="-50" dirty="0">
                <a:latin typeface="Times New Roman" panose="02020603050405020304"/>
                <a:cs typeface="Times New Roman" panose="02020603050405020304"/>
                <a:sym typeface="+mn-ea"/>
              </a:rPr>
              <a:t>Water-</a:t>
            </a:r>
            <a:r>
              <a:rPr dirty="0">
                <a:latin typeface="Times New Roman" panose="02020603050405020304"/>
                <a:cs typeface="Times New Roman" panose="02020603050405020304"/>
                <a:sym typeface="+mn-ea"/>
              </a:rPr>
              <a:t>Jug </a:t>
            </a:r>
            <a:r>
              <a:rPr spc="-10" dirty="0">
                <a:latin typeface="Times New Roman" panose="02020603050405020304"/>
                <a:cs typeface="Times New Roman" panose="02020603050405020304"/>
                <a:sym typeface="+mn-ea"/>
              </a:rPr>
              <a:t>Problem.</a:t>
            </a:r>
            <a:endParaRPr>
              <a:latin typeface="Times New Roman" panose="02020603050405020304"/>
              <a:cs typeface="Times New Roman" panose="02020603050405020304"/>
            </a:endParaRPr>
          </a:p>
          <a:p>
            <a:pPr>
              <a:lnSpc>
                <a:spcPct val="100000"/>
              </a:lnSpc>
              <a:spcBef>
                <a:spcPts val="190"/>
              </a:spcBef>
              <a:tabLst>
                <a:tab pos="771525" algn="l"/>
              </a:tabLst>
            </a:pPr>
            <a:r>
              <a:rPr spc="-25" dirty="0">
                <a:latin typeface="Times New Roman" panose="02020603050405020304"/>
                <a:cs typeface="Times New Roman" panose="02020603050405020304"/>
                <a:sym typeface="+mn-ea"/>
              </a:rPr>
              <a:t>N-</a:t>
            </a:r>
            <a:r>
              <a:rPr dirty="0">
                <a:latin typeface="Times New Roman" panose="02020603050405020304"/>
                <a:cs typeface="Times New Roman" panose="02020603050405020304"/>
                <a:sym typeface="+mn-ea"/>
              </a:rPr>
              <a:t>Queen</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Problem.</a:t>
            </a:r>
            <a:endParaRPr>
              <a:latin typeface="Times New Roman" panose="02020603050405020304"/>
              <a:cs typeface="Times New Roman" panose="02020603050405020304"/>
            </a:endParaRPr>
          </a:p>
          <a:p>
            <a:endParaRPr>
              <a:latin typeface="Times New Roman" panose="02020603050405020304"/>
              <a:cs typeface="Times New Roman" panose="02020603050405020304"/>
            </a:endParaRPr>
          </a:p>
          <a:p>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pPr>
              <a:lnSpc>
                <a:spcPct val="100000"/>
              </a:lnSpc>
              <a:spcBef>
                <a:spcPts val="290"/>
              </a:spcBef>
              <a:tabLst>
                <a:tab pos="354965" algn="l"/>
              </a:tabLst>
            </a:pPr>
            <a:r>
              <a:rPr dirty="0">
                <a:latin typeface="Times New Roman" panose="02020603050405020304"/>
                <a:cs typeface="Times New Roman" panose="02020603050405020304"/>
                <a:sym typeface="+mn-ea"/>
              </a:rPr>
              <a:t>Problem</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Searching</a:t>
            </a:r>
            <a:endParaRPr>
              <a:latin typeface="Times New Roman" panose="02020603050405020304"/>
              <a:cs typeface="Times New Roman" panose="02020603050405020304"/>
            </a:endParaRPr>
          </a:p>
          <a:p>
            <a:pPr>
              <a:lnSpc>
                <a:spcPct val="100000"/>
              </a:lnSpc>
              <a:spcBef>
                <a:spcPts val="195"/>
              </a:spcBef>
              <a:tabLst>
                <a:tab pos="354965" algn="l"/>
              </a:tabLst>
            </a:pPr>
            <a:r>
              <a:rPr dirty="0">
                <a:latin typeface="Times New Roman" panose="02020603050405020304"/>
                <a:cs typeface="Times New Roman" panose="02020603050405020304"/>
                <a:sym typeface="+mn-ea"/>
              </a:rPr>
              <a:t>In</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general,</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searching</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refers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as</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finding</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information</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one</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needs.</a:t>
            </a:r>
            <a:endParaRPr>
              <a:latin typeface="Times New Roman" panose="02020603050405020304"/>
              <a:cs typeface="Times New Roman" panose="02020603050405020304"/>
            </a:endParaRPr>
          </a:p>
          <a:p>
            <a:pPr marR="5080">
              <a:lnSpc>
                <a:spcPct val="100000"/>
              </a:lnSpc>
              <a:spcBef>
                <a:spcPts val="200"/>
              </a:spcBef>
              <a:tabLst>
                <a:tab pos="355600" algn="l"/>
              </a:tabLst>
            </a:pPr>
            <a:r>
              <a:rPr dirty="0">
                <a:latin typeface="Times New Roman" panose="02020603050405020304"/>
                <a:cs typeface="Times New Roman" panose="02020603050405020304"/>
                <a:sym typeface="+mn-ea"/>
              </a:rPr>
              <a:t>Searching</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most</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commonly</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used</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technique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 problem</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solving in</a:t>
            </a:r>
            <a:r>
              <a:rPr spc="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artificial intelligence.</a:t>
            </a:r>
            <a:endParaRPr>
              <a:latin typeface="Times New Roman" panose="02020603050405020304"/>
              <a:cs typeface="Times New Roman" panose="02020603050405020304"/>
            </a:endParaRPr>
          </a:p>
          <a:p>
            <a:pPr>
              <a:lnSpc>
                <a:spcPct val="100000"/>
              </a:lnSpc>
              <a:spcBef>
                <a:spcPts val="210"/>
              </a:spcBef>
              <a:tabLst>
                <a:tab pos="354965" algn="l"/>
              </a:tabLst>
            </a:pPr>
            <a:r>
              <a:rPr dirty="0">
                <a:latin typeface="Times New Roman" panose="02020603050405020304"/>
                <a:cs typeface="Times New Roman" panose="02020603050405020304"/>
                <a:sym typeface="+mn-ea"/>
              </a:rPr>
              <a:t>The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searching</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algorithm</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helps</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us</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search</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for</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solution</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particular</a:t>
            </a:r>
            <a:r>
              <a:rPr spc="-2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problem.</a:t>
            </a:r>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b="1" dirty="0">
                <a:solidFill>
                  <a:srgbClr val="FF0000"/>
                </a:solidFill>
                <a:latin typeface="Times New Roman" panose="02020603050405020304"/>
                <a:cs typeface="Times New Roman" panose="02020603050405020304"/>
                <a:sym typeface="+mn-ea"/>
              </a:rPr>
              <a:t>Steps</a:t>
            </a:r>
            <a:r>
              <a:rPr b="1" spc="-6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t>
            </a:r>
            <a:r>
              <a:rPr b="1" spc="-4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Solve</a:t>
            </a:r>
            <a:r>
              <a:rPr b="1" spc="-40"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Problem</a:t>
            </a:r>
            <a:r>
              <a:rPr b="1" spc="-40" dirty="0">
                <a:solidFill>
                  <a:srgbClr val="FF0000"/>
                </a:solidFill>
                <a:latin typeface="Times New Roman" panose="02020603050405020304"/>
                <a:cs typeface="Times New Roman" panose="02020603050405020304"/>
                <a:sym typeface="+mn-ea"/>
              </a:rPr>
              <a:t> </a:t>
            </a:r>
            <a:r>
              <a:rPr b="1" spc="-20" dirty="0">
                <a:solidFill>
                  <a:srgbClr val="FF0000"/>
                </a:solidFill>
                <a:latin typeface="Times New Roman" panose="02020603050405020304"/>
                <a:cs typeface="Times New Roman" panose="02020603050405020304"/>
                <a:sym typeface="+mn-ea"/>
              </a:rPr>
              <a:t>Using</a:t>
            </a:r>
            <a:r>
              <a:rPr b="1" spc="-155" dirty="0">
                <a:solidFill>
                  <a:srgbClr val="FF0000"/>
                </a:solidFill>
                <a:latin typeface="Times New Roman" panose="02020603050405020304"/>
                <a:cs typeface="Times New Roman" panose="02020603050405020304"/>
                <a:sym typeface="+mn-ea"/>
              </a:rPr>
              <a:t> </a:t>
            </a:r>
            <a:r>
              <a:rPr b="1" dirty="0">
                <a:solidFill>
                  <a:srgbClr val="FF0000"/>
                </a:solidFill>
                <a:latin typeface="Times New Roman" panose="02020603050405020304"/>
                <a:cs typeface="Times New Roman" panose="02020603050405020304"/>
                <a:sym typeface="+mn-ea"/>
              </a:rPr>
              <a:t>Artificial</a:t>
            </a:r>
            <a:r>
              <a:rPr b="1" spc="-4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Intelligence</a:t>
            </a:r>
            <a:endParaRPr lang="en-US"/>
          </a:p>
        </p:txBody>
      </p:sp>
      <p:sp>
        <p:nvSpPr>
          <p:cNvPr id="3" name="Content Placeholder 2"/>
          <p:cNvSpPr>
            <a:spLocks noGrp="1"/>
          </p:cNvSpPr>
          <p:nvPr>
            <p:ph idx="1"/>
          </p:nvPr>
        </p:nvSpPr>
        <p:spPr/>
        <p:txBody>
          <a:bodyPr/>
          <a:p>
            <a:pPr>
              <a:lnSpc>
                <a:spcPct val="100000"/>
              </a:lnSpc>
              <a:spcBef>
                <a:spcPts val="1220"/>
              </a:spcBef>
              <a:tabLst>
                <a:tab pos="160655" algn="l"/>
              </a:tabLst>
            </a:pPr>
            <a:r>
              <a:rPr dirty="0">
                <a:latin typeface="Times New Roman" panose="02020603050405020304"/>
                <a:cs typeface="Times New Roman" panose="02020603050405020304"/>
                <a:sym typeface="+mn-ea"/>
              </a:rPr>
              <a:t>The</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process</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solving</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problem</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consists</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five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steps.</a:t>
            </a:r>
            <a:r>
              <a:rPr spc="-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These</a:t>
            </a:r>
            <a:r>
              <a:rPr spc="-5"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are:</a:t>
            </a:r>
            <a:endParaRPr lang="en-US"/>
          </a:p>
        </p:txBody>
      </p:sp>
      <p:pic>
        <p:nvPicPr>
          <p:cNvPr id="9" name="object 9"/>
          <p:cNvPicPr/>
          <p:nvPr/>
        </p:nvPicPr>
        <p:blipFill>
          <a:blip r:embed="rId1" cstate="print"/>
          <a:stretch>
            <a:fillRect/>
          </a:stretch>
        </p:blipFill>
        <p:spPr>
          <a:xfrm>
            <a:off x="5334000" y="2362200"/>
            <a:ext cx="2181860" cy="368236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57200" y="1066800"/>
            <a:ext cx="8229600" cy="4525963"/>
          </a:xfrm>
        </p:spPr>
        <p:txBody>
          <a:bodyPr>
            <a:normAutofit fontScale="60000"/>
          </a:bodyPr>
          <a:p>
            <a:pPr marR="6985" algn="just">
              <a:lnSpc>
                <a:spcPct val="100000"/>
              </a:lnSpc>
              <a:spcBef>
                <a:spcPts val="100"/>
              </a:spcBef>
              <a:tabLst>
                <a:tab pos="1243330" algn="l"/>
              </a:tabLst>
            </a:pPr>
            <a:r>
              <a:rPr sz="3335" b="1" dirty="0">
                <a:latin typeface="Times New Roman" panose="02020603050405020304" pitchFamily="18" charset="0"/>
                <a:cs typeface="Times New Roman" panose="02020603050405020304" pitchFamily="18" charset="0"/>
                <a:sym typeface="+mn-ea"/>
              </a:rPr>
              <a:t>Defining</a:t>
            </a:r>
            <a:r>
              <a:rPr sz="3335" b="1" spc="95" dirty="0">
                <a:latin typeface="Times New Roman" panose="02020603050405020304" pitchFamily="18" charset="0"/>
                <a:cs typeface="Times New Roman" panose="02020603050405020304" pitchFamily="18" charset="0"/>
                <a:sym typeface="+mn-ea"/>
              </a:rPr>
              <a:t> </a:t>
            </a:r>
            <a:r>
              <a:rPr sz="3335" b="1" dirty="0">
                <a:latin typeface="Times New Roman" panose="02020603050405020304" pitchFamily="18" charset="0"/>
                <a:cs typeface="Times New Roman" panose="02020603050405020304" pitchFamily="18" charset="0"/>
                <a:sym typeface="+mn-ea"/>
              </a:rPr>
              <a:t>The</a:t>
            </a:r>
            <a:r>
              <a:rPr sz="3335" b="1" spc="110" dirty="0">
                <a:latin typeface="Times New Roman" panose="02020603050405020304" pitchFamily="18" charset="0"/>
                <a:cs typeface="Times New Roman" panose="02020603050405020304" pitchFamily="18" charset="0"/>
                <a:sym typeface="+mn-ea"/>
              </a:rPr>
              <a:t> </a:t>
            </a:r>
            <a:r>
              <a:rPr sz="3335" b="1" dirty="0">
                <a:latin typeface="Times New Roman" panose="02020603050405020304" pitchFamily="18" charset="0"/>
                <a:cs typeface="Times New Roman" panose="02020603050405020304" pitchFamily="18" charset="0"/>
                <a:sym typeface="+mn-ea"/>
              </a:rPr>
              <a:t>Problem</a:t>
            </a:r>
            <a:r>
              <a:rPr sz="3335" dirty="0">
                <a:latin typeface="Times New Roman" panose="02020603050405020304" pitchFamily="18" charset="0"/>
                <a:cs typeface="Times New Roman" panose="02020603050405020304" pitchFamily="18" charset="0"/>
                <a:sym typeface="+mn-ea"/>
              </a:rPr>
              <a:t>:</a:t>
            </a:r>
            <a:r>
              <a:rPr sz="3335" spc="10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11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definition</a:t>
            </a:r>
            <a:r>
              <a:rPr sz="3335" spc="9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of</a:t>
            </a:r>
            <a:r>
              <a:rPr sz="3335" spc="10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10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problem</a:t>
            </a:r>
            <a:r>
              <a:rPr sz="3335" spc="9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must</a:t>
            </a:r>
            <a:r>
              <a:rPr sz="3335" spc="114"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be</a:t>
            </a:r>
            <a:r>
              <a:rPr sz="3335" spc="9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included </a:t>
            </a:r>
            <a:r>
              <a:rPr sz="3335" dirty="0">
                <a:latin typeface="Times New Roman" panose="02020603050405020304" pitchFamily="18" charset="0"/>
                <a:cs typeface="Times New Roman" panose="02020603050405020304" pitchFamily="18" charset="0"/>
                <a:sym typeface="+mn-ea"/>
              </a:rPr>
              <a:t>precisely.</a:t>
            </a:r>
            <a:r>
              <a:rPr sz="3335" spc="4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It</a:t>
            </a:r>
            <a:r>
              <a:rPr sz="3335" spc="4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should</a:t>
            </a:r>
            <a:r>
              <a:rPr sz="3335" spc="5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contain</a:t>
            </a:r>
            <a:r>
              <a:rPr sz="3335" spc="3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5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possible</a:t>
            </a:r>
            <a:r>
              <a:rPr sz="3335" spc="4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initial</a:t>
            </a:r>
            <a:r>
              <a:rPr sz="3335" spc="4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as</a:t>
            </a:r>
            <a:r>
              <a:rPr sz="3335" spc="3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well</a:t>
            </a:r>
            <a:r>
              <a:rPr sz="3335" spc="5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as</a:t>
            </a:r>
            <a:r>
              <a:rPr sz="3335" spc="4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final</a:t>
            </a:r>
            <a:r>
              <a:rPr sz="3335" spc="5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situations</a:t>
            </a:r>
            <a:r>
              <a:rPr sz="3335" spc="4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which </a:t>
            </a:r>
            <a:r>
              <a:rPr sz="3335" dirty="0">
                <a:latin typeface="Times New Roman" panose="02020603050405020304" pitchFamily="18" charset="0"/>
                <a:cs typeface="Times New Roman" panose="02020603050405020304" pitchFamily="18" charset="0"/>
                <a:sym typeface="+mn-ea"/>
              </a:rPr>
              <a:t>should</a:t>
            </a:r>
            <a:r>
              <a:rPr sz="3335" spc="-3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result</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in</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acceptable</a:t>
            </a:r>
            <a:r>
              <a:rPr sz="3335" spc="57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solution.</a:t>
            </a:r>
            <a:endParaRPr sz="3335">
              <a:latin typeface="Times New Roman" panose="02020603050405020304" pitchFamily="18" charset="0"/>
              <a:cs typeface="Times New Roman" panose="02020603050405020304" pitchFamily="18" charset="0"/>
            </a:endParaRPr>
          </a:p>
          <a:p>
            <a:pPr marR="6985" algn="just">
              <a:lnSpc>
                <a:spcPct val="100000"/>
              </a:lnSpc>
              <a:spcBef>
                <a:spcPts val="995"/>
              </a:spcBef>
              <a:tabLst>
                <a:tab pos="478790" algn="l"/>
                <a:tab pos="1553210" algn="l"/>
              </a:tabLst>
            </a:pPr>
            <a:r>
              <a:rPr sz="3335" b="1" dirty="0">
                <a:latin typeface="Times New Roman" panose="02020603050405020304" pitchFamily="18" charset="0"/>
                <a:cs typeface="Times New Roman" panose="02020603050405020304" pitchFamily="18" charset="0"/>
                <a:sym typeface="+mn-ea"/>
              </a:rPr>
              <a:t>Analyzing</a:t>
            </a:r>
            <a:r>
              <a:rPr sz="3335" b="1" spc="225" dirty="0">
                <a:latin typeface="Times New Roman" panose="02020603050405020304" pitchFamily="18" charset="0"/>
                <a:cs typeface="Times New Roman" panose="02020603050405020304" pitchFamily="18" charset="0"/>
                <a:sym typeface="+mn-ea"/>
              </a:rPr>
              <a:t> </a:t>
            </a:r>
            <a:r>
              <a:rPr sz="3335" b="1" dirty="0">
                <a:latin typeface="Times New Roman" panose="02020603050405020304" pitchFamily="18" charset="0"/>
                <a:cs typeface="Times New Roman" panose="02020603050405020304" pitchFamily="18" charset="0"/>
                <a:sym typeface="+mn-ea"/>
              </a:rPr>
              <a:t>The</a:t>
            </a:r>
            <a:r>
              <a:rPr sz="3335" b="1" spc="225" dirty="0">
                <a:latin typeface="Times New Roman" panose="02020603050405020304" pitchFamily="18" charset="0"/>
                <a:cs typeface="Times New Roman" panose="02020603050405020304" pitchFamily="18" charset="0"/>
                <a:sym typeface="+mn-ea"/>
              </a:rPr>
              <a:t> </a:t>
            </a:r>
            <a:r>
              <a:rPr sz="3335" b="1" dirty="0">
                <a:latin typeface="Times New Roman" panose="02020603050405020304" pitchFamily="18" charset="0"/>
                <a:cs typeface="Times New Roman" panose="02020603050405020304" pitchFamily="18" charset="0"/>
                <a:sym typeface="+mn-ea"/>
              </a:rPr>
              <a:t>Problem</a:t>
            </a:r>
            <a:r>
              <a:rPr sz="3335" dirty="0">
                <a:latin typeface="Times New Roman" panose="02020603050405020304" pitchFamily="18" charset="0"/>
                <a:cs typeface="Times New Roman" panose="02020603050405020304" pitchFamily="18" charset="0"/>
                <a:sym typeface="+mn-ea"/>
              </a:rPr>
              <a:t>:</a:t>
            </a:r>
            <a:r>
              <a:rPr sz="3335" spc="229"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Analyzing</a:t>
            </a:r>
            <a:r>
              <a:rPr sz="3335" spc="22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229"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problem</a:t>
            </a:r>
            <a:r>
              <a:rPr sz="3335" spc="21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and</a:t>
            </a:r>
            <a:r>
              <a:rPr sz="3335" spc="2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its</a:t>
            </a:r>
            <a:r>
              <a:rPr sz="3335" spc="22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requirement</a:t>
            </a:r>
            <a:r>
              <a:rPr sz="3335" spc="229"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must</a:t>
            </a:r>
            <a:r>
              <a:rPr sz="3335" spc="229"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be </a:t>
            </a:r>
            <a:r>
              <a:rPr lang="en-US" sz="3335" spc="-2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done </a:t>
            </a:r>
            <a:r>
              <a:rPr sz="3335" spc="-25" dirty="0">
                <a:latin typeface="Times New Roman" panose="02020603050405020304" pitchFamily="18" charset="0"/>
                <a:cs typeface="Times New Roman" panose="02020603050405020304" pitchFamily="18" charset="0"/>
                <a:sym typeface="+mn-ea"/>
              </a:rPr>
              <a:t>as</a:t>
            </a:r>
            <a:r>
              <a:rPr sz="3335" dirty="0">
                <a:latin typeface="Times New Roman" panose="02020603050405020304" pitchFamily="18" charset="0"/>
                <a:cs typeface="Times New Roman" panose="02020603050405020304" pitchFamily="18" charset="0"/>
                <a:sym typeface="+mn-ea"/>
              </a:rPr>
              <a:t>	few</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features</a:t>
            </a:r>
            <a:r>
              <a:rPr sz="3335" spc="-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can</a:t>
            </a:r>
            <a:r>
              <a:rPr sz="3335" spc="-3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have</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immense</a:t>
            </a:r>
            <a:r>
              <a:rPr sz="3335" spc="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impact</a:t>
            </a:r>
            <a:r>
              <a:rPr sz="3335" spc="-2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on</a:t>
            </a:r>
            <a:r>
              <a:rPr sz="3335" spc="-1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resulting</a:t>
            </a:r>
            <a:r>
              <a:rPr sz="3335" spc="-4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solution.</a:t>
            </a:r>
            <a:endParaRPr sz="3335">
              <a:latin typeface="Times New Roman" panose="02020603050405020304" pitchFamily="18" charset="0"/>
              <a:cs typeface="Times New Roman" panose="02020603050405020304" pitchFamily="18" charset="0"/>
            </a:endParaRPr>
          </a:p>
          <a:p>
            <a:pPr marR="5715" algn="just">
              <a:lnSpc>
                <a:spcPct val="100000"/>
              </a:lnSpc>
              <a:spcBef>
                <a:spcPts val="1010"/>
              </a:spcBef>
              <a:tabLst>
                <a:tab pos="466725" algn="l"/>
                <a:tab pos="2032000" algn="l"/>
                <a:tab pos="2386965" algn="l"/>
                <a:tab pos="2917190" algn="l"/>
                <a:tab pos="4397375" algn="l"/>
                <a:tab pos="5130800" algn="l"/>
                <a:tab pos="6015990" algn="l"/>
                <a:tab pos="7359015" algn="l"/>
                <a:tab pos="8852535" algn="l"/>
                <a:tab pos="9956165" algn="l"/>
              </a:tabLst>
            </a:pPr>
            <a:r>
              <a:rPr sz="3335" b="1" spc="-10" dirty="0">
                <a:latin typeface="Times New Roman" panose="02020603050405020304" pitchFamily="18" charset="0"/>
                <a:cs typeface="Times New Roman" panose="02020603050405020304" pitchFamily="18" charset="0"/>
                <a:sym typeface="+mn-ea"/>
              </a:rPr>
              <a:t>Identification</a:t>
            </a:r>
            <a:r>
              <a:rPr lang="en-US" sz="3335" b="1" spc="-10" dirty="0">
                <a:latin typeface="Times New Roman" panose="02020603050405020304" pitchFamily="18" charset="0"/>
                <a:cs typeface="Times New Roman" panose="02020603050405020304" pitchFamily="18" charset="0"/>
                <a:sym typeface="+mn-ea"/>
              </a:rPr>
              <a:t> </a:t>
            </a:r>
            <a:r>
              <a:rPr sz="3335" b="1" spc="-25" dirty="0">
                <a:latin typeface="Times New Roman" panose="02020603050405020304" pitchFamily="18" charset="0"/>
                <a:cs typeface="Times New Roman" panose="02020603050405020304" pitchFamily="18" charset="0"/>
                <a:sym typeface="+mn-ea"/>
              </a:rPr>
              <a:t>Of</a:t>
            </a:r>
            <a:r>
              <a:rPr sz="3335" b="1" dirty="0">
                <a:latin typeface="Times New Roman" panose="02020603050405020304" pitchFamily="18" charset="0"/>
                <a:cs typeface="Times New Roman" panose="02020603050405020304" pitchFamily="18" charset="0"/>
                <a:sym typeface="+mn-ea"/>
              </a:rPr>
              <a:t>	</a:t>
            </a:r>
            <a:r>
              <a:rPr sz="3335" b="1" spc="-10" dirty="0">
                <a:latin typeface="Times New Roman" panose="02020603050405020304" pitchFamily="18" charset="0"/>
                <a:cs typeface="Times New Roman" panose="02020603050405020304" pitchFamily="18" charset="0"/>
                <a:sym typeface="+mn-ea"/>
              </a:rPr>
              <a:t>Solutions</a:t>
            </a:r>
            <a:r>
              <a:rPr sz="3335" spc="-10" dirty="0">
                <a:latin typeface="Times New Roman" panose="02020603050405020304" pitchFamily="18" charset="0"/>
                <a:cs typeface="Times New Roman" panose="02020603050405020304" pitchFamily="18" charset="0"/>
                <a:sym typeface="+mn-ea"/>
              </a:rPr>
              <a:t>:</a:t>
            </a:r>
            <a:r>
              <a:rPr lang="en-US" sz="3335" spc="-10" dirty="0">
                <a:latin typeface="Times New Roman" panose="02020603050405020304" pitchFamily="18" charset="0"/>
                <a:cs typeface="Times New Roman" panose="02020603050405020304" pitchFamily="18" charset="0"/>
                <a:sym typeface="+mn-ea"/>
              </a:rPr>
              <a:t> </a:t>
            </a:r>
            <a:r>
              <a:rPr sz="3335" spc="-20" dirty="0">
                <a:latin typeface="Times New Roman" panose="02020603050405020304" pitchFamily="18" charset="0"/>
                <a:cs typeface="Times New Roman" panose="02020603050405020304" pitchFamily="18" charset="0"/>
                <a:sym typeface="+mn-ea"/>
              </a:rPr>
              <a:t>This</a:t>
            </a:r>
            <a:r>
              <a:rPr lang="en-US" sz="3335" spc="-2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phase</a:t>
            </a:r>
            <a:r>
              <a:rPr lang="en-US" sz="3335" spc="-1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generates</a:t>
            </a:r>
            <a:r>
              <a:rPr lang="en-US" sz="3335" spc="-1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reasonable</a:t>
            </a:r>
            <a:r>
              <a:rPr sz="3335"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amount</a:t>
            </a:r>
            <a:r>
              <a:rPr lang="en-US" sz="3335" spc="-10"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of </a:t>
            </a:r>
            <a:r>
              <a:rPr lang="en-US" sz="3335" spc="-2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solutions</a:t>
            </a:r>
            <a:r>
              <a:rPr sz="3335" spc="-20"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to</a:t>
            </a:r>
            <a:r>
              <a:rPr lang="en-US" sz="3335" spc="-2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given</a:t>
            </a:r>
            <a:r>
              <a:rPr sz="3335" spc="-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problem</a:t>
            </a:r>
            <a:r>
              <a:rPr sz="3335" spc="-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in</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 particular</a:t>
            </a:r>
            <a:r>
              <a:rPr sz="3335" spc="-25"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range</a:t>
            </a:r>
            <a:endParaRPr sz="3335">
              <a:latin typeface="Times New Roman" panose="02020603050405020304" pitchFamily="18" charset="0"/>
              <a:cs typeface="Times New Roman" panose="02020603050405020304" pitchFamily="18" charset="0"/>
            </a:endParaRPr>
          </a:p>
          <a:p>
            <a:pPr marR="5080" algn="just">
              <a:lnSpc>
                <a:spcPct val="100000"/>
              </a:lnSpc>
              <a:spcBef>
                <a:spcPts val="1000"/>
              </a:spcBef>
              <a:tabLst>
                <a:tab pos="466725" algn="l"/>
                <a:tab pos="1744980" algn="l"/>
                <a:tab pos="2039620" algn="l"/>
                <a:tab pos="2150745" algn="l"/>
                <a:tab pos="3350260" algn="l"/>
                <a:tab pos="4150995" algn="l"/>
                <a:tab pos="4598670" algn="l"/>
                <a:tab pos="5113655" algn="l"/>
                <a:tab pos="6419850" algn="l"/>
                <a:tab pos="7737475" algn="l"/>
                <a:tab pos="8253730" algn="l"/>
                <a:tab pos="8886190" algn="l"/>
                <a:tab pos="10009505" algn="l"/>
              </a:tabLst>
            </a:pPr>
            <a:r>
              <a:rPr sz="3335" b="1" spc="-10" dirty="0">
                <a:latin typeface="Times New Roman" panose="02020603050405020304" pitchFamily="18" charset="0"/>
                <a:cs typeface="Times New Roman" panose="02020603050405020304" pitchFamily="18" charset="0"/>
                <a:sym typeface="+mn-ea"/>
              </a:rPr>
              <a:t>Choosing</a:t>
            </a:r>
            <a:r>
              <a:rPr lang="en-US" sz="3335" b="1" spc="-10" dirty="0">
                <a:latin typeface="Times New Roman" panose="02020603050405020304" pitchFamily="18" charset="0"/>
                <a:cs typeface="Times New Roman" panose="02020603050405020304" pitchFamily="18" charset="0"/>
                <a:sym typeface="+mn-ea"/>
              </a:rPr>
              <a:t> </a:t>
            </a:r>
            <a:r>
              <a:rPr sz="3335" b="1" spc="-50" dirty="0">
                <a:latin typeface="Times New Roman" panose="02020603050405020304" pitchFamily="18" charset="0"/>
                <a:cs typeface="Times New Roman" panose="02020603050405020304" pitchFamily="18" charset="0"/>
                <a:sym typeface="+mn-ea"/>
              </a:rPr>
              <a:t>a</a:t>
            </a:r>
            <a:r>
              <a:rPr lang="en-US" sz="3335" b="1" spc="-50" dirty="0">
                <a:latin typeface="Times New Roman" panose="02020603050405020304" pitchFamily="18" charset="0"/>
                <a:cs typeface="Times New Roman" panose="02020603050405020304" pitchFamily="18" charset="0"/>
                <a:sym typeface="+mn-ea"/>
              </a:rPr>
              <a:t> </a:t>
            </a:r>
            <a:r>
              <a:rPr sz="3335" b="1" spc="-10" dirty="0">
                <a:latin typeface="Times New Roman" panose="02020603050405020304" pitchFamily="18" charset="0"/>
                <a:cs typeface="Times New Roman" panose="02020603050405020304" pitchFamily="18" charset="0"/>
                <a:sym typeface="+mn-ea"/>
              </a:rPr>
              <a:t>Solution</a:t>
            </a:r>
            <a:r>
              <a:rPr sz="3335" spc="-10" dirty="0">
                <a:latin typeface="Times New Roman" panose="02020603050405020304" pitchFamily="18" charset="0"/>
                <a:cs typeface="Times New Roman" panose="02020603050405020304" pitchFamily="18" charset="0"/>
                <a:sym typeface="+mn-ea"/>
              </a:rPr>
              <a:t>:</a:t>
            </a:r>
            <a:r>
              <a:rPr lang="en-US" sz="3335" spc="-10" dirty="0">
                <a:latin typeface="Times New Roman" panose="02020603050405020304" pitchFamily="18" charset="0"/>
                <a:cs typeface="Times New Roman" panose="02020603050405020304" pitchFamily="18" charset="0"/>
                <a:sym typeface="+mn-ea"/>
              </a:rPr>
              <a:t> </a:t>
            </a:r>
            <a:r>
              <a:rPr sz="3335" spc="-20" dirty="0">
                <a:latin typeface="Times New Roman" panose="02020603050405020304" pitchFamily="18" charset="0"/>
                <a:cs typeface="Times New Roman" panose="02020603050405020304" pitchFamily="18" charset="0"/>
                <a:sym typeface="+mn-ea"/>
              </a:rPr>
              <a:t>From</a:t>
            </a:r>
            <a:r>
              <a:rPr lang="en-US" sz="3335" spc="-20"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all</a:t>
            </a:r>
            <a:r>
              <a:rPr lang="en-US" sz="3335" spc="-25"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the</a:t>
            </a:r>
            <a:r>
              <a:rPr lang="en-US" sz="3335" spc="-25"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identified</a:t>
            </a:r>
            <a:r>
              <a:rPr lang="en-US" sz="3335" spc="-10"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solutions,</a:t>
            </a:r>
            <a:r>
              <a:rPr lang="en-US" sz="3335" spc="-10"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the</a:t>
            </a:r>
            <a:r>
              <a:rPr lang="en-US" sz="3335" spc="-25" dirty="0">
                <a:latin typeface="Times New Roman" panose="02020603050405020304" pitchFamily="18" charset="0"/>
                <a:cs typeface="Times New Roman" panose="02020603050405020304" pitchFamily="18" charset="0"/>
                <a:sym typeface="+mn-ea"/>
              </a:rPr>
              <a:t> </a:t>
            </a:r>
            <a:r>
              <a:rPr sz="3335" spc="-20" dirty="0">
                <a:latin typeface="Times New Roman" panose="02020603050405020304" pitchFamily="18" charset="0"/>
                <a:cs typeface="Times New Roman" panose="02020603050405020304" pitchFamily="18" charset="0"/>
                <a:sym typeface="+mn-ea"/>
              </a:rPr>
              <a:t>best</a:t>
            </a:r>
            <a:r>
              <a:rPr sz="3335"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solution</a:t>
            </a:r>
            <a:r>
              <a:rPr lang="en-US" sz="3335" spc="-10" dirty="0">
                <a:latin typeface="Times New Roman" panose="02020603050405020304" pitchFamily="18" charset="0"/>
                <a:cs typeface="Times New Roman" panose="02020603050405020304" pitchFamily="18" charset="0"/>
                <a:sym typeface="+mn-ea"/>
              </a:rPr>
              <a:t> </a:t>
            </a:r>
            <a:r>
              <a:rPr sz="3335" spc="-25" dirty="0">
                <a:latin typeface="Times New Roman" panose="02020603050405020304" pitchFamily="18" charset="0"/>
                <a:cs typeface="Times New Roman" panose="02020603050405020304" pitchFamily="18" charset="0"/>
                <a:sym typeface="+mn-ea"/>
              </a:rPr>
              <a:t>is 	</a:t>
            </a:r>
            <a:r>
              <a:rPr sz="3335" dirty="0">
                <a:latin typeface="Times New Roman" panose="02020603050405020304" pitchFamily="18" charset="0"/>
                <a:cs typeface="Times New Roman" panose="02020603050405020304" pitchFamily="18" charset="0"/>
                <a:sym typeface="+mn-ea"/>
              </a:rPr>
              <a:t>chosen</a:t>
            </a:r>
            <a:r>
              <a:rPr sz="3335" spc="-10" dirty="0">
                <a:latin typeface="Times New Roman" panose="02020603050405020304" pitchFamily="18" charset="0"/>
                <a:cs typeface="Times New Roman" panose="02020603050405020304" pitchFamily="18" charset="0"/>
                <a:sym typeface="+mn-ea"/>
              </a:rPr>
              <a:t> </a:t>
            </a:r>
            <a:r>
              <a:rPr sz="3335" spc="-20" dirty="0">
                <a:latin typeface="Times New Roman" panose="02020603050405020304" pitchFamily="18" charset="0"/>
                <a:cs typeface="Times New Roman" panose="02020603050405020304" pitchFamily="18" charset="0"/>
                <a:sym typeface="+mn-ea"/>
              </a:rPr>
              <a:t>basis</a:t>
            </a:r>
            <a:r>
              <a:rPr sz="3335" dirty="0">
                <a:latin typeface="Times New Roman" panose="02020603050405020304" pitchFamily="18" charset="0"/>
                <a:cs typeface="Times New Roman" panose="02020603050405020304" pitchFamily="18" charset="0"/>
                <a:sym typeface="+mn-ea"/>
              </a:rPr>
              <a:t>	</a:t>
            </a:r>
            <a:r>
              <a:rPr lang="en-US" sz="333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on</a:t>
            </a:r>
            <a:r>
              <a:rPr sz="3335" spc="-1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results</a:t>
            </a:r>
            <a:r>
              <a:rPr sz="3335" spc="-3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produced</a:t>
            </a:r>
            <a:r>
              <a:rPr sz="3335" spc="-1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by</a:t>
            </a:r>
            <a:r>
              <a:rPr sz="3335" spc="-1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respective</a:t>
            </a:r>
            <a:r>
              <a:rPr sz="3335" spc="-35"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solutions.</a:t>
            </a:r>
            <a:endParaRPr sz="3335">
              <a:latin typeface="Times New Roman" panose="02020603050405020304" pitchFamily="18" charset="0"/>
              <a:cs typeface="Times New Roman" panose="02020603050405020304" pitchFamily="18" charset="0"/>
            </a:endParaRPr>
          </a:p>
          <a:p>
            <a:pPr algn="just">
              <a:lnSpc>
                <a:spcPct val="100000"/>
              </a:lnSpc>
              <a:tabLst>
                <a:tab pos="384810" algn="l"/>
              </a:tabLst>
            </a:pPr>
            <a:r>
              <a:rPr sz="3335" b="1" dirty="0">
                <a:latin typeface="Times New Roman" panose="02020603050405020304" pitchFamily="18" charset="0"/>
                <a:cs typeface="Times New Roman" panose="02020603050405020304" pitchFamily="18" charset="0"/>
                <a:sym typeface="+mn-ea"/>
              </a:rPr>
              <a:t>Implementation</a:t>
            </a:r>
            <a:r>
              <a:rPr sz="3335" b="1" spc="-45"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t>
            </a:r>
            <a:r>
              <a:rPr sz="3335" spc="-15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After choosing</a:t>
            </a:r>
            <a:r>
              <a:rPr sz="3335" spc="-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the</a:t>
            </a:r>
            <a:r>
              <a:rPr sz="3335" spc="-3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best</a:t>
            </a:r>
            <a:r>
              <a:rPr sz="3335" spc="-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solution,</a:t>
            </a:r>
            <a:r>
              <a:rPr sz="3335" spc="-3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its</a:t>
            </a:r>
            <a:r>
              <a:rPr sz="3335" spc="-2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implementation</a:t>
            </a:r>
            <a:r>
              <a:rPr sz="3335" spc="-40" dirty="0">
                <a:latin typeface="Times New Roman" panose="02020603050405020304" pitchFamily="18" charset="0"/>
                <a:cs typeface="Times New Roman" panose="02020603050405020304" pitchFamily="18" charset="0"/>
                <a:sym typeface="+mn-ea"/>
              </a:rPr>
              <a:t> </a:t>
            </a:r>
            <a:r>
              <a:rPr sz="3335" dirty="0">
                <a:latin typeface="Times New Roman" panose="02020603050405020304" pitchFamily="18" charset="0"/>
                <a:cs typeface="Times New Roman" panose="02020603050405020304" pitchFamily="18" charset="0"/>
                <a:sym typeface="+mn-ea"/>
              </a:rPr>
              <a:t>is</a:t>
            </a:r>
            <a:r>
              <a:rPr sz="3335" spc="-25" dirty="0">
                <a:latin typeface="Times New Roman" panose="02020603050405020304" pitchFamily="18" charset="0"/>
                <a:cs typeface="Times New Roman" panose="02020603050405020304" pitchFamily="18" charset="0"/>
                <a:sym typeface="+mn-ea"/>
              </a:rPr>
              <a:t> </a:t>
            </a:r>
            <a:r>
              <a:rPr sz="3335" spc="-10" dirty="0">
                <a:latin typeface="Times New Roman" panose="02020603050405020304" pitchFamily="18" charset="0"/>
                <a:cs typeface="Times New Roman" panose="02020603050405020304" pitchFamily="18" charset="0"/>
                <a:sym typeface="+mn-ea"/>
              </a:rPr>
              <a:t>done.</a:t>
            </a:r>
            <a:endParaRPr lang="en-US" sz="3335">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70000"/>
          </a:bodyPr>
          <a:p>
            <a:pPr>
              <a:lnSpc>
                <a:spcPct val="100000"/>
              </a:lnSpc>
              <a:spcBef>
                <a:spcPts val="95"/>
              </a:spcBef>
            </a:pPr>
            <a:r>
              <a:rPr b="1" dirty="0">
                <a:latin typeface="Times New Roman" panose="02020603050405020304"/>
                <a:cs typeface="Times New Roman" panose="02020603050405020304"/>
                <a:sym typeface="+mn-ea"/>
              </a:rPr>
              <a:t>Measuring</a:t>
            </a:r>
            <a:r>
              <a:rPr b="1" spc="5" dirty="0">
                <a:latin typeface="Times New Roman" panose="02020603050405020304"/>
                <a:cs typeface="Times New Roman" panose="02020603050405020304"/>
                <a:sym typeface="+mn-ea"/>
              </a:rPr>
              <a:t> </a:t>
            </a:r>
            <a:r>
              <a:rPr b="1" spc="-25" dirty="0">
                <a:latin typeface="Times New Roman" panose="02020603050405020304"/>
                <a:cs typeface="Times New Roman" panose="02020603050405020304"/>
                <a:sym typeface="+mn-ea"/>
              </a:rPr>
              <a:t>problem-</a:t>
            </a:r>
            <a:r>
              <a:rPr b="1" dirty="0">
                <a:latin typeface="Times New Roman" panose="02020603050405020304"/>
                <a:cs typeface="Times New Roman" panose="02020603050405020304"/>
                <a:sym typeface="+mn-ea"/>
              </a:rPr>
              <a:t>solving</a:t>
            </a:r>
            <a:r>
              <a:rPr b="1" spc="1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performance</a:t>
            </a:r>
            <a:endParaRPr>
              <a:latin typeface="Times New Roman" panose="02020603050405020304"/>
              <a:cs typeface="Times New Roman" panose="02020603050405020304"/>
            </a:endParaRPr>
          </a:p>
          <a:p>
            <a:pPr>
              <a:lnSpc>
                <a:spcPct val="100000"/>
              </a:lnSpc>
              <a:spcBef>
                <a:spcPts val="1750"/>
              </a:spcBef>
            </a:pPr>
            <a:r>
              <a:rPr spc="-55" dirty="0">
                <a:latin typeface="Times New Roman" panose="02020603050405020304"/>
                <a:cs typeface="Times New Roman" panose="02020603050405020304"/>
                <a:sym typeface="+mn-ea"/>
              </a:rPr>
              <a:t>We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can</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evaluate</a:t>
            </a:r>
            <a:r>
              <a:rPr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a:t>
            </a:r>
            <a:r>
              <a:rPr spc="-4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algorithm’s</a:t>
            </a:r>
            <a:r>
              <a:rPr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performance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four</a:t>
            </a:r>
            <a:r>
              <a:rPr spc="-3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ways:</a:t>
            </a:r>
            <a:endParaRPr>
              <a:latin typeface="Times New Roman" panose="02020603050405020304"/>
              <a:cs typeface="Times New Roman" panose="02020603050405020304"/>
            </a:endParaRPr>
          </a:p>
          <a:p>
            <a:pPr>
              <a:lnSpc>
                <a:spcPct val="100000"/>
              </a:lnSpc>
              <a:spcBef>
                <a:spcPts val="1630"/>
              </a:spcBef>
            </a:pPr>
            <a:r>
              <a:rPr b="1" dirty="0">
                <a:latin typeface="Times New Roman" panose="02020603050405020304"/>
                <a:cs typeface="Times New Roman" panose="02020603050405020304"/>
                <a:sym typeface="+mn-ea"/>
              </a:rPr>
              <a:t>Completeness:</a:t>
            </a:r>
            <a:r>
              <a:rPr b="1"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algorithm</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guaranteed</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find</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solution</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when</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there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25"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one?</a:t>
            </a:r>
            <a:endParaRPr>
              <a:latin typeface="Times New Roman" panose="02020603050405020304"/>
              <a:cs typeface="Times New Roman" panose="02020603050405020304"/>
            </a:endParaRPr>
          </a:p>
          <a:p>
            <a:pPr>
              <a:lnSpc>
                <a:spcPct val="100000"/>
              </a:lnSpc>
              <a:spcBef>
                <a:spcPts val="1645"/>
              </a:spcBef>
            </a:pPr>
            <a:r>
              <a:rPr b="1" dirty="0">
                <a:latin typeface="Times New Roman" panose="02020603050405020304"/>
                <a:cs typeface="Times New Roman" panose="02020603050405020304"/>
                <a:sym typeface="+mn-ea"/>
              </a:rPr>
              <a:t>Optimality:</a:t>
            </a:r>
            <a:r>
              <a:rPr b="1"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Does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strategy</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find</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optimal</a:t>
            </a:r>
            <a:r>
              <a:rPr spc="-2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solution?</a:t>
            </a:r>
            <a:endParaRPr>
              <a:latin typeface="Times New Roman" panose="02020603050405020304"/>
              <a:cs typeface="Times New Roman" panose="02020603050405020304"/>
            </a:endParaRPr>
          </a:p>
          <a:p>
            <a:pPr>
              <a:lnSpc>
                <a:spcPct val="100000"/>
              </a:lnSpc>
              <a:spcBef>
                <a:spcPts val="1645"/>
              </a:spcBef>
            </a:pPr>
            <a:r>
              <a:rPr b="1" dirty="0">
                <a:latin typeface="Times New Roman" panose="02020603050405020304"/>
                <a:cs typeface="Times New Roman" panose="02020603050405020304"/>
                <a:sym typeface="+mn-ea"/>
              </a:rPr>
              <a:t>Time</a:t>
            </a:r>
            <a:r>
              <a:rPr b="1" spc="-3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complexity:</a:t>
            </a:r>
            <a:r>
              <a:rPr b="1"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How</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long</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does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take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find</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solution?</a:t>
            </a:r>
            <a:endParaRPr>
              <a:latin typeface="Times New Roman" panose="02020603050405020304"/>
              <a:cs typeface="Times New Roman" panose="02020603050405020304"/>
            </a:endParaRPr>
          </a:p>
          <a:p>
            <a:pPr>
              <a:lnSpc>
                <a:spcPct val="100000"/>
              </a:lnSpc>
              <a:spcBef>
                <a:spcPts val="1635"/>
              </a:spcBef>
            </a:pPr>
            <a:r>
              <a:rPr b="1" dirty="0">
                <a:latin typeface="Times New Roman" panose="02020603050405020304"/>
                <a:cs typeface="Times New Roman" panose="02020603050405020304"/>
                <a:sym typeface="+mn-ea"/>
              </a:rPr>
              <a:t>Space</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complexity:</a:t>
            </a:r>
            <a:r>
              <a:rPr b="1"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How</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much</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memory</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needed</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perform</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search?</a:t>
            </a:r>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pPr>
              <a:lnSpc>
                <a:spcPct val="100000"/>
              </a:lnSpc>
              <a:spcBef>
                <a:spcPts val="405"/>
              </a:spcBef>
            </a:pPr>
            <a:r>
              <a:rPr b="1" spc="-10" dirty="0">
                <a:latin typeface="Times New Roman" panose="02020603050405020304"/>
                <a:cs typeface="Times New Roman" panose="02020603050405020304"/>
                <a:sym typeface="+mn-ea"/>
              </a:rPr>
              <a:t>Search</a:t>
            </a:r>
            <a:r>
              <a:rPr b="1" spc="-1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Algorithm</a:t>
            </a:r>
            <a:r>
              <a:rPr b="1" spc="-7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Terminologies</a:t>
            </a:r>
            <a:endParaRPr>
              <a:latin typeface="Times New Roman" panose="02020603050405020304"/>
              <a:cs typeface="Times New Roman" panose="02020603050405020304"/>
            </a:endParaRPr>
          </a:p>
          <a:p>
            <a:pPr marR="5080">
              <a:lnSpc>
                <a:spcPct val="100000"/>
              </a:lnSpc>
              <a:spcBef>
                <a:spcPts val="300"/>
              </a:spcBef>
              <a:tabLst>
                <a:tab pos="187325" algn="l"/>
              </a:tabLst>
            </a:pPr>
            <a:r>
              <a:rPr dirty="0">
                <a:latin typeface="Times New Roman" panose="02020603050405020304"/>
                <a:cs typeface="Times New Roman" panose="02020603050405020304"/>
                <a:sym typeface="+mn-ea"/>
              </a:rPr>
              <a:t>Search:</a:t>
            </a:r>
            <a:r>
              <a:rPr spc="1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Searching</a:t>
            </a:r>
            <a:r>
              <a:rPr spc="1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17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step</a:t>
            </a:r>
            <a:r>
              <a:rPr spc="1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by</a:t>
            </a:r>
            <a:r>
              <a:rPr spc="1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step</a:t>
            </a:r>
            <a:r>
              <a:rPr spc="1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procedure</a:t>
            </a:r>
            <a:r>
              <a:rPr spc="1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1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solve</a:t>
            </a:r>
            <a:r>
              <a:rPr spc="1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6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search-</a:t>
            </a:r>
            <a:r>
              <a:rPr dirty="0">
                <a:latin typeface="Times New Roman" panose="02020603050405020304"/>
                <a:cs typeface="Times New Roman" panose="02020603050405020304"/>
                <a:sym typeface="+mn-ea"/>
              </a:rPr>
              <a:t>problem</a:t>
            </a:r>
            <a:r>
              <a:rPr spc="1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a:t>
            </a:r>
            <a:r>
              <a:rPr spc="1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4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given space.</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search</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problem</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can</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have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three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main</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factors:</a:t>
            </a:r>
            <a:endParaRPr>
              <a:latin typeface="Times New Roman" panose="02020603050405020304"/>
              <a:cs typeface="Times New Roman" panose="02020603050405020304"/>
            </a:endParaRPr>
          </a:p>
          <a:p>
            <a:pPr marL="0" marR="5080" indent="0">
              <a:lnSpc>
                <a:spcPct val="100000"/>
              </a:lnSpc>
              <a:buNone/>
              <a:tabLst>
                <a:tab pos="226695" algn="l"/>
                <a:tab pos="285750" algn="l"/>
                <a:tab pos="8953500" algn="l"/>
              </a:tabLst>
            </a:pPr>
            <a:r>
              <a:rPr lang="en-US" dirty="0">
                <a:latin typeface="Times New Roman" panose="02020603050405020304"/>
                <a:cs typeface="Times New Roman" panose="02020603050405020304"/>
                <a:sym typeface="+mn-ea"/>
              </a:rPr>
              <a:t>1. </a:t>
            </a:r>
            <a:r>
              <a:rPr dirty="0">
                <a:latin typeface="Times New Roman" panose="02020603050405020304"/>
                <a:cs typeface="Times New Roman" panose="02020603050405020304"/>
                <a:sym typeface="+mn-ea"/>
              </a:rPr>
              <a:t>Search</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Space:</a:t>
            </a:r>
            <a:r>
              <a:rPr spc="1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Search</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space</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represents</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set</a:t>
            </a:r>
            <a:r>
              <a:rPr spc="1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1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possible</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solutions,</a:t>
            </a:r>
            <a:r>
              <a:rPr spc="1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which</a:t>
            </a:r>
            <a:r>
              <a:rPr spc="1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3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system</a:t>
            </a:r>
            <a:r>
              <a:rPr lang="en-US" spc="-1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may </a:t>
            </a:r>
            <a:r>
              <a:rPr spc="-10" dirty="0">
                <a:latin typeface="Times New Roman" panose="02020603050405020304"/>
                <a:cs typeface="Times New Roman" panose="02020603050405020304"/>
                <a:sym typeface="+mn-ea"/>
              </a:rPr>
              <a:t>have.</a:t>
            </a:r>
            <a:endParaRPr>
              <a:latin typeface="Times New Roman" panose="02020603050405020304"/>
              <a:cs typeface="Times New Roman" panose="02020603050405020304"/>
            </a:endParaRPr>
          </a:p>
          <a:p>
            <a:pPr marL="0" indent="0">
              <a:lnSpc>
                <a:spcPct val="100000"/>
              </a:lnSpc>
              <a:spcBef>
                <a:spcPts val="1010"/>
              </a:spcBef>
              <a:buNone/>
              <a:tabLst>
                <a:tab pos="468630" algn="l"/>
              </a:tabLst>
            </a:pPr>
            <a:r>
              <a:rPr lang="en-US" dirty="0">
                <a:latin typeface="Times New Roman" panose="02020603050405020304"/>
                <a:cs typeface="Times New Roman" panose="02020603050405020304"/>
                <a:sym typeface="+mn-ea"/>
              </a:rPr>
              <a:t>2. </a:t>
            </a:r>
            <a:r>
              <a:rPr dirty="0">
                <a:latin typeface="Times New Roman" panose="02020603050405020304"/>
                <a:cs typeface="Times New Roman" panose="02020603050405020304"/>
                <a:sym typeface="+mn-ea"/>
              </a:rPr>
              <a:t>Start</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where</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agent</a:t>
            </a:r>
            <a:r>
              <a:rPr lang="en-US"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begins</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search.</a:t>
            </a:r>
            <a:endParaRPr>
              <a:latin typeface="Times New Roman" panose="02020603050405020304"/>
              <a:cs typeface="Times New Roman" panose="02020603050405020304"/>
            </a:endParaRPr>
          </a:p>
          <a:p>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304800" y="762000"/>
            <a:ext cx="8229600" cy="4525963"/>
          </a:xfrm>
        </p:spPr>
        <p:txBody>
          <a:bodyPr>
            <a:noAutofit/>
          </a:bodyPr>
          <a:p>
            <a:pPr algn="just">
              <a:lnSpc>
                <a:spcPct val="100000"/>
              </a:lnSpc>
              <a:spcBef>
                <a:spcPts val="1090"/>
              </a:spcBef>
              <a:tabLst>
                <a:tab pos="187325" algn="l"/>
                <a:tab pos="9332595" algn="l"/>
              </a:tabLst>
            </a:pPr>
            <a:r>
              <a:rPr sz="2400" dirty="0">
                <a:latin typeface="Times New Roman" panose="02020603050405020304"/>
                <a:cs typeface="Times New Roman" panose="02020603050405020304"/>
                <a:sym typeface="+mn-ea"/>
              </a:rPr>
              <a:t>Search</a:t>
            </a:r>
            <a:r>
              <a:rPr sz="2400" spc="1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tree:</a:t>
            </a:r>
            <a:r>
              <a:rPr sz="2400" spc="15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tree</a:t>
            </a:r>
            <a:r>
              <a:rPr sz="2400" spc="1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representation</a:t>
            </a:r>
            <a:r>
              <a:rPr sz="2400" spc="17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of</a:t>
            </a:r>
            <a:r>
              <a:rPr sz="2400" spc="1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search</a:t>
            </a:r>
            <a:r>
              <a:rPr sz="2400" spc="16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problem</a:t>
            </a:r>
            <a:r>
              <a:rPr sz="2400" spc="1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is</a:t>
            </a:r>
            <a:r>
              <a:rPr sz="2400" spc="1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called</a:t>
            </a:r>
            <a:r>
              <a:rPr sz="2400" spc="17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Search</a:t>
            </a:r>
            <a:r>
              <a:rPr sz="2400" spc="16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tree.</a:t>
            </a:r>
            <a:r>
              <a:rPr sz="2400" spc="16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root</a:t>
            </a:r>
            <a:r>
              <a:rPr sz="2400" spc="150" dirty="0">
                <a:latin typeface="Times New Roman" panose="02020603050405020304"/>
                <a:cs typeface="Times New Roman" panose="02020603050405020304"/>
                <a:sym typeface="+mn-ea"/>
              </a:rPr>
              <a:t> </a:t>
            </a:r>
            <a:r>
              <a:rPr sz="2400" spc="-25" dirty="0">
                <a:latin typeface="Times New Roman" panose="02020603050405020304"/>
                <a:cs typeface="Times New Roman" panose="02020603050405020304"/>
                <a:sym typeface="+mn-ea"/>
              </a:rPr>
              <a:t>ofthe</a:t>
            </a:r>
            <a:r>
              <a:rPr lang="en-US"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search</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tree</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is</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root</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node</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which</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is</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corresponding</a:t>
            </a:r>
            <a:r>
              <a:rPr sz="2400" spc="-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to</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initial</a:t>
            </a:r>
            <a:r>
              <a:rPr sz="2400" spc="-30"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state.</a:t>
            </a:r>
            <a:endParaRPr sz="2400">
              <a:latin typeface="Times New Roman" panose="02020603050405020304"/>
              <a:cs typeface="Times New Roman" panose="02020603050405020304"/>
            </a:endParaRPr>
          </a:p>
          <a:p>
            <a:pPr algn="just">
              <a:lnSpc>
                <a:spcPct val="100000"/>
              </a:lnSpc>
              <a:spcBef>
                <a:spcPts val="1105"/>
              </a:spcBef>
              <a:tabLst>
                <a:tab pos="151130" algn="l"/>
              </a:tabLst>
            </a:pPr>
            <a:r>
              <a:rPr sz="2400" dirty="0">
                <a:latin typeface="Times New Roman" panose="02020603050405020304"/>
                <a:cs typeface="Times New Roman" panose="02020603050405020304"/>
                <a:sym typeface="+mn-ea"/>
              </a:rPr>
              <a:t>Actions:</a:t>
            </a:r>
            <a:r>
              <a:rPr sz="2400" spc="-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It</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gives</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description</a:t>
            </a:r>
            <a:r>
              <a:rPr sz="2400" spc="-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of</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all</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available</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actions</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to</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0" dirty="0">
                <a:latin typeface="Times New Roman" panose="02020603050405020304"/>
                <a:cs typeface="Times New Roman" panose="02020603050405020304"/>
                <a:sym typeface="+mn-ea"/>
              </a:rPr>
              <a:t> agent.</a:t>
            </a:r>
            <a:endParaRPr sz="2400" spc="-10" dirty="0">
              <a:latin typeface="Times New Roman" panose="02020603050405020304"/>
              <a:cs typeface="Times New Roman" panose="02020603050405020304"/>
              <a:sym typeface="+mn-ea"/>
            </a:endParaRPr>
          </a:p>
          <a:p>
            <a:pPr marR="150495" algn="just">
              <a:lnSpc>
                <a:spcPct val="100000"/>
              </a:lnSpc>
              <a:spcBef>
                <a:spcPts val="100"/>
              </a:spcBef>
              <a:tabLst>
                <a:tab pos="594360" algn="l"/>
                <a:tab pos="643890" algn="l"/>
              </a:tabLst>
            </a:pPr>
            <a:r>
              <a:rPr sz="2400" dirty="0">
                <a:latin typeface="Times New Roman" panose="02020603050405020304"/>
                <a:cs typeface="Times New Roman" panose="02020603050405020304"/>
                <a:sym typeface="+mn-ea"/>
              </a:rPr>
              <a:t>Transition</a:t>
            </a:r>
            <a:r>
              <a:rPr sz="2400" spc="204"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model:</a:t>
            </a:r>
            <a:r>
              <a:rPr sz="2400" spc="19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9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description</a:t>
            </a:r>
            <a:r>
              <a:rPr sz="2400" spc="2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of</a:t>
            </a:r>
            <a:r>
              <a:rPr sz="2400" spc="2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what</a:t>
            </a:r>
            <a:r>
              <a:rPr sz="2400" spc="204"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each</a:t>
            </a:r>
            <a:r>
              <a:rPr sz="2400" spc="2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action</a:t>
            </a:r>
            <a:r>
              <a:rPr sz="2400" spc="20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do,</a:t>
            </a:r>
            <a:r>
              <a:rPr sz="2400" spc="2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can</a:t>
            </a:r>
            <a:r>
              <a:rPr sz="2400" spc="204"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be</a:t>
            </a:r>
            <a:r>
              <a:rPr sz="2400" spc="20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represented</a:t>
            </a:r>
            <a:r>
              <a:rPr sz="2400" spc="2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as</a:t>
            </a:r>
            <a:r>
              <a:rPr sz="2400" spc="204" dirty="0">
                <a:latin typeface="Times New Roman" panose="02020603050405020304"/>
                <a:cs typeface="Times New Roman" panose="02020603050405020304"/>
                <a:sym typeface="+mn-ea"/>
              </a:rPr>
              <a:t> </a:t>
            </a:r>
            <a:r>
              <a:rPr sz="2400" spc="-50" dirty="0">
                <a:latin typeface="Times New Roman" panose="02020603050405020304"/>
                <a:cs typeface="Times New Roman" panose="02020603050405020304"/>
                <a:sym typeface="+mn-ea"/>
              </a:rPr>
              <a:t>a </a:t>
            </a:r>
            <a:r>
              <a:rPr sz="2400" spc="-10" dirty="0">
                <a:latin typeface="Times New Roman" panose="02020603050405020304"/>
                <a:cs typeface="Times New Roman" panose="02020603050405020304"/>
                <a:sym typeface="+mn-ea"/>
              </a:rPr>
              <a:t>transition</a:t>
            </a:r>
            <a:r>
              <a:rPr lang="en-US" sz="2400" spc="-10"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model.</a:t>
            </a:r>
            <a:r>
              <a:rPr lang="en-US" sz="2400" spc="-10" dirty="0">
                <a:latin typeface="Times New Roman" panose="02020603050405020304"/>
                <a:cs typeface="Times New Roman" panose="02020603050405020304"/>
                <a:sym typeface="+mn-ea"/>
              </a:rPr>
              <a:t> </a:t>
            </a:r>
            <a:endParaRPr lang="en-US" sz="2400" spc="-10" dirty="0">
              <a:latin typeface="Times New Roman" panose="02020603050405020304"/>
              <a:cs typeface="Times New Roman" panose="02020603050405020304"/>
              <a:sym typeface="+mn-ea"/>
            </a:endParaRPr>
          </a:p>
          <a:p>
            <a:pPr marR="150495" algn="just">
              <a:lnSpc>
                <a:spcPct val="100000"/>
              </a:lnSpc>
              <a:spcBef>
                <a:spcPts val="100"/>
              </a:spcBef>
              <a:tabLst>
                <a:tab pos="594360" algn="l"/>
                <a:tab pos="643890" algn="l"/>
              </a:tabLst>
            </a:pPr>
            <a:r>
              <a:rPr sz="2400" dirty="0">
                <a:latin typeface="Times New Roman" panose="02020603050405020304"/>
                <a:cs typeface="Times New Roman" panose="02020603050405020304"/>
                <a:sym typeface="+mn-ea"/>
              </a:rPr>
              <a:t>Path</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Cost:</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It</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is</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function</a:t>
            </a:r>
            <a:r>
              <a:rPr sz="2400" spc="-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which</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assigns</a:t>
            </a:r>
            <a:r>
              <a:rPr sz="2400" spc="-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numeric</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cost</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to</a:t>
            </a:r>
            <a:r>
              <a:rPr sz="2400" spc="-1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each</a:t>
            </a:r>
            <a:r>
              <a:rPr sz="2400" spc="-20"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path.</a:t>
            </a:r>
            <a:endParaRPr sz="2400">
              <a:latin typeface="Times New Roman" panose="02020603050405020304"/>
              <a:cs typeface="Times New Roman" panose="02020603050405020304"/>
            </a:endParaRPr>
          </a:p>
          <a:p>
            <a:pPr marR="5080" algn="just">
              <a:lnSpc>
                <a:spcPct val="100000"/>
              </a:lnSpc>
              <a:tabLst>
                <a:tab pos="544830" algn="l"/>
              </a:tabLst>
            </a:pPr>
            <a:r>
              <a:rPr sz="2400" dirty="0">
                <a:latin typeface="Times New Roman" panose="02020603050405020304"/>
                <a:cs typeface="Times New Roman" panose="02020603050405020304"/>
                <a:sym typeface="+mn-ea"/>
              </a:rPr>
              <a:t>Solution:</a:t>
            </a:r>
            <a:r>
              <a:rPr sz="2400" spc="1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It</a:t>
            </a:r>
            <a:r>
              <a:rPr sz="2400" spc="1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is</a:t>
            </a:r>
            <a:r>
              <a:rPr sz="2400" spc="1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an</a:t>
            </a:r>
            <a:r>
              <a:rPr sz="2400" spc="16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action</a:t>
            </a:r>
            <a:r>
              <a:rPr sz="2400" spc="1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sequence</a:t>
            </a:r>
            <a:r>
              <a:rPr sz="2400" spc="15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which</a:t>
            </a:r>
            <a:r>
              <a:rPr sz="2400" spc="15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leads</a:t>
            </a:r>
            <a:r>
              <a:rPr sz="2400" spc="1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from</a:t>
            </a:r>
            <a:r>
              <a:rPr sz="2400" spc="14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start</a:t>
            </a:r>
            <a:r>
              <a:rPr sz="2400" spc="13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node</a:t>
            </a:r>
            <a:r>
              <a:rPr sz="2400" spc="14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to</a:t>
            </a:r>
            <a:r>
              <a:rPr sz="2400" spc="15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goal</a:t>
            </a:r>
            <a:r>
              <a:rPr sz="2400" spc="14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node</a:t>
            </a:r>
            <a:endParaRPr sz="2400" spc="-10" dirty="0">
              <a:latin typeface="Times New Roman" panose="02020603050405020304"/>
              <a:cs typeface="Times New Roman" panose="02020603050405020304"/>
              <a:sym typeface="+mn-ea"/>
            </a:endParaRPr>
          </a:p>
          <a:p>
            <a:pPr marR="5080" algn="just">
              <a:lnSpc>
                <a:spcPct val="100000"/>
              </a:lnSpc>
              <a:tabLst>
                <a:tab pos="544830" algn="l"/>
              </a:tabLst>
            </a:pPr>
            <a:r>
              <a:rPr sz="2400" spc="-10" dirty="0">
                <a:latin typeface="Times New Roman" panose="02020603050405020304"/>
                <a:cs typeface="Times New Roman" panose="02020603050405020304"/>
                <a:sym typeface="+mn-ea"/>
              </a:rPr>
              <a:t>Optimal</a:t>
            </a:r>
            <a:r>
              <a:rPr lang="en-US" sz="2400" spc="-10" dirty="0">
                <a:latin typeface="Times New Roman" panose="02020603050405020304"/>
                <a:cs typeface="Times New Roman" panose="02020603050405020304"/>
                <a:sym typeface="+mn-ea"/>
              </a:rPr>
              <a:t> Sol</a:t>
            </a:r>
            <a:r>
              <a:rPr sz="2400" dirty="0">
                <a:latin typeface="Times New Roman" panose="02020603050405020304"/>
                <a:cs typeface="Times New Roman" panose="02020603050405020304"/>
                <a:sym typeface="+mn-ea"/>
              </a:rPr>
              <a:t>ution:</a:t>
            </a:r>
            <a:r>
              <a:rPr sz="2400" spc="-5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If</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a:t>
            </a:r>
            <a:r>
              <a:rPr sz="2400" spc="-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solution</a:t>
            </a:r>
            <a:r>
              <a:rPr sz="2400" spc="-3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has</a:t>
            </a:r>
            <a:r>
              <a:rPr sz="2400" spc="-20"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the</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lowest</a:t>
            </a:r>
            <a:r>
              <a:rPr sz="2400" spc="-2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cost</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among</a:t>
            </a:r>
            <a:r>
              <a:rPr sz="2400" spc="-15" dirty="0">
                <a:latin typeface="Times New Roman" panose="02020603050405020304"/>
                <a:cs typeface="Times New Roman" panose="02020603050405020304"/>
                <a:sym typeface="+mn-ea"/>
              </a:rPr>
              <a:t> </a:t>
            </a:r>
            <a:r>
              <a:rPr sz="2400" dirty="0">
                <a:latin typeface="Times New Roman" panose="02020603050405020304"/>
                <a:cs typeface="Times New Roman" panose="02020603050405020304"/>
                <a:sym typeface="+mn-ea"/>
              </a:rPr>
              <a:t>all</a:t>
            </a:r>
            <a:r>
              <a:rPr sz="2400" spc="-5" dirty="0">
                <a:latin typeface="Times New Roman" panose="02020603050405020304"/>
                <a:cs typeface="Times New Roman" panose="02020603050405020304"/>
                <a:sym typeface="+mn-ea"/>
              </a:rPr>
              <a:t> </a:t>
            </a:r>
            <a:r>
              <a:rPr sz="2400" spc="-10" dirty="0">
                <a:latin typeface="Times New Roman" panose="02020603050405020304"/>
                <a:cs typeface="Times New Roman" panose="02020603050405020304"/>
                <a:sym typeface="+mn-ea"/>
              </a:rPr>
              <a:t>solutions.</a:t>
            </a:r>
            <a:endParaRPr sz="2400">
              <a:latin typeface="Times New Roman" panose="02020603050405020304"/>
              <a:cs typeface="Times New Roman" panose="02020603050405020304"/>
            </a:endParaRPr>
          </a:p>
          <a:p>
            <a:pPr algn="just">
              <a:lnSpc>
                <a:spcPct val="100000"/>
              </a:lnSpc>
              <a:spcBef>
                <a:spcPts val="1105"/>
              </a:spcBef>
              <a:tabLst>
                <a:tab pos="151130" algn="l"/>
              </a:tabLst>
            </a:pPr>
            <a:endParaRPr lang="en-US" sz="2400">
              <a:latin typeface="Times New Roman" panose="02020603050405020304"/>
              <a:cs typeface="Times New Roman" panose="02020603050405020304"/>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a:cs typeface="Times New Roman" panose="02020603050405020304"/>
                <a:sym typeface="+mn-ea"/>
              </a:rPr>
              <a:t>Example</a:t>
            </a:r>
            <a:r>
              <a:rPr b="1" spc="-20"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Problems</a:t>
            </a:r>
            <a:endParaRPr lang="en-US" b="1"/>
          </a:p>
        </p:txBody>
      </p:sp>
      <p:sp>
        <p:nvSpPr>
          <p:cNvPr id="3" name="Content Placeholder 2"/>
          <p:cNvSpPr>
            <a:spLocks noGrp="1"/>
          </p:cNvSpPr>
          <p:nvPr>
            <p:ph idx="1"/>
          </p:nvPr>
        </p:nvSpPr>
        <p:spPr>
          <a:xfrm>
            <a:off x="457200" y="1617980"/>
            <a:ext cx="8229600" cy="4508500"/>
          </a:xfrm>
        </p:spPr>
        <p:txBody>
          <a:bodyPr/>
          <a:p>
            <a:pPr marR="5080" algn="just">
              <a:lnSpc>
                <a:spcPct val="100000"/>
              </a:lnSpc>
              <a:spcBef>
                <a:spcPts val="1200"/>
              </a:spcBef>
            </a:pPr>
            <a:r>
              <a:rPr dirty="0">
                <a:latin typeface="Times New Roman" panose="02020603050405020304"/>
                <a:cs typeface="Times New Roman" panose="02020603050405020304"/>
                <a:sym typeface="+mn-ea"/>
              </a:rPr>
              <a:t>A</a:t>
            </a:r>
            <a:r>
              <a:rPr spc="-125" dirty="0">
                <a:latin typeface="Times New Roman" panose="02020603050405020304"/>
                <a:cs typeface="Times New Roman" panose="02020603050405020304"/>
                <a:sym typeface="+mn-ea"/>
              </a:rPr>
              <a:t> </a:t>
            </a:r>
            <a:r>
              <a:rPr b="1" spc="-40" dirty="0">
                <a:latin typeface="Times New Roman" panose="02020603050405020304"/>
                <a:cs typeface="Times New Roman" panose="02020603050405020304"/>
                <a:sym typeface="+mn-ea"/>
              </a:rPr>
              <a:t>Toy </a:t>
            </a:r>
            <a:r>
              <a:rPr b="1" dirty="0">
                <a:latin typeface="Times New Roman" panose="02020603050405020304"/>
                <a:cs typeface="Times New Roman" panose="02020603050405020304"/>
                <a:sym typeface="+mn-ea"/>
              </a:rPr>
              <a:t>Problem</a:t>
            </a:r>
            <a:r>
              <a:rPr b="1"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intended</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illustrate</a:t>
            </a:r>
            <a:r>
              <a:rPr spc="-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exercise</a:t>
            </a:r>
            <a:r>
              <a:rPr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various</a:t>
            </a:r>
            <a:r>
              <a:rPr spc="-4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problem-</a:t>
            </a:r>
            <a:r>
              <a:rPr dirty="0">
                <a:latin typeface="Times New Roman" panose="02020603050405020304"/>
                <a:cs typeface="Times New Roman" panose="02020603050405020304"/>
                <a:sym typeface="+mn-ea"/>
              </a:rPr>
              <a:t>solving</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methods.</a:t>
            </a:r>
            <a:r>
              <a:rPr spc="-40" dirty="0">
                <a:latin typeface="Times New Roman" panose="02020603050405020304"/>
                <a:cs typeface="Times New Roman" panose="02020603050405020304"/>
                <a:sym typeface="+mn-ea"/>
              </a:rPr>
              <a:t> </a:t>
            </a:r>
            <a:endParaRPr spc="-40" dirty="0">
              <a:latin typeface="Times New Roman" panose="02020603050405020304"/>
              <a:cs typeface="Times New Roman" panose="02020603050405020304"/>
              <a:sym typeface="+mn-ea"/>
            </a:endParaRPr>
          </a:p>
          <a:p>
            <a:pPr marR="5080" algn="just">
              <a:lnSpc>
                <a:spcPct val="100000"/>
              </a:lnSpc>
              <a:spcBef>
                <a:spcPts val="1200"/>
              </a:spcBef>
            </a:pPr>
            <a:r>
              <a:rPr dirty="0">
                <a:latin typeface="Times New Roman" panose="02020603050405020304"/>
                <a:cs typeface="Times New Roman" panose="02020603050405020304"/>
                <a:sym typeface="+mn-ea"/>
              </a:rPr>
              <a:t>A</a:t>
            </a:r>
            <a:r>
              <a:rPr lang="en-US"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real-</a:t>
            </a:r>
            <a:r>
              <a:rPr b="1" spc="-4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world </a:t>
            </a:r>
            <a:r>
              <a:rPr b="1" dirty="0">
                <a:latin typeface="Times New Roman" panose="02020603050405020304"/>
                <a:cs typeface="Times New Roman" panose="02020603050405020304"/>
                <a:sym typeface="+mn-ea"/>
              </a:rPr>
              <a:t>problem</a:t>
            </a:r>
            <a:r>
              <a:rPr b="1"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one</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whose</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solutions</a:t>
            </a:r>
            <a:r>
              <a:rPr spc="-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people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actually</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care</a:t>
            </a:r>
            <a:r>
              <a:rPr spc="-3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about.</a:t>
            </a:r>
            <a:endParaRPr>
              <a:latin typeface="Times New Roman" panose="02020603050405020304"/>
              <a:cs typeface="Times New Roman" panose="02020603050405020304"/>
            </a:endParaRPr>
          </a:p>
          <a:p>
            <a:pPr algn="just"/>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spc="-45" dirty="0">
                <a:solidFill>
                  <a:srgbClr val="FF0000"/>
                </a:solidFill>
                <a:latin typeface="Times New Roman" panose="02020603050405020304"/>
                <a:cs typeface="Times New Roman" panose="02020603050405020304"/>
                <a:sym typeface="+mn-ea"/>
              </a:rPr>
              <a:t>Toy</a:t>
            </a:r>
            <a:r>
              <a:rPr b="1" spc="-75" dirty="0">
                <a:solidFill>
                  <a:srgbClr val="FF0000"/>
                </a:solidFill>
                <a:latin typeface="Times New Roman" panose="02020603050405020304"/>
                <a:cs typeface="Times New Roman" panose="02020603050405020304"/>
                <a:sym typeface="+mn-ea"/>
              </a:rPr>
              <a:t> </a:t>
            </a:r>
            <a:r>
              <a:rPr b="1" spc="-10" dirty="0">
                <a:solidFill>
                  <a:srgbClr val="FF0000"/>
                </a:solidFill>
                <a:latin typeface="Times New Roman" panose="02020603050405020304"/>
                <a:cs typeface="Times New Roman" panose="02020603050405020304"/>
                <a:sym typeface="+mn-ea"/>
              </a:rPr>
              <a:t>Problems</a:t>
            </a:r>
            <a:r>
              <a:rPr lang="en-US" b="1" spc="-10" dirty="0">
                <a:latin typeface="Times New Roman" panose="02020603050405020304"/>
                <a:cs typeface="Times New Roman" panose="02020603050405020304"/>
                <a:sym typeface="+mn-ea"/>
              </a:rPr>
              <a:t> </a:t>
            </a:r>
            <a:r>
              <a:rPr spc="-35" dirty="0">
                <a:solidFill>
                  <a:srgbClr val="FF0000"/>
                </a:solidFill>
                <a:latin typeface="Times New Roman" panose="02020603050405020304"/>
                <a:cs typeface="Times New Roman" panose="02020603050405020304"/>
                <a:sym typeface="+mn-ea"/>
              </a:rPr>
              <a:t>Vacuum</a:t>
            </a:r>
            <a:r>
              <a:rPr spc="-80" dirty="0">
                <a:solidFill>
                  <a:srgbClr val="FF0000"/>
                </a:solidFill>
                <a:latin typeface="Times New Roman" panose="02020603050405020304"/>
                <a:cs typeface="Times New Roman" panose="02020603050405020304"/>
                <a:sym typeface="+mn-ea"/>
              </a:rPr>
              <a:t> </a:t>
            </a:r>
            <a:r>
              <a:rPr spc="-20" dirty="0">
                <a:solidFill>
                  <a:srgbClr val="FF0000"/>
                </a:solidFill>
                <a:latin typeface="Times New Roman" panose="02020603050405020304"/>
                <a:cs typeface="Times New Roman" panose="02020603050405020304"/>
                <a:sym typeface="+mn-ea"/>
              </a:rPr>
              <a:t>World</a:t>
            </a:r>
            <a:endParaRPr lang="en-US"/>
          </a:p>
        </p:txBody>
      </p:sp>
      <p:sp>
        <p:nvSpPr>
          <p:cNvPr id="3" name="Content Placeholder 2"/>
          <p:cNvSpPr>
            <a:spLocks noGrp="1"/>
          </p:cNvSpPr>
          <p:nvPr>
            <p:ph idx="1"/>
          </p:nvPr>
        </p:nvSpPr>
        <p:spPr>
          <a:xfrm>
            <a:off x="228600" y="1219200"/>
            <a:ext cx="8606790" cy="4526280"/>
          </a:xfrm>
        </p:spPr>
        <p:txBody>
          <a:bodyPr>
            <a:noAutofit/>
          </a:bodyPr>
          <a:p>
            <a:pPr marR="5080" algn="just">
              <a:lnSpc>
                <a:spcPct val="100000"/>
              </a:lnSpc>
              <a:spcBef>
                <a:spcPts val="105"/>
              </a:spcBef>
            </a:pPr>
            <a:r>
              <a:rPr sz="2000" b="1" dirty="0">
                <a:latin typeface="Times New Roman" panose="02020603050405020304"/>
                <a:cs typeface="Times New Roman" panose="02020603050405020304"/>
                <a:sym typeface="+mn-ea"/>
              </a:rPr>
              <a:t>States:</a:t>
            </a:r>
            <a:r>
              <a:rPr sz="2000" b="1" spc="17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6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state</a:t>
            </a:r>
            <a:r>
              <a:rPr sz="2000" spc="16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is</a:t>
            </a:r>
            <a:r>
              <a:rPr sz="2000" spc="14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determined</a:t>
            </a:r>
            <a:r>
              <a:rPr sz="2000" spc="1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by</a:t>
            </a:r>
            <a:r>
              <a:rPr sz="2000" spc="1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both</a:t>
            </a:r>
            <a:r>
              <a:rPr sz="2000" spc="16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6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agent</a:t>
            </a:r>
            <a:r>
              <a:rPr sz="2000" spc="1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location</a:t>
            </a:r>
            <a:r>
              <a:rPr sz="2000" spc="17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and</a:t>
            </a:r>
            <a:r>
              <a:rPr sz="2000" spc="16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4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dirt</a:t>
            </a:r>
            <a:r>
              <a:rPr sz="2000" spc="17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locations.</a:t>
            </a:r>
            <a:r>
              <a:rPr sz="2000" spc="16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agent</a:t>
            </a:r>
            <a:r>
              <a:rPr sz="2000" spc="16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is</a:t>
            </a:r>
            <a:r>
              <a:rPr sz="2000" spc="145" dirty="0">
                <a:latin typeface="Times New Roman" panose="02020603050405020304"/>
                <a:cs typeface="Times New Roman" panose="02020603050405020304"/>
                <a:sym typeface="+mn-ea"/>
              </a:rPr>
              <a:t> </a:t>
            </a:r>
            <a:r>
              <a:rPr sz="2000" spc="-25" dirty="0">
                <a:latin typeface="Times New Roman" panose="02020603050405020304"/>
                <a:cs typeface="Times New Roman" panose="02020603050405020304"/>
                <a:sym typeface="+mn-ea"/>
              </a:rPr>
              <a:t>in </a:t>
            </a:r>
            <a:r>
              <a:rPr sz="2000" dirty="0">
                <a:latin typeface="Times New Roman" panose="02020603050405020304"/>
                <a:cs typeface="Times New Roman" panose="02020603050405020304"/>
                <a:sym typeface="+mn-ea"/>
              </a:rPr>
              <a:t>one</a:t>
            </a:r>
            <a:r>
              <a:rPr sz="2000" spc="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of</a:t>
            </a:r>
            <a:r>
              <a:rPr sz="2000" spc="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4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2</a:t>
            </a:r>
            <a:r>
              <a:rPr sz="2000" spc="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locations,</a:t>
            </a:r>
            <a:r>
              <a:rPr sz="2000" spc="6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each</a:t>
            </a:r>
            <a:r>
              <a:rPr sz="2000" spc="7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of</a:t>
            </a:r>
            <a:r>
              <a:rPr sz="2000" spc="6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which</a:t>
            </a:r>
            <a:r>
              <a:rPr sz="2000" spc="6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might</a:t>
            </a:r>
            <a:r>
              <a:rPr sz="2000" spc="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or</a:t>
            </a:r>
            <a:r>
              <a:rPr sz="2000" spc="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might</a:t>
            </a:r>
            <a:r>
              <a:rPr sz="2000" spc="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not</a:t>
            </a:r>
            <a:r>
              <a:rPr sz="2000" spc="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contain</a:t>
            </a:r>
            <a:r>
              <a:rPr sz="2000" spc="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dirt.</a:t>
            </a:r>
            <a:r>
              <a:rPr sz="2000" spc="6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Thus</a:t>
            </a:r>
            <a:r>
              <a:rPr sz="2000" spc="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there</a:t>
            </a:r>
            <a:r>
              <a:rPr sz="2000" spc="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are</a:t>
            </a:r>
            <a:r>
              <a:rPr sz="2000" spc="5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2*2^2=8</a:t>
            </a:r>
            <a:r>
              <a:rPr sz="2000" spc="55"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possible </a:t>
            </a:r>
            <a:r>
              <a:rPr sz="2000" dirty="0">
                <a:latin typeface="Times New Roman" panose="02020603050405020304"/>
                <a:cs typeface="Times New Roman" panose="02020603050405020304"/>
                <a:sym typeface="+mn-ea"/>
              </a:rPr>
              <a:t>world</a:t>
            </a:r>
            <a:r>
              <a:rPr sz="2000" spc="-4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states.</a:t>
            </a:r>
            <a:endParaRPr sz="2000">
              <a:latin typeface="Times New Roman" panose="02020603050405020304"/>
              <a:cs typeface="Times New Roman" panose="02020603050405020304"/>
            </a:endParaRPr>
          </a:p>
          <a:p>
            <a:pPr algn="just">
              <a:lnSpc>
                <a:spcPct val="100000"/>
              </a:lnSpc>
              <a:spcBef>
                <a:spcPts val="1005"/>
              </a:spcBef>
            </a:pPr>
            <a:r>
              <a:rPr sz="2000" b="1" dirty="0">
                <a:latin typeface="Times New Roman" panose="02020603050405020304"/>
                <a:cs typeface="Times New Roman" panose="02020603050405020304"/>
                <a:sym typeface="+mn-ea"/>
              </a:rPr>
              <a:t>Initial</a:t>
            </a:r>
            <a:r>
              <a:rPr sz="2000" b="1" spc="-40" dirty="0">
                <a:latin typeface="Times New Roman" panose="02020603050405020304"/>
                <a:cs typeface="Times New Roman" panose="02020603050405020304"/>
                <a:sym typeface="+mn-ea"/>
              </a:rPr>
              <a:t> </a:t>
            </a:r>
            <a:r>
              <a:rPr sz="2000" b="1" dirty="0">
                <a:latin typeface="Times New Roman" panose="02020603050405020304"/>
                <a:cs typeface="Times New Roman" panose="02020603050405020304"/>
                <a:sym typeface="+mn-ea"/>
              </a:rPr>
              <a:t>state</a:t>
            </a:r>
            <a:r>
              <a:rPr sz="2000" dirty="0">
                <a:latin typeface="Times New Roman" panose="02020603050405020304"/>
                <a:cs typeface="Times New Roman" panose="02020603050405020304"/>
                <a:sym typeface="+mn-ea"/>
              </a:rPr>
              <a:t>:</a:t>
            </a:r>
            <a:r>
              <a:rPr sz="2000" spc="-14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Any</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state</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can</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be</a:t>
            </a:r>
            <a:r>
              <a:rPr sz="2000"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designated</a:t>
            </a:r>
            <a:r>
              <a:rPr sz="2000"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as</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initial</a:t>
            </a:r>
            <a:r>
              <a:rPr sz="2000" spc="-25"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state.</a:t>
            </a:r>
            <a:endParaRPr sz="2000" spc="-10" dirty="0">
              <a:latin typeface="Times New Roman" panose="02020603050405020304"/>
              <a:cs typeface="Times New Roman" panose="02020603050405020304"/>
              <a:sym typeface="+mn-ea"/>
            </a:endParaRPr>
          </a:p>
          <a:p>
            <a:pPr algn="just">
              <a:lnSpc>
                <a:spcPct val="100000"/>
              </a:lnSpc>
              <a:spcBef>
                <a:spcPts val="1005"/>
              </a:spcBef>
            </a:pPr>
            <a:r>
              <a:rPr sz="2000" b="1" dirty="0">
                <a:latin typeface="Times New Roman" panose="02020603050405020304"/>
                <a:cs typeface="Times New Roman" panose="02020603050405020304"/>
                <a:sym typeface="+mn-ea"/>
              </a:rPr>
              <a:t>Actions: </a:t>
            </a:r>
            <a:r>
              <a:rPr sz="2000" dirty="0">
                <a:latin typeface="Times New Roman" panose="02020603050405020304"/>
                <a:cs typeface="Times New Roman" panose="02020603050405020304"/>
                <a:sym typeface="+mn-ea"/>
              </a:rPr>
              <a:t>In this</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simple</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environment,</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each state</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has just</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three</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actions:</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Left,</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Right,</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and</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Suck.</a:t>
            </a:r>
            <a:r>
              <a:rPr sz="2000" spc="1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Larger </a:t>
            </a:r>
            <a:r>
              <a:rPr sz="2000" dirty="0">
                <a:latin typeface="Times New Roman" panose="02020603050405020304"/>
                <a:cs typeface="Times New Roman" panose="02020603050405020304"/>
                <a:sym typeface="+mn-ea"/>
              </a:rPr>
              <a:t>environments</a:t>
            </a:r>
            <a:r>
              <a:rPr sz="2000" spc="-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might</a:t>
            </a:r>
            <a:r>
              <a:rPr sz="2000" spc="-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also</a:t>
            </a:r>
            <a:r>
              <a:rPr sz="2000"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include</a:t>
            </a:r>
            <a:r>
              <a:rPr sz="2000" spc="-2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Up</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and</a:t>
            </a:r>
            <a:r>
              <a:rPr sz="2000" spc="-2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Down.</a:t>
            </a:r>
            <a:endParaRPr sz="2000" spc="-10" dirty="0">
              <a:latin typeface="Times New Roman" panose="02020603050405020304"/>
              <a:cs typeface="Times New Roman" panose="02020603050405020304"/>
              <a:sym typeface="+mn-ea"/>
            </a:endParaRPr>
          </a:p>
          <a:p>
            <a:pPr algn="just">
              <a:lnSpc>
                <a:spcPct val="100000"/>
              </a:lnSpc>
              <a:spcBef>
                <a:spcPts val="1005"/>
              </a:spcBef>
            </a:pPr>
            <a:r>
              <a:rPr sz="2000" b="1" spc="-10" dirty="0">
                <a:latin typeface="Times New Roman" panose="02020603050405020304"/>
                <a:cs typeface="Times New Roman" panose="02020603050405020304"/>
                <a:sym typeface="+mn-ea"/>
              </a:rPr>
              <a:t>Transition</a:t>
            </a:r>
            <a:r>
              <a:rPr sz="2000" b="1" spc="-5" dirty="0">
                <a:latin typeface="Times New Roman" panose="02020603050405020304"/>
                <a:cs typeface="Times New Roman" panose="02020603050405020304"/>
                <a:sym typeface="+mn-ea"/>
              </a:rPr>
              <a:t> </a:t>
            </a:r>
            <a:r>
              <a:rPr sz="2000" b="1" dirty="0">
                <a:latin typeface="Times New Roman" panose="02020603050405020304"/>
                <a:cs typeface="Times New Roman" panose="02020603050405020304"/>
                <a:sym typeface="+mn-ea"/>
              </a:rPr>
              <a:t>model: </a:t>
            </a:r>
            <a:r>
              <a:rPr sz="2000" dirty="0">
                <a:latin typeface="Times New Roman" panose="02020603050405020304"/>
                <a:cs typeface="Times New Roman" panose="02020603050405020304"/>
                <a:sym typeface="+mn-ea"/>
              </a:rPr>
              <a:t>The actions have</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their</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expected</a:t>
            </a:r>
            <a:r>
              <a:rPr sz="2000" spc="2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effects,</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except</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that moving</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Left in</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leftmost</a:t>
            </a:r>
            <a:r>
              <a:rPr lang="en-US"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squ</a:t>
            </a:r>
            <a:r>
              <a:rPr sz="2000" spc="1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are,</a:t>
            </a:r>
            <a:r>
              <a:rPr sz="2000" spc="14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moving</a:t>
            </a:r>
            <a:r>
              <a:rPr sz="2000" spc="15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Right</a:t>
            </a:r>
            <a:r>
              <a:rPr sz="2000" spc="13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in</a:t>
            </a:r>
            <a:r>
              <a:rPr sz="2000" spc="13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rightmost</a:t>
            </a:r>
            <a:r>
              <a:rPr sz="2000" spc="114"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square,</a:t>
            </a:r>
            <a:r>
              <a:rPr sz="2000" spc="1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and</a:t>
            </a:r>
            <a:r>
              <a:rPr sz="2000" spc="1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Sucking</a:t>
            </a:r>
            <a:r>
              <a:rPr sz="2000" spc="1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in</a:t>
            </a:r>
            <a:r>
              <a:rPr sz="2000" spc="1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a:t>
            </a:r>
            <a:r>
              <a:rPr sz="2000" spc="14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clean</a:t>
            </a:r>
            <a:r>
              <a:rPr sz="2000" spc="13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square</a:t>
            </a:r>
            <a:r>
              <a:rPr lang="en-US" sz="2000" spc="-1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have</a:t>
            </a:r>
            <a:r>
              <a:rPr lang="en-US"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complete</a:t>
            </a:r>
            <a:r>
              <a:rPr sz="2000" spc="-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state</a:t>
            </a:r>
            <a:r>
              <a:rPr sz="2000" spc="-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space</a:t>
            </a:r>
            <a:r>
              <a:rPr sz="2000" spc="-3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is</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shown</a:t>
            </a:r>
            <a:r>
              <a:rPr sz="2000" spc="-2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in</a:t>
            </a:r>
            <a:r>
              <a:rPr sz="2000" spc="-20" dirty="0">
                <a:latin typeface="Times New Roman" panose="02020603050405020304"/>
                <a:cs typeface="Times New Roman" panose="02020603050405020304"/>
                <a:sym typeface="+mn-ea"/>
              </a:rPr>
              <a:t> </a:t>
            </a:r>
            <a:r>
              <a:rPr sz="2000" spc="-10" dirty="0">
                <a:latin typeface="Times New Roman" panose="02020603050405020304"/>
                <a:cs typeface="Times New Roman" panose="02020603050405020304"/>
                <a:sym typeface="+mn-ea"/>
              </a:rPr>
              <a:t>Figure.</a:t>
            </a:r>
            <a:endParaRPr sz="2000">
              <a:latin typeface="Times New Roman" panose="02020603050405020304"/>
              <a:cs typeface="Times New Roman" panose="02020603050405020304"/>
            </a:endParaRPr>
          </a:p>
          <a:p>
            <a:pPr algn="just">
              <a:lnSpc>
                <a:spcPct val="100000"/>
              </a:lnSpc>
              <a:spcBef>
                <a:spcPts val="1015"/>
              </a:spcBef>
            </a:pPr>
            <a:r>
              <a:rPr sz="2000" b="1" dirty="0">
                <a:latin typeface="Times New Roman" panose="02020603050405020304"/>
                <a:cs typeface="Times New Roman" panose="02020603050405020304"/>
                <a:sym typeface="+mn-ea"/>
              </a:rPr>
              <a:t>Goal</a:t>
            </a:r>
            <a:r>
              <a:rPr sz="2000" b="1" spc="-35" dirty="0">
                <a:latin typeface="Times New Roman" panose="02020603050405020304"/>
                <a:cs typeface="Times New Roman" panose="02020603050405020304"/>
                <a:sym typeface="+mn-ea"/>
              </a:rPr>
              <a:t> </a:t>
            </a:r>
            <a:r>
              <a:rPr sz="2000" b="1" dirty="0">
                <a:latin typeface="Times New Roman" panose="02020603050405020304"/>
                <a:cs typeface="Times New Roman" panose="02020603050405020304"/>
                <a:sym typeface="+mn-ea"/>
              </a:rPr>
              <a:t>test:</a:t>
            </a:r>
            <a:r>
              <a:rPr sz="2000" b="1"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This</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checks</a:t>
            </a:r>
            <a:r>
              <a:rPr sz="2000"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whether</a:t>
            </a:r>
            <a:r>
              <a:rPr sz="2000" spc="-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all</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squares</a:t>
            </a:r>
            <a:r>
              <a:rPr sz="2000" spc="-4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are</a:t>
            </a:r>
            <a:r>
              <a:rPr sz="2000" spc="-10" dirty="0">
                <a:latin typeface="Times New Roman" panose="02020603050405020304"/>
                <a:cs typeface="Times New Roman" panose="02020603050405020304"/>
                <a:sym typeface="+mn-ea"/>
              </a:rPr>
              <a:t> clean.</a:t>
            </a:r>
            <a:endParaRPr sz="2000">
              <a:latin typeface="Times New Roman" panose="02020603050405020304"/>
              <a:cs typeface="Times New Roman" panose="02020603050405020304"/>
            </a:endParaRPr>
          </a:p>
          <a:p>
            <a:pPr algn="just">
              <a:lnSpc>
                <a:spcPct val="100000"/>
              </a:lnSpc>
              <a:spcBef>
                <a:spcPts val="995"/>
              </a:spcBef>
            </a:pPr>
            <a:r>
              <a:rPr sz="2000" b="1" dirty="0">
                <a:latin typeface="Times New Roman" panose="02020603050405020304"/>
                <a:cs typeface="Times New Roman" panose="02020603050405020304"/>
                <a:sym typeface="+mn-ea"/>
              </a:rPr>
              <a:t>Path</a:t>
            </a:r>
            <a:r>
              <a:rPr sz="2000" b="1" spc="-25" dirty="0">
                <a:latin typeface="Times New Roman" panose="02020603050405020304"/>
                <a:cs typeface="Times New Roman" panose="02020603050405020304"/>
                <a:sym typeface="+mn-ea"/>
              </a:rPr>
              <a:t> </a:t>
            </a:r>
            <a:r>
              <a:rPr sz="2000" b="1" dirty="0">
                <a:latin typeface="Times New Roman" panose="02020603050405020304"/>
                <a:cs typeface="Times New Roman" panose="02020603050405020304"/>
                <a:sym typeface="+mn-ea"/>
              </a:rPr>
              <a:t>cost:</a:t>
            </a:r>
            <a:r>
              <a:rPr sz="2000" b="1"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Each</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step</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costs</a:t>
            </a:r>
            <a:r>
              <a:rPr sz="2000" spc="-2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1,</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so</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3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path</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cost</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is</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number</a:t>
            </a:r>
            <a:r>
              <a:rPr sz="2000" spc="-1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of</a:t>
            </a:r>
            <a:r>
              <a:rPr sz="2000" spc="-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steps</a:t>
            </a:r>
            <a:r>
              <a:rPr sz="2000" spc="-20"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in</a:t>
            </a:r>
            <a:r>
              <a:rPr sz="2000" spc="-5" dirty="0">
                <a:latin typeface="Times New Roman" panose="02020603050405020304"/>
                <a:cs typeface="Times New Roman" panose="02020603050405020304"/>
                <a:sym typeface="+mn-ea"/>
              </a:rPr>
              <a:t> </a:t>
            </a:r>
            <a:r>
              <a:rPr sz="2000" dirty="0">
                <a:latin typeface="Times New Roman" panose="02020603050405020304"/>
                <a:cs typeface="Times New Roman" panose="02020603050405020304"/>
                <a:sym typeface="+mn-ea"/>
              </a:rPr>
              <a:t>the</a:t>
            </a:r>
            <a:r>
              <a:rPr sz="2000" spc="-10" dirty="0">
                <a:latin typeface="Times New Roman" panose="02020603050405020304"/>
                <a:cs typeface="Times New Roman" panose="02020603050405020304"/>
                <a:sym typeface="+mn-ea"/>
              </a:rPr>
              <a:t> path.</a:t>
            </a:r>
            <a:endParaRPr sz="2000">
              <a:latin typeface="Times New Roman" panose="02020603050405020304"/>
              <a:cs typeface="Times New Roman" panose="02020603050405020304"/>
            </a:endParaRPr>
          </a:p>
          <a:p>
            <a:pPr>
              <a:lnSpc>
                <a:spcPct val="100000"/>
              </a:lnSpc>
              <a:spcBef>
                <a:spcPts val="995"/>
              </a:spcBef>
            </a:pPr>
            <a:endParaRPr sz="2000">
              <a:latin typeface="Times New Roman" panose="02020603050405020304"/>
              <a:cs typeface="Times New Roman" panose="02020603050405020304"/>
            </a:endParaRPr>
          </a:p>
          <a:p>
            <a:endParaRPr lang="en-US" sz="2000">
              <a:latin typeface="Times New Roman" panose="02020603050405020304"/>
              <a:cs typeface="Times New Roman" panose="02020603050405020304"/>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solidFill>
                  <a:srgbClr val="FF0000"/>
                </a:solidFill>
              </a:rPr>
              <a:t>VACCUM WORLD STATE SPACE GRAPH</a:t>
            </a:r>
            <a:endParaRPr lang="en-US" altLang="en-US">
              <a:solidFill>
                <a:srgbClr val="FF0000"/>
              </a:solidFill>
            </a:endParaRPr>
          </a:p>
        </p:txBody>
      </p:sp>
      <p:grpSp>
        <p:nvGrpSpPr>
          <p:cNvPr id="4" name="object 3"/>
          <p:cNvGrpSpPr/>
          <p:nvPr/>
        </p:nvGrpSpPr>
        <p:grpSpPr>
          <a:xfrm>
            <a:off x="6679692" y="83820"/>
            <a:ext cx="4088257" cy="963930"/>
            <a:chOff x="6679692" y="0"/>
            <a:chExt cx="4088257" cy="963930"/>
          </a:xfrm>
        </p:grpSpPr>
        <p:sp>
          <p:nvSpPr>
            <p:cNvPr id="6" name="object 5"/>
            <p:cNvSpPr/>
            <p:nvPr/>
          </p:nvSpPr>
          <p:spPr>
            <a:xfrm>
              <a:off x="9526524" y="0"/>
              <a:ext cx="1241425" cy="963930"/>
            </a:xfrm>
            <a:custGeom>
              <a:avLst/>
              <a:gdLst/>
              <a:ahLst/>
              <a:cxnLst/>
              <a:rect l="l" t="t" r="r" b="b"/>
              <a:pathLst>
                <a:path w="1241425" h="963930">
                  <a:moveTo>
                    <a:pt x="1240917" y="963929"/>
                  </a:moveTo>
                  <a:lnTo>
                    <a:pt x="0" y="0"/>
                  </a:lnTo>
                </a:path>
              </a:pathLst>
            </a:custGeom>
            <a:ln w="6349">
              <a:solidFill>
                <a:srgbClr val="BEBEBE"/>
              </a:solidFill>
            </a:ln>
          </p:spPr>
          <p:txBody>
            <a:bodyPr wrap="square" lIns="0" tIns="0" rIns="0" bIns="0" rtlCol="0"/>
            <a:p/>
          </p:txBody>
        </p:sp>
        <p:sp>
          <p:nvSpPr>
            <p:cNvPr id="8" name="object 7"/>
            <p:cNvSpPr/>
            <p:nvPr/>
          </p:nvSpPr>
          <p:spPr>
            <a:xfrm>
              <a:off x="6679692" y="0"/>
              <a:ext cx="1447800" cy="638810"/>
            </a:xfrm>
            <a:custGeom>
              <a:avLst/>
              <a:gdLst/>
              <a:ahLst/>
              <a:cxnLst/>
              <a:rect l="l" t="t" r="r" b="b"/>
              <a:pathLst>
                <a:path w="1447800" h="638810">
                  <a:moveTo>
                    <a:pt x="581786" y="0"/>
                  </a:moveTo>
                  <a:lnTo>
                    <a:pt x="0" y="0"/>
                  </a:lnTo>
                  <a:lnTo>
                    <a:pt x="866012" y="638555"/>
                  </a:lnTo>
                  <a:lnTo>
                    <a:pt x="1447800" y="638555"/>
                  </a:lnTo>
                  <a:lnTo>
                    <a:pt x="581786" y="0"/>
                  </a:lnTo>
                  <a:close/>
                </a:path>
              </a:pathLst>
            </a:custGeom>
            <a:solidFill>
              <a:srgbClr val="014067"/>
            </a:solidFill>
          </p:spPr>
          <p:txBody>
            <a:bodyPr wrap="square" lIns="0" tIns="0" rIns="0" bIns="0" rtlCol="0"/>
            <a:p/>
          </p:txBody>
        </p:sp>
      </p:grpSp>
      <p:pic>
        <p:nvPicPr>
          <p:cNvPr id="11" name="Picture 10"/>
          <p:cNvPicPr/>
          <p:nvPr/>
        </p:nvPicPr>
        <p:blipFill>
          <a:blip r:embed="rId1"/>
          <a:stretch>
            <a:fillRect/>
          </a:stretch>
        </p:blipFill>
        <p:spPr>
          <a:xfrm>
            <a:off x="533400" y="1371600"/>
            <a:ext cx="8295005" cy="397256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b="1" dirty="0">
                <a:solidFill>
                  <a:srgbClr val="FF0000"/>
                </a:solidFill>
                <a:latin typeface="Times New Roman" panose="02020603050405020304" pitchFamily="18" charset="0"/>
                <a:cs typeface="Times New Roman" panose="02020603050405020304" pitchFamily="18" charset="0"/>
                <a:sym typeface="+mn-ea"/>
              </a:rPr>
              <a:t>Problem</a:t>
            </a:r>
            <a:r>
              <a:rPr b="1" spc="-75" dirty="0">
                <a:solidFill>
                  <a:srgbClr val="FF0000"/>
                </a:solidFill>
                <a:latin typeface="Times New Roman" panose="02020603050405020304" pitchFamily="18" charset="0"/>
                <a:cs typeface="Times New Roman" panose="02020603050405020304" pitchFamily="18" charset="0"/>
                <a:sym typeface="+mn-ea"/>
              </a:rPr>
              <a:t> </a:t>
            </a:r>
            <a:r>
              <a:rPr b="1" spc="-10" dirty="0">
                <a:solidFill>
                  <a:srgbClr val="FF0000"/>
                </a:solidFill>
                <a:latin typeface="Times New Roman" panose="02020603050405020304" pitchFamily="18" charset="0"/>
                <a:cs typeface="Times New Roman" panose="02020603050405020304" pitchFamily="18" charset="0"/>
                <a:sym typeface="+mn-ea"/>
              </a:rPr>
              <a:t>formulation</a:t>
            </a:r>
            <a:endParaRPr lang="en-US">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60000"/>
          </a:bodyPr>
          <a:p>
            <a:pPr marR="5715">
              <a:lnSpc>
                <a:spcPct val="100000"/>
              </a:lnSpc>
              <a:spcBef>
                <a:spcPts val="105"/>
              </a:spcBef>
            </a:pPr>
            <a:r>
              <a:rPr dirty="0">
                <a:latin typeface="Times New Roman" panose="02020603050405020304"/>
                <a:cs typeface="Times New Roman" panose="02020603050405020304"/>
                <a:sym typeface="+mn-ea"/>
              </a:rPr>
              <a:t>Problem</a:t>
            </a:r>
            <a:r>
              <a:rPr spc="3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formulation</a:t>
            </a:r>
            <a:r>
              <a:rPr spc="4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is</a:t>
            </a:r>
            <a:r>
              <a:rPr spc="3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3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critical</a:t>
            </a:r>
            <a:r>
              <a:rPr spc="3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step</a:t>
            </a:r>
            <a:r>
              <a:rPr spc="4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a:t>
            </a:r>
            <a:r>
              <a:rPr spc="3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a:t>
            </a:r>
            <a:r>
              <a:rPr spc="4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that</a:t>
            </a:r>
            <a:r>
              <a:rPr spc="3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shapes</a:t>
            </a:r>
            <a:r>
              <a:rPr spc="4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how</a:t>
            </a:r>
            <a:r>
              <a:rPr spc="3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a:t>
            </a:r>
            <a:r>
              <a:rPr spc="4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algorithm</a:t>
            </a:r>
            <a:r>
              <a:rPr spc="3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interacts</a:t>
            </a:r>
            <a:r>
              <a:rPr spc="3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with</a:t>
            </a:r>
            <a:r>
              <a:rPr spc="395"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its </a:t>
            </a:r>
            <a:r>
              <a:rPr dirty="0">
                <a:latin typeface="Times New Roman" panose="02020603050405020304"/>
                <a:cs typeface="Times New Roman" panose="02020603050405020304"/>
                <a:sym typeface="+mn-ea"/>
              </a:rPr>
              <a:t>environment,</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how</a:t>
            </a:r>
            <a:r>
              <a:rPr spc="3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a:t>
            </a:r>
            <a:r>
              <a:rPr spc="34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perceives</a:t>
            </a:r>
            <a:r>
              <a:rPr spc="3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its</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goal,</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and</a:t>
            </a:r>
            <a:r>
              <a:rPr spc="3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actions</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it</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can</a:t>
            </a:r>
            <a:r>
              <a:rPr spc="3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take</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achieve</a:t>
            </a:r>
            <a:r>
              <a:rPr spc="37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that</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goal.</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26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well- </a:t>
            </a:r>
            <a:r>
              <a:rPr dirty="0">
                <a:latin typeface="Times New Roman" panose="02020603050405020304"/>
                <a:cs typeface="Times New Roman" panose="02020603050405020304"/>
                <a:sym typeface="+mn-ea"/>
              </a:rPr>
              <a:t>formulated</a:t>
            </a:r>
            <a:r>
              <a:rPr spc="-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problem</a:t>
            </a:r>
            <a:r>
              <a:rPr spc="-5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provides:</a:t>
            </a:r>
            <a:endParaRPr>
              <a:latin typeface="Times New Roman" panose="02020603050405020304"/>
              <a:cs typeface="Times New Roman" panose="02020603050405020304"/>
            </a:endParaRPr>
          </a:p>
          <a:p>
            <a:pPr>
              <a:lnSpc>
                <a:spcPct val="100000"/>
              </a:lnSpc>
              <a:spcBef>
                <a:spcPts val="100"/>
              </a:spcBef>
            </a:pPr>
            <a:endParaRPr>
              <a:latin typeface="Times New Roman" panose="02020603050405020304"/>
              <a:cs typeface="Times New Roman" panose="02020603050405020304"/>
            </a:endParaRPr>
          </a:p>
          <a:p>
            <a:pPr>
              <a:lnSpc>
                <a:spcPct val="100000"/>
              </a:lnSpc>
            </a:pPr>
            <a:r>
              <a:rPr b="1" dirty="0">
                <a:latin typeface="Times New Roman" panose="02020603050405020304"/>
                <a:cs typeface="Times New Roman" panose="02020603050405020304"/>
                <a:sym typeface="+mn-ea"/>
              </a:rPr>
              <a:t>Initial</a:t>
            </a:r>
            <a:r>
              <a:rPr b="1" spc="-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State:</a:t>
            </a:r>
            <a:r>
              <a:rPr b="1" spc="-8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starting</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point</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condition</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which</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will</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begin</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solving</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 dirty="0">
                <a:latin typeface="Times New Roman" panose="02020603050405020304"/>
                <a:cs typeface="Times New Roman" panose="02020603050405020304"/>
                <a:sym typeface="+mn-ea"/>
              </a:rPr>
              <a:t> problem.</a:t>
            </a:r>
            <a:endParaRPr>
              <a:latin typeface="Times New Roman" panose="02020603050405020304"/>
              <a:cs typeface="Times New Roman" panose="02020603050405020304"/>
            </a:endParaRPr>
          </a:p>
          <a:p>
            <a:pPr marR="10160">
              <a:lnSpc>
                <a:spcPct val="100000"/>
              </a:lnSpc>
            </a:pPr>
            <a:r>
              <a:rPr b="1" dirty="0">
                <a:latin typeface="Times New Roman" panose="02020603050405020304"/>
                <a:cs typeface="Times New Roman" panose="02020603050405020304"/>
                <a:sym typeface="+mn-ea"/>
              </a:rPr>
              <a:t>Actions:</a:t>
            </a:r>
            <a:r>
              <a:rPr b="1"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set</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of</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possible</a:t>
            </a:r>
            <a:r>
              <a:rPr spc="3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moves</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steps</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can</a:t>
            </a:r>
            <a:r>
              <a:rPr spc="35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take</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36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transition</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3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one</a:t>
            </a:r>
            <a:r>
              <a:rPr spc="3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a:t>
            </a:r>
            <a:r>
              <a:rPr spc="350" dirty="0">
                <a:latin typeface="Times New Roman" panose="02020603050405020304"/>
                <a:cs typeface="Times New Roman" panose="02020603050405020304"/>
                <a:sym typeface="+mn-ea"/>
              </a:rPr>
              <a:t> </a:t>
            </a:r>
            <a:r>
              <a:rPr spc="-25" dirty="0">
                <a:latin typeface="Times New Roman" panose="02020603050405020304"/>
                <a:cs typeface="Times New Roman" panose="02020603050405020304"/>
                <a:sym typeface="+mn-ea"/>
              </a:rPr>
              <a:t>to </a:t>
            </a:r>
            <a:r>
              <a:rPr spc="-10" dirty="0">
                <a:latin typeface="Times New Roman" panose="02020603050405020304"/>
                <a:cs typeface="Times New Roman" panose="02020603050405020304"/>
                <a:sym typeface="+mn-ea"/>
              </a:rPr>
              <a:t>another.</a:t>
            </a:r>
            <a:endParaRPr>
              <a:latin typeface="Times New Roman" panose="02020603050405020304"/>
              <a:cs typeface="Times New Roman" panose="02020603050405020304"/>
            </a:endParaRPr>
          </a:p>
          <a:p>
            <a:pPr>
              <a:lnSpc>
                <a:spcPct val="100000"/>
              </a:lnSpc>
            </a:pPr>
            <a:r>
              <a:rPr b="1" dirty="0">
                <a:latin typeface="Times New Roman" panose="02020603050405020304"/>
                <a:cs typeface="Times New Roman" panose="02020603050405020304"/>
                <a:sym typeface="+mn-ea"/>
              </a:rPr>
              <a:t>Goal</a:t>
            </a:r>
            <a:r>
              <a:rPr b="1" spc="-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State:</a:t>
            </a:r>
            <a:r>
              <a:rPr b="1"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desired</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outcome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final</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aims to</a:t>
            </a:r>
            <a:r>
              <a:rPr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achieve.</a:t>
            </a:r>
            <a:endParaRPr>
              <a:latin typeface="Times New Roman" panose="02020603050405020304"/>
              <a:cs typeface="Times New Roman" panose="02020603050405020304"/>
            </a:endParaRPr>
          </a:p>
          <a:p>
            <a:pPr marR="7620">
              <a:lnSpc>
                <a:spcPct val="100000"/>
              </a:lnSpc>
              <a:spcBef>
                <a:spcPts val="5"/>
              </a:spcBef>
            </a:pPr>
            <a:r>
              <a:rPr b="1" dirty="0">
                <a:latin typeface="Times New Roman" panose="02020603050405020304"/>
                <a:cs typeface="Times New Roman" panose="02020603050405020304"/>
                <a:sym typeface="+mn-ea"/>
              </a:rPr>
              <a:t>Path</a:t>
            </a:r>
            <a:r>
              <a:rPr b="1" spc="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Costs:</a:t>
            </a:r>
            <a:r>
              <a:rPr b="1"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Costs</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associated</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with</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moving</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between</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states.</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These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could</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 time,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distance,</a:t>
            </a:r>
            <a:r>
              <a:rPr spc="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energy, </a:t>
            </a:r>
            <a:r>
              <a:rPr dirty="0">
                <a:latin typeface="Times New Roman" panose="02020603050405020304"/>
                <a:cs typeface="Times New Roman" panose="02020603050405020304"/>
                <a:sym typeface="+mn-ea"/>
              </a:rPr>
              <a:t>or</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other</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metrics</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depending</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problem</a:t>
            </a:r>
            <a:r>
              <a:rPr spc="-4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context.</a:t>
            </a:r>
            <a:endParaRPr>
              <a:latin typeface="Times New Roman" panose="02020603050405020304"/>
              <a:cs typeface="Times New Roman" panose="02020603050405020304"/>
            </a:endParaRPr>
          </a:p>
          <a:p>
            <a:pPr>
              <a:lnSpc>
                <a:spcPct val="100000"/>
              </a:lnSpc>
              <a:spcBef>
                <a:spcPts val="95"/>
              </a:spcBef>
            </a:pPr>
            <a:endParaRPr>
              <a:latin typeface="Times New Roman" panose="02020603050405020304"/>
              <a:cs typeface="Times New Roman" panose="02020603050405020304"/>
            </a:endParaRPr>
          </a:p>
          <a:p>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lnSpcReduction="10000"/>
          </a:bodyPr>
          <a:p>
            <a:pPr>
              <a:lnSpc>
                <a:spcPct val="100000"/>
              </a:lnSpc>
              <a:spcBef>
                <a:spcPts val="5"/>
              </a:spcBef>
            </a:pPr>
            <a:r>
              <a:rPr b="1" dirty="0">
                <a:latin typeface="Times New Roman" panose="02020603050405020304"/>
                <a:cs typeface="Times New Roman" panose="02020603050405020304"/>
                <a:sym typeface="+mn-ea"/>
              </a:rPr>
              <a:t>City</a:t>
            </a:r>
            <a:r>
              <a:rPr b="1" spc="1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Map Example:</a:t>
            </a:r>
            <a:r>
              <a:rPr b="1" spc="-10" dirty="0">
                <a:latin typeface="Times New Roman" panose="02020603050405020304"/>
                <a:cs typeface="Times New Roman" panose="02020603050405020304"/>
                <a:sym typeface="+mn-ea"/>
              </a:rPr>
              <a:t> Pathfinding</a:t>
            </a:r>
            <a:r>
              <a:rPr b="1" spc="-125" dirty="0">
                <a:latin typeface="Times New Roman" panose="02020603050405020304"/>
                <a:cs typeface="Times New Roman" panose="02020603050405020304"/>
                <a:sym typeface="+mn-ea"/>
              </a:rPr>
              <a:t> </a:t>
            </a:r>
            <a:r>
              <a:rPr b="1" spc="-25" dirty="0">
                <a:latin typeface="Times New Roman" panose="02020603050405020304"/>
                <a:cs typeface="Times New Roman" panose="02020603050405020304"/>
                <a:sym typeface="+mn-ea"/>
              </a:rPr>
              <a:t>AI</a:t>
            </a:r>
            <a:endParaRPr>
              <a:latin typeface="Times New Roman" panose="02020603050405020304"/>
              <a:cs typeface="Times New Roman" panose="02020603050405020304"/>
            </a:endParaRPr>
          </a:p>
          <a:p>
            <a:pPr marR="5080">
              <a:lnSpc>
                <a:spcPct val="100000"/>
              </a:lnSpc>
            </a:pPr>
            <a:r>
              <a:rPr dirty="0">
                <a:latin typeface="Times New Roman" panose="02020603050405020304"/>
                <a:cs typeface="Times New Roman" panose="02020603050405020304"/>
                <a:sym typeface="+mn-ea"/>
              </a:rPr>
              <a:t>Imagine</a:t>
            </a:r>
            <a:r>
              <a:rPr spc="3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we</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are</a:t>
            </a:r>
            <a:r>
              <a:rPr spc="34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developing</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an</a:t>
            </a:r>
            <a:r>
              <a:rPr spc="36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3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find</a:t>
            </a:r>
            <a:r>
              <a:rPr spc="35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3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shortest</a:t>
            </a:r>
            <a:r>
              <a:rPr b="1" spc="3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route</a:t>
            </a:r>
            <a:r>
              <a:rPr b="1" spc="36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between</a:t>
            </a:r>
            <a:r>
              <a:rPr b="1" spc="33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two</a:t>
            </a:r>
            <a:r>
              <a:rPr b="1" spc="34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points</a:t>
            </a:r>
            <a:r>
              <a:rPr b="1" spc="34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in</a:t>
            </a:r>
            <a:r>
              <a:rPr b="1" spc="35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350" dirty="0">
                <a:latin typeface="Times New Roman" panose="02020603050405020304"/>
                <a:cs typeface="Times New Roman" panose="02020603050405020304"/>
                <a:sym typeface="+mn-ea"/>
              </a:rPr>
              <a:t> </a:t>
            </a:r>
            <a:r>
              <a:rPr b="1" spc="-10" dirty="0">
                <a:latin typeface="Times New Roman" panose="02020603050405020304"/>
                <a:cs typeface="Times New Roman" panose="02020603050405020304"/>
                <a:sym typeface="+mn-ea"/>
              </a:rPr>
              <a:t>city, </a:t>
            </a:r>
            <a:r>
              <a:rPr b="1" dirty="0">
                <a:latin typeface="Times New Roman" panose="02020603050405020304"/>
                <a:cs typeface="Times New Roman" panose="02020603050405020304"/>
                <a:sym typeface="+mn-ea"/>
              </a:rPr>
              <a:t>represented</a:t>
            </a:r>
            <a:r>
              <a:rPr b="1" spc="1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as</a:t>
            </a:r>
            <a:r>
              <a:rPr b="1" spc="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a</a:t>
            </a:r>
            <a:r>
              <a:rPr b="1" spc="25"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city</a:t>
            </a:r>
            <a:r>
              <a:rPr b="1" spc="20" dirty="0">
                <a:latin typeface="Times New Roman" panose="02020603050405020304"/>
                <a:cs typeface="Times New Roman" panose="02020603050405020304"/>
                <a:sym typeface="+mn-ea"/>
              </a:rPr>
              <a:t> </a:t>
            </a:r>
            <a:r>
              <a:rPr b="1" dirty="0">
                <a:latin typeface="Times New Roman" panose="02020603050405020304"/>
                <a:cs typeface="Times New Roman" panose="02020603050405020304"/>
                <a:sym typeface="+mn-ea"/>
              </a:rPr>
              <a:t>map.</a:t>
            </a:r>
            <a:r>
              <a:rPr b="1"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problem can</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formulated</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as</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pathfinding</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task,</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where</a:t>
            </a:r>
            <a:r>
              <a:rPr spc="2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AI</a:t>
            </a:r>
            <a:r>
              <a:rPr spc="15"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agent </a:t>
            </a:r>
            <a:r>
              <a:rPr dirty="0">
                <a:latin typeface="Times New Roman" panose="02020603050405020304"/>
                <a:cs typeface="Times New Roman" panose="02020603050405020304"/>
                <a:sym typeface="+mn-ea"/>
              </a:rPr>
              <a:t>needs</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travel</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from</a:t>
            </a:r>
            <a:r>
              <a:rPr spc="1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20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starting</a:t>
            </a:r>
            <a:r>
              <a:rPr spc="20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point</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(initial</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a:t>
            </a:r>
            <a:r>
              <a:rPr spc="20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to</a:t>
            </a:r>
            <a:r>
              <a:rPr spc="21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a</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destination</a:t>
            </a:r>
            <a:r>
              <a:rPr spc="19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(goal</a:t>
            </a:r>
            <a:r>
              <a:rPr spc="18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state)</a:t>
            </a:r>
            <a:r>
              <a:rPr spc="204"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by</a:t>
            </a:r>
            <a:r>
              <a:rPr spc="19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selecting</a:t>
            </a:r>
            <a:r>
              <a:rPr spc="2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the</a:t>
            </a:r>
            <a:r>
              <a:rPr spc="200" dirty="0">
                <a:latin typeface="Times New Roman" panose="02020603050405020304"/>
                <a:cs typeface="Times New Roman" panose="02020603050405020304"/>
                <a:sym typeface="+mn-ea"/>
              </a:rPr>
              <a:t> </a:t>
            </a:r>
            <a:r>
              <a:rPr spc="-20" dirty="0">
                <a:latin typeface="Times New Roman" panose="02020603050405020304"/>
                <a:cs typeface="Times New Roman" panose="02020603050405020304"/>
                <a:sym typeface="+mn-ea"/>
              </a:rPr>
              <a:t>best </a:t>
            </a:r>
            <a:r>
              <a:rPr dirty="0">
                <a:latin typeface="Times New Roman" panose="02020603050405020304"/>
                <a:cs typeface="Times New Roman" panose="02020603050405020304"/>
                <a:sym typeface="+mn-ea"/>
              </a:rPr>
              <a:t>route</a:t>
            </a:r>
            <a:r>
              <a:rPr spc="-3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based</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on</a:t>
            </a:r>
            <a:r>
              <a:rPr spc="-2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some</a:t>
            </a:r>
            <a:r>
              <a:rPr spc="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criteria</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like</a:t>
            </a:r>
            <a:r>
              <a:rPr spc="-15"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distance</a:t>
            </a:r>
            <a:r>
              <a:rPr spc="-30" dirty="0">
                <a:latin typeface="Times New Roman" panose="02020603050405020304"/>
                <a:cs typeface="Times New Roman" panose="02020603050405020304"/>
                <a:sym typeface="+mn-ea"/>
              </a:rPr>
              <a:t> </a:t>
            </a:r>
            <a:r>
              <a:rPr dirty="0">
                <a:latin typeface="Times New Roman" panose="02020603050405020304"/>
                <a:cs typeface="Times New Roman" panose="02020603050405020304"/>
                <a:sym typeface="+mn-ea"/>
              </a:rPr>
              <a:t>or</a:t>
            </a:r>
            <a:r>
              <a:rPr spc="-20" dirty="0">
                <a:latin typeface="Times New Roman" panose="02020603050405020304"/>
                <a:cs typeface="Times New Roman" panose="02020603050405020304"/>
                <a:sym typeface="+mn-ea"/>
              </a:rPr>
              <a:t> </a:t>
            </a:r>
            <a:r>
              <a:rPr spc="-10" dirty="0">
                <a:latin typeface="Times New Roman" panose="02020603050405020304"/>
                <a:cs typeface="Times New Roman" panose="02020603050405020304"/>
                <a:sym typeface="+mn-ea"/>
              </a:rPr>
              <a:t>time.</a:t>
            </a:r>
            <a:endParaRPr>
              <a:latin typeface="Times New Roman" panose="02020603050405020304"/>
              <a:cs typeface="Times New Roman" panose="02020603050405020304"/>
            </a:endParaRPr>
          </a:p>
          <a:p>
            <a:endParaRPr lang="en-US"/>
          </a:p>
          <a:p>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Autofit/>
          </a:bodyPr>
          <a:p>
            <a:r>
              <a:rPr sz="2800" b="1" dirty="0">
                <a:solidFill>
                  <a:srgbClr val="3E3E3E"/>
                </a:solidFill>
                <a:latin typeface="Times New Roman" panose="02020603050405020304" pitchFamily="18" charset="0"/>
                <a:cs typeface="Times New Roman" panose="02020603050405020304" pitchFamily="18" charset="0"/>
                <a:sym typeface="+mn-ea"/>
              </a:rPr>
              <a:t>Key</a:t>
            </a:r>
            <a:r>
              <a:rPr sz="2800" b="1" spc="-45" dirty="0">
                <a:solidFill>
                  <a:srgbClr val="3E3E3E"/>
                </a:solidFill>
                <a:latin typeface="Times New Roman" panose="02020603050405020304" pitchFamily="18" charset="0"/>
                <a:cs typeface="Times New Roman" panose="02020603050405020304" pitchFamily="18" charset="0"/>
                <a:sym typeface="+mn-ea"/>
              </a:rPr>
              <a:t> </a:t>
            </a:r>
            <a:r>
              <a:rPr sz="2800" b="1" spc="-10" dirty="0">
                <a:solidFill>
                  <a:srgbClr val="3E3E3E"/>
                </a:solidFill>
                <a:latin typeface="Times New Roman" panose="02020603050405020304" pitchFamily="18" charset="0"/>
                <a:cs typeface="Times New Roman" panose="02020603050405020304" pitchFamily="18" charset="0"/>
                <a:sym typeface="+mn-ea"/>
              </a:rPr>
              <a:t>Components</a:t>
            </a:r>
            <a:r>
              <a:rPr sz="2800" b="1" spc="-35" dirty="0">
                <a:solidFill>
                  <a:srgbClr val="3E3E3E"/>
                </a:solidFill>
                <a:latin typeface="Times New Roman" panose="02020603050405020304" pitchFamily="18" charset="0"/>
                <a:cs typeface="Times New Roman" panose="02020603050405020304" pitchFamily="18" charset="0"/>
                <a:sym typeface="+mn-ea"/>
              </a:rPr>
              <a:t> </a:t>
            </a:r>
            <a:r>
              <a:rPr sz="2800" b="1" dirty="0">
                <a:solidFill>
                  <a:srgbClr val="3E3E3E"/>
                </a:solidFill>
                <a:latin typeface="Times New Roman" panose="02020603050405020304" pitchFamily="18" charset="0"/>
                <a:cs typeface="Times New Roman" panose="02020603050405020304" pitchFamily="18" charset="0"/>
                <a:sym typeface="+mn-ea"/>
              </a:rPr>
              <a:t>of</a:t>
            </a:r>
            <a:r>
              <a:rPr sz="2800" b="1" spc="-45" dirty="0">
                <a:solidFill>
                  <a:srgbClr val="3E3E3E"/>
                </a:solidFill>
                <a:latin typeface="Times New Roman" panose="02020603050405020304" pitchFamily="18" charset="0"/>
                <a:cs typeface="Times New Roman" panose="02020603050405020304" pitchFamily="18" charset="0"/>
                <a:sym typeface="+mn-ea"/>
              </a:rPr>
              <a:t> </a:t>
            </a:r>
            <a:r>
              <a:rPr sz="2800" b="1" spc="-10" dirty="0">
                <a:solidFill>
                  <a:srgbClr val="3E3E3E"/>
                </a:solidFill>
                <a:latin typeface="Times New Roman" panose="02020603050405020304" pitchFamily="18" charset="0"/>
                <a:cs typeface="Times New Roman" panose="02020603050405020304" pitchFamily="18" charset="0"/>
                <a:sym typeface="+mn-ea"/>
              </a:rPr>
              <a:t>Problem</a:t>
            </a:r>
            <a:r>
              <a:rPr sz="2800" b="1" spc="-30" dirty="0">
                <a:solidFill>
                  <a:srgbClr val="3E3E3E"/>
                </a:solidFill>
                <a:latin typeface="Times New Roman" panose="02020603050405020304" pitchFamily="18" charset="0"/>
                <a:cs typeface="Times New Roman" panose="02020603050405020304" pitchFamily="18" charset="0"/>
                <a:sym typeface="+mn-ea"/>
              </a:rPr>
              <a:t> </a:t>
            </a:r>
            <a:r>
              <a:rPr sz="2800" b="1" spc="-10" dirty="0">
                <a:solidFill>
                  <a:srgbClr val="3E3E3E"/>
                </a:solidFill>
                <a:latin typeface="Times New Roman" panose="02020603050405020304" pitchFamily="18" charset="0"/>
                <a:cs typeface="Times New Roman" panose="02020603050405020304" pitchFamily="18" charset="0"/>
                <a:sym typeface="+mn-ea"/>
              </a:rPr>
              <a:t>Formulation</a:t>
            </a:r>
            <a:endParaRPr lang="en-US" sz="2800" b="1" spc="-10" dirty="0">
              <a:solidFill>
                <a:srgbClr val="3E3E3E"/>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457200" y="1066800"/>
            <a:ext cx="8229600" cy="4525963"/>
          </a:xfrm>
        </p:spPr>
        <p:txBody>
          <a:bodyPr>
            <a:noAutofit/>
          </a:bodyPr>
          <a:p>
            <a:pPr algn="just">
              <a:lnSpc>
                <a:spcPct val="100000"/>
              </a:lnSpc>
              <a:spcBef>
                <a:spcPts val="105"/>
              </a:spcBef>
            </a:pPr>
            <a:r>
              <a:rPr sz="1800" dirty="0">
                <a:solidFill>
                  <a:srgbClr val="3E3E3E"/>
                </a:solidFill>
                <a:latin typeface="Times New Roman" panose="02020603050405020304" pitchFamily="18" charset="0"/>
                <a:cs typeface="Times New Roman" panose="02020603050405020304" pitchFamily="18" charset="0"/>
                <a:sym typeface="+mn-ea"/>
              </a:rPr>
              <a:t>Initial</a:t>
            </a:r>
            <a:r>
              <a:rPr sz="1800" spc="-50"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State:</a:t>
            </a:r>
            <a:r>
              <a:rPr lang="en-US"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204"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location</a:t>
            </a:r>
            <a:r>
              <a:rPr sz="1800" spc="2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on</a:t>
            </a:r>
            <a:r>
              <a:rPr sz="1800" spc="21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21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city</a:t>
            </a:r>
            <a:r>
              <a:rPr sz="1800" spc="2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map</a:t>
            </a:r>
            <a:r>
              <a:rPr sz="1800" spc="204"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where</a:t>
            </a:r>
            <a:r>
              <a:rPr sz="1800" spc="2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2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agent</a:t>
            </a:r>
            <a:r>
              <a:rPr sz="1800" spc="204"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(AI)</a:t>
            </a:r>
            <a:r>
              <a:rPr sz="1800" spc="2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starts.</a:t>
            </a:r>
            <a:r>
              <a:rPr sz="1800" spc="2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For</a:t>
            </a:r>
            <a:r>
              <a:rPr sz="1800" spc="1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example,</a:t>
            </a:r>
            <a:r>
              <a:rPr sz="1800" spc="2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2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initial</a:t>
            </a:r>
            <a:r>
              <a:rPr sz="1800" spc="204"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state</a:t>
            </a:r>
            <a:r>
              <a:rPr sz="1800" spc="2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could</a:t>
            </a:r>
            <a:r>
              <a:rPr sz="1800" spc="204" dirty="0">
                <a:solidFill>
                  <a:srgbClr val="3E3E3E"/>
                </a:solidFill>
                <a:latin typeface="Times New Roman" panose="02020603050405020304" pitchFamily="18" charset="0"/>
                <a:cs typeface="Times New Roman" panose="02020603050405020304" pitchFamily="18" charset="0"/>
                <a:sym typeface="+mn-ea"/>
              </a:rPr>
              <a:t> </a:t>
            </a:r>
            <a:r>
              <a:rPr sz="1800" spc="-25" dirty="0">
                <a:solidFill>
                  <a:srgbClr val="3E3E3E"/>
                </a:solidFill>
                <a:latin typeface="Times New Roman" panose="02020603050405020304" pitchFamily="18" charset="0"/>
                <a:cs typeface="Times New Roman" panose="02020603050405020304" pitchFamily="18" charset="0"/>
                <a:sym typeface="+mn-ea"/>
              </a:rPr>
              <a:t>be</a:t>
            </a:r>
            <a:r>
              <a:rPr lang="en-US"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Point</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(e.g.,</a:t>
            </a:r>
            <a:r>
              <a:rPr sz="1800" spc="-5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your</a:t>
            </a:r>
            <a:r>
              <a:rPr sz="1800" spc="-55"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home).</a:t>
            </a:r>
            <a:endParaRPr sz="1800">
              <a:latin typeface="Times New Roman" panose="02020603050405020304" pitchFamily="18" charset="0"/>
              <a:cs typeface="Times New Roman" panose="02020603050405020304" pitchFamily="18" charset="0"/>
            </a:endParaRPr>
          </a:p>
          <a:p>
            <a:pPr marR="6350" algn="just">
              <a:lnSpc>
                <a:spcPct val="100000"/>
              </a:lnSpc>
              <a:spcBef>
                <a:spcPts val="5"/>
              </a:spcBef>
            </a:pPr>
            <a:r>
              <a:rPr sz="1800" dirty="0">
                <a:solidFill>
                  <a:srgbClr val="3E3E3E"/>
                </a:solidFill>
                <a:latin typeface="Times New Roman" panose="02020603050405020304" pitchFamily="18" charset="0"/>
                <a:cs typeface="Times New Roman" panose="02020603050405020304" pitchFamily="18" charset="0"/>
                <a:sym typeface="+mn-ea"/>
              </a:rPr>
              <a:t>State</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Space:</a:t>
            </a:r>
            <a:r>
              <a:rPr sz="1800" spc="24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All</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possible</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locations</a:t>
            </a:r>
            <a:r>
              <a:rPr sz="1800" spc="6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on</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city</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map,</a:t>
            </a:r>
            <a:r>
              <a:rPr sz="1800" spc="6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representing</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intersections,</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roads,</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spc="-25" dirty="0">
                <a:solidFill>
                  <a:srgbClr val="3E3E3E"/>
                </a:solidFill>
                <a:latin typeface="Times New Roman" panose="02020603050405020304" pitchFamily="18" charset="0"/>
                <a:cs typeface="Times New Roman" panose="02020603050405020304" pitchFamily="18" charset="0"/>
                <a:sym typeface="+mn-ea"/>
              </a:rPr>
              <a:t>and </a:t>
            </a:r>
            <a:r>
              <a:rPr sz="1800" dirty="0">
                <a:solidFill>
                  <a:srgbClr val="3E3E3E"/>
                </a:solidFill>
                <a:latin typeface="Times New Roman" panose="02020603050405020304" pitchFamily="18" charset="0"/>
                <a:cs typeface="Times New Roman" panose="02020603050405020304" pitchFamily="18" charset="0"/>
                <a:sym typeface="+mn-ea"/>
              </a:rPr>
              <a:t>landmarks.</a:t>
            </a:r>
            <a:r>
              <a:rPr sz="1800" spc="-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Each</a:t>
            </a:r>
            <a:r>
              <a:rPr sz="1800" spc="-5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point</a:t>
            </a:r>
            <a:r>
              <a:rPr sz="1800" spc="-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on</a:t>
            </a:r>
            <a:r>
              <a:rPr sz="1800" spc="-6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map</a:t>
            </a:r>
            <a:r>
              <a:rPr sz="1800" spc="-4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is</a:t>
            </a:r>
            <a:r>
              <a:rPr sz="1800" spc="-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a:t>
            </a:r>
            <a:r>
              <a:rPr sz="1800" spc="-35"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state.</a:t>
            </a:r>
            <a:endParaRPr sz="1800">
              <a:latin typeface="Times New Roman" panose="02020603050405020304" pitchFamily="18" charset="0"/>
              <a:cs typeface="Times New Roman" panose="02020603050405020304" pitchFamily="18" charset="0"/>
            </a:endParaRPr>
          </a:p>
          <a:p>
            <a:pPr marR="5715" algn="just">
              <a:lnSpc>
                <a:spcPct val="100000"/>
              </a:lnSpc>
            </a:pPr>
            <a:r>
              <a:rPr sz="1800" dirty="0">
                <a:solidFill>
                  <a:srgbClr val="3E3E3E"/>
                </a:solidFill>
                <a:latin typeface="Times New Roman" panose="02020603050405020304" pitchFamily="18" charset="0"/>
                <a:cs typeface="Times New Roman" panose="02020603050405020304" pitchFamily="18" charset="0"/>
                <a:sym typeface="+mn-ea"/>
              </a:rPr>
              <a:t>Actions:</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possible</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moves</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agent</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can</a:t>
            </a:r>
            <a:r>
              <a:rPr sz="1800" spc="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make</a:t>
            </a:r>
            <a:r>
              <a:rPr sz="1800" spc="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from</a:t>
            </a:r>
            <a:r>
              <a:rPr sz="1800" spc="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one</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location</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to</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another.</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For</a:t>
            </a:r>
            <a:r>
              <a:rPr sz="1800" spc="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instance,</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spc="-25" dirty="0">
                <a:solidFill>
                  <a:srgbClr val="3E3E3E"/>
                </a:solidFill>
                <a:latin typeface="Times New Roman" panose="02020603050405020304" pitchFamily="18" charset="0"/>
                <a:cs typeface="Times New Roman" panose="02020603050405020304" pitchFamily="18" charset="0"/>
                <a:sym typeface="+mn-ea"/>
              </a:rPr>
              <a:t>AI </a:t>
            </a:r>
            <a:r>
              <a:rPr sz="1800" dirty="0">
                <a:solidFill>
                  <a:srgbClr val="3E3E3E"/>
                </a:solidFill>
                <a:latin typeface="Times New Roman" panose="02020603050405020304" pitchFamily="18" charset="0"/>
                <a:cs typeface="Times New Roman" panose="02020603050405020304" pitchFamily="18" charset="0"/>
                <a:sym typeface="+mn-ea"/>
              </a:rPr>
              <a:t>might</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choose</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to</a:t>
            </a:r>
            <a:r>
              <a:rPr sz="1800" spc="9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move</a:t>
            </a:r>
            <a:r>
              <a:rPr sz="1800" spc="9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north,</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south,</a:t>
            </a:r>
            <a:r>
              <a:rPr sz="1800" spc="8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east,</a:t>
            </a:r>
            <a:r>
              <a:rPr sz="1800" spc="1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or</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west</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between</a:t>
            </a:r>
            <a:r>
              <a:rPr sz="1800" spc="9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different</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intersections</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or</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roads</a:t>
            </a:r>
            <a:r>
              <a:rPr sz="1800" spc="9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on</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spc="-25" dirty="0">
                <a:solidFill>
                  <a:srgbClr val="3E3E3E"/>
                </a:solidFill>
                <a:latin typeface="Times New Roman" panose="02020603050405020304" pitchFamily="18" charset="0"/>
                <a:cs typeface="Times New Roman" panose="02020603050405020304" pitchFamily="18" charset="0"/>
                <a:sym typeface="+mn-ea"/>
              </a:rPr>
              <a:t>the </a:t>
            </a:r>
            <a:r>
              <a:rPr sz="1800" spc="-20" dirty="0">
                <a:solidFill>
                  <a:srgbClr val="3E3E3E"/>
                </a:solidFill>
                <a:latin typeface="Times New Roman" panose="02020603050405020304" pitchFamily="18" charset="0"/>
                <a:cs typeface="Times New Roman" panose="02020603050405020304" pitchFamily="18" charset="0"/>
                <a:sym typeface="+mn-ea"/>
              </a:rPr>
              <a:t>map.</a:t>
            </a:r>
            <a:endParaRPr sz="1800">
              <a:latin typeface="Times New Roman" panose="02020603050405020304" pitchFamily="18" charset="0"/>
              <a:cs typeface="Times New Roman" panose="02020603050405020304" pitchFamily="18" charset="0"/>
            </a:endParaRPr>
          </a:p>
          <a:p>
            <a:pPr algn="just">
              <a:lnSpc>
                <a:spcPct val="100000"/>
              </a:lnSpc>
            </a:pPr>
            <a:r>
              <a:rPr sz="1800" spc="-10" dirty="0">
                <a:solidFill>
                  <a:srgbClr val="3E3E3E"/>
                </a:solidFill>
                <a:latin typeface="Times New Roman" panose="02020603050405020304" pitchFamily="18" charset="0"/>
                <a:cs typeface="Times New Roman" panose="02020603050405020304" pitchFamily="18" charset="0"/>
                <a:sym typeface="+mn-ea"/>
              </a:rPr>
              <a:t>Transition</a:t>
            </a:r>
            <a:r>
              <a:rPr sz="1800" spc="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Model:</a:t>
            </a:r>
            <a:r>
              <a:rPr sz="1800" spc="1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Defines</a:t>
            </a:r>
            <a:r>
              <a:rPr sz="1800" spc="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result</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of</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each</a:t>
            </a:r>
            <a:r>
              <a:rPr sz="1800" spc="1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action.</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For</a:t>
            </a:r>
            <a:r>
              <a:rPr sz="1800" spc="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example,</a:t>
            </a:r>
            <a:r>
              <a:rPr sz="1800" spc="1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if</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 AI decides</a:t>
            </a:r>
            <a:r>
              <a:rPr sz="1800" spc="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to</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move</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north,</a:t>
            </a:r>
            <a:r>
              <a:rPr sz="1800" spc="10" dirty="0">
                <a:solidFill>
                  <a:srgbClr val="3E3E3E"/>
                </a:solidFill>
                <a:latin typeface="Times New Roman" panose="02020603050405020304" pitchFamily="18" charset="0"/>
                <a:cs typeface="Times New Roman" panose="02020603050405020304" pitchFamily="18" charset="0"/>
                <a:sym typeface="+mn-ea"/>
              </a:rPr>
              <a:t> </a:t>
            </a:r>
            <a:r>
              <a:rPr sz="1800" spc="-25" dirty="0">
                <a:solidFill>
                  <a:srgbClr val="3E3E3E"/>
                </a:solidFill>
                <a:latin typeface="Times New Roman" panose="02020603050405020304" pitchFamily="18" charset="0"/>
                <a:cs typeface="Times New Roman" panose="02020603050405020304" pitchFamily="18" charset="0"/>
                <a:sym typeface="+mn-ea"/>
              </a:rPr>
              <a:t>it</a:t>
            </a:r>
            <a:r>
              <a:rPr lang="en-US" sz="1800" spc="-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will</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land</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at</a:t>
            </a:r>
            <a:r>
              <a:rPr sz="1800" spc="-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4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next</a:t>
            </a:r>
            <a:r>
              <a:rPr sz="1800" spc="-25"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intersection</a:t>
            </a:r>
            <a:r>
              <a:rPr sz="1800" spc="-1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in</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that</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direction,</a:t>
            </a:r>
            <a:r>
              <a:rPr sz="1800" spc="-4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updating</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its</a:t>
            </a:r>
            <a:r>
              <a:rPr sz="1800" spc="-35"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state.</a:t>
            </a:r>
            <a:endParaRPr sz="1800">
              <a:latin typeface="Times New Roman" panose="02020603050405020304" pitchFamily="18" charset="0"/>
              <a:cs typeface="Times New Roman" panose="02020603050405020304" pitchFamily="18" charset="0"/>
            </a:endParaRPr>
          </a:p>
          <a:p>
            <a:pPr marR="5715" algn="just">
              <a:lnSpc>
                <a:spcPct val="100000"/>
              </a:lnSpc>
            </a:pPr>
            <a:r>
              <a:rPr sz="1800" dirty="0">
                <a:solidFill>
                  <a:srgbClr val="3E3E3E"/>
                </a:solidFill>
                <a:latin typeface="Times New Roman" panose="02020603050405020304" pitchFamily="18" charset="0"/>
                <a:cs typeface="Times New Roman" panose="02020603050405020304" pitchFamily="18" charset="0"/>
                <a:sym typeface="+mn-ea"/>
              </a:rPr>
              <a:t>Goal</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State:</a:t>
            </a:r>
            <a:r>
              <a:rPr sz="1800" spc="1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destination</a:t>
            </a:r>
            <a:r>
              <a:rPr sz="1800" spc="9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where</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9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agent</a:t>
            </a:r>
            <a:r>
              <a:rPr sz="1800" spc="1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wants</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to</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arrive,</a:t>
            </a:r>
            <a:r>
              <a:rPr sz="1800" spc="1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such</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as</a:t>
            </a:r>
            <a:r>
              <a:rPr sz="1800" spc="9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Point</a:t>
            </a:r>
            <a:r>
              <a:rPr sz="1800" spc="10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B</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(e.g.,</a:t>
            </a:r>
            <a:r>
              <a:rPr sz="1800" spc="10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a:t>
            </a:r>
            <a:r>
              <a:rPr sz="1800" spc="8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restaurant</a:t>
            </a:r>
            <a:r>
              <a:rPr sz="1800" spc="100" dirty="0">
                <a:solidFill>
                  <a:srgbClr val="3E3E3E"/>
                </a:solidFill>
                <a:latin typeface="Times New Roman" panose="02020603050405020304" pitchFamily="18" charset="0"/>
                <a:cs typeface="Times New Roman" panose="02020603050405020304" pitchFamily="18" charset="0"/>
                <a:sym typeface="+mn-ea"/>
              </a:rPr>
              <a:t> </a:t>
            </a:r>
            <a:r>
              <a:rPr sz="1800" spc="-25" dirty="0">
                <a:solidFill>
                  <a:srgbClr val="3E3E3E"/>
                </a:solidFill>
                <a:latin typeface="Times New Roman" panose="02020603050405020304" pitchFamily="18" charset="0"/>
                <a:cs typeface="Times New Roman" panose="02020603050405020304" pitchFamily="18" charset="0"/>
                <a:sym typeface="+mn-ea"/>
              </a:rPr>
              <a:t>or </a:t>
            </a:r>
            <a:r>
              <a:rPr sz="1800" spc="-10" dirty="0">
                <a:solidFill>
                  <a:srgbClr val="3E3E3E"/>
                </a:solidFill>
                <a:latin typeface="Times New Roman" panose="02020603050405020304" pitchFamily="18" charset="0"/>
                <a:cs typeface="Times New Roman" panose="02020603050405020304" pitchFamily="18" charset="0"/>
                <a:sym typeface="+mn-ea"/>
              </a:rPr>
              <a:t>office).</a:t>
            </a:r>
            <a:endParaRPr sz="1800">
              <a:latin typeface="Times New Roman" panose="02020603050405020304" pitchFamily="18" charset="0"/>
              <a:cs typeface="Times New Roman" panose="02020603050405020304" pitchFamily="18" charset="0"/>
            </a:endParaRPr>
          </a:p>
          <a:p>
            <a:pPr marR="7620" algn="just">
              <a:lnSpc>
                <a:spcPct val="100000"/>
              </a:lnSpc>
            </a:pPr>
            <a:r>
              <a:rPr sz="1800" dirty="0">
                <a:solidFill>
                  <a:srgbClr val="3E3E3E"/>
                </a:solidFill>
                <a:latin typeface="Times New Roman" panose="02020603050405020304" pitchFamily="18" charset="0"/>
                <a:cs typeface="Times New Roman" panose="02020603050405020304" pitchFamily="18" charset="0"/>
                <a:sym typeface="+mn-ea"/>
              </a:rPr>
              <a:t>Path</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Cost:</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a:t>
            </a:r>
            <a:r>
              <a:rPr sz="1800" spc="6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numerical</a:t>
            </a:r>
            <a:r>
              <a:rPr sz="1800" spc="6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value</a:t>
            </a:r>
            <a:r>
              <a:rPr sz="1800" spc="8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associated</a:t>
            </a:r>
            <a:r>
              <a:rPr sz="1800" spc="8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with</a:t>
            </a:r>
            <a:r>
              <a:rPr sz="1800" spc="8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traveling</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between</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two</a:t>
            </a:r>
            <a:r>
              <a:rPr sz="1800" spc="6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points</a:t>
            </a:r>
            <a:endParaRPr sz="1800" dirty="0">
              <a:solidFill>
                <a:srgbClr val="3E3E3E"/>
              </a:solidFill>
              <a:latin typeface="Times New Roman" panose="02020603050405020304" pitchFamily="18" charset="0"/>
              <a:cs typeface="Times New Roman" panose="02020603050405020304" pitchFamily="18" charset="0"/>
              <a:sym typeface="+mn-ea"/>
            </a:endParaRPr>
          </a:p>
          <a:p>
            <a:pPr marR="7620" algn="just">
              <a:lnSpc>
                <a:spcPct val="100000"/>
              </a:lnSpc>
            </a:pPr>
            <a:r>
              <a:rPr sz="1800" dirty="0">
                <a:solidFill>
                  <a:srgbClr val="3E3E3E"/>
                </a:solidFill>
                <a:latin typeface="Times New Roman" panose="02020603050405020304" pitchFamily="18" charset="0"/>
                <a:cs typeface="Times New Roman" panose="02020603050405020304" pitchFamily="18" charset="0"/>
                <a:sym typeface="+mn-ea"/>
              </a:rPr>
              <a:t>The</a:t>
            </a:r>
            <a:r>
              <a:rPr sz="1800" spc="7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AI</a:t>
            </a:r>
            <a:r>
              <a:rPr sz="1800" spc="6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could</a:t>
            </a:r>
            <a:r>
              <a:rPr sz="1800" spc="75"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minimize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1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distance</a:t>
            </a:r>
            <a:r>
              <a:rPr sz="1800" spc="1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(shortest</a:t>
            </a:r>
            <a:r>
              <a:rPr sz="1800" spc="1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path)</a:t>
            </a:r>
            <a:r>
              <a:rPr sz="1800" spc="1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or</a:t>
            </a:r>
            <a:r>
              <a:rPr sz="1800" spc="1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1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time</a:t>
            </a:r>
            <a:r>
              <a:rPr sz="1800" spc="1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(fastest</a:t>
            </a:r>
            <a:r>
              <a:rPr sz="1800" spc="1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path</a:t>
            </a:r>
            <a:r>
              <a:rPr sz="1800" spc="1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considering</a:t>
            </a:r>
            <a:r>
              <a:rPr sz="1800" spc="1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traffic</a:t>
            </a:r>
            <a:r>
              <a:rPr sz="1800" spc="13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or</a:t>
            </a:r>
            <a:r>
              <a:rPr sz="1800" spc="12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road</a:t>
            </a:r>
            <a:r>
              <a:rPr sz="1800" spc="12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conditions).</a:t>
            </a:r>
            <a:r>
              <a:rPr sz="1800" spc="135" dirty="0">
                <a:solidFill>
                  <a:srgbClr val="3E3E3E"/>
                </a:solidFill>
                <a:latin typeface="Times New Roman" panose="02020603050405020304" pitchFamily="18" charset="0"/>
                <a:cs typeface="Times New Roman" panose="02020603050405020304" pitchFamily="18" charset="0"/>
                <a:sym typeface="+mn-ea"/>
              </a:rPr>
              <a:t> </a:t>
            </a:r>
            <a:r>
              <a:rPr sz="1800" spc="-20" dirty="0">
                <a:solidFill>
                  <a:srgbClr val="3E3E3E"/>
                </a:solidFill>
                <a:latin typeface="Times New Roman" panose="02020603050405020304" pitchFamily="18" charset="0"/>
                <a:cs typeface="Times New Roman" panose="02020603050405020304" pitchFamily="18" charset="0"/>
                <a:sym typeface="+mn-ea"/>
              </a:rPr>
              <a:t>Path </a:t>
            </a:r>
            <a:r>
              <a:rPr sz="1800" dirty="0">
                <a:solidFill>
                  <a:srgbClr val="3E3E3E"/>
                </a:solidFill>
                <a:latin typeface="Times New Roman" panose="02020603050405020304" pitchFamily="18" charset="0"/>
                <a:cs typeface="Times New Roman" panose="02020603050405020304" pitchFamily="18" charset="0"/>
                <a:sym typeface="+mn-ea"/>
              </a:rPr>
              <a:t>costs</a:t>
            </a:r>
            <a:r>
              <a:rPr sz="1800" spc="-4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help</a:t>
            </a:r>
            <a:r>
              <a:rPr sz="1800" spc="-4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the</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AI</a:t>
            </a:r>
            <a:r>
              <a:rPr sz="1800" spc="-5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decide</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which</a:t>
            </a:r>
            <a:r>
              <a:rPr sz="1800" spc="-55"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moves</a:t>
            </a:r>
            <a:r>
              <a:rPr sz="1800" spc="-30" dirty="0">
                <a:solidFill>
                  <a:srgbClr val="3E3E3E"/>
                </a:solidFill>
                <a:latin typeface="Times New Roman" panose="02020603050405020304" pitchFamily="18" charset="0"/>
                <a:cs typeface="Times New Roman" panose="02020603050405020304" pitchFamily="18" charset="0"/>
                <a:sym typeface="+mn-ea"/>
              </a:rPr>
              <a:t> </a:t>
            </a:r>
            <a:r>
              <a:rPr sz="1800" dirty="0">
                <a:solidFill>
                  <a:srgbClr val="3E3E3E"/>
                </a:solidFill>
                <a:latin typeface="Times New Roman" panose="02020603050405020304" pitchFamily="18" charset="0"/>
                <a:cs typeface="Times New Roman" panose="02020603050405020304" pitchFamily="18" charset="0"/>
                <a:sym typeface="+mn-ea"/>
              </a:rPr>
              <a:t>are</a:t>
            </a:r>
            <a:r>
              <a:rPr sz="1800" spc="-40" dirty="0">
                <a:solidFill>
                  <a:srgbClr val="3E3E3E"/>
                </a:solidFill>
                <a:latin typeface="Times New Roman" panose="02020603050405020304" pitchFamily="18" charset="0"/>
                <a:cs typeface="Times New Roman" panose="02020603050405020304" pitchFamily="18" charset="0"/>
                <a:sym typeface="+mn-ea"/>
              </a:rPr>
              <a:t> </a:t>
            </a:r>
            <a:r>
              <a:rPr sz="1800" spc="-10" dirty="0">
                <a:solidFill>
                  <a:srgbClr val="3E3E3E"/>
                </a:solidFill>
                <a:latin typeface="Times New Roman" panose="02020603050405020304" pitchFamily="18" charset="0"/>
                <a:cs typeface="Times New Roman" panose="02020603050405020304" pitchFamily="18" charset="0"/>
                <a:sym typeface="+mn-ea"/>
              </a:rPr>
              <a:t>optimal.</a:t>
            </a:r>
            <a:endParaRPr sz="1800">
              <a:latin typeface="Times New Roman" panose="02020603050405020304" pitchFamily="18" charset="0"/>
              <a:cs typeface="Times New Roman" panose="02020603050405020304" pitchFamily="18" charset="0"/>
            </a:endParaRPr>
          </a:p>
          <a:p>
            <a:pPr marR="7620" algn="just">
              <a:lnSpc>
                <a:spcPct val="100000"/>
              </a:lnSpc>
            </a:pPr>
            <a:endParaRPr 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ags/tag1.xml><?xml version="1.0" encoding="utf-8"?>
<p:tagLst xmlns:p="http://schemas.openxmlformats.org/presentationml/2006/main">
  <p:tag name="TABLE_ENDDRAG_ORIGIN_RECT" val="708*412"/>
  <p:tag name="TABLE_ENDDRAG_RECT" val="11*43*708*4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43923</Words>
  <Application>WPS Presentation</Application>
  <PresentationFormat>On-screen Show (4:3)</PresentationFormat>
  <Paragraphs>673</Paragraphs>
  <Slides>93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93</vt:i4>
      </vt:variant>
    </vt:vector>
  </HeadingPairs>
  <TitlesOfParts>
    <vt:vector size="104" baseType="lpstr">
      <vt:lpstr>Arial</vt:lpstr>
      <vt:lpstr>SimSun</vt:lpstr>
      <vt:lpstr>Wingdings</vt:lpstr>
      <vt:lpstr>Times New Roman</vt:lpstr>
      <vt:lpstr>Times New Roman</vt:lpstr>
      <vt:lpstr>Microsoft YaHei</vt:lpstr>
      <vt:lpstr>Arial Unicode MS</vt:lpstr>
      <vt:lpstr>Calibri</vt:lpstr>
      <vt:lpstr>Carlito</vt:lpstr>
      <vt:lpstr>Segoe Print</vt:lpstr>
      <vt:lpstr>Office Theme</vt:lpstr>
      <vt:lpstr>ARITIFICAL INTELLIGENCE MVJ22CS552</vt:lpstr>
      <vt:lpstr>Course objective </vt:lpstr>
      <vt:lpstr>Course Outcomes</vt:lpstr>
      <vt:lpstr>Textbook and Reference books</vt:lpstr>
      <vt:lpstr>MODULE 1 </vt:lpstr>
      <vt:lpstr>1.1 What Is AI?</vt:lpstr>
      <vt:lpstr>PowerPoint 演示文稿</vt:lpstr>
      <vt:lpstr>PowerPoint 演示文稿</vt:lpstr>
      <vt:lpstr>Let  us  look  at the  four 	approaches in more detail.</vt:lpstr>
      <vt:lpstr>The computer would need the following capabilities:</vt:lpstr>
      <vt:lpstr>PowerPoint 演示文稿</vt:lpstr>
      <vt:lpstr>PowerPoint 演示文稿</vt:lpstr>
      <vt:lpstr>Thinking humanly</vt:lpstr>
      <vt:lpstr>PowerPoint 演示文稿</vt:lpstr>
      <vt:lpstr>Thinking rationally</vt:lpstr>
      <vt:lpstr> Acting rationally: The rational agent approach</vt:lpstr>
      <vt:lpstr>PowerPoint 演示文稿</vt:lpstr>
      <vt:lpstr>The Foundations of Artificial Intelligence</vt:lpstr>
      <vt:lpstr>PowerPoint 演示文稿</vt:lpstr>
      <vt:lpstr>PowerPoint 演示文稿</vt:lpstr>
      <vt:lpstr>AI Applications</vt:lpstr>
      <vt:lpstr>AI in Marketing</vt:lpstr>
      <vt:lpstr>AI in Banking</vt:lpstr>
      <vt:lpstr>AI in Finance</vt:lpstr>
      <vt:lpstr>AI in Agriculture</vt:lpstr>
      <vt:lpstr>AI in Health Care</vt:lpstr>
      <vt:lpstr>AI, Machine Learning, and Deep Learning</vt:lpstr>
      <vt:lpstr>Machine Learning</vt:lpstr>
      <vt:lpstr>Deep Learning</vt:lpstr>
      <vt:lpstr>The Birth of AI: 1950-1956</vt:lpstr>
      <vt:lpstr>HISTORY OF AI </vt:lpstr>
      <vt:lpstr>HISTORY OF AI</vt:lpstr>
      <vt:lpstr>PowerPoint 演示文稿</vt:lpstr>
      <vt:lpstr>AI maturation: 1957-1979</vt:lpstr>
      <vt:lpstr>PowerPoint 演示文稿</vt:lpstr>
      <vt:lpstr>AI boom: 1980-1987</vt:lpstr>
      <vt:lpstr>AI winter: 1987-1993</vt:lpstr>
      <vt:lpstr>AI agents: 1993-2011</vt:lpstr>
      <vt:lpstr>PowerPoint 演示文稿</vt:lpstr>
      <vt:lpstr>Artificial General Intelligence: 2012-present</vt:lpstr>
      <vt:lpstr>PowerPoint 演示文稿</vt:lpstr>
      <vt:lpstr>Agents in AI</vt:lpstr>
      <vt:lpstr>Agents and Their Interaction with the Environment</vt:lpstr>
      <vt:lpstr>Examples of Agents</vt:lpstr>
      <vt:lpstr>PowerPoint 演示文稿</vt:lpstr>
      <vt:lpstr>PowerPoint 演示文稿</vt:lpstr>
      <vt:lpstr>Components	of Agents</vt:lpstr>
      <vt:lpstr>Good Behavior: The Concept of Rationality</vt:lpstr>
      <vt:lpstr>PowerPoint 演示文稿</vt:lpstr>
      <vt:lpstr>PowerPoint 演示文稿</vt:lpstr>
      <vt:lpstr>Why are rational agents important?</vt:lpstr>
      <vt:lpstr>PowerPoint 演示文稿</vt:lpstr>
      <vt:lpstr>Rational Agent Real-World Applications</vt:lpstr>
      <vt:lpstr>The Nature of Environments</vt:lpstr>
      <vt:lpstr>Specifying the task environment</vt:lpstr>
      <vt:lpstr>PowerPoint 演示文稿</vt:lpstr>
      <vt:lpstr>PowerPoint 演示文稿</vt:lpstr>
      <vt:lpstr>PowerPoint 演示文稿</vt:lpstr>
      <vt:lpstr>PowerPoint 演示文稿</vt:lpstr>
      <vt:lpstr>An automated taxi driver.</vt:lpstr>
      <vt:lpstr>PowerPoint 演示文稿</vt:lpstr>
      <vt:lpstr>PowerPoint 演示文稿</vt:lpstr>
      <vt:lpstr>PowerPoint 演示文稿</vt:lpstr>
      <vt:lpstr>PowerPoint 演示文稿</vt:lpstr>
      <vt:lpstr>PowerPoint 演示文稿</vt:lpstr>
      <vt:lpstr>PowerPoint 演示文稿</vt:lpstr>
      <vt:lpstr>The Structure of Agents</vt:lpstr>
      <vt:lpstr>Agent programs</vt:lpstr>
      <vt:lpstr>PowerPoint 演示文稿</vt:lpstr>
      <vt:lpstr>Now	we	have	to	design	a	agent	progarm, that it should perform mapping function i.e AGENT TO PERCEPT (PROGRAM)</vt:lpstr>
      <vt:lpstr>PowerPoint 演示文稿</vt:lpstr>
      <vt:lpstr>PowerPoint 演示文稿</vt:lpstr>
      <vt:lpstr>PowerPoint 演示文稿</vt:lpstr>
      <vt:lpstr>PowerPoint 演示文稿</vt:lpstr>
      <vt:lpstr>2. The Model-based</vt:lpstr>
      <vt:lpstr>PowerPoint 演示文稿</vt:lpstr>
      <vt:lpstr>3. Goal-based agents</vt:lpstr>
      <vt:lpstr>4. Utility-based agents</vt:lpstr>
      <vt:lpstr>A Problem-Solving Agent </vt:lpstr>
      <vt:lpstr>PowerPoint 演示文稿</vt:lpstr>
      <vt:lpstr>PowerPoint 演示文稿</vt:lpstr>
      <vt:lpstr>Steps : Solve Problem Using Artificial Intelligence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poshitha</cp:lastModifiedBy>
  <cp:revision>547</cp:revision>
  <dcterms:created xsi:type="dcterms:W3CDTF">2006-08-16T00:00:00Z</dcterms:created>
  <dcterms:modified xsi:type="dcterms:W3CDTF">2025-08-18T03:13:48Z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634E14182409476DA67FD5AC87E7A434_13</vt:lpwstr>
  </property>
  <property fmtid="{D5CDD505-2E9C-101B-9397-08002B2CF9AE}" pid="3" name="KSOProductBuildVer">
    <vt:lpwstr>1033-12.2.0.21931</vt:lpwstr>
  </property>
</Properties>
</file>