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73" r:id="rId1"/>
    <p:sldMasterId id="2147483686" r:id="rId2"/>
    <p:sldMasterId id="2147483699" r:id="rId3"/>
    <p:sldMasterId id="2147483712" r:id="rId4"/>
  </p:sldMasterIdLst>
  <p:notesMasterIdLst>
    <p:notesMasterId r:id="rId79"/>
  </p:notesMasterIdLst>
  <p:handoutMasterIdLst>
    <p:handoutMasterId r:id="rId80"/>
  </p:handoutMasterIdLst>
  <p:sldIdLst>
    <p:sldId id="1087" r:id="rId5"/>
    <p:sldId id="1263" r:id="rId6"/>
    <p:sldId id="1088" r:id="rId7"/>
    <p:sldId id="1281" r:id="rId8"/>
    <p:sldId id="1239" r:id="rId9"/>
    <p:sldId id="1264" r:id="rId10"/>
    <p:sldId id="1185" r:id="rId11"/>
    <p:sldId id="1187" r:id="rId12"/>
    <p:sldId id="1188" r:id="rId13"/>
    <p:sldId id="1189" r:id="rId14"/>
    <p:sldId id="1190" r:id="rId15"/>
    <p:sldId id="1191" r:id="rId16"/>
    <p:sldId id="1192" r:id="rId17"/>
    <p:sldId id="1193" r:id="rId18"/>
    <p:sldId id="1194" r:id="rId19"/>
    <p:sldId id="1195" r:id="rId20"/>
    <p:sldId id="1196" r:id="rId21"/>
    <p:sldId id="1197" r:id="rId22"/>
    <p:sldId id="1198" r:id="rId23"/>
    <p:sldId id="1278" r:id="rId24"/>
    <p:sldId id="1279" r:id="rId25"/>
    <p:sldId id="1280" r:id="rId26"/>
    <p:sldId id="1199" r:id="rId27"/>
    <p:sldId id="1200" r:id="rId28"/>
    <p:sldId id="1201" r:id="rId29"/>
    <p:sldId id="1202" r:id="rId30"/>
    <p:sldId id="1203" r:id="rId31"/>
    <p:sldId id="1204" r:id="rId32"/>
    <p:sldId id="1205" r:id="rId33"/>
    <p:sldId id="1206" r:id="rId34"/>
    <p:sldId id="1207" r:id="rId35"/>
    <p:sldId id="1208" r:id="rId36"/>
    <p:sldId id="1209" r:id="rId37"/>
    <p:sldId id="1210" r:id="rId38"/>
    <p:sldId id="1211" r:id="rId39"/>
    <p:sldId id="1212" r:id="rId40"/>
    <p:sldId id="1242" r:id="rId41"/>
    <p:sldId id="1214" r:id="rId42"/>
    <p:sldId id="1215" r:id="rId43"/>
    <p:sldId id="1243" r:id="rId44"/>
    <p:sldId id="1217" r:id="rId45"/>
    <p:sldId id="1218" r:id="rId46"/>
    <p:sldId id="1219" r:id="rId47"/>
    <p:sldId id="1244" r:id="rId48"/>
    <p:sldId id="1245" r:id="rId49"/>
    <p:sldId id="1246" r:id="rId50"/>
    <p:sldId id="1247" r:id="rId51"/>
    <p:sldId id="1248" r:id="rId52"/>
    <p:sldId id="259" r:id="rId53"/>
    <p:sldId id="1282" r:id="rId54"/>
    <p:sldId id="1283" r:id="rId55"/>
    <p:sldId id="1249" r:id="rId56"/>
    <p:sldId id="1250" r:id="rId57"/>
    <p:sldId id="1251" r:id="rId58"/>
    <p:sldId id="1252" r:id="rId59"/>
    <p:sldId id="1253" r:id="rId60"/>
    <p:sldId id="1254" r:id="rId61"/>
    <p:sldId id="1255" r:id="rId62"/>
    <p:sldId id="1256" r:id="rId63"/>
    <p:sldId id="1257" r:id="rId64"/>
    <p:sldId id="1258" r:id="rId65"/>
    <p:sldId id="1268" r:id="rId66"/>
    <p:sldId id="1269" r:id="rId67"/>
    <p:sldId id="1270" r:id="rId68"/>
    <p:sldId id="1259" r:id="rId69"/>
    <p:sldId id="1260" r:id="rId70"/>
    <p:sldId id="1271" r:id="rId71"/>
    <p:sldId id="1272" r:id="rId72"/>
    <p:sldId id="1273" r:id="rId73"/>
    <p:sldId id="1274" r:id="rId74"/>
    <p:sldId id="1275" r:id="rId75"/>
    <p:sldId id="1276" r:id="rId76"/>
    <p:sldId id="1277" r:id="rId77"/>
    <p:sldId id="1236" r:id="rId7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040" userDrawn="1">
          <p15:clr>
            <a:srgbClr val="A4A3A4"/>
          </p15:clr>
        </p15:guide>
        <p15:guide id="2" pos="3901" userDrawn="1">
          <p15:clr>
            <a:srgbClr val="A4A3A4"/>
          </p15:clr>
        </p15:guide>
      </p15:sldGuideLst>
    </p:ext>
    <p:ext uri="{505F2C04-C923-438B-8C0F-E0CD2BADF298}">
      <wppc:fontMiss xmln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FFFF"/>
    <a:srgbClr val="2F2A96"/>
    <a:srgbClr val="9900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6831" autoAdjust="0"/>
  </p:normalViewPr>
  <p:slideViewPr>
    <p:cSldViewPr>
      <p:cViewPr varScale="1">
        <p:scale>
          <a:sx n="78" d="100"/>
          <a:sy n="78" d="100"/>
        </p:scale>
        <p:origin x="816" y="58"/>
      </p:cViewPr>
      <p:guideLst>
        <p:guide orient="horz" pos="2040"/>
        <p:guide pos="3901"/>
      </p:guideLst>
    </p:cSldViewPr>
  </p:slideViewPr>
  <p:outlineViewPr>
    <p:cViewPr>
      <p:scale>
        <a:sx n="33" d="100"/>
        <a:sy n="33" d="100"/>
      </p:scale>
      <p:origin x="0" y="1225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6ACCF03-A5CB-47D0-9AB4-25B70ACB6065}" type="datetimeFigureOut">
              <a:rPr lang="en-US"/>
              <a:pPr>
                <a:defRPr/>
              </a:pPr>
              <a:t>3/5/2024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E224FC2D-499D-4977-AD6E-DFE5C44AFDBA}"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4AF7606F-A96F-45CA-A7F5-C475331DE1F0}" type="datetimeFigureOut">
              <a:rPr lang="en-US"/>
              <a:pPr>
                <a:defRPr/>
              </a:pPr>
              <a:t>3/5/2024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1F6E767B-C300-4C47-9C50-417379AE6BB8}" type="slidenum">
              <a:rPr lang="en-US"/>
              <a:pPr>
                <a:defRPr/>
              </a:pPr>
              <a:t>‹#›</a:t>
            </a:fld>
            <a:endParaRPr 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B8E15B0-26B5-498B-9E65-AE969828653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defRPr/>
              </a:pPr>
              <a:t>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B8E15B0-26B5-498B-9E65-AE9698286534}" type="slidenum">
              <a:rPr kumimoji="0" lang="en-IN"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defRPr/>
              </a:pPr>
              <a:t>5</a:t>
            </a:fld>
            <a:endParaRPr kumimoji="0" lang="en-IN"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690222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1680724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2144457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1689024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677958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367052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3068135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1169634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283465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29299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3341375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5DBC8E-BCA1-40B6-9A00-F48178FC3A31}" type="slidenum">
              <a:rPr lang="en-US" smtClean="0"/>
              <a:pPr/>
              <a:t>‹#›</a:t>
            </a:fld>
            <a:endParaRPr lang="en-US"/>
          </a:p>
        </p:txBody>
      </p:sp>
    </p:spTree>
    <p:extLst>
      <p:ext uri="{BB962C8B-B14F-4D97-AF65-F5344CB8AC3E}">
        <p14:creationId xmlns:p14="http://schemas.microsoft.com/office/powerpoint/2010/main" val="1693216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cxnSp>
        <p:nvCxnSpPr>
          <p:cNvPr id="2" name="Straight Connector 1"/>
          <p:cNvCxnSpPr/>
          <p:nvPr userDrawn="1"/>
        </p:nvCxnSpPr>
        <p:spPr>
          <a:xfrm flipH="1">
            <a:off x="914400" y="6492875"/>
            <a:ext cx="1068228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Rectangle 2"/>
          <p:cNvSpPr/>
          <p:nvPr userDrawn="1"/>
        </p:nvSpPr>
        <p:spPr>
          <a:xfrm>
            <a:off x="0" y="4"/>
            <a:ext cx="12192000"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4" name="Freeform 6"/>
          <p:cNvSpPr>
            <a:spLocks noChangeAspect="1"/>
          </p:cNvSpPr>
          <p:nvPr userDrawn="1"/>
        </p:nvSpPr>
        <p:spPr bwMode="auto">
          <a:xfrm>
            <a:off x="3" y="190500"/>
            <a:ext cx="779463"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5" name="Freeform 14"/>
          <p:cNvSpPr/>
          <p:nvPr userDrawn="1"/>
        </p:nvSpPr>
        <p:spPr bwMode="auto">
          <a:xfrm>
            <a:off x="574676" y="190500"/>
            <a:ext cx="679451"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sp>
        <p:nvSpPr>
          <p:cNvPr id="6" name="Freeform 6"/>
          <p:cNvSpPr>
            <a:spLocks noChangeAspect="1"/>
          </p:cNvSpPr>
          <p:nvPr userDrawn="1"/>
        </p:nvSpPr>
        <p:spPr bwMode="auto">
          <a:xfrm>
            <a:off x="11596690" y="6483350"/>
            <a:ext cx="615951"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Tree>
    <p:extLst>
      <p:ext uri="{BB962C8B-B14F-4D97-AF65-F5344CB8AC3E}">
        <p14:creationId xmlns:p14="http://schemas.microsoft.com/office/powerpoint/2010/main" val="4262895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B961790-A6FA-4346-8134-328253751AB5}" type="slidenum">
              <a:rPr lang="en-US" smtClean="0"/>
              <a:pPr>
                <a:defRPr/>
              </a:pPr>
              <a:t>‹#›</a:t>
            </a:fld>
            <a:endParaRPr lang="en-US"/>
          </a:p>
        </p:txBody>
      </p:sp>
    </p:spTree>
    <p:extLst>
      <p:ext uri="{BB962C8B-B14F-4D97-AF65-F5344CB8AC3E}">
        <p14:creationId xmlns:p14="http://schemas.microsoft.com/office/powerpoint/2010/main" val="3297300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65798" y="0"/>
            <a:ext cx="10515600" cy="1325563"/>
          </a:xfrm>
        </p:spPr>
        <p:txBody>
          <a:bodyPr>
            <a:normAutofit/>
          </a:bodyPr>
          <a:lstStyle>
            <a:lvl1pPr>
              <a:defRPr sz="3500" b="1">
                <a:solidFill>
                  <a:srgbClr val="C00000"/>
                </a:solidFill>
                <a:latin typeface="Museo 300" panose="02000000000000000000" pitchFamily="50" charset="0"/>
              </a:defRPr>
            </a:lvl1pPr>
          </a:lstStyle>
          <a:p>
            <a:r>
              <a:rPr lang="en-US" dirty="0"/>
              <a:t>Click to edit Master title style</a:t>
            </a:r>
          </a:p>
        </p:txBody>
      </p:sp>
      <p:sp>
        <p:nvSpPr>
          <p:cNvPr id="3" name="Content Placeholder 2"/>
          <p:cNvSpPr>
            <a:spLocks noGrp="1"/>
          </p:cNvSpPr>
          <p:nvPr>
            <p:ph idx="1"/>
          </p:nvPr>
        </p:nvSpPr>
        <p:spPr>
          <a:xfrm>
            <a:off x="553961" y="1373409"/>
            <a:ext cx="10515600" cy="4351338"/>
          </a:xfrm>
        </p:spPr>
        <p:txBody>
          <a:bodyPr>
            <a:normAutofit/>
          </a:bodyPr>
          <a:lstStyle>
            <a:lvl1pPr>
              <a:defRPr sz="2000">
                <a:solidFill>
                  <a:schemeClr val="tx1">
                    <a:lumMod val="95000"/>
                    <a:lumOff val="5000"/>
                  </a:schemeClr>
                </a:solidFill>
                <a:latin typeface="Museo 300" panose="02000000000000000000" pitchFamily="50" charset="0"/>
              </a:defRPr>
            </a:lvl1pPr>
            <a:lvl2pPr>
              <a:defRPr sz="2000">
                <a:solidFill>
                  <a:schemeClr val="tx1">
                    <a:lumMod val="95000"/>
                    <a:lumOff val="5000"/>
                  </a:schemeClr>
                </a:solidFill>
                <a:latin typeface="Museo 300" panose="02000000000000000000" pitchFamily="50" charset="0"/>
              </a:defRPr>
            </a:lvl2pPr>
            <a:lvl3pPr>
              <a:defRPr sz="2000">
                <a:solidFill>
                  <a:schemeClr val="tx1">
                    <a:lumMod val="95000"/>
                    <a:lumOff val="5000"/>
                  </a:schemeClr>
                </a:solidFill>
                <a:latin typeface="Museo 300" panose="02000000000000000000" pitchFamily="50" charset="0"/>
              </a:defRPr>
            </a:lvl3pPr>
            <a:lvl4pPr>
              <a:defRPr sz="2000">
                <a:solidFill>
                  <a:schemeClr val="tx1">
                    <a:lumMod val="95000"/>
                    <a:lumOff val="5000"/>
                  </a:schemeClr>
                </a:solidFill>
                <a:latin typeface="Museo 300" panose="02000000000000000000" pitchFamily="50" charset="0"/>
              </a:defRPr>
            </a:lvl4pPr>
            <a:lvl5pPr>
              <a:defRPr sz="2000">
                <a:solidFill>
                  <a:schemeClr val="tx1">
                    <a:lumMod val="95000"/>
                    <a:lumOff val="5000"/>
                  </a:schemeClr>
                </a:solidFill>
                <a:latin typeface="Museo 300" panose="02000000000000000000" pitchFamily="50"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7" name="Subtitle 2"/>
          <p:cNvSpPr txBox="1">
            <a:spLocks noChangeArrowheads="1"/>
          </p:cNvSpPr>
          <p:nvPr userDrawn="1"/>
        </p:nvSpPr>
        <p:spPr bwMode="auto">
          <a:xfrm>
            <a:off x="1790590" y="6421413"/>
            <a:ext cx="9563210" cy="18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IN" sz="1050" b="1" dirty="0">
                <a:solidFill>
                  <a:srgbClr val="C00000"/>
                </a:solidFill>
                <a:latin typeface="Museo 300"/>
              </a:rPr>
              <a:t>An Autonomous Institution ,Affiliated to Visvesvaraya Technological University, Belagavi. Approved By AICTE, New Delhi. Recognized by UGC with 2(f) &amp; 12(B) status. Accredited by NBA and NAAC.</a:t>
            </a:r>
          </a:p>
        </p:txBody>
      </p:sp>
      <p:sp>
        <p:nvSpPr>
          <p:cNvPr id="8" name="Slide Number Placeholder 5"/>
          <p:cNvSpPr txBox="1"/>
          <p:nvPr userDrawn="1"/>
        </p:nvSpPr>
        <p:spPr>
          <a:xfrm>
            <a:off x="11069561" y="5598643"/>
            <a:ext cx="541867" cy="365125"/>
          </a:xfrm>
          <a:prstGeom prst="rect">
            <a:avLst/>
          </a:prstGeom>
        </p:spPr>
        <p:txBody>
          <a:bodyPr/>
          <a:lstStyle>
            <a:lvl1pPr defTabSz="913130">
              <a:defRPr>
                <a:solidFill>
                  <a:schemeClr val="tx1"/>
                </a:solidFill>
                <a:latin typeface="Arial" panose="020B0604020202020204" pitchFamily="34" charset="0"/>
              </a:defRPr>
            </a:lvl1pPr>
            <a:lvl2pPr marL="742950" indent="-285750" defTabSz="913130">
              <a:defRPr>
                <a:solidFill>
                  <a:schemeClr val="tx1"/>
                </a:solidFill>
                <a:latin typeface="Arial" panose="020B0604020202020204" pitchFamily="34" charset="0"/>
              </a:defRPr>
            </a:lvl2pPr>
            <a:lvl3pPr marL="1143000" indent="-228600" defTabSz="913130">
              <a:defRPr>
                <a:solidFill>
                  <a:schemeClr val="tx1"/>
                </a:solidFill>
                <a:latin typeface="Arial" panose="020B0604020202020204" pitchFamily="34" charset="0"/>
              </a:defRPr>
            </a:lvl3pPr>
            <a:lvl4pPr marL="1600200" indent="-228600" defTabSz="913130">
              <a:defRPr>
                <a:solidFill>
                  <a:schemeClr val="tx1"/>
                </a:solidFill>
                <a:latin typeface="Arial" panose="020B0604020202020204" pitchFamily="34" charset="0"/>
              </a:defRPr>
            </a:lvl4pPr>
            <a:lvl5pPr marL="2057400" indent="-228600" defTabSz="913130">
              <a:defRPr>
                <a:solidFill>
                  <a:schemeClr val="tx1"/>
                </a:solidFill>
                <a:latin typeface="Arial" panose="020B0604020202020204" pitchFamily="34" charset="0"/>
              </a:defRPr>
            </a:lvl5pPr>
            <a:lvl6pPr marL="2514600" indent="-228600" defTabSz="913130" eaLnBrk="0" fontAlgn="base" hangingPunct="0">
              <a:spcBef>
                <a:spcPct val="0"/>
              </a:spcBef>
              <a:spcAft>
                <a:spcPct val="0"/>
              </a:spcAft>
              <a:defRPr>
                <a:solidFill>
                  <a:schemeClr val="tx1"/>
                </a:solidFill>
                <a:latin typeface="Arial" panose="020B0604020202020204" pitchFamily="34" charset="0"/>
              </a:defRPr>
            </a:lvl6pPr>
            <a:lvl7pPr marL="2971800" indent="-228600" defTabSz="913130" eaLnBrk="0" fontAlgn="base" hangingPunct="0">
              <a:spcBef>
                <a:spcPct val="0"/>
              </a:spcBef>
              <a:spcAft>
                <a:spcPct val="0"/>
              </a:spcAft>
              <a:defRPr>
                <a:solidFill>
                  <a:schemeClr val="tx1"/>
                </a:solidFill>
                <a:latin typeface="Arial" panose="020B0604020202020204" pitchFamily="34" charset="0"/>
              </a:defRPr>
            </a:lvl7pPr>
            <a:lvl8pPr marL="3429000" indent="-228600" defTabSz="913130" eaLnBrk="0" fontAlgn="base" hangingPunct="0">
              <a:spcBef>
                <a:spcPct val="0"/>
              </a:spcBef>
              <a:spcAft>
                <a:spcPct val="0"/>
              </a:spcAft>
              <a:defRPr>
                <a:solidFill>
                  <a:schemeClr val="tx1"/>
                </a:solidFill>
                <a:latin typeface="Arial" panose="020B0604020202020204" pitchFamily="34" charset="0"/>
              </a:defRPr>
            </a:lvl8pPr>
            <a:lvl9pPr marL="3886200" indent="-228600" defTabSz="91313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9E723E7A-D6C9-43B1-9EAA-7B8D055CBC94}" type="slidenum">
              <a:rPr lang="en-US" altLang="en-US" sz="1300">
                <a:solidFill>
                  <a:schemeClr val="bg1"/>
                </a:solidFill>
                <a:latin typeface="Calibri" panose="020F0502020204030204" pitchFamily="34" charset="0"/>
              </a:rPr>
              <a:pPr algn="ctr" eaLnBrk="1" hangingPunct="1"/>
              <a:t>‹#›</a:t>
            </a:fld>
            <a:endParaRPr lang="en-US" altLang="en-US" sz="1300">
              <a:solidFill>
                <a:schemeClr val="bg1"/>
              </a:solidFill>
              <a:latin typeface="Calibri" panose="020F0502020204030204" pitchFamily="34" charset="0"/>
            </a:endParaRPr>
          </a:p>
        </p:txBody>
      </p:sp>
      <p:sp>
        <p:nvSpPr>
          <p:cNvPr id="9" name="Freeform 6"/>
          <p:cNvSpPr>
            <a:spLocks noChangeAspect="1"/>
          </p:cNvSpPr>
          <p:nvPr userDrawn="1"/>
        </p:nvSpPr>
        <p:spPr bwMode="auto">
          <a:xfrm>
            <a:off x="11370733" y="6424628"/>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cxnSp>
        <p:nvCxnSpPr>
          <p:cNvPr id="10" name="Straight Connector 9"/>
          <p:cNvCxnSpPr/>
          <p:nvPr userDrawn="1"/>
        </p:nvCxnSpPr>
        <p:spPr>
          <a:xfrm flipH="1" flipV="1">
            <a:off x="1794825" y="6400803"/>
            <a:ext cx="9652635" cy="28555"/>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0"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2"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 name="Freeform 12"/>
          <p:cNvSpPr/>
          <p:nvPr userDrawn="1"/>
        </p:nvSpPr>
        <p:spPr bwMode="auto">
          <a:xfrm>
            <a:off x="766235"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4" name="Picture 13"/>
          <p:cNvPicPr>
            <a:picLocks noChangeAspect="1"/>
          </p:cNvPicPr>
          <p:nvPr userDrawn="1"/>
        </p:nvPicPr>
        <p:blipFill>
          <a:blip r:embed="rId2"/>
          <a:stretch>
            <a:fillRect/>
          </a:stretch>
        </p:blipFill>
        <p:spPr>
          <a:xfrm>
            <a:off x="2" y="6099171"/>
            <a:ext cx="1765796" cy="710487"/>
          </a:xfrm>
          <a:prstGeom prst="rect">
            <a:avLst/>
          </a:prstGeom>
        </p:spPr>
      </p:pic>
      <p:sp>
        <p:nvSpPr>
          <p:cNvPr id="6" name="Slide Number Placeholder 5"/>
          <p:cNvSpPr>
            <a:spLocks noGrp="1"/>
          </p:cNvSpPr>
          <p:nvPr>
            <p:ph type="sldNum" sz="quarter" idx="12"/>
          </p:nvPr>
        </p:nvSpPr>
        <p:spPr>
          <a:xfrm>
            <a:off x="9038166" y="6441651"/>
            <a:ext cx="2743200" cy="365125"/>
          </a:xfrm>
        </p:spPr>
        <p:txBody>
          <a:bodyPr/>
          <a:lstStyle>
            <a:lvl1pPr>
              <a:defRPr>
                <a:solidFill>
                  <a:srgbClr val="FFFFFF"/>
                </a:solidFill>
              </a:defRPr>
            </a:lvl1pPr>
          </a:lstStyle>
          <a:p>
            <a:pPr>
              <a:defRPr/>
            </a:pPr>
            <a:fld id="{7567225B-3001-4770-81AD-EA67E82D7225}" type="slidenum">
              <a:rPr lang="en-US" smtClean="0"/>
              <a:pPr>
                <a:defRPr/>
              </a:pPr>
              <a:t>‹#›</a:t>
            </a:fld>
            <a:endParaRPr lang="en-US" dirty="0"/>
          </a:p>
        </p:txBody>
      </p:sp>
    </p:spTree>
    <p:extLst>
      <p:ext uri="{BB962C8B-B14F-4D97-AF65-F5344CB8AC3E}">
        <p14:creationId xmlns:p14="http://schemas.microsoft.com/office/powerpoint/2010/main" val="42323155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0C95E66-549C-45F3-8760-BF16C91FE33F}" type="slidenum">
              <a:rPr lang="en-US" smtClean="0"/>
              <a:pPr>
                <a:defRPr/>
              </a:pPr>
              <a:t>‹#›</a:t>
            </a:fld>
            <a:endParaRPr lang="en-US"/>
          </a:p>
        </p:txBody>
      </p:sp>
    </p:spTree>
    <p:extLst>
      <p:ext uri="{BB962C8B-B14F-4D97-AF65-F5344CB8AC3E}">
        <p14:creationId xmlns:p14="http://schemas.microsoft.com/office/powerpoint/2010/main" val="9591215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90AFBA8-1D03-4536-9D17-6487E477CBB8}" type="slidenum">
              <a:rPr lang="en-US" smtClean="0"/>
              <a:pPr>
                <a:defRPr/>
              </a:pPr>
              <a:t>‹#›</a:t>
            </a:fld>
            <a:endParaRPr lang="en-US"/>
          </a:p>
        </p:txBody>
      </p:sp>
    </p:spTree>
    <p:extLst>
      <p:ext uri="{BB962C8B-B14F-4D97-AF65-F5344CB8AC3E}">
        <p14:creationId xmlns:p14="http://schemas.microsoft.com/office/powerpoint/2010/main" val="11068733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
        <p:nvSpPr>
          <p:cNvPr id="10" name="Freeform 6"/>
          <p:cNvSpPr>
            <a:spLocks noChangeAspect="1"/>
          </p:cNvSpPr>
          <p:nvPr userDrawn="1"/>
        </p:nvSpPr>
        <p:spPr bwMode="auto">
          <a:xfrm>
            <a:off x="11297845" y="6363588"/>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1" name="Rectangle 10"/>
          <p:cNvSpPr/>
          <p:nvPr userDrawn="1"/>
        </p:nvSpPr>
        <p:spPr>
          <a:xfrm>
            <a:off x="1988235" y="6427116"/>
            <a:ext cx="9278423" cy="430887"/>
          </a:xfrm>
          <a:prstGeom prst="rect">
            <a:avLst/>
          </a:prstGeom>
        </p:spPr>
        <p:txBody>
          <a:bodyPr wrap="square">
            <a:spAutoFit/>
          </a:bodyPr>
          <a:lstStyle/>
          <a:p>
            <a:r>
              <a:rPr lang="en-IN" sz="1050" b="1" dirty="0">
                <a:solidFill>
                  <a:srgbClr val="C00000"/>
                </a:solidFill>
                <a:latin typeface="Museo 300"/>
              </a:rPr>
              <a:t>An Autonomous Institution ,Affiliated to </a:t>
            </a:r>
            <a:r>
              <a:rPr lang="en-IN" sz="1050" b="1" dirty="0" err="1">
                <a:solidFill>
                  <a:srgbClr val="C00000"/>
                </a:solidFill>
                <a:latin typeface="Museo 300"/>
              </a:rPr>
              <a:t>Visvesvaraya</a:t>
            </a:r>
            <a:r>
              <a:rPr lang="en-IN" sz="1050" b="1" dirty="0">
                <a:solidFill>
                  <a:srgbClr val="C00000"/>
                </a:solidFill>
                <a:latin typeface="Museo 300"/>
              </a:rPr>
              <a:t> Technological University, Belagavi. Approved By AICTE, New Delhi. Recognized by UGC with 2(f) &amp; 12(B) status. Accredited by NBA and NAAC.</a:t>
            </a:r>
          </a:p>
        </p:txBody>
      </p:sp>
      <p:cxnSp>
        <p:nvCxnSpPr>
          <p:cNvPr id="12" name="Straight Connector 11"/>
          <p:cNvCxnSpPr/>
          <p:nvPr userDrawn="1"/>
        </p:nvCxnSpPr>
        <p:spPr>
          <a:xfrm flipH="1" flipV="1">
            <a:off x="2133603" y="6372247"/>
            <a:ext cx="8737599" cy="25846"/>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12"/>
          <p:cNvSpPr/>
          <p:nvPr userDrawn="1"/>
        </p:nvSpPr>
        <p:spPr>
          <a:xfrm>
            <a:off x="0"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4"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5" name="Freeform 14"/>
          <p:cNvSpPr/>
          <p:nvPr userDrawn="1"/>
        </p:nvSpPr>
        <p:spPr bwMode="auto">
          <a:xfrm>
            <a:off x="766235"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6" name="Picture 15"/>
          <p:cNvPicPr>
            <a:picLocks noChangeAspect="1"/>
          </p:cNvPicPr>
          <p:nvPr userDrawn="1"/>
        </p:nvPicPr>
        <p:blipFill>
          <a:blip r:embed="rId2"/>
          <a:stretch>
            <a:fillRect/>
          </a:stretch>
        </p:blipFill>
        <p:spPr>
          <a:xfrm>
            <a:off x="61421" y="6126163"/>
            <a:ext cx="1698704" cy="683492"/>
          </a:xfrm>
          <a:prstGeom prst="rect">
            <a:avLst/>
          </a:prstGeom>
        </p:spPr>
      </p:pic>
    </p:spTree>
    <p:extLst>
      <p:ext uri="{BB962C8B-B14F-4D97-AF65-F5344CB8AC3E}">
        <p14:creationId xmlns:p14="http://schemas.microsoft.com/office/powerpoint/2010/main" val="14143816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AA31B365-2786-4F1C-8EDA-6FD2B746B06E}" type="slidenum">
              <a:rPr lang="en-US" smtClean="0"/>
              <a:pPr>
                <a:defRPr/>
              </a:pPr>
              <a:t>‹#›</a:t>
            </a:fld>
            <a:endParaRPr lang="en-US"/>
          </a:p>
        </p:txBody>
      </p:sp>
      <p:pic>
        <p:nvPicPr>
          <p:cNvPr id="6" name="Picture 5"/>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92040" y="5918200"/>
            <a:ext cx="2407920" cy="876300"/>
          </a:xfrm>
          <a:prstGeom prst="rect">
            <a:avLst/>
          </a:prstGeom>
          <a:noFill/>
          <a:ln>
            <a:noFill/>
          </a:ln>
        </p:spPr>
      </p:pic>
      <p:sp>
        <p:nvSpPr>
          <p:cNvPr id="7" name="Rectangle 6"/>
          <p:cNvSpPr/>
          <p:nvPr userDrawn="1"/>
        </p:nvSpPr>
        <p:spPr>
          <a:xfrm>
            <a:off x="0"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8"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9" name="Freeform 14"/>
          <p:cNvSpPr/>
          <p:nvPr userDrawn="1"/>
        </p:nvSpPr>
        <p:spPr bwMode="auto">
          <a:xfrm>
            <a:off x="766235"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spTree>
    <p:extLst>
      <p:ext uri="{BB962C8B-B14F-4D97-AF65-F5344CB8AC3E}">
        <p14:creationId xmlns:p14="http://schemas.microsoft.com/office/powerpoint/2010/main" val="20169326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DA6FD02F-D3CD-4E4F-800F-75D2C3ECA6E5}" type="slidenum">
              <a:rPr lang="en-US" smtClean="0"/>
              <a:pPr>
                <a:defRPr/>
              </a:pPr>
              <a:t>‹#›</a:t>
            </a:fld>
            <a:endParaRPr lang="en-US" dirty="0"/>
          </a:p>
        </p:txBody>
      </p:sp>
      <p:cxnSp>
        <p:nvCxnSpPr>
          <p:cNvPr id="5" name="Straight Connector 4"/>
          <p:cNvCxnSpPr/>
          <p:nvPr userDrawn="1"/>
        </p:nvCxnSpPr>
        <p:spPr>
          <a:xfrm flipH="1">
            <a:off x="2244878" y="6400800"/>
            <a:ext cx="862632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Rectangle 5"/>
          <p:cNvSpPr/>
          <p:nvPr userDrawn="1"/>
        </p:nvSpPr>
        <p:spPr>
          <a:xfrm>
            <a:off x="1988235" y="6400800"/>
            <a:ext cx="9278423" cy="400110"/>
          </a:xfrm>
          <a:prstGeom prst="rect">
            <a:avLst/>
          </a:prstGeom>
        </p:spPr>
        <p:txBody>
          <a:bodyPr wrap="square">
            <a:spAutoFit/>
          </a:bodyPr>
          <a:lstStyle/>
          <a:p>
            <a:r>
              <a:rPr lang="en-IN" sz="1000" b="1" dirty="0">
                <a:solidFill>
                  <a:srgbClr val="C00000"/>
                </a:solidFill>
                <a:latin typeface="Museo 300"/>
              </a:rPr>
              <a:t>An Autonomous Institution ,Affiliated to </a:t>
            </a:r>
            <a:r>
              <a:rPr lang="en-IN" sz="1000" b="1" dirty="0" err="1">
                <a:solidFill>
                  <a:srgbClr val="C00000"/>
                </a:solidFill>
                <a:latin typeface="Museo 300"/>
              </a:rPr>
              <a:t>Visvesvaraya</a:t>
            </a:r>
            <a:r>
              <a:rPr lang="en-IN" sz="1000" b="1" dirty="0">
                <a:solidFill>
                  <a:srgbClr val="C00000"/>
                </a:solidFill>
                <a:latin typeface="Museo 300"/>
              </a:rPr>
              <a:t> Technological University, Belagavi. Approved By AICTE, New Delhi. Recognized by UGC with 2(f) &amp; 12(B) status. Accredited by NBA and NAAC.</a:t>
            </a:r>
          </a:p>
        </p:txBody>
      </p:sp>
      <p:sp>
        <p:nvSpPr>
          <p:cNvPr id="7" name="Freeform 6"/>
          <p:cNvSpPr>
            <a:spLocks noChangeAspect="1"/>
          </p:cNvSpPr>
          <p:nvPr userDrawn="1"/>
        </p:nvSpPr>
        <p:spPr bwMode="auto">
          <a:xfrm>
            <a:off x="11348781" y="6400800"/>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8" name="Rectangle 7"/>
          <p:cNvSpPr/>
          <p:nvPr userDrawn="1"/>
        </p:nvSpPr>
        <p:spPr>
          <a:xfrm>
            <a:off x="0"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9"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0" name="Freeform 14"/>
          <p:cNvSpPr/>
          <p:nvPr userDrawn="1"/>
        </p:nvSpPr>
        <p:spPr bwMode="auto">
          <a:xfrm>
            <a:off x="766235"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1" name="Picture 10"/>
          <p:cNvPicPr>
            <a:picLocks noChangeAspect="1"/>
          </p:cNvPicPr>
          <p:nvPr userDrawn="1"/>
        </p:nvPicPr>
        <p:blipFill>
          <a:blip r:embed="rId2"/>
          <a:stretch>
            <a:fillRect/>
          </a:stretch>
        </p:blipFill>
        <p:spPr>
          <a:xfrm>
            <a:off x="53313" y="6085431"/>
            <a:ext cx="1744061" cy="701742"/>
          </a:xfrm>
          <a:prstGeom prst="rect">
            <a:avLst/>
          </a:prstGeom>
        </p:spPr>
      </p:pic>
    </p:spTree>
    <p:extLst>
      <p:ext uri="{BB962C8B-B14F-4D97-AF65-F5344CB8AC3E}">
        <p14:creationId xmlns:p14="http://schemas.microsoft.com/office/powerpoint/2010/main" val="1840125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D75708D-340D-43AA-B254-1DB4180647C9}" type="slidenum">
              <a:rPr lang="en-US" smtClean="0"/>
              <a:pPr>
                <a:defRPr/>
              </a:pPr>
              <a:t>‹#›</a:t>
            </a:fld>
            <a:endParaRPr lang="en-US"/>
          </a:p>
        </p:txBody>
      </p:sp>
    </p:spTree>
    <p:extLst>
      <p:ext uri="{BB962C8B-B14F-4D97-AF65-F5344CB8AC3E}">
        <p14:creationId xmlns:p14="http://schemas.microsoft.com/office/powerpoint/2010/main" val="16521666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C8C3591-FF6B-435A-AE90-3407BB231590}" type="slidenum">
              <a:rPr lang="en-US" smtClean="0"/>
              <a:pPr>
                <a:defRPr/>
              </a:pPr>
              <a:t>‹#›</a:t>
            </a:fld>
            <a:endParaRPr lang="en-US"/>
          </a:p>
        </p:txBody>
      </p:sp>
    </p:spTree>
    <p:extLst>
      <p:ext uri="{BB962C8B-B14F-4D97-AF65-F5344CB8AC3E}">
        <p14:creationId xmlns:p14="http://schemas.microsoft.com/office/powerpoint/2010/main" val="2078380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77BD7C0-F0D3-4E33-A2A5-81F6DA404926}" type="slidenum">
              <a:rPr lang="en-US" smtClean="0"/>
              <a:pPr>
                <a:defRPr/>
              </a:pPr>
              <a:t>‹#›</a:t>
            </a:fld>
            <a:endParaRPr lang="en-US"/>
          </a:p>
        </p:txBody>
      </p:sp>
    </p:spTree>
    <p:extLst>
      <p:ext uri="{BB962C8B-B14F-4D97-AF65-F5344CB8AC3E}">
        <p14:creationId xmlns:p14="http://schemas.microsoft.com/office/powerpoint/2010/main" val="6587153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8897BF3-1834-4A3C-9AA3-D53EBE05A213}" type="slidenum">
              <a:rPr lang="en-US" smtClean="0"/>
              <a:pPr>
                <a:defRPr/>
              </a:pPr>
              <a:t>‹#›</a:t>
            </a:fld>
            <a:endParaRPr lang="en-US"/>
          </a:p>
        </p:txBody>
      </p:sp>
    </p:spTree>
    <p:extLst>
      <p:ext uri="{BB962C8B-B14F-4D97-AF65-F5344CB8AC3E}">
        <p14:creationId xmlns:p14="http://schemas.microsoft.com/office/powerpoint/2010/main" val="1499885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cxnSp>
        <p:nvCxnSpPr>
          <p:cNvPr id="2" name="Straight Connector 1"/>
          <p:cNvCxnSpPr>
            <a:endCxn id="7" idx="1"/>
          </p:cNvCxnSpPr>
          <p:nvPr userDrawn="1"/>
        </p:nvCxnSpPr>
        <p:spPr>
          <a:xfrm flipH="1">
            <a:off x="838200" y="6492875"/>
            <a:ext cx="10758488" cy="4604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Rectangle 2"/>
          <p:cNvSpPr/>
          <p:nvPr userDrawn="1"/>
        </p:nvSpPr>
        <p:spPr>
          <a:xfrm>
            <a:off x="1" y="15"/>
            <a:ext cx="12192000"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sz="1800" dirty="0">
              <a:latin typeface="Museo 300" panose="02000000000000000000" pitchFamily="50" charset="0"/>
            </a:endParaRPr>
          </a:p>
        </p:txBody>
      </p:sp>
      <p:sp>
        <p:nvSpPr>
          <p:cNvPr id="4" name="Freeform 6"/>
          <p:cNvSpPr>
            <a:spLocks noChangeAspect="1"/>
          </p:cNvSpPr>
          <p:nvPr userDrawn="1"/>
        </p:nvSpPr>
        <p:spPr bwMode="auto">
          <a:xfrm>
            <a:off x="7" y="190500"/>
            <a:ext cx="779463"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sz="1800" dirty="0">
              <a:latin typeface="Museo 300" panose="02000000000000000000" pitchFamily="50" charset="0"/>
            </a:endParaRPr>
          </a:p>
        </p:txBody>
      </p:sp>
      <p:sp>
        <p:nvSpPr>
          <p:cNvPr id="5" name="Freeform 14"/>
          <p:cNvSpPr/>
          <p:nvPr userDrawn="1"/>
        </p:nvSpPr>
        <p:spPr bwMode="auto">
          <a:xfrm>
            <a:off x="574678" y="190500"/>
            <a:ext cx="679451"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sz="1800" dirty="0">
              <a:latin typeface="Museo 300" panose="02000000000000000000" pitchFamily="50" charset="0"/>
            </a:endParaRPr>
          </a:p>
        </p:txBody>
      </p:sp>
      <p:sp>
        <p:nvSpPr>
          <p:cNvPr id="6" name="Freeform 6"/>
          <p:cNvSpPr>
            <a:spLocks noChangeAspect="1"/>
          </p:cNvSpPr>
          <p:nvPr userDrawn="1"/>
        </p:nvSpPr>
        <p:spPr bwMode="auto">
          <a:xfrm>
            <a:off x="11596694" y="6483350"/>
            <a:ext cx="615950"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sz="1800" dirty="0">
              <a:latin typeface="Museo 300" panose="02000000000000000000" pitchFamily="50" charset="0"/>
            </a:endParaRPr>
          </a:p>
        </p:txBody>
      </p:sp>
      <p:sp>
        <p:nvSpPr>
          <p:cNvPr id="7" name="Date Placeholder 6"/>
          <p:cNvSpPr>
            <a:spLocks noGrp="1"/>
          </p:cNvSpPr>
          <p:nvPr>
            <p:ph type="dt" sz="half" idx="10"/>
          </p:nvPr>
        </p:nvSpPr>
        <p:spPr/>
        <p:txBody>
          <a:bodyPr/>
          <a:lstStyle/>
          <a:p>
            <a:endParaRPr lang="en-IN" dirty="0"/>
          </a:p>
        </p:txBody>
      </p:sp>
      <p:sp>
        <p:nvSpPr>
          <p:cNvPr id="9" name="Slide Number Placeholder 8"/>
          <p:cNvSpPr>
            <a:spLocks noGrp="1"/>
          </p:cNvSpPr>
          <p:nvPr>
            <p:ph type="sldNum" sz="quarter" idx="12"/>
          </p:nvPr>
        </p:nvSpPr>
        <p:spPr>
          <a:xfrm>
            <a:off x="11596694" y="6523317"/>
            <a:ext cx="434009" cy="365125"/>
          </a:xfrm>
        </p:spPr>
        <p:txBody>
          <a:bodyPr/>
          <a:lstStyle>
            <a:lvl1pPr>
              <a:defRPr>
                <a:solidFill>
                  <a:schemeClr val="bg1"/>
                </a:solidFill>
              </a:defRPr>
            </a:lvl1pPr>
          </a:lstStyle>
          <a:p>
            <a:fld id="{C1718CFD-035D-4D95-8B1E-50BE7B1BACFD}" type="slidenum">
              <a:rPr lang="en-IN" smtClean="0"/>
              <a:pPr/>
              <a:t>‹#›</a:t>
            </a:fld>
            <a:endParaRPr lang="en-IN" dirty="0"/>
          </a:p>
        </p:txBody>
      </p:sp>
      <p:pic>
        <p:nvPicPr>
          <p:cNvPr id="11" name="Picture 10"/>
          <p:cNvPicPr>
            <a:picLocks noChangeAspect="1"/>
          </p:cNvPicPr>
          <p:nvPr userDrawn="1"/>
        </p:nvPicPr>
        <p:blipFill>
          <a:blip r:embed="rId2" cstate="print"/>
          <a:stretch>
            <a:fillRect/>
          </a:stretch>
        </p:blipFill>
        <p:spPr>
          <a:xfrm>
            <a:off x="117295" y="6122445"/>
            <a:ext cx="1324347" cy="710487"/>
          </a:xfrm>
          <a:prstGeom prst="rect">
            <a:avLst/>
          </a:prstGeom>
        </p:spPr>
      </p:pic>
      <p:sp>
        <p:nvSpPr>
          <p:cNvPr id="8" name="Footer Placeholder 7"/>
          <p:cNvSpPr>
            <a:spLocks noGrp="1"/>
          </p:cNvSpPr>
          <p:nvPr>
            <p:ph type="ftr" sz="quarter" idx="11"/>
          </p:nvPr>
        </p:nvSpPr>
        <p:spPr>
          <a:xfrm>
            <a:off x="2546594" y="6731002"/>
            <a:ext cx="8560904" cy="208966"/>
          </a:xfrm>
        </p:spPr>
        <p:txBody>
          <a:bodyPr/>
          <a:lstStyle>
            <a:lvl1pPr algn="just">
              <a:defRPr sz="1200"/>
            </a:lvl1pPr>
          </a:lstStyle>
          <a:p>
            <a:endParaRPr lang="en-IN" dirty="0"/>
          </a:p>
        </p:txBody>
      </p:sp>
    </p:spTree>
    <p:extLst>
      <p:ext uri="{BB962C8B-B14F-4D97-AF65-F5344CB8AC3E}">
        <p14:creationId xmlns:p14="http://schemas.microsoft.com/office/powerpoint/2010/main" val="228717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B961790-A6FA-4346-8134-328253751AB5}" type="slidenum">
              <a:rPr lang="en-US" smtClean="0"/>
              <a:pPr>
                <a:defRPr/>
              </a:pPr>
              <a:t>‹#›</a:t>
            </a:fld>
            <a:endParaRPr lang="en-US"/>
          </a:p>
        </p:txBody>
      </p:sp>
    </p:spTree>
    <p:extLst>
      <p:ext uri="{BB962C8B-B14F-4D97-AF65-F5344CB8AC3E}">
        <p14:creationId xmlns:p14="http://schemas.microsoft.com/office/powerpoint/2010/main" val="32973007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65798" y="2"/>
            <a:ext cx="10515600" cy="1325563"/>
          </a:xfrm>
        </p:spPr>
        <p:txBody>
          <a:bodyPr>
            <a:normAutofit/>
          </a:bodyPr>
          <a:lstStyle>
            <a:lvl1pPr>
              <a:defRPr sz="3500" b="1">
                <a:solidFill>
                  <a:srgbClr val="C00000"/>
                </a:solidFill>
                <a:latin typeface="Museo 300" panose="02000000000000000000" pitchFamily="50" charset="0"/>
              </a:defRPr>
            </a:lvl1pPr>
          </a:lstStyle>
          <a:p>
            <a:r>
              <a:rPr lang="en-US" dirty="0"/>
              <a:t>Click to edit Master title style</a:t>
            </a:r>
          </a:p>
        </p:txBody>
      </p:sp>
      <p:sp>
        <p:nvSpPr>
          <p:cNvPr id="3" name="Content Placeholder 2"/>
          <p:cNvSpPr>
            <a:spLocks noGrp="1"/>
          </p:cNvSpPr>
          <p:nvPr>
            <p:ph idx="1"/>
          </p:nvPr>
        </p:nvSpPr>
        <p:spPr>
          <a:xfrm>
            <a:off x="553961" y="1373409"/>
            <a:ext cx="10515600" cy="4351338"/>
          </a:xfrm>
        </p:spPr>
        <p:txBody>
          <a:bodyPr>
            <a:normAutofit/>
          </a:bodyPr>
          <a:lstStyle>
            <a:lvl1pPr>
              <a:defRPr sz="2000">
                <a:solidFill>
                  <a:schemeClr val="tx1">
                    <a:lumMod val="95000"/>
                    <a:lumOff val="5000"/>
                  </a:schemeClr>
                </a:solidFill>
                <a:latin typeface="Museo 300" panose="02000000000000000000" pitchFamily="50" charset="0"/>
              </a:defRPr>
            </a:lvl1pPr>
            <a:lvl2pPr>
              <a:defRPr sz="2000">
                <a:solidFill>
                  <a:schemeClr val="tx1">
                    <a:lumMod val="95000"/>
                    <a:lumOff val="5000"/>
                  </a:schemeClr>
                </a:solidFill>
                <a:latin typeface="Museo 300" panose="02000000000000000000" pitchFamily="50" charset="0"/>
              </a:defRPr>
            </a:lvl2pPr>
            <a:lvl3pPr>
              <a:defRPr sz="2000">
                <a:solidFill>
                  <a:schemeClr val="tx1">
                    <a:lumMod val="95000"/>
                    <a:lumOff val="5000"/>
                  </a:schemeClr>
                </a:solidFill>
                <a:latin typeface="Museo 300" panose="02000000000000000000" pitchFamily="50" charset="0"/>
              </a:defRPr>
            </a:lvl3pPr>
            <a:lvl4pPr>
              <a:defRPr sz="2000">
                <a:solidFill>
                  <a:schemeClr val="tx1">
                    <a:lumMod val="95000"/>
                    <a:lumOff val="5000"/>
                  </a:schemeClr>
                </a:solidFill>
                <a:latin typeface="Museo 300" panose="02000000000000000000" pitchFamily="50" charset="0"/>
              </a:defRPr>
            </a:lvl4pPr>
            <a:lvl5pPr>
              <a:defRPr sz="2000">
                <a:solidFill>
                  <a:schemeClr val="tx1">
                    <a:lumMod val="95000"/>
                    <a:lumOff val="5000"/>
                  </a:schemeClr>
                </a:solidFill>
                <a:latin typeface="Museo 300" panose="02000000000000000000" pitchFamily="50"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7" name="Subtitle 2"/>
          <p:cNvSpPr txBox="1">
            <a:spLocks noChangeArrowheads="1"/>
          </p:cNvSpPr>
          <p:nvPr userDrawn="1"/>
        </p:nvSpPr>
        <p:spPr bwMode="auto">
          <a:xfrm>
            <a:off x="1790590" y="6421413"/>
            <a:ext cx="9563210" cy="18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IN" sz="1050" b="1" dirty="0">
                <a:solidFill>
                  <a:srgbClr val="C00000"/>
                </a:solidFill>
                <a:latin typeface="Museo 300"/>
              </a:rPr>
              <a:t>An Autonomous Institution ,Affiliated to Visvesvaraya Technological University, Belagavi. Approved By AICTE, New Delhi. Recognized by UGC with 2(f) &amp; 12(B) status. Accredited by NBA and NAAC.</a:t>
            </a:r>
          </a:p>
        </p:txBody>
      </p:sp>
      <p:sp>
        <p:nvSpPr>
          <p:cNvPr id="8" name="Slide Number Placeholder 5"/>
          <p:cNvSpPr txBox="1"/>
          <p:nvPr userDrawn="1"/>
        </p:nvSpPr>
        <p:spPr>
          <a:xfrm>
            <a:off x="11069562" y="5598645"/>
            <a:ext cx="541867" cy="365125"/>
          </a:xfrm>
          <a:prstGeom prst="rect">
            <a:avLst/>
          </a:prstGeom>
        </p:spPr>
        <p:txBody>
          <a:bodyPr/>
          <a:lstStyle>
            <a:lvl1pPr defTabSz="913130">
              <a:defRPr>
                <a:solidFill>
                  <a:schemeClr val="tx1"/>
                </a:solidFill>
                <a:latin typeface="Arial" panose="020B0604020202020204" pitchFamily="34" charset="0"/>
              </a:defRPr>
            </a:lvl1pPr>
            <a:lvl2pPr marL="742950" indent="-285750" defTabSz="913130">
              <a:defRPr>
                <a:solidFill>
                  <a:schemeClr val="tx1"/>
                </a:solidFill>
                <a:latin typeface="Arial" panose="020B0604020202020204" pitchFamily="34" charset="0"/>
              </a:defRPr>
            </a:lvl2pPr>
            <a:lvl3pPr marL="1143000" indent="-228600" defTabSz="913130">
              <a:defRPr>
                <a:solidFill>
                  <a:schemeClr val="tx1"/>
                </a:solidFill>
                <a:latin typeface="Arial" panose="020B0604020202020204" pitchFamily="34" charset="0"/>
              </a:defRPr>
            </a:lvl3pPr>
            <a:lvl4pPr marL="1600200" indent="-228600" defTabSz="913130">
              <a:defRPr>
                <a:solidFill>
                  <a:schemeClr val="tx1"/>
                </a:solidFill>
                <a:latin typeface="Arial" panose="020B0604020202020204" pitchFamily="34" charset="0"/>
              </a:defRPr>
            </a:lvl4pPr>
            <a:lvl5pPr marL="2057400" indent="-228600" defTabSz="913130">
              <a:defRPr>
                <a:solidFill>
                  <a:schemeClr val="tx1"/>
                </a:solidFill>
                <a:latin typeface="Arial" panose="020B0604020202020204" pitchFamily="34" charset="0"/>
              </a:defRPr>
            </a:lvl5pPr>
            <a:lvl6pPr marL="2514600" indent="-228600" defTabSz="913130" eaLnBrk="0" fontAlgn="base" hangingPunct="0">
              <a:spcBef>
                <a:spcPct val="0"/>
              </a:spcBef>
              <a:spcAft>
                <a:spcPct val="0"/>
              </a:spcAft>
              <a:defRPr>
                <a:solidFill>
                  <a:schemeClr val="tx1"/>
                </a:solidFill>
                <a:latin typeface="Arial" panose="020B0604020202020204" pitchFamily="34" charset="0"/>
              </a:defRPr>
            </a:lvl6pPr>
            <a:lvl7pPr marL="2971800" indent="-228600" defTabSz="913130" eaLnBrk="0" fontAlgn="base" hangingPunct="0">
              <a:spcBef>
                <a:spcPct val="0"/>
              </a:spcBef>
              <a:spcAft>
                <a:spcPct val="0"/>
              </a:spcAft>
              <a:defRPr>
                <a:solidFill>
                  <a:schemeClr val="tx1"/>
                </a:solidFill>
                <a:latin typeface="Arial" panose="020B0604020202020204" pitchFamily="34" charset="0"/>
              </a:defRPr>
            </a:lvl7pPr>
            <a:lvl8pPr marL="3429000" indent="-228600" defTabSz="913130" eaLnBrk="0" fontAlgn="base" hangingPunct="0">
              <a:spcBef>
                <a:spcPct val="0"/>
              </a:spcBef>
              <a:spcAft>
                <a:spcPct val="0"/>
              </a:spcAft>
              <a:defRPr>
                <a:solidFill>
                  <a:schemeClr val="tx1"/>
                </a:solidFill>
                <a:latin typeface="Arial" panose="020B0604020202020204" pitchFamily="34" charset="0"/>
              </a:defRPr>
            </a:lvl8pPr>
            <a:lvl9pPr marL="3886200" indent="-228600" defTabSz="91313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9E723E7A-D6C9-43B1-9EAA-7B8D055CBC94}" type="slidenum">
              <a:rPr lang="en-US" altLang="en-US" sz="1300">
                <a:solidFill>
                  <a:schemeClr val="bg1"/>
                </a:solidFill>
                <a:latin typeface="Calibri" panose="020F0502020204030204" pitchFamily="34" charset="0"/>
              </a:rPr>
              <a:pPr algn="ctr" eaLnBrk="1" hangingPunct="1"/>
              <a:t>‹#›</a:t>
            </a:fld>
            <a:endParaRPr lang="en-US" altLang="en-US" sz="1300">
              <a:solidFill>
                <a:schemeClr val="bg1"/>
              </a:solidFill>
              <a:latin typeface="Calibri" panose="020F0502020204030204" pitchFamily="34" charset="0"/>
            </a:endParaRPr>
          </a:p>
        </p:txBody>
      </p:sp>
      <p:sp>
        <p:nvSpPr>
          <p:cNvPr id="9" name="Freeform 6"/>
          <p:cNvSpPr>
            <a:spLocks noChangeAspect="1"/>
          </p:cNvSpPr>
          <p:nvPr userDrawn="1"/>
        </p:nvSpPr>
        <p:spPr bwMode="auto">
          <a:xfrm>
            <a:off x="11370734" y="6424628"/>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cxnSp>
        <p:nvCxnSpPr>
          <p:cNvPr id="10" name="Straight Connector 9"/>
          <p:cNvCxnSpPr/>
          <p:nvPr userDrawn="1"/>
        </p:nvCxnSpPr>
        <p:spPr>
          <a:xfrm flipH="1" flipV="1">
            <a:off x="1794826" y="6400805"/>
            <a:ext cx="9652635" cy="28555"/>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1"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2"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 name="Freeform 12"/>
          <p:cNvSpPr/>
          <p:nvPr userDrawn="1"/>
        </p:nvSpPr>
        <p:spPr bwMode="auto">
          <a:xfrm>
            <a:off x="766236"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4" name="Picture 13"/>
          <p:cNvPicPr>
            <a:picLocks noChangeAspect="1"/>
          </p:cNvPicPr>
          <p:nvPr userDrawn="1"/>
        </p:nvPicPr>
        <p:blipFill>
          <a:blip r:embed="rId2" cstate="print"/>
          <a:stretch>
            <a:fillRect/>
          </a:stretch>
        </p:blipFill>
        <p:spPr>
          <a:xfrm>
            <a:off x="2" y="6099173"/>
            <a:ext cx="1765796" cy="710487"/>
          </a:xfrm>
          <a:prstGeom prst="rect">
            <a:avLst/>
          </a:prstGeom>
        </p:spPr>
      </p:pic>
      <p:sp>
        <p:nvSpPr>
          <p:cNvPr id="6" name="Slide Number Placeholder 5"/>
          <p:cNvSpPr>
            <a:spLocks noGrp="1"/>
          </p:cNvSpPr>
          <p:nvPr>
            <p:ph type="sldNum" sz="quarter" idx="12"/>
          </p:nvPr>
        </p:nvSpPr>
        <p:spPr>
          <a:xfrm>
            <a:off x="9038166" y="6441653"/>
            <a:ext cx="2743200" cy="365125"/>
          </a:xfrm>
        </p:spPr>
        <p:txBody>
          <a:bodyPr/>
          <a:lstStyle>
            <a:lvl1pPr>
              <a:defRPr>
                <a:solidFill>
                  <a:srgbClr val="FFFFFF"/>
                </a:solidFill>
              </a:defRPr>
            </a:lvl1pPr>
          </a:lstStyle>
          <a:p>
            <a:pPr>
              <a:defRPr/>
            </a:pPr>
            <a:fld id="{7567225B-3001-4770-81AD-EA67E82D7225}" type="slidenum">
              <a:rPr lang="en-US" smtClean="0"/>
              <a:pPr>
                <a:defRPr/>
              </a:pPr>
              <a:t>‹#›</a:t>
            </a:fld>
            <a:endParaRPr lang="en-US" dirty="0"/>
          </a:p>
        </p:txBody>
      </p:sp>
    </p:spTree>
    <p:extLst>
      <p:ext uri="{BB962C8B-B14F-4D97-AF65-F5344CB8AC3E}">
        <p14:creationId xmlns:p14="http://schemas.microsoft.com/office/powerpoint/2010/main" val="42323155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0C95E66-549C-45F3-8760-BF16C91FE33F}" type="slidenum">
              <a:rPr lang="en-US" smtClean="0"/>
              <a:pPr>
                <a:defRPr/>
              </a:pPr>
              <a:t>‹#›</a:t>
            </a:fld>
            <a:endParaRPr lang="en-US"/>
          </a:p>
        </p:txBody>
      </p:sp>
    </p:spTree>
    <p:extLst>
      <p:ext uri="{BB962C8B-B14F-4D97-AF65-F5344CB8AC3E}">
        <p14:creationId xmlns:p14="http://schemas.microsoft.com/office/powerpoint/2010/main" val="9591215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90AFBA8-1D03-4536-9D17-6487E477CBB8}" type="slidenum">
              <a:rPr lang="en-US" smtClean="0"/>
              <a:pPr>
                <a:defRPr/>
              </a:pPr>
              <a:t>‹#›</a:t>
            </a:fld>
            <a:endParaRPr lang="en-US"/>
          </a:p>
        </p:txBody>
      </p:sp>
    </p:spTree>
    <p:extLst>
      <p:ext uri="{BB962C8B-B14F-4D97-AF65-F5344CB8AC3E}">
        <p14:creationId xmlns:p14="http://schemas.microsoft.com/office/powerpoint/2010/main" val="11068733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
        <p:nvSpPr>
          <p:cNvPr id="10" name="Freeform 6"/>
          <p:cNvSpPr>
            <a:spLocks noChangeAspect="1"/>
          </p:cNvSpPr>
          <p:nvPr userDrawn="1"/>
        </p:nvSpPr>
        <p:spPr bwMode="auto">
          <a:xfrm>
            <a:off x="11297846" y="6363588"/>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1" name="Rectangle 10"/>
          <p:cNvSpPr/>
          <p:nvPr userDrawn="1"/>
        </p:nvSpPr>
        <p:spPr>
          <a:xfrm>
            <a:off x="1988236" y="6427118"/>
            <a:ext cx="9278423" cy="430887"/>
          </a:xfrm>
          <a:prstGeom prst="rect">
            <a:avLst/>
          </a:prstGeom>
        </p:spPr>
        <p:txBody>
          <a:bodyPr wrap="square">
            <a:spAutoFit/>
          </a:bodyPr>
          <a:lstStyle/>
          <a:p>
            <a:r>
              <a:rPr lang="en-IN" sz="1050" b="1" dirty="0">
                <a:solidFill>
                  <a:srgbClr val="C00000"/>
                </a:solidFill>
                <a:latin typeface="Museo 300"/>
              </a:rPr>
              <a:t>An Autonomous Institution ,Affiliated to </a:t>
            </a:r>
            <a:r>
              <a:rPr lang="en-IN" sz="1050" b="1" dirty="0" err="1">
                <a:solidFill>
                  <a:srgbClr val="C00000"/>
                </a:solidFill>
                <a:latin typeface="Museo 300"/>
              </a:rPr>
              <a:t>Visvesvaraya</a:t>
            </a:r>
            <a:r>
              <a:rPr lang="en-IN" sz="1050" b="1" dirty="0">
                <a:solidFill>
                  <a:srgbClr val="C00000"/>
                </a:solidFill>
                <a:latin typeface="Museo 300"/>
              </a:rPr>
              <a:t> Technological University, Belagavi. Approved By AICTE, New Delhi. Recognized by UGC with 2(f) &amp; 12(B) status. Accredited by NBA and NAAC.</a:t>
            </a:r>
          </a:p>
        </p:txBody>
      </p:sp>
      <p:cxnSp>
        <p:nvCxnSpPr>
          <p:cNvPr id="12" name="Straight Connector 11"/>
          <p:cNvCxnSpPr/>
          <p:nvPr userDrawn="1"/>
        </p:nvCxnSpPr>
        <p:spPr>
          <a:xfrm flipH="1" flipV="1">
            <a:off x="2133604" y="6372247"/>
            <a:ext cx="8737599" cy="25846"/>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12"/>
          <p:cNvSpPr/>
          <p:nvPr userDrawn="1"/>
        </p:nvSpPr>
        <p:spPr>
          <a:xfrm>
            <a:off x="1"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4"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5" name="Freeform 14"/>
          <p:cNvSpPr/>
          <p:nvPr userDrawn="1"/>
        </p:nvSpPr>
        <p:spPr bwMode="auto">
          <a:xfrm>
            <a:off x="766236"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6" name="Picture 15"/>
          <p:cNvPicPr>
            <a:picLocks noChangeAspect="1"/>
          </p:cNvPicPr>
          <p:nvPr userDrawn="1"/>
        </p:nvPicPr>
        <p:blipFill>
          <a:blip r:embed="rId2" cstate="print"/>
          <a:stretch>
            <a:fillRect/>
          </a:stretch>
        </p:blipFill>
        <p:spPr>
          <a:xfrm>
            <a:off x="61421" y="6126163"/>
            <a:ext cx="1698704" cy="683492"/>
          </a:xfrm>
          <a:prstGeom prst="rect">
            <a:avLst/>
          </a:prstGeom>
        </p:spPr>
      </p:pic>
    </p:spTree>
    <p:extLst>
      <p:ext uri="{BB962C8B-B14F-4D97-AF65-F5344CB8AC3E}">
        <p14:creationId xmlns:p14="http://schemas.microsoft.com/office/powerpoint/2010/main" val="14143816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AA31B365-2786-4F1C-8EDA-6FD2B746B06E}" type="slidenum">
              <a:rPr lang="en-US" smtClean="0"/>
              <a:pPr>
                <a:defRPr/>
              </a:pPr>
              <a:t>‹#›</a:t>
            </a:fld>
            <a:endParaRPr lang="en-US"/>
          </a:p>
        </p:txBody>
      </p:sp>
      <p:pic>
        <p:nvPicPr>
          <p:cNvPr id="6" name="Picture 5"/>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92041" y="5918200"/>
            <a:ext cx="2407920" cy="876300"/>
          </a:xfrm>
          <a:prstGeom prst="rect">
            <a:avLst/>
          </a:prstGeom>
          <a:noFill/>
          <a:ln>
            <a:noFill/>
          </a:ln>
        </p:spPr>
      </p:pic>
      <p:sp>
        <p:nvSpPr>
          <p:cNvPr id="7" name="Rectangle 6"/>
          <p:cNvSpPr/>
          <p:nvPr userDrawn="1"/>
        </p:nvSpPr>
        <p:spPr>
          <a:xfrm>
            <a:off x="1"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8"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9" name="Freeform 14"/>
          <p:cNvSpPr/>
          <p:nvPr userDrawn="1"/>
        </p:nvSpPr>
        <p:spPr bwMode="auto">
          <a:xfrm>
            <a:off x="766236"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spTree>
    <p:extLst>
      <p:ext uri="{BB962C8B-B14F-4D97-AF65-F5344CB8AC3E}">
        <p14:creationId xmlns:p14="http://schemas.microsoft.com/office/powerpoint/2010/main" val="20169326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DA6FD02F-D3CD-4E4F-800F-75D2C3ECA6E5}" type="slidenum">
              <a:rPr lang="en-US" smtClean="0"/>
              <a:pPr>
                <a:defRPr/>
              </a:pPr>
              <a:t>‹#›</a:t>
            </a:fld>
            <a:endParaRPr lang="en-US" dirty="0"/>
          </a:p>
        </p:txBody>
      </p:sp>
      <p:cxnSp>
        <p:nvCxnSpPr>
          <p:cNvPr id="5" name="Straight Connector 4"/>
          <p:cNvCxnSpPr/>
          <p:nvPr userDrawn="1"/>
        </p:nvCxnSpPr>
        <p:spPr>
          <a:xfrm flipH="1">
            <a:off x="2244878" y="6400800"/>
            <a:ext cx="862632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Rectangle 5"/>
          <p:cNvSpPr/>
          <p:nvPr userDrawn="1"/>
        </p:nvSpPr>
        <p:spPr>
          <a:xfrm>
            <a:off x="1988236" y="6400800"/>
            <a:ext cx="9278423" cy="400110"/>
          </a:xfrm>
          <a:prstGeom prst="rect">
            <a:avLst/>
          </a:prstGeom>
        </p:spPr>
        <p:txBody>
          <a:bodyPr wrap="square">
            <a:spAutoFit/>
          </a:bodyPr>
          <a:lstStyle/>
          <a:p>
            <a:r>
              <a:rPr lang="en-IN" sz="1000" b="1" dirty="0">
                <a:solidFill>
                  <a:srgbClr val="C00000"/>
                </a:solidFill>
                <a:latin typeface="Museo 300"/>
              </a:rPr>
              <a:t>An Autonomous Institution ,Affiliated to </a:t>
            </a:r>
            <a:r>
              <a:rPr lang="en-IN" sz="1000" b="1" dirty="0" err="1">
                <a:solidFill>
                  <a:srgbClr val="C00000"/>
                </a:solidFill>
                <a:latin typeface="Museo 300"/>
              </a:rPr>
              <a:t>Visvesvaraya</a:t>
            </a:r>
            <a:r>
              <a:rPr lang="en-IN" sz="1000" b="1" dirty="0">
                <a:solidFill>
                  <a:srgbClr val="C00000"/>
                </a:solidFill>
                <a:latin typeface="Museo 300"/>
              </a:rPr>
              <a:t> Technological University, Belagavi. Approved By AICTE, New Delhi. Recognized by UGC with 2(f) &amp; 12(B) status. Accredited by NBA and NAAC.</a:t>
            </a:r>
          </a:p>
        </p:txBody>
      </p:sp>
      <p:sp>
        <p:nvSpPr>
          <p:cNvPr id="7" name="Freeform 6"/>
          <p:cNvSpPr>
            <a:spLocks noChangeAspect="1"/>
          </p:cNvSpPr>
          <p:nvPr userDrawn="1"/>
        </p:nvSpPr>
        <p:spPr bwMode="auto">
          <a:xfrm>
            <a:off x="11348782" y="6400800"/>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8" name="Rectangle 7"/>
          <p:cNvSpPr/>
          <p:nvPr userDrawn="1"/>
        </p:nvSpPr>
        <p:spPr>
          <a:xfrm>
            <a:off x="1"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9"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0" name="Freeform 14"/>
          <p:cNvSpPr/>
          <p:nvPr userDrawn="1"/>
        </p:nvSpPr>
        <p:spPr bwMode="auto">
          <a:xfrm>
            <a:off x="766236"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1" name="Picture 10"/>
          <p:cNvPicPr>
            <a:picLocks noChangeAspect="1"/>
          </p:cNvPicPr>
          <p:nvPr userDrawn="1"/>
        </p:nvPicPr>
        <p:blipFill>
          <a:blip r:embed="rId2" cstate="print"/>
          <a:stretch>
            <a:fillRect/>
          </a:stretch>
        </p:blipFill>
        <p:spPr>
          <a:xfrm>
            <a:off x="53314" y="6085431"/>
            <a:ext cx="1744061" cy="701742"/>
          </a:xfrm>
          <a:prstGeom prst="rect">
            <a:avLst/>
          </a:prstGeom>
        </p:spPr>
      </p:pic>
    </p:spTree>
    <p:extLst>
      <p:ext uri="{BB962C8B-B14F-4D97-AF65-F5344CB8AC3E}">
        <p14:creationId xmlns:p14="http://schemas.microsoft.com/office/powerpoint/2010/main" val="18401257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D75708D-340D-43AA-B254-1DB4180647C9}" type="slidenum">
              <a:rPr lang="en-US" smtClean="0"/>
              <a:pPr>
                <a:defRPr/>
              </a:pPr>
              <a:t>‹#›</a:t>
            </a:fld>
            <a:endParaRPr lang="en-US"/>
          </a:p>
        </p:txBody>
      </p:sp>
    </p:spTree>
    <p:extLst>
      <p:ext uri="{BB962C8B-B14F-4D97-AF65-F5344CB8AC3E}">
        <p14:creationId xmlns:p14="http://schemas.microsoft.com/office/powerpoint/2010/main" val="16521666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C8C3591-FF6B-435A-AE90-3407BB231590}" type="slidenum">
              <a:rPr lang="en-US" smtClean="0"/>
              <a:pPr>
                <a:defRPr/>
              </a:pPr>
              <a:t>‹#›</a:t>
            </a:fld>
            <a:endParaRPr lang="en-US"/>
          </a:p>
        </p:txBody>
      </p:sp>
    </p:spTree>
    <p:extLst>
      <p:ext uri="{BB962C8B-B14F-4D97-AF65-F5344CB8AC3E}">
        <p14:creationId xmlns:p14="http://schemas.microsoft.com/office/powerpoint/2010/main" val="2078380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77BD7C0-F0D3-4E33-A2A5-81F6DA404926}" type="slidenum">
              <a:rPr lang="en-US" smtClean="0"/>
              <a:pPr>
                <a:defRPr/>
              </a:pPr>
              <a:t>‹#›</a:t>
            </a:fld>
            <a:endParaRPr lang="en-US"/>
          </a:p>
        </p:txBody>
      </p:sp>
    </p:spTree>
    <p:extLst>
      <p:ext uri="{BB962C8B-B14F-4D97-AF65-F5344CB8AC3E}">
        <p14:creationId xmlns:p14="http://schemas.microsoft.com/office/powerpoint/2010/main" val="658715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8897BF3-1834-4A3C-9AA3-D53EBE05A213}" type="slidenum">
              <a:rPr lang="en-US" smtClean="0"/>
              <a:pPr>
                <a:defRPr/>
              </a:pPr>
              <a:t>‹#›</a:t>
            </a:fld>
            <a:endParaRPr lang="en-US"/>
          </a:p>
        </p:txBody>
      </p:sp>
    </p:spTree>
    <p:extLst>
      <p:ext uri="{BB962C8B-B14F-4D97-AF65-F5344CB8AC3E}">
        <p14:creationId xmlns:p14="http://schemas.microsoft.com/office/powerpoint/2010/main" val="14998853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cxnSp>
        <p:nvCxnSpPr>
          <p:cNvPr id="2" name="Straight Connector 1"/>
          <p:cNvCxnSpPr>
            <a:endCxn id="7" idx="1"/>
          </p:cNvCxnSpPr>
          <p:nvPr userDrawn="1"/>
        </p:nvCxnSpPr>
        <p:spPr>
          <a:xfrm flipH="1">
            <a:off x="838200" y="6492875"/>
            <a:ext cx="10758488" cy="4604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Rectangle 2"/>
          <p:cNvSpPr/>
          <p:nvPr userDrawn="1"/>
        </p:nvSpPr>
        <p:spPr>
          <a:xfrm>
            <a:off x="1" y="8"/>
            <a:ext cx="12192000"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sz="1800" dirty="0">
              <a:latin typeface="Museo 300" panose="02000000000000000000" pitchFamily="50" charset="0"/>
            </a:endParaRPr>
          </a:p>
        </p:txBody>
      </p:sp>
      <p:sp>
        <p:nvSpPr>
          <p:cNvPr id="4" name="Freeform 6"/>
          <p:cNvSpPr>
            <a:spLocks noChangeAspect="1"/>
          </p:cNvSpPr>
          <p:nvPr userDrawn="1"/>
        </p:nvSpPr>
        <p:spPr bwMode="auto">
          <a:xfrm>
            <a:off x="6" y="190500"/>
            <a:ext cx="779463"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sz="1800" dirty="0">
              <a:latin typeface="Museo 300" panose="02000000000000000000" pitchFamily="50" charset="0"/>
            </a:endParaRPr>
          </a:p>
        </p:txBody>
      </p:sp>
      <p:sp>
        <p:nvSpPr>
          <p:cNvPr id="5" name="Freeform 14"/>
          <p:cNvSpPr/>
          <p:nvPr userDrawn="1"/>
        </p:nvSpPr>
        <p:spPr bwMode="auto">
          <a:xfrm>
            <a:off x="574678" y="190500"/>
            <a:ext cx="679451"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sz="1800" dirty="0">
              <a:latin typeface="Museo 300" panose="02000000000000000000" pitchFamily="50" charset="0"/>
            </a:endParaRPr>
          </a:p>
        </p:txBody>
      </p:sp>
      <p:sp>
        <p:nvSpPr>
          <p:cNvPr id="6" name="Freeform 6"/>
          <p:cNvSpPr>
            <a:spLocks noChangeAspect="1"/>
          </p:cNvSpPr>
          <p:nvPr userDrawn="1"/>
        </p:nvSpPr>
        <p:spPr bwMode="auto">
          <a:xfrm>
            <a:off x="11596692" y="6483350"/>
            <a:ext cx="615951"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sz="1800" dirty="0">
              <a:latin typeface="Museo 300" panose="02000000000000000000" pitchFamily="50" charset="0"/>
            </a:endParaRPr>
          </a:p>
        </p:txBody>
      </p:sp>
      <p:sp>
        <p:nvSpPr>
          <p:cNvPr id="7" name="Date Placeholder 6"/>
          <p:cNvSpPr>
            <a:spLocks noGrp="1"/>
          </p:cNvSpPr>
          <p:nvPr>
            <p:ph type="dt" sz="half" idx="10"/>
          </p:nvPr>
        </p:nvSpPr>
        <p:spPr/>
        <p:txBody>
          <a:bodyPr/>
          <a:lstStyle/>
          <a:p>
            <a:endParaRPr lang="en-IN" dirty="0"/>
          </a:p>
        </p:txBody>
      </p:sp>
      <p:sp>
        <p:nvSpPr>
          <p:cNvPr id="9" name="Slide Number Placeholder 8"/>
          <p:cNvSpPr>
            <a:spLocks noGrp="1"/>
          </p:cNvSpPr>
          <p:nvPr>
            <p:ph type="sldNum" sz="quarter" idx="12"/>
          </p:nvPr>
        </p:nvSpPr>
        <p:spPr>
          <a:xfrm>
            <a:off x="11596690" y="6523310"/>
            <a:ext cx="434009" cy="365125"/>
          </a:xfrm>
        </p:spPr>
        <p:txBody>
          <a:bodyPr/>
          <a:lstStyle>
            <a:lvl1pPr>
              <a:defRPr>
                <a:solidFill>
                  <a:schemeClr val="bg1"/>
                </a:solidFill>
              </a:defRPr>
            </a:lvl1pPr>
          </a:lstStyle>
          <a:p>
            <a:fld id="{C1718CFD-035D-4D95-8B1E-50BE7B1BACFD}" type="slidenum">
              <a:rPr lang="en-IN" smtClean="0"/>
              <a:pPr/>
              <a:t>‹#›</a:t>
            </a:fld>
            <a:endParaRPr lang="en-IN" dirty="0"/>
          </a:p>
        </p:txBody>
      </p:sp>
      <p:pic>
        <p:nvPicPr>
          <p:cNvPr id="11" name="Picture 10"/>
          <p:cNvPicPr>
            <a:picLocks noChangeAspect="1"/>
          </p:cNvPicPr>
          <p:nvPr userDrawn="1"/>
        </p:nvPicPr>
        <p:blipFill>
          <a:blip r:embed="rId2" cstate="print"/>
          <a:stretch>
            <a:fillRect/>
          </a:stretch>
        </p:blipFill>
        <p:spPr>
          <a:xfrm>
            <a:off x="117294" y="6122438"/>
            <a:ext cx="1324347" cy="710487"/>
          </a:xfrm>
          <a:prstGeom prst="rect">
            <a:avLst/>
          </a:prstGeom>
        </p:spPr>
      </p:pic>
      <p:sp>
        <p:nvSpPr>
          <p:cNvPr id="8" name="Footer Placeholder 7"/>
          <p:cNvSpPr>
            <a:spLocks noGrp="1"/>
          </p:cNvSpPr>
          <p:nvPr>
            <p:ph type="ftr" sz="quarter" idx="11"/>
          </p:nvPr>
        </p:nvSpPr>
        <p:spPr>
          <a:xfrm>
            <a:off x="2546593" y="6731002"/>
            <a:ext cx="8560904" cy="208966"/>
          </a:xfrm>
        </p:spPr>
        <p:txBody>
          <a:bodyPr/>
          <a:lstStyle>
            <a:lvl1pPr algn="just">
              <a:defRPr sz="1200"/>
            </a:lvl1pPr>
          </a:lstStyle>
          <a:p>
            <a:endParaRPr lang="en-IN" dirty="0"/>
          </a:p>
        </p:txBody>
      </p:sp>
    </p:spTree>
    <p:extLst>
      <p:ext uri="{BB962C8B-B14F-4D97-AF65-F5344CB8AC3E}">
        <p14:creationId xmlns:p14="http://schemas.microsoft.com/office/powerpoint/2010/main" val="228717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B961790-A6FA-4346-8134-328253751AB5}" type="slidenum">
              <a:rPr lang="en-US" smtClean="0"/>
              <a:pPr>
                <a:defRPr/>
              </a:pPr>
              <a:t>‹#›</a:t>
            </a:fld>
            <a:endParaRPr lang="en-US"/>
          </a:p>
        </p:txBody>
      </p:sp>
    </p:spTree>
    <p:extLst>
      <p:ext uri="{BB962C8B-B14F-4D97-AF65-F5344CB8AC3E}">
        <p14:creationId xmlns:p14="http://schemas.microsoft.com/office/powerpoint/2010/main" val="32973007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65799" y="5"/>
            <a:ext cx="10515600" cy="1325563"/>
          </a:xfrm>
        </p:spPr>
        <p:txBody>
          <a:bodyPr>
            <a:normAutofit/>
          </a:bodyPr>
          <a:lstStyle>
            <a:lvl1pPr>
              <a:defRPr sz="3500" b="1">
                <a:solidFill>
                  <a:srgbClr val="C00000"/>
                </a:solidFill>
                <a:latin typeface="Museo 300" panose="02000000000000000000" pitchFamily="50" charset="0"/>
              </a:defRPr>
            </a:lvl1pPr>
          </a:lstStyle>
          <a:p>
            <a:r>
              <a:rPr lang="en-US" dirty="0"/>
              <a:t>Click to edit Master title style</a:t>
            </a:r>
          </a:p>
        </p:txBody>
      </p:sp>
      <p:sp>
        <p:nvSpPr>
          <p:cNvPr id="3" name="Content Placeholder 2"/>
          <p:cNvSpPr>
            <a:spLocks noGrp="1"/>
          </p:cNvSpPr>
          <p:nvPr>
            <p:ph idx="1"/>
          </p:nvPr>
        </p:nvSpPr>
        <p:spPr>
          <a:xfrm>
            <a:off x="553961" y="1373409"/>
            <a:ext cx="10515600" cy="4351338"/>
          </a:xfrm>
        </p:spPr>
        <p:txBody>
          <a:bodyPr>
            <a:normAutofit/>
          </a:bodyPr>
          <a:lstStyle>
            <a:lvl1pPr>
              <a:defRPr sz="2000">
                <a:solidFill>
                  <a:schemeClr val="tx1">
                    <a:lumMod val="95000"/>
                    <a:lumOff val="5000"/>
                  </a:schemeClr>
                </a:solidFill>
                <a:latin typeface="Museo 300" panose="02000000000000000000" pitchFamily="50" charset="0"/>
              </a:defRPr>
            </a:lvl1pPr>
            <a:lvl2pPr>
              <a:defRPr sz="2000">
                <a:solidFill>
                  <a:schemeClr val="tx1">
                    <a:lumMod val="95000"/>
                    <a:lumOff val="5000"/>
                  </a:schemeClr>
                </a:solidFill>
                <a:latin typeface="Museo 300" panose="02000000000000000000" pitchFamily="50" charset="0"/>
              </a:defRPr>
            </a:lvl2pPr>
            <a:lvl3pPr>
              <a:defRPr sz="2000">
                <a:solidFill>
                  <a:schemeClr val="tx1">
                    <a:lumMod val="95000"/>
                    <a:lumOff val="5000"/>
                  </a:schemeClr>
                </a:solidFill>
                <a:latin typeface="Museo 300" panose="02000000000000000000" pitchFamily="50" charset="0"/>
              </a:defRPr>
            </a:lvl3pPr>
            <a:lvl4pPr>
              <a:defRPr sz="2000">
                <a:solidFill>
                  <a:schemeClr val="tx1">
                    <a:lumMod val="95000"/>
                    <a:lumOff val="5000"/>
                  </a:schemeClr>
                </a:solidFill>
                <a:latin typeface="Museo 300" panose="02000000000000000000" pitchFamily="50" charset="0"/>
              </a:defRPr>
            </a:lvl4pPr>
            <a:lvl5pPr>
              <a:defRPr sz="2000">
                <a:solidFill>
                  <a:schemeClr val="tx1">
                    <a:lumMod val="95000"/>
                    <a:lumOff val="5000"/>
                  </a:schemeClr>
                </a:solidFill>
                <a:latin typeface="Museo 300" panose="02000000000000000000" pitchFamily="50"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7" name="Subtitle 2"/>
          <p:cNvSpPr txBox="1">
            <a:spLocks noChangeArrowheads="1"/>
          </p:cNvSpPr>
          <p:nvPr userDrawn="1"/>
        </p:nvSpPr>
        <p:spPr bwMode="auto">
          <a:xfrm>
            <a:off x="1790590" y="6421413"/>
            <a:ext cx="9563210" cy="18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IN" sz="1050" b="1" dirty="0">
                <a:solidFill>
                  <a:srgbClr val="C00000"/>
                </a:solidFill>
                <a:latin typeface="Museo 300"/>
              </a:rPr>
              <a:t>An Autonomous Institution ,Affiliated to Visvesvaraya Technological University, Belagavi. Approved By AICTE, New Delhi. Recognized by UGC with 2(f) &amp; 12(B) status. Accredited by NBA and NAAC.</a:t>
            </a:r>
          </a:p>
        </p:txBody>
      </p:sp>
      <p:sp>
        <p:nvSpPr>
          <p:cNvPr id="8" name="Slide Number Placeholder 5"/>
          <p:cNvSpPr txBox="1"/>
          <p:nvPr userDrawn="1"/>
        </p:nvSpPr>
        <p:spPr>
          <a:xfrm>
            <a:off x="11069561" y="5598648"/>
            <a:ext cx="541867" cy="365125"/>
          </a:xfrm>
          <a:prstGeom prst="rect">
            <a:avLst/>
          </a:prstGeom>
        </p:spPr>
        <p:txBody>
          <a:bodyPr/>
          <a:lstStyle>
            <a:lvl1pPr defTabSz="913130">
              <a:defRPr>
                <a:solidFill>
                  <a:schemeClr val="tx1"/>
                </a:solidFill>
                <a:latin typeface="Arial" panose="020B0604020202020204" pitchFamily="34" charset="0"/>
              </a:defRPr>
            </a:lvl1pPr>
            <a:lvl2pPr marL="742950" indent="-285750" defTabSz="913130">
              <a:defRPr>
                <a:solidFill>
                  <a:schemeClr val="tx1"/>
                </a:solidFill>
                <a:latin typeface="Arial" panose="020B0604020202020204" pitchFamily="34" charset="0"/>
              </a:defRPr>
            </a:lvl2pPr>
            <a:lvl3pPr marL="1143000" indent="-228600" defTabSz="913130">
              <a:defRPr>
                <a:solidFill>
                  <a:schemeClr val="tx1"/>
                </a:solidFill>
                <a:latin typeface="Arial" panose="020B0604020202020204" pitchFamily="34" charset="0"/>
              </a:defRPr>
            </a:lvl3pPr>
            <a:lvl4pPr marL="1600200" indent="-228600" defTabSz="913130">
              <a:defRPr>
                <a:solidFill>
                  <a:schemeClr val="tx1"/>
                </a:solidFill>
                <a:latin typeface="Arial" panose="020B0604020202020204" pitchFamily="34" charset="0"/>
              </a:defRPr>
            </a:lvl4pPr>
            <a:lvl5pPr marL="2057400" indent="-228600" defTabSz="913130">
              <a:defRPr>
                <a:solidFill>
                  <a:schemeClr val="tx1"/>
                </a:solidFill>
                <a:latin typeface="Arial" panose="020B0604020202020204" pitchFamily="34" charset="0"/>
              </a:defRPr>
            </a:lvl5pPr>
            <a:lvl6pPr marL="2514600" indent="-228600" defTabSz="913130" eaLnBrk="0" fontAlgn="base" hangingPunct="0">
              <a:spcBef>
                <a:spcPct val="0"/>
              </a:spcBef>
              <a:spcAft>
                <a:spcPct val="0"/>
              </a:spcAft>
              <a:defRPr>
                <a:solidFill>
                  <a:schemeClr val="tx1"/>
                </a:solidFill>
                <a:latin typeface="Arial" panose="020B0604020202020204" pitchFamily="34" charset="0"/>
              </a:defRPr>
            </a:lvl6pPr>
            <a:lvl7pPr marL="2971800" indent="-228600" defTabSz="913130" eaLnBrk="0" fontAlgn="base" hangingPunct="0">
              <a:spcBef>
                <a:spcPct val="0"/>
              </a:spcBef>
              <a:spcAft>
                <a:spcPct val="0"/>
              </a:spcAft>
              <a:defRPr>
                <a:solidFill>
                  <a:schemeClr val="tx1"/>
                </a:solidFill>
                <a:latin typeface="Arial" panose="020B0604020202020204" pitchFamily="34" charset="0"/>
              </a:defRPr>
            </a:lvl7pPr>
            <a:lvl8pPr marL="3429000" indent="-228600" defTabSz="913130" eaLnBrk="0" fontAlgn="base" hangingPunct="0">
              <a:spcBef>
                <a:spcPct val="0"/>
              </a:spcBef>
              <a:spcAft>
                <a:spcPct val="0"/>
              </a:spcAft>
              <a:defRPr>
                <a:solidFill>
                  <a:schemeClr val="tx1"/>
                </a:solidFill>
                <a:latin typeface="Arial" panose="020B0604020202020204" pitchFamily="34" charset="0"/>
              </a:defRPr>
            </a:lvl8pPr>
            <a:lvl9pPr marL="3886200" indent="-228600" defTabSz="91313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9E723E7A-D6C9-43B1-9EAA-7B8D055CBC94}" type="slidenum">
              <a:rPr lang="en-US" altLang="en-US" sz="1300">
                <a:solidFill>
                  <a:schemeClr val="bg1"/>
                </a:solidFill>
                <a:latin typeface="Calibri" panose="020F0502020204030204" pitchFamily="34" charset="0"/>
              </a:rPr>
              <a:pPr algn="ctr" eaLnBrk="1" hangingPunct="1"/>
              <a:t>‹#›</a:t>
            </a:fld>
            <a:endParaRPr lang="en-US" altLang="en-US" sz="1300">
              <a:solidFill>
                <a:schemeClr val="bg1"/>
              </a:solidFill>
              <a:latin typeface="Calibri" panose="020F0502020204030204" pitchFamily="34" charset="0"/>
            </a:endParaRPr>
          </a:p>
        </p:txBody>
      </p:sp>
      <p:sp>
        <p:nvSpPr>
          <p:cNvPr id="9" name="Freeform 6"/>
          <p:cNvSpPr>
            <a:spLocks noChangeAspect="1"/>
          </p:cNvSpPr>
          <p:nvPr userDrawn="1"/>
        </p:nvSpPr>
        <p:spPr bwMode="auto">
          <a:xfrm>
            <a:off x="11370734" y="6424628"/>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cxnSp>
        <p:nvCxnSpPr>
          <p:cNvPr id="10" name="Straight Connector 9"/>
          <p:cNvCxnSpPr/>
          <p:nvPr userDrawn="1"/>
        </p:nvCxnSpPr>
        <p:spPr>
          <a:xfrm flipH="1" flipV="1">
            <a:off x="1794826" y="6400808"/>
            <a:ext cx="9652635" cy="28555"/>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1"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2" name="Freeform 6"/>
          <p:cNvSpPr>
            <a:spLocks noChangeAspect="1"/>
          </p:cNvSpPr>
          <p:nvPr userDrawn="1"/>
        </p:nvSpPr>
        <p:spPr bwMode="auto">
          <a:xfrm>
            <a:off x="4"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 name="Freeform 12"/>
          <p:cNvSpPr/>
          <p:nvPr userDrawn="1"/>
        </p:nvSpPr>
        <p:spPr bwMode="auto">
          <a:xfrm>
            <a:off x="766237"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4" name="Picture 13"/>
          <p:cNvPicPr>
            <a:picLocks noChangeAspect="1"/>
          </p:cNvPicPr>
          <p:nvPr userDrawn="1"/>
        </p:nvPicPr>
        <p:blipFill>
          <a:blip r:embed="rId2" cstate="print"/>
          <a:stretch>
            <a:fillRect/>
          </a:stretch>
        </p:blipFill>
        <p:spPr>
          <a:xfrm>
            <a:off x="3" y="6099176"/>
            <a:ext cx="1765796" cy="710487"/>
          </a:xfrm>
          <a:prstGeom prst="rect">
            <a:avLst/>
          </a:prstGeom>
        </p:spPr>
      </p:pic>
      <p:sp>
        <p:nvSpPr>
          <p:cNvPr id="6" name="Slide Number Placeholder 5"/>
          <p:cNvSpPr>
            <a:spLocks noGrp="1"/>
          </p:cNvSpPr>
          <p:nvPr>
            <p:ph type="sldNum" sz="quarter" idx="12"/>
          </p:nvPr>
        </p:nvSpPr>
        <p:spPr>
          <a:xfrm>
            <a:off x="9038167" y="6441656"/>
            <a:ext cx="2743200" cy="365125"/>
          </a:xfrm>
        </p:spPr>
        <p:txBody>
          <a:bodyPr/>
          <a:lstStyle>
            <a:lvl1pPr>
              <a:defRPr>
                <a:solidFill>
                  <a:srgbClr val="FFFFFF"/>
                </a:solidFill>
              </a:defRPr>
            </a:lvl1pPr>
          </a:lstStyle>
          <a:p>
            <a:pPr>
              <a:defRPr/>
            </a:pPr>
            <a:fld id="{7567225B-3001-4770-81AD-EA67E82D7225}" type="slidenum">
              <a:rPr lang="en-US" smtClean="0"/>
              <a:pPr>
                <a:defRPr/>
              </a:pPr>
              <a:t>‹#›</a:t>
            </a:fld>
            <a:endParaRPr lang="en-US" dirty="0"/>
          </a:p>
        </p:txBody>
      </p:sp>
    </p:spTree>
    <p:extLst>
      <p:ext uri="{BB962C8B-B14F-4D97-AF65-F5344CB8AC3E}">
        <p14:creationId xmlns:p14="http://schemas.microsoft.com/office/powerpoint/2010/main" val="42323155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3"/>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0C95E66-549C-45F3-8760-BF16C91FE33F}" type="slidenum">
              <a:rPr lang="en-US" smtClean="0"/>
              <a:pPr>
                <a:defRPr/>
              </a:pPr>
              <a:t>‹#›</a:t>
            </a:fld>
            <a:endParaRPr lang="en-US"/>
          </a:p>
        </p:txBody>
      </p:sp>
    </p:spTree>
    <p:extLst>
      <p:ext uri="{BB962C8B-B14F-4D97-AF65-F5344CB8AC3E}">
        <p14:creationId xmlns:p14="http://schemas.microsoft.com/office/powerpoint/2010/main" val="9591215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90AFBA8-1D03-4536-9D17-6487E477CBB8}" type="slidenum">
              <a:rPr lang="en-US" smtClean="0"/>
              <a:pPr>
                <a:defRPr/>
              </a:pPr>
              <a:t>‹#›</a:t>
            </a:fld>
            <a:endParaRPr lang="en-US"/>
          </a:p>
        </p:txBody>
      </p:sp>
    </p:spTree>
    <p:extLst>
      <p:ext uri="{BB962C8B-B14F-4D97-AF65-F5344CB8AC3E}">
        <p14:creationId xmlns:p14="http://schemas.microsoft.com/office/powerpoint/2010/main" val="11068733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90" y="1681163"/>
            <a:ext cx="515778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90" y="2505075"/>
            <a:ext cx="515778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
        <p:nvSpPr>
          <p:cNvPr id="10" name="Freeform 6"/>
          <p:cNvSpPr>
            <a:spLocks noChangeAspect="1"/>
          </p:cNvSpPr>
          <p:nvPr userDrawn="1"/>
        </p:nvSpPr>
        <p:spPr bwMode="auto">
          <a:xfrm>
            <a:off x="11297846" y="6363588"/>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1" name="Rectangle 10"/>
          <p:cNvSpPr/>
          <p:nvPr userDrawn="1"/>
        </p:nvSpPr>
        <p:spPr>
          <a:xfrm>
            <a:off x="1988238" y="6427121"/>
            <a:ext cx="9278422" cy="430887"/>
          </a:xfrm>
          <a:prstGeom prst="rect">
            <a:avLst/>
          </a:prstGeom>
        </p:spPr>
        <p:txBody>
          <a:bodyPr wrap="square">
            <a:spAutoFit/>
          </a:bodyPr>
          <a:lstStyle/>
          <a:p>
            <a:r>
              <a:rPr lang="en-IN" sz="1050" b="1" dirty="0">
                <a:solidFill>
                  <a:srgbClr val="C00000"/>
                </a:solidFill>
                <a:latin typeface="Museo 300"/>
              </a:rPr>
              <a:t>An Autonomous Institution ,Affiliated to </a:t>
            </a:r>
            <a:r>
              <a:rPr lang="en-IN" sz="1050" b="1" dirty="0" err="1">
                <a:solidFill>
                  <a:srgbClr val="C00000"/>
                </a:solidFill>
                <a:latin typeface="Museo 300"/>
              </a:rPr>
              <a:t>Visvesvaraya</a:t>
            </a:r>
            <a:r>
              <a:rPr lang="en-IN" sz="1050" b="1" dirty="0">
                <a:solidFill>
                  <a:srgbClr val="C00000"/>
                </a:solidFill>
                <a:latin typeface="Museo 300"/>
              </a:rPr>
              <a:t> Technological University, Belagavi. Approved By AICTE, New Delhi. Recognized by UGC with 2(f) &amp; 12(B) status. Accredited by NBA and NAAC.</a:t>
            </a:r>
          </a:p>
        </p:txBody>
      </p:sp>
      <p:cxnSp>
        <p:nvCxnSpPr>
          <p:cNvPr id="12" name="Straight Connector 11"/>
          <p:cNvCxnSpPr/>
          <p:nvPr userDrawn="1"/>
        </p:nvCxnSpPr>
        <p:spPr>
          <a:xfrm flipH="1" flipV="1">
            <a:off x="2133606" y="6372247"/>
            <a:ext cx="8737598" cy="25846"/>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12"/>
          <p:cNvSpPr/>
          <p:nvPr userDrawn="1"/>
        </p:nvSpPr>
        <p:spPr>
          <a:xfrm>
            <a:off x="1"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4" name="Freeform 6"/>
          <p:cNvSpPr>
            <a:spLocks noChangeAspect="1"/>
          </p:cNvSpPr>
          <p:nvPr userDrawn="1"/>
        </p:nvSpPr>
        <p:spPr bwMode="auto">
          <a:xfrm>
            <a:off x="4"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5" name="Freeform 14"/>
          <p:cNvSpPr/>
          <p:nvPr userDrawn="1"/>
        </p:nvSpPr>
        <p:spPr bwMode="auto">
          <a:xfrm>
            <a:off x="766237"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6" name="Picture 15"/>
          <p:cNvPicPr>
            <a:picLocks noChangeAspect="1"/>
          </p:cNvPicPr>
          <p:nvPr userDrawn="1"/>
        </p:nvPicPr>
        <p:blipFill>
          <a:blip r:embed="rId2" cstate="print"/>
          <a:stretch>
            <a:fillRect/>
          </a:stretch>
        </p:blipFill>
        <p:spPr>
          <a:xfrm>
            <a:off x="61421" y="6126163"/>
            <a:ext cx="1698704" cy="683492"/>
          </a:xfrm>
          <a:prstGeom prst="rect">
            <a:avLst/>
          </a:prstGeom>
        </p:spPr>
      </p:pic>
    </p:spTree>
    <p:extLst>
      <p:ext uri="{BB962C8B-B14F-4D97-AF65-F5344CB8AC3E}">
        <p14:creationId xmlns:p14="http://schemas.microsoft.com/office/powerpoint/2010/main" val="14143816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AA31B365-2786-4F1C-8EDA-6FD2B746B06E}" type="slidenum">
              <a:rPr lang="en-US" smtClean="0"/>
              <a:pPr>
                <a:defRPr/>
              </a:pPr>
              <a:t>‹#›</a:t>
            </a:fld>
            <a:endParaRPr lang="en-US"/>
          </a:p>
        </p:txBody>
      </p:sp>
      <p:pic>
        <p:nvPicPr>
          <p:cNvPr id="6" name="Picture 5"/>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92041" y="5918200"/>
            <a:ext cx="2407920" cy="876300"/>
          </a:xfrm>
          <a:prstGeom prst="rect">
            <a:avLst/>
          </a:prstGeom>
          <a:noFill/>
          <a:ln>
            <a:noFill/>
          </a:ln>
        </p:spPr>
      </p:pic>
      <p:sp>
        <p:nvSpPr>
          <p:cNvPr id="7" name="Rectangle 6"/>
          <p:cNvSpPr/>
          <p:nvPr userDrawn="1"/>
        </p:nvSpPr>
        <p:spPr>
          <a:xfrm>
            <a:off x="1"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8" name="Freeform 6"/>
          <p:cNvSpPr>
            <a:spLocks noChangeAspect="1"/>
          </p:cNvSpPr>
          <p:nvPr userDrawn="1"/>
        </p:nvSpPr>
        <p:spPr bwMode="auto">
          <a:xfrm>
            <a:off x="4"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9" name="Freeform 14"/>
          <p:cNvSpPr/>
          <p:nvPr userDrawn="1"/>
        </p:nvSpPr>
        <p:spPr bwMode="auto">
          <a:xfrm>
            <a:off x="766237"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spTree>
    <p:extLst>
      <p:ext uri="{BB962C8B-B14F-4D97-AF65-F5344CB8AC3E}">
        <p14:creationId xmlns:p14="http://schemas.microsoft.com/office/powerpoint/2010/main" val="20169326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DA6FD02F-D3CD-4E4F-800F-75D2C3ECA6E5}" type="slidenum">
              <a:rPr lang="en-US" smtClean="0"/>
              <a:pPr>
                <a:defRPr/>
              </a:pPr>
              <a:t>‹#›</a:t>
            </a:fld>
            <a:endParaRPr lang="en-US" dirty="0"/>
          </a:p>
        </p:txBody>
      </p:sp>
      <p:cxnSp>
        <p:nvCxnSpPr>
          <p:cNvPr id="5" name="Straight Connector 4"/>
          <p:cNvCxnSpPr/>
          <p:nvPr userDrawn="1"/>
        </p:nvCxnSpPr>
        <p:spPr>
          <a:xfrm flipH="1">
            <a:off x="2244880" y="6400800"/>
            <a:ext cx="862632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Rectangle 5"/>
          <p:cNvSpPr/>
          <p:nvPr userDrawn="1"/>
        </p:nvSpPr>
        <p:spPr>
          <a:xfrm>
            <a:off x="1988238" y="6400800"/>
            <a:ext cx="9278422" cy="400110"/>
          </a:xfrm>
          <a:prstGeom prst="rect">
            <a:avLst/>
          </a:prstGeom>
        </p:spPr>
        <p:txBody>
          <a:bodyPr wrap="square">
            <a:spAutoFit/>
          </a:bodyPr>
          <a:lstStyle/>
          <a:p>
            <a:r>
              <a:rPr lang="en-IN" sz="1000" b="1" dirty="0">
                <a:solidFill>
                  <a:srgbClr val="C00000"/>
                </a:solidFill>
                <a:latin typeface="Museo 300"/>
              </a:rPr>
              <a:t>An Autonomous Institution ,Affiliated to </a:t>
            </a:r>
            <a:r>
              <a:rPr lang="en-IN" sz="1000" b="1" dirty="0" err="1">
                <a:solidFill>
                  <a:srgbClr val="C00000"/>
                </a:solidFill>
                <a:latin typeface="Museo 300"/>
              </a:rPr>
              <a:t>Visvesvaraya</a:t>
            </a:r>
            <a:r>
              <a:rPr lang="en-IN" sz="1000" b="1" dirty="0">
                <a:solidFill>
                  <a:srgbClr val="C00000"/>
                </a:solidFill>
                <a:latin typeface="Museo 300"/>
              </a:rPr>
              <a:t> Technological University, Belagavi. Approved By AICTE, New Delhi. Recognized by UGC with 2(f) &amp; 12(B) status. Accredited by NBA and NAAC.</a:t>
            </a:r>
          </a:p>
        </p:txBody>
      </p:sp>
      <p:sp>
        <p:nvSpPr>
          <p:cNvPr id="7" name="Freeform 6"/>
          <p:cNvSpPr>
            <a:spLocks noChangeAspect="1"/>
          </p:cNvSpPr>
          <p:nvPr userDrawn="1"/>
        </p:nvSpPr>
        <p:spPr bwMode="auto">
          <a:xfrm>
            <a:off x="11348782" y="6400800"/>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8" name="Rectangle 7"/>
          <p:cNvSpPr/>
          <p:nvPr userDrawn="1"/>
        </p:nvSpPr>
        <p:spPr>
          <a:xfrm>
            <a:off x="1"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9" name="Freeform 6"/>
          <p:cNvSpPr>
            <a:spLocks noChangeAspect="1"/>
          </p:cNvSpPr>
          <p:nvPr userDrawn="1"/>
        </p:nvSpPr>
        <p:spPr bwMode="auto">
          <a:xfrm>
            <a:off x="4"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0" name="Freeform 14"/>
          <p:cNvSpPr/>
          <p:nvPr userDrawn="1"/>
        </p:nvSpPr>
        <p:spPr bwMode="auto">
          <a:xfrm>
            <a:off x="766237"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1" name="Picture 10"/>
          <p:cNvPicPr>
            <a:picLocks noChangeAspect="1"/>
          </p:cNvPicPr>
          <p:nvPr userDrawn="1"/>
        </p:nvPicPr>
        <p:blipFill>
          <a:blip r:embed="rId2" cstate="print"/>
          <a:stretch>
            <a:fillRect/>
          </a:stretch>
        </p:blipFill>
        <p:spPr>
          <a:xfrm>
            <a:off x="53314" y="6085431"/>
            <a:ext cx="1744061" cy="701742"/>
          </a:xfrm>
          <a:prstGeom prst="rect">
            <a:avLst/>
          </a:prstGeom>
        </p:spPr>
      </p:pic>
    </p:spTree>
    <p:extLst>
      <p:ext uri="{BB962C8B-B14F-4D97-AF65-F5344CB8AC3E}">
        <p14:creationId xmlns:p14="http://schemas.microsoft.com/office/powerpoint/2010/main" val="18401257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30"/>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D75708D-340D-43AA-B254-1DB4180647C9}" type="slidenum">
              <a:rPr lang="en-US" smtClean="0"/>
              <a:pPr>
                <a:defRPr/>
              </a:pPr>
              <a:t>‹#›</a:t>
            </a:fld>
            <a:endParaRPr lang="en-US"/>
          </a:p>
        </p:txBody>
      </p:sp>
    </p:spTree>
    <p:extLst>
      <p:ext uri="{BB962C8B-B14F-4D97-AF65-F5344CB8AC3E}">
        <p14:creationId xmlns:p14="http://schemas.microsoft.com/office/powerpoint/2010/main" val="16521666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30"/>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C8C3591-FF6B-435A-AE90-3407BB231590}" type="slidenum">
              <a:rPr lang="en-US" smtClean="0"/>
              <a:pPr>
                <a:defRPr/>
              </a:pPr>
              <a:t>‹#›</a:t>
            </a:fld>
            <a:endParaRPr lang="en-US"/>
          </a:p>
        </p:txBody>
      </p:sp>
    </p:spTree>
    <p:extLst>
      <p:ext uri="{BB962C8B-B14F-4D97-AF65-F5344CB8AC3E}">
        <p14:creationId xmlns:p14="http://schemas.microsoft.com/office/powerpoint/2010/main" val="2078380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77BD7C0-F0D3-4E33-A2A5-81F6DA404926}" type="slidenum">
              <a:rPr lang="en-US" smtClean="0"/>
              <a:pPr>
                <a:defRPr/>
              </a:pPr>
              <a:t>‹#›</a:t>
            </a:fld>
            <a:endParaRPr lang="en-US"/>
          </a:p>
        </p:txBody>
      </p:sp>
    </p:spTree>
    <p:extLst>
      <p:ext uri="{BB962C8B-B14F-4D97-AF65-F5344CB8AC3E}">
        <p14:creationId xmlns:p14="http://schemas.microsoft.com/office/powerpoint/2010/main" val="6587153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8897BF3-1834-4A3C-9AA3-D53EBE05A213}" type="slidenum">
              <a:rPr lang="en-US" smtClean="0"/>
              <a:pPr>
                <a:defRPr/>
              </a:pPr>
              <a:t>‹#›</a:t>
            </a:fld>
            <a:endParaRPr lang="en-US"/>
          </a:p>
        </p:txBody>
      </p:sp>
    </p:spTree>
    <p:extLst>
      <p:ext uri="{BB962C8B-B14F-4D97-AF65-F5344CB8AC3E}">
        <p14:creationId xmlns:p14="http://schemas.microsoft.com/office/powerpoint/2010/main" val="14998853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cxnSp>
        <p:nvCxnSpPr>
          <p:cNvPr id="2" name="Straight Connector 1"/>
          <p:cNvCxnSpPr>
            <a:endCxn id="7" idx="1"/>
          </p:cNvCxnSpPr>
          <p:nvPr userDrawn="1"/>
        </p:nvCxnSpPr>
        <p:spPr>
          <a:xfrm flipH="1">
            <a:off x="838200" y="6492875"/>
            <a:ext cx="10758488" cy="4604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Rectangle 2"/>
          <p:cNvSpPr/>
          <p:nvPr userDrawn="1"/>
        </p:nvSpPr>
        <p:spPr>
          <a:xfrm>
            <a:off x="1" y="11"/>
            <a:ext cx="12192000"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sz="1800" dirty="0">
              <a:latin typeface="Museo 300" panose="02000000000000000000" pitchFamily="50" charset="0"/>
            </a:endParaRPr>
          </a:p>
        </p:txBody>
      </p:sp>
      <p:sp>
        <p:nvSpPr>
          <p:cNvPr id="4" name="Freeform 6"/>
          <p:cNvSpPr>
            <a:spLocks noChangeAspect="1"/>
          </p:cNvSpPr>
          <p:nvPr userDrawn="1"/>
        </p:nvSpPr>
        <p:spPr bwMode="auto">
          <a:xfrm>
            <a:off x="7" y="190500"/>
            <a:ext cx="779463"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sz="1800" dirty="0">
              <a:latin typeface="Museo 300" panose="02000000000000000000" pitchFamily="50" charset="0"/>
            </a:endParaRPr>
          </a:p>
        </p:txBody>
      </p:sp>
      <p:sp>
        <p:nvSpPr>
          <p:cNvPr id="5" name="Freeform 14"/>
          <p:cNvSpPr/>
          <p:nvPr userDrawn="1"/>
        </p:nvSpPr>
        <p:spPr bwMode="auto">
          <a:xfrm>
            <a:off x="574678" y="190500"/>
            <a:ext cx="679451"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sz="1800" dirty="0">
              <a:latin typeface="Museo 300" panose="02000000000000000000" pitchFamily="50" charset="0"/>
            </a:endParaRPr>
          </a:p>
        </p:txBody>
      </p:sp>
      <p:sp>
        <p:nvSpPr>
          <p:cNvPr id="6" name="Freeform 6"/>
          <p:cNvSpPr>
            <a:spLocks noChangeAspect="1"/>
          </p:cNvSpPr>
          <p:nvPr userDrawn="1"/>
        </p:nvSpPr>
        <p:spPr bwMode="auto">
          <a:xfrm>
            <a:off x="11596694" y="6483350"/>
            <a:ext cx="615950"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sz="1800" dirty="0">
              <a:latin typeface="Museo 300" panose="02000000000000000000" pitchFamily="50" charset="0"/>
            </a:endParaRPr>
          </a:p>
        </p:txBody>
      </p:sp>
      <p:sp>
        <p:nvSpPr>
          <p:cNvPr id="7" name="Date Placeholder 6"/>
          <p:cNvSpPr>
            <a:spLocks noGrp="1"/>
          </p:cNvSpPr>
          <p:nvPr>
            <p:ph type="dt" sz="half" idx="10"/>
          </p:nvPr>
        </p:nvSpPr>
        <p:spPr/>
        <p:txBody>
          <a:bodyPr/>
          <a:lstStyle/>
          <a:p>
            <a:endParaRPr lang="en-IN" dirty="0"/>
          </a:p>
        </p:txBody>
      </p:sp>
      <p:sp>
        <p:nvSpPr>
          <p:cNvPr id="9" name="Slide Number Placeholder 8"/>
          <p:cNvSpPr>
            <a:spLocks noGrp="1"/>
          </p:cNvSpPr>
          <p:nvPr>
            <p:ph type="sldNum" sz="quarter" idx="12"/>
          </p:nvPr>
        </p:nvSpPr>
        <p:spPr>
          <a:xfrm>
            <a:off x="11596692" y="6523313"/>
            <a:ext cx="434009" cy="365125"/>
          </a:xfrm>
        </p:spPr>
        <p:txBody>
          <a:bodyPr/>
          <a:lstStyle>
            <a:lvl1pPr>
              <a:defRPr>
                <a:solidFill>
                  <a:schemeClr val="bg1"/>
                </a:solidFill>
              </a:defRPr>
            </a:lvl1pPr>
          </a:lstStyle>
          <a:p>
            <a:fld id="{C1718CFD-035D-4D95-8B1E-50BE7B1BACFD}" type="slidenum">
              <a:rPr lang="en-IN" smtClean="0"/>
              <a:pPr/>
              <a:t>‹#›</a:t>
            </a:fld>
            <a:endParaRPr lang="en-IN" dirty="0"/>
          </a:p>
        </p:txBody>
      </p:sp>
      <p:pic>
        <p:nvPicPr>
          <p:cNvPr id="11" name="Picture 10"/>
          <p:cNvPicPr>
            <a:picLocks noChangeAspect="1"/>
          </p:cNvPicPr>
          <p:nvPr userDrawn="1"/>
        </p:nvPicPr>
        <p:blipFill>
          <a:blip r:embed="rId2" cstate="print"/>
          <a:stretch>
            <a:fillRect/>
          </a:stretch>
        </p:blipFill>
        <p:spPr>
          <a:xfrm>
            <a:off x="117295" y="6122441"/>
            <a:ext cx="1324347" cy="710487"/>
          </a:xfrm>
          <a:prstGeom prst="rect">
            <a:avLst/>
          </a:prstGeom>
        </p:spPr>
      </p:pic>
      <p:sp>
        <p:nvSpPr>
          <p:cNvPr id="8" name="Footer Placeholder 7"/>
          <p:cNvSpPr>
            <a:spLocks noGrp="1"/>
          </p:cNvSpPr>
          <p:nvPr>
            <p:ph type="ftr" sz="quarter" idx="11"/>
          </p:nvPr>
        </p:nvSpPr>
        <p:spPr>
          <a:xfrm>
            <a:off x="2546593" y="6731002"/>
            <a:ext cx="8560904" cy="208966"/>
          </a:xfrm>
        </p:spPr>
        <p:txBody>
          <a:bodyPr/>
          <a:lstStyle>
            <a:lvl1pPr algn="just">
              <a:defRPr sz="1200"/>
            </a:lvl1pPr>
          </a:lstStyle>
          <a:p>
            <a:endParaRPr lang="en-IN" dirty="0"/>
          </a:p>
        </p:txBody>
      </p:sp>
    </p:spTree>
    <p:extLst>
      <p:ext uri="{BB962C8B-B14F-4D97-AF65-F5344CB8AC3E}">
        <p14:creationId xmlns:p14="http://schemas.microsoft.com/office/powerpoint/2010/main" val="22871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1C53C67-9027-4435-B66D-757D18D7790B}" type="slidenum">
              <a:rPr lang="en-US" smtClean="0"/>
              <a:pPr>
                <a:defRPr/>
              </a:pPr>
              <a:t>‹#›</a:t>
            </a:fld>
            <a:endParaRPr lang="en-US"/>
          </a:p>
        </p:txBody>
      </p:sp>
    </p:spTree>
    <p:extLst>
      <p:ext uri="{BB962C8B-B14F-4D97-AF65-F5344CB8AC3E}">
        <p14:creationId xmlns:p14="http://schemas.microsoft.com/office/powerpoint/2010/main" val="350241889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1C53C67-9027-4435-B66D-757D18D7790B}" type="slidenum">
              <a:rPr lang="en-US" smtClean="0"/>
              <a:pPr>
                <a:defRPr/>
              </a:pPr>
              <a:t>‹#›</a:t>
            </a:fld>
            <a:endParaRPr lang="en-US"/>
          </a:p>
        </p:txBody>
      </p:sp>
    </p:spTree>
    <p:extLst>
      <p:ext uri="{BB962C8B-B14F-4D97-AF65-F5344CB8AC3E}">
        <p14:creationId xmlns:p14="http://schemas.microsoft.com/office/powerpoint/2010/main" val="2833028703"/>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1C53C67-9027-4435-B66D-757D18D7790B}" type="slidenum">
              <a:rPr lang="en-US" smtClean="0"/>
              <a:pPr>
                <a:defRPr/>
              </a:pPr>
              <a:t>‹#›</a:t>
            </a:fld>
            <a:endParaRPr lang="en-US"/>
          </a:p>
        </p:txBody>
      </p:sp>
    </p:spTree>
    <p:extLst>
      <p:ext uri="{BB962C8B-B14F-4D97-AF65-F5344CB8AC3E}">
        <p14:creationId xmlns:p14="http://schemas.microsoft.com/office/powerpoint/2010/main" val="283302870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9"/>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1" y="6356355"/>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1C53C67-9027-4435-B66D-757D18D7790B}" type="slidenum">
              <a:rPr lang="en-US" smtClean="0"/>
              <a:pPr>
                <a:defRPr/>
              </a:pPr>
              <a:t>‹#›</a:t>
            </a:fld>
            <a:endParaRPr lang="en-US"/>
          </a:p>
        </p:txBody>
      </p:sp>
    </p:spTree>
    <p:extLst>
      <p:ext uri="{BB962C8B-B14F-4D97-AF65-F5344CB8AC3E}">
        <p14:creationId xmlns:p14="http://schemas.microsoft.com/office/powerpoint/2010/main" val="283302870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 Id="rId5" Type="http://schemas.openxmlformats.org/officeDocument/2006/relationships/hyperlink" Target="https://www.electronics-tutorials.ws/sequential/seq_4.html" TargetMode="Externa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s://en.wikipedia.org/wiki/Analog_signal" TargetMode="External"/><Relationship Id="rId7" Type="http://schemas.openxmlformats.org/officeDocument/2006/relationships/hyperlink" Target="https://en.wikipedia.org/wiki/Boolean_algebra" TargetMode="External"/><Relationship Id="rId2" Type="http://schemas.openxmlformats.org/officeDocument/2006/relationships/hyperlink" Target="https://en.wikipedia.org/wiki/Electronics" TargetMode="External"/><Relationship Id="rId1" Type="http://schemas.openxmlformats.org/officeDocument/2006/relationships/slideLayout" Target="../slideLayouts/slideLayout14.xml"/><Relationship Id="rId6" Type="http://schemas.openxmlformats.org/officeDocument/2006/relationships/hyperlink" Target="https://en.wikipedia.org/wiki/Bandwidth_(signal_processing)" TargetMode="External"/><Relationship Id="rId5" Type="http://schemas.openxmlformats.org/officeDocument/2006/relationships/hyperlink" Target="https://en.wikipedia.org/wiki/Computer_networks" TargetMode="External"/><Relationship Id="rId4" Type="http://schemas.openxmlformats.org/officeDocument/2006/relationships/hyperlink" Target="https://en.wikipedia.org/wiki/Digital_signal_(electronics)"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hyperlink" Target="https://www.youtube.com/watch?v=JCIRjFh5adQ" TargetMode="External"/><Relationship Id="rId2" Type="http://schemas.openxmlformats.org/officeDocument/2006/relationships/hyperlink" Target="https://lake.videoken.com/nptel/category/711/search/instruction%20execution/video/K7fnDf-P6_c?tocitem=19" TargetMode="External"/><Relationship Id="rId1" Type="http://schemas.openxmlformats.org/officeDocument/2006/relationships/slideLayout" Target="../slideLayouts/slideLayout14.xml"/><Relationship Id="rId4" Type="http://schemas.openxmlformats.org/officeDocument/2006/relationships/hyperlink" Target="https://lake.videoken.com/nptel/category/711/search/Hardwired%20Controlled%20Control%20Unit/video/b5thcNYBrQc?tocitem=8"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lake.videoken.com/nptel/category/711/search/Instruction%20Pipeline%20&amp;%20Performance%20-%20I/video/-rwmE49WC_I" TargetMode="External"/><Relationship Id="rId2" Type="http://schemas.openxmlformats.org/officeDocument/2006/relationships/hyperlink" Target="https://lake.videoken.com/nptel/category/711/search/COA%20%5bModule%2003%20-%20Lecture%2007%5d:%20Microinstructions%20and%20Microprograms/video/UMqHq_9omr0" TargetMode="Externa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hyperlink" Target="https://www.futurelearn.com/courses/how-computers-work/0/steps/49284" TargetMode="External"/><Relationship Id="rId2" Type="http://schemas.openxmlformats.org/officeDocument/2006/relationships/hyperlink" Target="https://www.youtube.com/watch?v=A8weMAyF6UM" TargetMode="External"/><Relationship Id="rId1" Type="http://schemas.openxmlformats.org/officeDocument/2006/relationships/slideLayout" Target="../slideLayouts/slideLayout14.xml"/><Relationship Id="rId4" Type="http://schemas.openxmlformats.org/officeDocument/2006/relationships/hyperlink" Target="https://www.youtube.com/watch?v=QzWW-CBugZo" TargetMode="External"/></Relationships>
</file>

<file path=ppt/slides/_rels/slide64.xml.rels><?xml version="1.0" encoding="UTF-8" standalone="yes"?>
<Relationships xmlns="http://schemas.openxmlformats.org/package/2006/relationships"><Relationship Id="rId3" Type="http://schemas.openxmlformats.org/officeDocument/2006/relationships/hyperlink" Target="https://www.youtube.com/watch?v=b5thcNYBrQc" TargetMode="External"/><Relationship Id="rId2" Type="http://schemas.openxmlformats.org/officeDocument/2006/relationships/hyperlink" Target="https://www.youtube.com/watch?v=Ru6YeppPA0U" TargetMode="Externa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2" Type="http://schemas.openxmlformats.org/officeDocument/2006/relationships/hyperlink" Target="https://docs.google.com/forms/d/1v1vMAwqIXNK1hCTGM74kNbaB4LPFzzIjQvrHhAUYpqk/edit" TargetMode="Externa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2"/>
          <p:cNvSpPr txBox="1">
            <a:spLocks noChangeArrowheads="1"/>
          </p:cNvSpPr>
          <p:nvPr/>
        </p:nvSpPr>
        <p:spPr bwMode="auto">
          <a:xfrm>
            <a:off x="3278949" y="1061442"/>
            <a:ext cx="512206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defRPr>
            </a:lvl1pPr>
            <a:lvl2pPr marL="742950" indent="-285750">
              <a:defRPr sz="2400">
                <a:solidFill>
                  <a:schemeClr val="tx1"/>
                </a:solidFill>
                <a:latin typeface="Calibri" panose="020F0502020204030204" pitchFamily="34" charset="0"/>
              </a:defRPr>
            </a:lvl2pPr>
            <a:lvl3pPr>
              <a:defRPr sz="2000">
                <a:solidFill>
                  <a:schemeClr val="tx1"/>
                </a:solidFill>
                <a:latin typeface="Calibri" panose="020F0502020204030204" pitchFamily="34" charset="0"/>
              </a:defRPr>
            </a:lvl3pPr>
            <a:lvl4pPr>
              <a:defRPr sz="2000">
                <a:solidFill>
                  <a:schemeClr val="tx1"/>
                </a:solidFill>
                <a:latin typeface="Calibri" panose="020F0502020204030204" pitchFamily="34" charset="0"/>
              </a:defRPr>
            </a:lvl4pPr>
            <a:lvl5pPr>
              <a:defRPr sz="2000">
                <a:solidFill>
                  <a:schemeClr val="tx1"/>
                </a:solidFill>
                <a:latin typeface="Calibri" panose="020F0502020204030204" pitchFamily="34" charset="0"/>
              </a:defRPr>
            </a:lvl5pPr>
            <a:lvl6pPr eaLnBrk="0" fontAlgn="base" hangingPunct="0">
              <a:spcAft>
                <a:spcPct val="0"/>
              </a:spcAft>
              <a:defRPr sz="2000">
                <a:solidFill>
                  <a:schemeClr val="tx1"/>
                </a:solidFill>
                <a:latin typeface="Calibri" panose="020F0502020204030204" pitchFamily="34" charset="0"/>
              </a:defRPr>
            </a:lvl6pPr>
            <a:lvl7pPr eaLnBrk="0" fontAlgn="base" hangingPunct="0">
              <a:spcAft>
                <a:spcPct val="0"/>
              </a:spcAft>
              <a:defRPr sz="2000">
                <a:solidFill>
                  <a:schemeClr val="tx1"/>
                </a:solidFill>
                <a:latin typeface="Calibri" panose="020F0502020204030204" pitchFamily="34" charset="0"/>
              </a:defRPr>
            </a:lvl7pPr>
            <a:lvl8pPr eaLnBrk="0" fontAlgn="base" hangingPunct="0">
              <a:spcAft>
                <a:spcPct val="0"/>
              </a:spcAft>
              <a:defRPr sz="2000">
                <a:solidFill>
                  <a:schemeClr val="tx1"/>
                </a:solidFill>
                <a:latin typeface="Calibri" panose="020F0502020204030204" pitchFamily="34" charset="0"/>
              </a:defRPr>
            </a:lvl8pPr>
            <a:lvl9pPr eaLnBrk="0" fontAlgn="base" hangingPunct="0">
              <a:spcAft>
                <a:spcPct val="0"/>
              </a:spcAft>
              <a:defRPr sz="2000">
                <a:solidFill>
                  <a:schemeClr val="tx1"/>
                </a:solidFill>
                <a:latin typeface="Calibri" panose="020F0502020204030204" pitchFamily="34" charset="0"/>
              </a:defRPr>
            </a:lvl9pPr>
          </a:lstStyle>
          <a:p>
            <a:pPr defTabSz="685800" eaLnBrk="1" fontAlgn="auto" hangingPunct="1">
              <a:spcBef>
                <a:spcPts val="0"/>
              </a:spcBef>
              <a:spcAft>
                <a:spcPts val="0"/>
              </a:spcAft>
            </a:pPr>
            <a:endParaRPr lang="en-US" altLang="en-US" sz="1350">
              <a:solidFill>
                <a:prstClr val="black"/>
              </a:solidFill>
            </a:endParaRPr>
          </a:p>
        </p:txBody>
      </p:sp>
      <p:sp>
        <p:nvSpPr>
          <p:cNvPr id="7" name="Subtitle 2"/>
          <p:cNvSpPr txBox="1">
            <a:spLocks noChangeArrowheads="1"/>
          </p:cNvSpPr>
          <p:nvPr/>
        </p:nvSpPr>
        <p:spPr bwMode="auto">
          <a:xfrm>
            <a:off x="1324347" y="6476999"/>
            <a:ext cx="10181853" cy="355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685800" eaLnBrk="1" fontAlgn="auto" hangingPunct="1">
              <a:spcBef>
                <a:spcPts val="0"/>
              </a:spcBef>
              <a:spcAft>
                <a:spcPts val="0"/>
              </a:spcAft>
            </a:pPr>
            <a:r>
              <a:rPr lang="en-IN" sz="1050" b="1" dirty="0">
                <a:solidFill>
                  <a:srgbClr val="C00000"/>
                </a:solidFill>
                <a:latin typeface="Museo 300"/>
              </a:rPr>
              <a:t>An Autonomous Institution ,Affiliated to Visvesvaraya Technological University, Belagavi. Approved By AICTE, New Delhi. Recognized by UGC with 2(f) &amp; 12(B) status. Accredited by NBA and NAAC.</a:t>
            </a: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8469" y="-531802"/>
            <a:ext cx="5653293" cy="2460980"/>
          </a:xfrm>
          <a:prstGeom prst="rect">
            <a:avLst/>
          </a:prstGeom>
        </p:spPr>
      </p:pic>
      <p:sp>
        <p:nvSpPr>
          <p:cNvPr id="14" name="Google Shape;151;p27"/>
          <p:cNvSpPr/>
          <p:nvPr/>
        </p:nvSpPr>
        <p:spPr>
          <a:xfrm>
            <a:off x="4194527" y="1536410"/>
            <a:ext cx="4042606" cy="1172233"/>
          </a:xfrm>
          <a:custGeom>
            <a:avLst/>
            <a:gdLst/>
            <a:ahLst/>
            <a:cxnLst/>
            <a:rect l="l" t="t" r="r" b="b"/>
            <a:pathLst>
              <a:path w="4583" h="727" extrusionOk="0">
                <a:moveTo>
                  <a:pt x="0" y="0"/>
                </a:moveTo>
                <a:lnTo>
                  <a:pt x="0" y="727"/>
                </a:lnTo>
                <a:lnTo>
                  <a:pt x="4583" y="727"/>
                </a:lnTo>
                <a:lnTo>
                  <a:pt x="4028" y="0"/>
                </a:lnTo>
                <a:lnTo>
                  <a:pt x="0" y="0"/>
                </a:lnTo>
                <a:close/>
              </a:path>
            </a:pathLst>
          </a:custGeom>
          <a:solidFill>
            <a:srgbClr val="F18B17">
              <a:alpha val="84705"/>
            </a:srgbClr>
          </a:solidFill>
          <a:ln>
            <a:noFill/>
          </a:ln>
        </p:spPr>
        <p:txBody>
          <a:bodyPr spcFirstLastPara="1" wrap="square" lIns="59400" tIns="29681" rIns="59400" bIns="29681" anchor="t" anchorCtr="0">
            <a:noAutofit/>
          </a:bodyPr>
          <a:lstStyle/>
          <a:p>
            <a:pPr algn="ctr" defTabSz="685800" eaLnBrk="1" fontAlgn="auto" hangingPunct="1">
              <a:spcBef>
                <a:spcPts val="0"/>
              </a:spcBef>
              <a:spcAft>
                <a:spcPts val="0"/>
              </a:spcAft>
            </a:pPr>
            <a:r>
              <a:rPr lang="en-GB" sz="1400" b="1" dirty="0">
                <a:solidFill>
                  <a:srgbClr val="E7E6E6"/>
                </a:solidFill>
                <a:latin typeface="Museo 300" panose="02000000000000000000" pitchFamily="50" charset="0"/>
                <a:sym typeface="Arial" panose="020B0604020202020204"/>
              </a:rPr>
              <a:t>An Autonomous Institute</a:t>
            </a:r>
            <a:endParaRPr sz="1400" dirty="0">
              <a:solidFill>
                <a:prstClr val="black"/>
              </a:solidFill>
              <a:latin typeface="Museo 300" panose="02000000000000000000" pitchFamily="50" charset="0"/>
            </a:endParaRPr>
          </a:p>
          <a:p>
            <a:pPr algn="ctr" defTabSz="685800" eaLnBrk="1" fontAlgn="auto" hangingPunct="1">
              <a:spcBef>
                <a:spcPts val="0"/>
              </a:spcBef>
              <a:spcAft>
                <a:spcPts val="0"/>
              </a:spcAft>
            </a:pPr>
            <a:r>
              <a:rPr lang="en-GB" sz="1400" b="1" dirty="0">
                <a:solidFill>
                  <a:srgbClr val="E7E6E6"/>
                </a:solidFill>
                <a:latin typeface="Museo 300" panose="02000000000000000000" pitchFamily="50" charset="0"/>
                <a:sym typeface="Arial" panose="020B0604020202020204"/>
              </a:rPr>
              <a:t>Affiliated to VTU, Belagavi,</a:t>
            </a:r>
            <a:endParaRPr sz="1400" b="1" dirty="0">
              <a:solidFill>
                <a:srgbClr val="E7E6E6"/>
              </a:solidFill>
              <a:latin typeface="Museo 300" panose="02000000000000000000" pitchFamily="50" charset="0"/>
              <a:sym typeface="Arial" panose="020B0604020202020204"/>
            </a:endParaRPr>
          </a:p>
          <a:p>
            <a:pPr algn="ctr" defTabSz="685800" eaLnBrk="1" fontAlgn="auto" hangingPunct="1">
              <a:spcBef>
                <a:spcPts val="0"/>
              </a:spcBef>
              <a:spcAft>
                <a:spcPts val="0"/>
              </a:spcAft>
            </a:pPr>
            <a:r>
              <a:rPr lang="en-GB" sz="1400" b="1" dirty="0">
                <a:solidFill>
                  <a:srgbClr val="E7E6E6"/>
                </a:solidFill>
                <a:latin typeface="Museo 300" panose="02000000000000000000" pitchFamily="50" charset="0"/>
                <a:sym typeface="Arial" panose="020B0604020202020204"/>
              </a:rPr>
              <a:t>Approved by AICTE, New Delhi,</a:t>
            </a:r>
            <a:endParaRPr sz="1400" b="1" dirty="0">
              <a:solidFill>
                <a:srgbClr val="E7E6E6"/>
              </a:solidFill>
              <a:latin typeface="Museo 300" panose="02000000000000000000" pitchFamily="50" charset="0"/>
              <a:sym typeface="Arial" panose="020B0604020202020204"/>
            </a:endParaRPr>
          </a:p>
          <a:p>
            <a:pPr algn="ctr" defTabSz="685800" eaLnBrk="1" fontAlgn="auto" hangingPunct="1">
              <a:spcBef>
                <a:spcPts val="0"/>
              </a:spcBef>
              <a:spcAft>
                <a:spcPts val="0"/>
              </a:spcAft>
            </a:pPr>
            <a:r>
              <a:rPr lang="en-GB" sz="1400" b="1" dirty="0">
                <a:solidFill>
                  <a:srgbClr val="E7E6E6"/>
                </a:solidFill>
                <a:latin typeface="Museo 300" panose="02000000000000000000" pitchFamily="50" charset="0"/>
                <a:sym typeface="Arial" panose="020B0604020202020204"/>
              </a:rPr>
              <a:t>Recognized by UGC with 2(f) &amp; 12(B)</a:t>
            </a:r>
            <a:endParaRPr sz="1400" b="1" dirty="0">
              <a:solidFill>
                <a:srgbClr val="E7E6E6"/>
              </a:solidFill>
              <a:latin typeface="Museo 300" panose="02000000000000000000" pitchFamily="50" charset="0"/>
              <a:sym typeface="Arial" panose="020B0604020202020204"/>
            </a:endParaRPr>
          </a:p>
          <a:p>
            <a:pPr algn="ctr" defTabSz="685800" eaLnBrk="1" fontAlgn="auto" hangingPunct="1">
              <a:spcBef>
                <a:spcPts val="0"/>
              </a:spcBef>
              <a:spcAft>
                <a:spcPts val="0"/>
              </a:spcAft>
            </a:pPr>
            <a:r>
              <a:rPr lang="en-GB" sz="1400" b="1" dirty="0">
                <a:solidFill>
                  <a:srgbClr val="E7E6E6"/>
                </a:solidFill>
                <a:latin typeface="Museo 300" panose="02000000000000000000" pitchFamily="50" charset="0"/>
                <a:sym typeface="Arial" panose="020B0604020202020204"/>
              </a:rPr>
              <a:t>Accredited by NBA &amp; NAAC</a:t>
            </a:r>
            <a:endParaRPr sz="1400" dirty="0">
              <a:solidFill>
                <a:prstClr val="black"/>
              </a:solidFill>
              <a:latin typeface="Museo 300" panose="02000000000000000000" pitchFamily="50" charset="0"/>
            </a:endParaRPr>
          </a:p>
        </p:txBody>
      </p:sp>
      <p:sp>
        <p:nvSpPr>
          <p:cNvPr id="15" name="Google Shape;149;p27"/>
          <p:cNvSpPr/>
          <p:nvPr/>
        </p:nvSpPr>
        <p:spPr>
          <a:xfrm>
            <a:off x="24785" y="2813165"/>
            <a:ext cx="12192000" cy="1988390"/>
          </a:xfrm>
          <a:custGeom>
            <a:avLst/>
            <a:gdLst/>
            <a:ahLst/>
            <a:cxnLst/>
            <a:rect l="l" t="t" r="r" b="b"/>
            <a:pathLst>
              <a:path w="4583" h="727" extrusionOk="0">
                <a:moveTo>
                  <a:pt x="0" y="0"/>
                </a:moveTo>
                <a:lnTo>
                  <a:pt x="0" y="727"/>
                </a:lnTo>
                <a:lnTo>
                  <a:pt x="4583" y="727"/>
                </a:lnTo>
                <a:lnTo>
                  <a:pt x="4028" y="0"/>
                </a:lnTo>
                <a:lnTo>
                  <a:pt x="0" y="0"/>
                </a:lnTo>
                <a:close/>
              </a:path>
            </a:pathLst>
          </a:custGeom>
          <a:solidFill>
            <a:srgbClr val="F18B17">
              <a:alpha val="84705"/>
            </a:srgbClr>
          </a:solidFill>
          <a:ln>
            <a:noFill/>
          </a:ln>
        </p:spPr>
        <p:txBody>
          <a:bodyPr spcFirstLastPara="1" wrap="square" lIns="59400" tIns="29681" rIns="59400" bIns="29681" anchor="t" anchorCtr="0">
            <a:noAutofit/>
          </a:bodyPr>
          <a:lstStyle/>
          <a:p>
            <a:pPr algn="ctr" defTabSz="685800" eaLnBrk="1" fontAlgn="auto" hangingPunct="1">
              <a:lnSpc>
                <a:spcPct val="150000"/>
              </a:lnSpc>
              <a:spcBef>
                <a:spcPts val="0"/>
              </a:spcBef>
              <a:spcAft>
                <a:spcPts val="0"/>
              </a:spcAft>
            </a:pPr>
            <a:r>
              <a:rPr lang="en-US" sz="1600" b="1" dirty="0">
                <a:latin typeface="Museo 300" panose="02000000000000000000" pitchFamily="50" charset="0"/>
                <a:cs typeface="Arial" panose="020B0604020202020204" pitchFamily="34" charset="0"/>
              </a:rPr>
              <a:t> </a:t>
            </a:r>
            <a:r>
              <a:rPr lang="en-US" sz="2000" b="1" dirty="0">
                <a:solidFill>
                  <a:srgbClr val="2F2A96"/>
                </a:solidFill>
                <a:latin typeface="Museo 300" panose="02000000000000000000" pitchFamily="50" charset="0"/>
                <a:cs typeface="Arial" panose="020B0604020202020204" pitchFamily="34" charset="0"/>
              </a:rPr>
              <a:t>DEPARTMENT OF COMPUTER SCIENCE ENGINEERING</a:t>
            </a:r>
          </a:p>
          <a:p>
            <a:pPr algn="ctr" defTabSz="685800" eaLnBrk="1" fontAlgn="auto" hangingPunct="1">
              <a:lnSpc>
                <a:spcPct val="150000"/>
              </a:lnSpc>
              <a:spcBef>
                <a:spcPts val="0"/>
              </a:spcBef>
              <a:spcAft>
                <a:spcPts val="0"/>
              </a:spcAft>
            </a:pPr>
            <a:r>
              <a:rPr lang="en-IN" b="1" dirty="0">
                <a:latin typeface="Museo 300" panose="02000000000000000000" pitchFamily="50" charset="0"/>
                <a:ea typeface="Calibri" panose="020F0502020204030204"/>
                <a:cs typeface="Calibri" panose="020F0502020204030204"/>
                <a:sym typeface="Calibri" panose="020F0502020204030204"/>
              </a:rPr>
              <a:t>SUBJECT CODE : MVJ22CS33 </a:t>
            </a:r>
          </a:p>
          <a:p>
            <a:pPr algn="ctr" defTabSz="685800" eaLnBrk="1" fontAlgn="auto" hangingPunct="1">
              <a:lnSpc>
                <a:spcPct val="150000"/>
              </a:lnSpc>
              <a:spcBef>
                <a:spcPts val="0"/>
              </a:spcBef>
              <a:spcAft>
                <a:spcPts val="0"/>
              </a:spcAft>
            </a:pPr>
            <a:r>
              <a:rPr lang="en-IN" b="1" dirty="0">
                <a:latin typeface="Museo 300" panose="02000000000000000000" pitchFamily="50" charset="0"/>
                <a:ea typeface="Calibri" panose="020F0502020204030204"/>
                <a:cs typeface="Calibri" panose="020F0502020204030204"/>
                <a:sym typeface="Calibri" panose="020F0502020204030204"/>
              </a:rPr>
              <a:t>SUBJECT NAME: DIGITAL DESIGN AND COMPUTER ORGANIZATION</a:t>
            </a:r>
          </a:p>
          <a:p>
            <a:pPr algn="ctr" defTabSz="685800" eaLnBrk="1" fontAlgn="auto" hangingPunct="1">
              <a:lnSpc>
                <a:spcPct val="150000"/>
              </a:lnSpc>
              <a:spcBef>
                <a:spcPts val="0"/>
              </a:spcBef>
              <a:spcAft>
                <a:spcPts val="0"/>
              </a:spcAft>
            </a:pPr>
            <a:r>
              <a:rPr lang="en-IN" b="1" dirty="0">
                <a:latin typeface="Museo 300" panose="02000000000000000000" pitchFamily="50" charset="0"/>
                <a:ea typeface="Calibri" panose="020F0502020204030204"/>
                <a:cs typeface="Calibri" panose="020F0502020204030204"/>
                <a:sym typeface="Calibri" panose="020F0502020204030204"/>
              </a:rPr>
              <a:t>LECTURE PRESENTATION  MODULE – 5</a:t>
            </a:r>
            <a:endParaRPr sz="1600" b="1" dirty="0">
              <a:latin typeface="Museo 300" panose="02000000000000000000" pitchFamily="50" charset="0"/>
              <a:sym typeface="Arial" panose="020B0604020202020204"/>
            </a:endParaRPr>
          </a:p>
        </p:txBody>
      </p:sp>
      <p:pic>
        <p:nvPicPr>
          <p:cNvPr id="10" name="Picture 9"/>
          <p:cNvPicPr>
            <a:picLocks noChangeAspect="1"/>
          </p:cNvPicPr>
          <p:nvPr/>
        </p:nvPicPr>
        <p:blipFill>
          <a:blip r:embed="rId4"/>
          <a:stretch>
            <a:fillRect/>
          </a:stretch>
        </p:blipFill>
        <p:spPr>
          <a:xfrm>
            <a:off x="0" y="6121756"/>
            <a:ext cx="1324347" cy="710487"/>
          </a:xfrm>
          <a:prstGeom prst="rect">
            <a:avLst/>
          </a:prstGeom>
        </p:spPr>
      </p:pic>
      <p:sp>
        <p:nvSpPr>
          <p:cNvPr id="11" name="TextBox 7"/>
          <p:cNvSpPr txBox="1">
            <a:spLocks noChangeArrowheads="1"/>
          </p:cNvSpPr>
          <p:nvPr/>
        </p:nvSpPr>
        <p:spPr bwMode="auto">
          <a:xfrm>
            <a:off x="3429000" y="4962616"/>
            <a:ext cx="6629400" cy="880369"/>
          </a:xfrm>
          <a:prstGeom prst="rect">
            <a:avLst/>
          </a:prstGeom>
          <a:noFill/>
          <a:ln w="9525">
            <a:noFill/>
            <a:miter lim="800000"/>
          </a:ln>
        </p:spPr>
        <p:txBody>
          <a:bodyPr wrap="square">
            <a:spAutoFit/>
          </a:bodyPr>
          <a:lstStyle/>
          <a:p>
            <a:pPr marL="400050" indent="-400050" eaLnBrk="1" hangingPunct="1">
              <a:lnSpc>
                <a:spcPct val="150000"/>
              </a:lnSpc>
            </a:pPr>
            <a:r>
              <a:rPr lang="en-US" b="1" dirty="0">
                <a:solidFill>
                  <a:srgbClr val="002060"/>
                </a:solidFill>
                <a:latin typeface="Museo 300" panose="02000000000000000000" pitchFamily="50" charset="0"/>
                <a:cs typeface="Times New Roman" panose="02020603050405020304" pitchFamily="18" charset="0"/>
              </a:rPr>
              <a:t>FACULTY : Prof. Nivedita Sahoo, Asst. Prof, Dept. of CSE                 </a:t>
            </a:r>
          </a:p>
          <a:p>
            <a:pPr marL="400050" indent="-400050" eaLnBrk="1" hangingPunct="1">
              <a:lnSpc>
                <a:spcPct val="150000"/>
              </a:lnSpc>
            </a:pPr>
            <a:endParaRPr lang="en-US" b="1" dirty="0">
              <a:solidFill>
                <a:srgbClr val="002060"/>
              </a:solidFill>
              <a:latin typeface="Museo 300" panose="02000000000000000000" pitchFamily="50"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Syllabus for Course</a:t>
            </a:r>
            <a:br>
              <a:rPr lang="en-US" dirty="0"/>
            </a:br>
            <a:endParaRPr lang="en-US" dirty="0"/>
          </a:p>
        </p:txBody>
      </p:sp>
      <p:sp>
        <p:nvSpPr>
          <p:cNvPr id="3" name="Content Placeholder 2"/>
          <p:cNvSpPr>
            <a:spLocks noGrp="1"/>
          </p:cNvSpPr>
          <p:nvPr>
            <p:ph idx="1"/>
          </p:nvPr>
        </p:nvSpPr>
        <p:spPr/>
        <p:txBody>
          <a:bodyPr/>
          <a:lstStyle/>
          <a:p>
            <a:pPr algn="just">
              <a:lnSpc>
                <a:spcPct val="150000"/>
              </a:lnSpc>
            </a:pPr>
            <a:r>
              <a:rPr lang="en-IN" b="1" dirty="0">
                <a:solidFill>
                  <a:srgbClr val="FF0000"/>
                </a:solidFill>
              </a:rPr>
              <a:t>Module 5</a:t>
            </a:r>
          </a:p>
          <a:p>
            <a:pPr algn="just">
              <a:lnSpc>
                <a:spcPct val="150000"/>
              </a:lnSpc>
            </a:pPr>
            <a:r>
              <a:rPr lang="en-IN" b="1" dirty="0"/>
              <a:t>Basic Processing Unit:</a:t>
            </a:r>
            <a:r>
              <a:rPr lang="en-IN" dirty="0"/>
              <a:t> Some Fundamental Concepts: Register Transfers, Performing ALU operations, fetching a word from Memory, storing a word in memory. Execution of a Complete Instruction, </a:t>
            </a:r>
            <a:r>
              <a:rPr lang="en-IN" b="1" dirty="0"/>
              <a:t>Pipelining</a:t>
            </a:r>
            <a:r>
              <a:rPr lang="en-IN" dirty="0"/>
              <a:t> : Basic concepts, Role of Cache memory, Pipeline Performance</a:t>
            </a:r>
            <a:endParaRPr lang="en-US" dirty="0"/>
          </a:p>
          <a:p>
            <a:pPr algn="just">
              <a:lnSpc>
                <a:spcPct val="150000"/>
              </a:lnSpc>
            </a:pPr>
            <a:r>
              <a:rPr lang="en-IN" b="1" dirty="0"/>
              <a:t>Activity: </a:t>
            </a:r>
            <a:r>
              <a:rPr lang="en-IN" dirty="0"/>
              <a:t>Show the possible control sequence for implementing any instruction for a single bus organisation.</a:t>
            </a:r>
            <a:endParaRPr lang="en-US"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0"/>
            <a:ext cx="9525000" cy="1143000"/>
          </a:xfrm>
        </p:spPr>
        <p:txBody>
          <a:bodyPr/>
          <a:lstStyle/>
          <a:p>
            <a:r>
              <a:rPr lang="en-IN" dirty="0"/>
              <a:t>Module 5 Structure</a:t>
            </a:r>
          </a:p>
        </p:txBody>
      </p:sp>
      <p:sp>
        <p:nvSpPr>
          <p:cNvPr id="3" name="Content Placeholder 2"/>
          <p:cNvSpPr>
            <a:spLocks noGrp="1"/>
          </p:cNvSpPr>
          <p:nvPr>
            <p:ph idx="1"/>
          </p:nvPr>
        </p:nvSpPr>
        <p:spPr>
          <a:xfrm>
            <a:off x="381000" y="914400"/>
            <a:ext cx="11582400" cy="5151435"/>
          </a:xfrm>
        </p:spPr>
        <p:txBody>
          <a:bodyPr>
            <a:noAutofit/>
          </a:bodyPr>
          <a:lstStyle/>
          <a:p>
            <a:pPr algn="just">
              <a:lnSpc>
                <a:spcPct val="150000"/>
              </a:lnSpc>
            </a:pPr>
            <a:r>
              <a:rPr lang="en-US" b="1" dirty="0">
                <a:solidFill>
                  <a:srgbClr val="FF0000"/>
                </a:solidFill>
                <a:latin typeface="Museo 300"/>
              </a:rPr>
              <a:t>Basic Processing Unit</a:t>
            </a:r>
          </a:p>
          <a:p>
            <a:pPr>
              <a:lnSpc>
                <a:spcPct val="150000"/>
              </a:lnSpc>
            </a:pPr>
            <a:r>
              <a:rPr lang="en-IN" dirty="0"/>
              <a:t>Some Fundamental Concepts, </a:t>
            </a:r>
          </a:p>
          <a:p>
            <a:pPr>
              <a:lnSpc>
                <a:spcPct val="150000"/>
              </a:lnSpc>
            </a:pPr>
            <a:r>
              <a:rPr lang="en-IN" dirty="0"/>
              <a:t>Execution of a Complete Instruction, </a:t>
            </a:r>
          </a:p>
          <a:p>
            <a:pPr>
              <a:lnSpc>
                <a:spcPct val="150000"/>
              </a:lnSpc>
            </a:pPr>
            <a:r>
              <a:rPr lang="en-IN" dirty="0"/>
              <a:t>Pipelining , Basic concepts, </a:t>
            </a:r>
          </a:p>
          <a:p>
            <a:pPr>
              <a:lnSpc>
                <a:spcPct val="150000"/>
              </a:lnSpc>
            </a:pPr>
            <a:r>
              <a:rPr lang="en-IN" dirty="0"/>
              <a:t>Role of Cache memory, </a:t>
            </a:r>
          </a:p>
          <a:p>
            <a:pPr>
              <a:lnSpc>
                <a:spcPct val="150000"/>
              </a:lnSpc>
            </a:pPr>
            <a:r>
              <a:rPr lang="en-IN" dirty="0"/>
              <a:t>Pipeline Performance</a:t>
            </a:r>
            <a:endParaRPr lang="en-US" b="1" dirty="0">
              <a:solidFill>
                <a:srgbClr val="FF0000"/>
              </a:solidFill>
              <a:latin typeface="Museo 300"/>
            </a:endParaRPr>
          </a:p>
          <a:p>
            <a:pPr algn="just">
              <a:lnSpc>
                <a:spcPct val="150000"/>
              </a:lnSpc>
            </a:pPr>
            <a:endParaRPr lang="en-IN" dirty="0"/>
          </a:p>
          <a:p>
            <a:pPr marL="0" indent="0" algn="just">
              <a:lnSpc>
                <a:spcPct val="150000"/>
              </a:lnSpc>
              <a:buNone/>
            </a:pPr>
            <a:r>
              <a:rPr lang="en-US" dirty="0"/>
              <a:t>.</a:t>
            </a:r>
            <a:endParaRPr lang="en-IN"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3</a:t>
            </a:fld>
            <a:endParaRPr lang="en-US" dirty="0"/>
          </a:p>
        </p:txBody>
      </p:sp>
      <p:pic>
        <p:nvPicPr>
          <p:cNvPr id="5" name="Picture 2" descr="Buy Computer Organization Book Online at Low Prices in India ..."/>
          <p:cNvPicPr>
            <a:picLocks noChangeAspect="1" noChangeArrowheads="1"/>
          </p:cNvPicPr>
          <p:nvPr/>
        </p:nvPicPr>
        <p:blipFill>
          <a:blip r:embed="rId2"/>
          <a:srcRect/>
          <a:stretch>
            <a:fillRect/>
          </a:stretch>
        </p:blipFill>
        <p:spPr bwMode="auto">
          <a:xfrm>
            <a:off x="8382000" y="1219200"/>
            <a:ext cx="2588662" cy="3435486"/>
          </a:xfrm>
          <a:prstGeom prst="rect">
            <a:avLst/>
          </a:prstGeom>
          <a:noFill/>
        </p:spPr>
      </p:pic>
    </p:spTree>
    <p:extLst>
      <p:ext uri="{BB962C8B-B14F-4D97-AF65-F5344CB8AC3E}">
        <p14:creationId xmlns:p14="http://schemas.microsoft.com/office/powerpoint/2010/main" val="3740147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
            <a:ext cx="10515600" cy="1325563"/>
          </a:xfrm>
        </p:spPr>
        <p:txBody>
          <a:bodyPr/>
          <a:lstStyle/>
          <a:p>
            <a:r>
              <a:rPr lang="en-US" dirty="0"/>
              <a:t>Reference Books</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4</a:t>
            </a:fld>
            <a:endParaRPr lang="en-US" dirty="0"/>
          </a:p>
        </p:txBody>
      </p:sp>
      <p:sp>
        <p:nvSpPr>
          <p:cNvPr id="5" name="Content Placeholder 2"/>
          <p:cNvSpPr txBox="1">
            <a:spLocks/>
          </p:cNvSpPr>
          <p:nvPr/>
        </p:nvSpPr>
        <p:spPr>
          <a:xfrm>
            <a:off x="531952" y="1295400"/>
            <a:ext cx="10899437" cy="4351338"/>
          </a:xfrm>
          <a:prstGeom prst="rect">
            <a:avLst/>
          </a:prstGeom>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   Carl </a:t>
            </a:r>
            <a:r>
              <a:rPr kumimoji="0" lang="en-US" sz="2000" b="0" i="0" u="none" strike="noStrike" kern="1200" cap="none" spc="0" normalizeH="0" baseline="0" noProof="0" dirty="0" err="1">
                <a:ln>
                  <a:noFill/>
                </a:ln>
                <a:solidFill>
                  <a:schemeClr val="tx1">
                    <a:lumMod val="95000"/>
                    <a:lumOff val="5000"/>
                  </a:schemeClr>
                </a:solidFill>
                <a:effectLst/>
                <a:uLnTx/>
                <a:uFillTx/>
                <a:latin typeface="Museo 300" panose="02000000000000000000" pitchFamily="50" charset="0"/>
                <a:ea typeface="+mn-ea"/>
                <a:cs typeface="+mn-cs"/>
              </a:rPr>
              <a:t>Hamacher</a:t>
            </a:r>
            <a:r>
              <a:rPr kumimoji="0" lang="en-US"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 </a:t>
            </a:r>
            <a:r>
              <a:rPr kumimoji="0" lang="en-US" sz="2000" b="0" i="0" u="none" strike="noStrike" kern="1200" cap="none" spc="0" normalizeH="0" baseline="0" noProof="0" dirty="0" err="1">
                <a:ln>
                  <a:noFill/>
                </a:ln>
                <a:solidFill>
                  <a:schemeClr val="tx1">
                    <a:lumMod val="95000"/>
                    <a:lumOff val="5000"/>
                  </a:schemeClr>
                </a:solidFill>
                <a:effectLst/>
                <a:uLnTx/>
                <a:uFillTx/>
                <a:latin typeface="Museo 300" panose="02000000000000000000" pitchFamily="50" charset="0"/>
                <a:ea typeface="+mn-ea"/>
                <a:cs typeface="+mn-cs"/>
              </a:rPr>
              <a:t>ZvonkoVranesic</a:t>
            </a:r>
            <a:r>
              <a:rPr kumimoji="0" lang="en-US"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 </a:t>
            </a:r>
            <a:r>
              <a:rPr kumimoji="0" lang="en-US" sz="2000" b="0" i="0" u="none" strike="noStrike" kern="1200" cap="none" spc="0" normalizeH="0" baseline="0" noProof="0" dirty="0" err="1">
                <a:ln>
                  <a:noFill/>
                </a:ln>
                <a:solidFill>
                  <a:schemeClr val="tx1">
                    <a:lumMod val="95000"/>
                    <a:lumOff val="5000"/>
                  </a:schemeClr>
                </a:solidFill>
                <a:effectLst/>
                <a:uLnTx/>
                <a:uFillTx/>
                <a:latin typeface="Museo 300" panose="02000000000000000000" pitchFamily="50" charset="0"/>
                <a:ea typeface="+mn-ea"/>
                <a:cs typeface="+mn-cs"/>
              </a:rPr>
              <a:t>SafwatZaky</a:t>
            </a:r>
            <a:r>
              <a:rPr kumimoji="0" lang="en-US"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 Computer Organization, 5th Edition, 2000.  </a:t>
            </a:r>
            <a:endParaRPr kumimoji="0" lang="en-IN" sz="2000" b="1" i="0" u="sng" strike="noStrike" kern="1200" cap="none" spc="0" normalizeH="0" baseline="0" noProof="0" dirty="0">
              <a:ln>
                <a:noFill/>
              </a:ln>
              <a:solidFill>
                <a:srgbClr val="C00000"/>
              </a:solidFill>
              <a:effectLst/>
              <a:uLnTx/>
              <a:uFillTx/>
              <a:latin typeface="Museo 300" panose="02000000000000000000" pitchFamily="50" charset="0"/>
              <a:ea typeface="+mn-ea"/>
              <a:cs typeface="+mn-cs"/>
            </a:endParaRPr>
          </a:p>
          <a:p>
            <a:pPr marL="457200" marR="0" lvl="0" indent="-4572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David A. Patterson, John L. Hennessy: Computer Organization and Design – The Hardware / Software Interface ARM Edition, 4th Edition, Elsevier, 2009.</a:t>
            </a:r>
            <a:endParaRPr kumimoji="0" lang="en-US"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endParaRPr>
          </a:p>
          <a:p>
            <a:pPr marL="457200" marR="0" lvl="0" indent="-4572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William Stallings: Computer Organization &amp; Architecture, 7th Edition, PHI, 2006.</a:t>
            </a:r>
          </a:p>
          <a:p>
            <a:pPr marL="457200" marR="0" lvl="0" indent="-4572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Vincent P. </a:t>
            </a:r>
            <a:r>
              <a:rPr kumimoji="0" lang="en-IN" sz="2000" b="0" i="0" u="none" strike="noStrike" kern="1200" cap="none" spc="0" normalizeH="0" baseline="0" noProof="0" dirty="0" err="1">
                <a:ln>
                  <a:noFill/>
                </a:ln>
                <a:solidFill>
                  <a:schemeClr val="tx1">
                    <a:lumMod val="95000"/>
                    <a:lumOff val="5000"/>
                  </a:schemeClr>
                </a:solidFill>
                <a:effectLst/>
                <a:uLnTx/>
                <a:uFillTx/>
                <a:latin typeface="Museo 300" panose="02000000000000000000" pitchFamily="50" charset="0"/>
                <a:ea typeface="+mn-ea"/>
                <a:cs typeface="+mn-cs"/>
              </a:rPr>
              <a:t>Heuring</a:t>
            </a:r>
            <a:r>
              <a:rPr kumimoji="0" lang="en-I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&amp; Harry F. Jordan: Computer Systems Design and Architecture, 2nd Edition, Pearson Education, 2004.</a:t>
            </a:r>
            <a:endParaRPr kumimoji="0" lang="en-US"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2"/>
          <p:cNvSpPr txBox="1">
            <a:spLocks noChangeArrowheads="1"/>
          </p:cNvSpPr>
          <p:nvPr/>
        </p:nvSpPr>
        <p:spPr bwMode="auto">
          <a:xfrm>
            <a:off x="3278952" y="1061443"/>
            <a:ext cx="5122069"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defRPr>
            </a:lvl1pPr>
            <a:lvl2pPr marL="742950" indent="-285750">
              <a:defRPr sz="2400">
                <a:solidFill>
                  <a:schemeClr val="tx1"/>
                </a:solidFill>
                <a:latin typeface="Calibri" panose="020F0502020204030204" pitchFamily="34" charset="0"/>
              </a:defRPr>
            </a:lvl2pPr>
            <a:lvl3pPr>
              <a:defRPr sz="2000">
                <a:solidFill>
                  <a:schemeClr val="tx1"/>
                </a:solidFill>
                <a:latin typeface="Calibri" panose="020F0502020204030204" pitchFamily="34" charset="0"/>
              </a:defRPr>
            </a:lvl3pPr>
            <a:lvl4pPr>
              <a:defRPr sz="2000">
                <a:solidFill>
                  <a:schemeClr val="tx1"/>
                </a:solidFill>
                <a:latin typeface="Calibri" panose="020F0502020204030204" pitchFamily="34" charset="0"/>
              </a:defRPr>
            </a:lvl4pPr>
            <a:lvl5pPr>
              <a:defRPr sz="2000">
                <a:solidFill>
                  <a:schemeClr val="tx1"/>
                </a:solidFill>
                <a:latin typeface="Calibri" panose="020F0502020204030204" pitchFamily="34" charset="0"/>
              </a:defRPr>
            </a:lvl5pPr>
            <a:lvl6pPr eaLnBrk="0" fontAlgn="base" hangingPunct="0">
              <a:spcAft>
                <a:spcPct val="0"/>
              </a:spcAft>
              <a:defRPr sz="2000">
                <a:solidFill>
                  <a:schemeClr val="tx1"/>
                </a:solidFill>
                <a:latin typeface="Calibri" panose="020F0502020204030204" pitchFamily="34" charset="0"/>
              </a:defRPr>
            </a:lvl6pPr>
            <a:lvl7pPr eaLnBrk="0" fontAlgn="base" hangingPunct="0">
              <a:spcAft>
                <a:spcPct val="0"/>
              </a:spcAft>
              <a:defRPr sz="2000">
                <a:solidFill>
                  <a:schemeClr val="tx1"/>
                </a:solidFill>
                <a:latin typeface="Calibri" panose="020F0502020204030204" pitchFamily="34" charset="0"/>
              </a:defRPr>
            </a:lvl7pPr>
            <a:lvl8pPr eaLnBrk="0" fontAlgn="base" hangingPunct="0">
              <a:spcAft>
                <a:spcPct val="0"/>
              </a:spcAft>
              <a:defRPr sz="2000">
                <a:solidFill>
                  <a:schemeClr val="tx1"/>
                </a:solidFill>
                <a:latin typeface="Calibri" panose="020F0502020204030204" pitchFamily="34" charset="0"/>
              </a:defRPr>
            </a:lvl8pPr>
            <a:lvl9pPr eaLnBrk="0" fontAlgn="base" hangingPunct="0">
              <a:spcAft>
                <a:spcPct val="0"/>
              </a:spcAft>
              <a:defRPr sz="2000">
                <a:solidFill>
                  <a:schemeClr val="tx1"/>
                </a:solidFill>
                <a:latin typeface="Calibri" panose="020F0502020204030204" pitchFamily="34" charset="0"/>
              </a:defRPr>
            </a:lvl9pPr>
          </a:lstStyle>
          <a:p>
            <a:pPr defTabSz="685783"/>
            <a:endParaRPr lang="en-US" altLang="en-US" sz="1351" dirty="0">
              <a:solidFill>
                <a:prstClr val="black"/>
              </a:solidFill>
              <a:latin typeface="Museo 300" panose="02000000000000000000" pitchFamily="50" charset="0"/>
            </a:endParaRPr>
          </a:p>
        </p:txBody>
      </p:sp>
      <p:sp>
        <p:nvSpPr>
          <p:cNvPr id="3" name="Rectangle 2"/>
          <p:cNvSpPr/>
          <p:nvPr/>
        </p:nvSpPr>
        <p:spPr>
          <a:xfrm>
            <a:off x="919483" y="403105"/>
            <a:ext cx="8605521" cy="577081"/>
          </a:xfrm>
          <a:prstGeom prst="rect">
            <a:avLst/>
          </a:prstGeom>
        </p:spPr>
        <p:txBody>
          <a:bodyPr wrap="square">
            <a:spAutoFit/>
          </a:bodyPr>
          <a:lstStyle/>
          <a:p>
            <a:pPr algn="ctr" eaLnBrk="1" hangingPunct="1">
              <a:lnSpc>
                <a:spcPct val="90000"/>
              </a:lnSpc>
            </a:pPr>
            <a:r>
              <a:rPr lang="en-US" sz="3500" b="1" dirty="0">
                <a:solidFill>
                  <a:srgbClr val="C00000"/>
                </a:solidFill>
                <a:latin typeface="Museo 300" panose="02000000000000000000" pitchFamily="50" charset="0"/>
                <a:ea typeface="+mj-ea"/>
                <a:cs typeface="+mj-cs"/>
              </a:rPr>
              <a:t>Course Outcomes</a:t>
            </a:r>
          </a:p>
        </p:txBody>
      </p:sp>
      <p:sp>
        <p:nvSpPr>
          <p:cNvPr id="9" name="Slide Number Placeholder 8"/>
          <p:cNvSpPr>
            <a:spLocks noGrp="1"/>
          </p:cNvSpPr>
          <p:nvPr>
            <p:ph type="sldNum" sz="quarter" idx="12"/>
          </p:nvPr>
        </p:nvSpPr>
        <p:spPr/>
        <p:txBody>
          <a:bodyPr/>
          <a:lstStyle/>
          <a:p>
            <a:pPr>
              <a:lnSpc>
                <a:spcPct val="150000"/>
              </a:lnSpc>
            </a:pPr>
            <a:fld id="{C1718CFD-035D-4D95-8B1E-50BE7B1BACFD}" type="slidenum">
              <a:rPr lang="en-IN" smtClean="0">
                <a:latin typeface="Museo 300" pitchFamily="50" charset="0"/>
              </a:rPr>
              <a:pPr>
                <a:lnSpc>
                  <a:spcPct val="150000"/>
                </a:lnSpc>
              </a:pPr>
              <a:t>5</a:t>
            </a:fld>
            <a:endParaRPr lang="en-IN" dirty="0">
              <a:latin typeface="Museo 300" pitchFamily="50" charset="0"/>
            </a:endParaRPr>
          </a:p>
        </p:txBody>
      </p:sp>
      <p:sp>
        <p:nvSpPr>
          <p:cNvPr id="5" name="Rectangle 4"/>
          <p:cNvSpPr/>
          <p:nvPr/>
        </p:nvSpPr>
        <p:spPr>
          <a:xfrm>
            <a:off x="482608" y="1524006"/>
            <a:ext cx="11114089" cy="3785652"/>
          </a:xfrm>
          <a:prstGeom prst="rect">
            <a:avLst/>
          </a:prstGeom>
        </p:spPr>
        <p:txBody>
          <a:bodyPr wrap="square">
            <a:spAutoFit/>
          </a:bodyPr>
          <a:lstStyle/>
          <a:p>
            <a:pPr algn="just">
              <a:lnSpc>
                <a:spcPct val="150000"/>
              </a:lnSpc>
            </a:pPr>
            <a:r>
              <a:rPr lang="en-US" sz="2000" dirty="0">
                <a:latin typeface="Museo 300" panose="02000000000000000000" pitchFamily="50" charset="0"/>
              </a:rPr>
              <a:t>After studying this course, students will be able to:</a:t>
            </a:r>
          </a:p>
          <a:p>
            <a:pPr lvl="1" algn="just">
              <a:lnSpc>
                <a:spcPct val="150000"/>
              </a:lnSpc>
              <a:buFont typeface="Arial" pitchFamily="34" charset="0"/>
              <a:buChar char="•"/>
            </a:pPr>
            <a:r>
              <a:rPr lang="en-US" sz="2000" b="1" dirty="0">
                <a:latin typeface="Museo 300" pitchFamily="50" charset="0"/>
              </a:rPr>
              <a:t>Explain the basic organization of a computer system.</a:t>
            </a:r>
          </a:p>
          <a:p>
            <a:pPr lvl="1" algn="just">
              <a:lnSpc>
                <a:spcPct val="150000"/>
              </a:lnSpc>
              <a:buFont typeface="Arial" pitchFamily="34" charset="0"/>
              <a:buChar char="•"/>
            </a:pPr>
            <a:r>
              <a:rPr lang="en-US" sz="2000" b="1" dirty="0">
                <a:latin typeface="Museo 300" pitchFamily="50" charset="0"/>
              </a:rPr>
              <a:t>Familiarization with various addressing modes and instruction.</a:t>
            </a:r>
          </a:p>
          <a:p>
            <a:pPr lvl="1" algn="just">
              <a:lnSpc>
                <a:spcPct val="150000"/>
              </a:lnSpc>
              <a:buFont typeface="Arial" pitchFamily="34" charset="0"/>
              <a:buChar char="•"/>
            </a:pPr>
            <a:r>
              <a:rPr lang="en-US" sz="2000" b="1" dirty="0">
                <a:latin typeface="Museo 300" pitchFamily="50" charset="0"/>
              </a:rPr>
              <a:t>Explain different ways of accessing an input / output device including interrupts.</a:t>
            </a:r>
          </a:p>
          <a:p>
            <a:pPr lvl="1" algn="just">
              <a:lnSpc>
                <a:spcPct val="150000"/>
              </a:lnSpc>
              <a:buFont typeface="Arial" pitchFamily="34" charset="0"/>
              <a:buChar char="•"/>
            </a:pPr>
            <a:r>
              <a:rPr lang="en-US" sz="2000" b="1" dirty="0">
                <a:latin typeface="Museo 300" pitchFamily="50" charset="0"/>
              </a:rPr>
              <a:t>Illustrate the organization of different types of semiconductor and other secondary storage memories.</a:t>
            </a:r>
          </a:p>
          <a:p>
            <a:pPr lvl="1" algn="just">
              <a:lnSpc>
                <a:spcPct val="150000"/>
              </a:lnSpc>
              <a:buFont typeface="Arial" pitchFamily="34" charset="0"/>
              <a:buChar char="•"/>
            </a:pPr>
            <a:r>
              <a:rPr lang="en-US" sz="2000" b="1" dirty="0">
                <a:solidFill>
                  <a:srgbClr val="FF0000"/>
                </a:solidFill>
                <a:latin typeface="Museo 300" pitchFamily="50" charset="0"/>
              </a:rPr>
              <a:t>Illustrate simple processor organization based on hardwired control and micro programmed control and Pipelining.</a:t>
            </a:r>
          </a:p>
        </p:txBody>
      </p:sp>
      <p:sp>
        <p:nvSpPr>
          <p:cNvPr id="7" name="Subtitle 2"/>
          <p:cNvSpPr txBox="1">
            <a:spLocks noChangeArrowheads="1"/>
          </p:cNvSpPr>
          <p:nvPr/>
        </p:nvSpPr>
        <p:spPr bwMode="auto">
          <a:xfrm>
            <a:off x="1324348" y="6476999"/>
            <a:ext cx="10181854" cy="355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685800" eaLnBrk="1" fontAlgn="auto" hangingPunct="1">
              <a:spcBef>
                <a:spcPts val="0"/>
              </a:spcBef>
              <a:spcAft>
                <a:spcPts val="0"/>
              </a:spcAft>
            </a:pPr>
            <a:r>
              <a:rPr lang="en-IN" sz="1050" b="1" dirty="0">
                <a:solidFill>
                  <a:srgbClr val="C00000"/>
                </a:solidFill>
                <a:latin typeface="Museo 300"/>
              </a:rPr>
              <a:t>An Autonomous Institution ,Affiliated to Visvesvaraya Technological University, Belagavi. Approved By AICTE, New Delhi. Recognized by UGC with 2(f) &amp; 12(B) status. Accredited by NBA and NAAC.</a:t>
            </a:r>
          </a:p>
        </p:txBody>
      </p:sp>
    </p:spTree>
    <p:extLst>
      <p:ext uri="{BB962C8B-B14F-4D97-AF65-F5344CB8AC3E}">
        <p14:creationId xmlns:p14="http://schemas.microsoft.com/office/powerpoint/2010/main" val="742255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1718CFD-035D-4D95-8B1E-50BE7B1BACFD}" type="slidenum">
              <a:rPr lang="en-IN" smtClean="0"/>
              <a:pPr/>
              <a:t>6</a:t>
            </a:fld>
            <a:endParaRPr lang="en-IN" dirty="0"/>
          </a:p>
        </p:txBody>
      </p:sp>
      <p:sp>
        <p:nvSpPr>
          <p:cNvPr id="3" name="Subtitle 2"/>
          <p:cNvSpPr txBox="1">
            <a:spLocks noChangeArrowheads="1"/>
          </p:cNvSpPr>
          <p:nvPr/>
        </p:nvSpPr>
        <p:spPr bwMode="auto">
          <a:xfrm>
            <a:off x="1324348" y="6476999"/>
            <a:ext cx="10181854" cy="355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685800" eaLnBrk="1" fontAlgn="auto" hangingPunct="1">
              <a:spcBef>
                <a:spcPts val="0"/>
              </a:spcBef>
              <a:spcAft>
                <a:spcPts val="0"/>
              </a:spcAft>
            </a:pPr>
            <a:r>
              <a:rPr lang="en-IN" sz="1050" b="1" dirty="0">
                <a:solidFill>
                  <a:srgbClr val="C00000"/>
                </a:solidFill>
                <a:latin typeface="Museo 300"/>
              </a:rPr>
              <a:t>An Autonomous Institution ,Affiliated to Visvesvaraya Technological University, Belagavi. Approved By AICTE, New Delhi. Recognized by UGC with 2(f) &amp; 12(B) status. Accredited by NBA and NAAC.</a:t>
            </a:r>
          </a:p>
        </p:txBody>
      </p:sp>
      <p:sp>
        <p:nvSpPr>
          <p:cNvPr id="4" name="TextBox 3"/>
          <p:cNvSpPr txBox="1"/>
          <p:nvPr/>
        </p:nvSpPr>
        <p:spPr>
          <a:xfrm>
            <a:off x="1676400" y="457200"/>
            <a:ext cx="5943600" cy="630942"/>
          </a:xfrm>
          <a:prstGeom prst="rect">
            <a:avLst/>
          </a:prstGeom>
          <a:noFill/>
        </p:spPr>
        <p:txBody>
          <a:bodyPr wrap="square" rtlCol="0">
            <a:spAutoFit/>
          </a:bodyPr>
          <a:lstStyle/>
          <a:p>
            <a:r>
              <a:rPr lang="en-US" sz="3500" b="1" dirty="0">
                <a:solidFill>
                  <a:srgbClr val="C00000"/>
                </a:solidFill>
                <a:latin typeface="Museo 300" pitchFamily="50" charset="0"/>
              </a:rPr>
              <a:t>Bridge content</a:t>
            </a:r>
          </a:p>
        </p:txBody>
      </p:sp>
      <p:sp>
        <p:nvSpPr>
          <p:cNvPr id="5" name="TextBox 4"/>
          <p:cNvSpPr txBox="1"/>
          <p:nvPr/>
        </p:nvSpPr>
        <p:spPr>
          <a:xfrm>
            <a:off x="1524000" y="1447800"/>
            <a:ext cx="7239000" cy="2351926"/>
          </a:xfrm>
          <a:prstGeom prst="rect">
            <a:avLst/>
          </a:prstGeom>
          <a:noFill/>
        </p:spPr>
        <p:txBody>
          <a:bodyPr wrap="square" rtlCol="0">
            <a:spAutoFit/>
          </a:bodyPr>
          <a:lstStyle/>
          <a:p>
            <a:pPr>
              <a:lnSpc>
                <a:spcPct val="150000"/>
              </a:lnSpc>
              <a:buFont typeface="Arial" pitchFamily="34" charset="0"/>
              <a:buChar char="•"/>
            </a:pPr>
            <a:r>
              <a:rPr lang="en-US" sz="2000" dirty="0">
                <a:latin typeface="Museo 300" pitchFamily="50" charset="0"/>
              </a:rPr>
              <a:t>D flip flop</a:t>
            </a:r>
          </a:p>
          <a:p>
            <a:pPr>
              <a:lnSpc>
                <a:spcPct val="150000"/>
              </a:lnSpc>
              <a:buFont typeface="Arial" pitchFamily="34" charset="0"/>
              <a:buChar char="•"/>
            </a:pPr>
            <a:r>
              <a:rPr lang="en-US" sz="2000" dirty="0">
                <a:latin typeface="Museo 300" pitchFamily="50" charset="0"/>
              </a:rPr>
              <a:t>Multiplexer</a:t>
            </a:r>
          </a:p>
          <a:p>
            <a:pPr>
              <a:lnSpc>
                <a:spcPct val="150000"/>
              </a:lnSpc>
              <a:buFont typeface="Arial" pitchFamily="34" charset="0"/>
              <a:buChar char="•"/>
            </a:pPr>
            <a:r>
              <a:rPr lang="en-US" sz="2000" dirty="0">
                <a:latin typeface="Museo 300" pitchFamily="50" charset="0"/>
              </a:rPr>
              <a:t>Tri state buffer</a:t>
            </a:r>
          </a:p>
          <a:p>
            <a:pPr>
              <a:lnSpc>
                <a:spcPct val="150000"/>
              </a:lnSpc>
              <a:buFont typeface="Arial" pitchFamily="34" charset="0"/>
              <a:buChar char="•"/>
            </a:pPr>
            <a:r>
              <a:rPr lang="en-US" sz="2000" dirty="0">
                <a:latin typeface="Museo 300" pitchFamily="50" charset="0"/>
              </a:rPr>
              <a:t>Traditional pipeline concept</a:t>
            </a:r>
          </a:p>
          <a:p>
            <a:pPr>
              <a:lnSpc>
                <a:spcPct val="150000"/>
              </a:lnSpc>
              <a:buFont typeface="Arial" pitchFamily="34" charset="0"/>
              <a:buChar char="•"/>
            </a:pPr>
            <a:endParaRPr lang="en-US" sz="2000" dirty="0">
              <a:latin typeface="Museo 300" pitchFamily="50"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381000"/>
            <a:ext cx="6600612" cy="551433"/>
          </a:xfrm>
          <a:prstGeom prst="rect">
            <a:avLst/>
          </a:prstGeom>
        </p:spPr>
        <p:txBody>
          <a:bodyPr vert="horz" wrap="square" lIns="0" tIns="12700" rIns="0" bIns="0" rtlCol="0">
            <a:spAutoFit/>
          </a:bodyPr>
          <a:lstStyle/>
          <a:p>
            <a:pPr marL="12700">
              <a:lnSpc>
                <a:spcPct val="100000"/>
              </a:lnSpc>
              <a:spcBef>
                <a:spcPts val="100"/>
              </a:spcBef>
            </a:pPr>
            <a:r>
              <a:rPr lang="en-US" spc="-5" dirty="0"/>
              <a:t>Recalling Concepts</a:t>
            </a:r>
            <a:endParaRPr spc="-5" dirty="0"/>
          </a:p>
        </p:txBody>
      </p:sp>
      <p:sp>
        <p:nvSpPr>
          <p:cNvPr id="3" name="object 3"/>
          <p:cNvSpPr txBox="1"/>
          <p:nvPr/>
        </p:nvSpPr>
        <p:spPr>
          <a:xfrm>
            <a:off x="838200" y="1524000"/>
            <a:ext cx="10478345" cy="3452227"/>
          </a:xfrm>
          <a:prstGeom prst="rect">
            <a:avLst/>
          </a:prstGeom>
        </p:spPr>
        <p:txBody>
          <a:bodyPr vert="horz" wrap="square" lIns="0" tIns="12700" rIns="0" bIns="0" rtlCol="0">
            <a:spAutoFit/>
          </a:bodyPr>
          <a:lstStyle/>
          <a:p>
            <a:pPr marL="355600" marR="318135" indent="-343535" algn="just">
              <a:lnSpc>
                <a:spcPct val="150000"/>
              </a:lnSpc>
              <a:spcBef>
                <a:spcPts val="100"/>
              </a:spcBef>
              <a:buClr>
                <a:srgbClr val="330066"/>
              </a:buClr>
              <a:buSzPct val="70000"/>
              <a:buFont typeface="Wingdings"/>
              <a:buChar char="⚫"/>
              <a:tabLst>
                <a:tab pos="355600" algn="l"/>
                <a:tab pos="356235" algn="l"/>
              </a:tabLst>
            </a:pPr>
            <a:r>
              <a:rPr sz="2000" spc="-5" dirty="0">
                <a:latin typeface="Museo 300" pitchFamily="50" charset="0"/>
                <a:cs typeface="Arial"/>
              </a:rPr>
              <a:t>Instruction </a:t>
            </a:r>
            <a:r>
              <a:rPr sz="2000" dirty="0">
                <a:latin typeface="Museo 300" pitchFamily="50" charset="0"/>
                <a:cs typeface="Arial"/>
              </a:rPr>
              <a:t>Set </a:t>
            </a:r>
            <a:r>
              <a:rPr sz="2000" spc="-5" dirty="0">
                <a:latin typeface="Museo 300" pitchFamily="50" charset="0"/>
                <a:cs typeface="Arial"/>
              </a:rPr>
              <a:t>Processor (ISP</a:t>
            </a:r>
            <a:r>
              <a:rPr sz="2000" spc="-5">
                <a:latin typeface="Museo 300" pitchFamily="50" charset="0"/>
                <a:cs typeface="Arial"/>
              </a:rPr>
              <a:t>) </a:t>
            </a:r>
            <a:r>
              <a:rPr sz="2000">
                <a:latin typeface="Museo 300" pitchFamily="50" charset="0"/>
                <a:cs typeface="Arial"/>
              </a:rPr>
              <a:t>–</a:t>
            </a:r>
            <a:r>
              <a:rPr lang="en-US" sz="2000" dirty="0">
                <a:latin typeface="Museo 300" pitchFamily="50" charset="0"/>
                <a:cs typeface="Arial"/>
              </a:rPr>
              <a:t>executes </a:t>
            </a:r>
            <a:r>
              <a:rPr sz="2000" spc="-5">
                <a:latin typeface="Museo 300" pitchFamily="50" charset="0"/>
                <a:cs typeface="Arial"/>
              </a:rPr>
              <a:t>machine </a:t>
            </a:r>
            <a:r>
              <a:rPr sz="2000" spc="-5" dirty="0">
                <a:latin typeface="Museo 300" pitchFamily="50" charset="0"/>
                <a:cs typeface="Arial"/>
              </a:rPr>
              <a:t>instructions and coordinates </a:t>
            </a:r>
            <a:r>
              <a:rPr sz="2000" dirty="0">
                <a:latin typeface="Museo 300" pitchFamily="50" charset="0"/>
                <a:cs typeface="Arial"/>
              </a:rPr>
              <a:t>the  </a:t>
            </a:r>
            <a:r>
              <a:rPr sz="2000" spc="-5" dirty="0">
                <a:latin typeface="Museo 300" pitchFamily="50" charset="0"/>
                <a:cs typeface="Arial"/>
              </a:rPr>
              <a:t>activities </a:t>
            </a:r>
            <a:r>
              <a:rPr sz="2000" dirty="0">
                <a:latin typeface="Museo 300" pitchFamily="50" charset="0"/>
                <a:cs typeface="Arial"/>
              </a:rPr>
              <a:t>of </a:t>
            </a:r>
            <a:r>
              <a:rPr sz="2000" spc="-5" dirty="0">
                <a:latin typeface="Museo 300" pitchFamily="50" charset="0"/>
                <a:cs typeface="Arial"/>
              </a:rPr>
              <a:t>other</a:t>
            </a:r>
            <a:r>
              <a:rPr sz="2000" spc="-15" dirty="0">
                <a:latin typeface="Museo 300" pitchFamily="50" charset="0"/>
                <a:cs typeface="Arial"/>
              </a:rPr>
              <a:t> </a:t>
            </a:r>
            <a:r>
              <a:rPr sz="2000" dirty="0">
                <a:latin typeface="Museo 300" pitchFamily="50" charset="0"/>
                <a:cs typeface="Arial"/>
              </a:rPr>
              <a:t>cells.</a:t>
            </a:r>
            <a:endParaRPr sz="2000">
              <a:latin typeface="Museo 300" pitchFamily="50" charset="0"/>
              <a:cs typeface="Arial"/>
            </a:endParaRPr>
          </a:p>
          <a:p>
            <a:pPr marL="356870" algn="just">
              <a:lnSpc>
                <a:spcPct val="150000"/>
              </a:lnSpc>
              <a:spcBef>
                <a:spcPts val="645"/>
              </a:spcBef>
              <a:tabLst>
                <a:tab pos="704215" algn="l"/>
              </a:tabLst>
            </a:pPr>
            <a:r>
              <a:rPr sz="2000" spc="1925" dirty="0">
                <a:solidFill>
                  <a:srgbClr val="669999"/>
                </a:solidFill>
                <a:latin typeface="Museo 300" pitchFamily="50" charset="0"/>
                <a:cs typeface="Wingdings"/>
              </a:rPr>
              <a:t>⚫</a:t>
            </a:r>
            <a:r>
              <a:rPr sz="2000" spc="1925" dirty="0">
                <a:solidFill>
                  <a:srgbClr val="669999"/>
                </a:solidFill>
                <a:latin typeface="Museo 300" pitchFamily="50" charset="0"/>
                <a:cs typeface="Times New Roman"/>
              </a:rPr>
              <a:t>	</a:t>
            </a:r>
            <a:r>
              <a:rPr sz="2000" dirty="0">
                <a:latin typeface="Museo 300" pitchFamily="50" charset="0"/>
                <a:cs typeface="Arial"/>
              </a:rPr>
              <a:t>Also called Central Processing Unit</a:t>
            </a:r>
            <a:r>
              <a:rPr sz="2000" spc="-70" dirty="0">
                <a:latin typeface="Museo 300" pitchFamily="50" charset="0"/>
                <a:cs typeface="Arial"/>
              </a:rPr>
              <a:t> </a:t>
            </a:r>
            <a:r>
              <a:rPr sz="2000" dirty="0">
                <a:latin typeface="Museo 300" pitchFamily="50" charset="0"/>
                <a:cs typeface="Arial"/>
              </a:rPr>
              <a:t>(CPU)</a:t>
            </a:r>
            <a:endParaRPr sz="2000">
              <a:latin typeface="Museo 300" pitchFamily="50" charset="0"/>
              <a:cs typeface="Arial"/>
            </a:endParaRPr>
          </a:p>
          <a:p>
            <a:pPr marL="355600" marR="5080" indent="-343535" algn="just">
              <a:lnSpc>
                <a:spcPct val="150000"/>
              </a:lnSpc>
              <a:spcBef>
                <a:spcPts val="705"/>
              </a:spcBef>
              <a:buClr>
                <a:srgbClr val="330066"/>
              </a:buClr>
              <a:buSzPct val="70000"/>
              <a:buFont typeface="Wingdings"/>
              <a:buChar char="⚫"/>
              <a:tabLst>
                <a:tab pos="356235" algn="l"/>
              </a:tabLst>
            </a:pPr>
            <a:r>
              <a:rPr sz="2000" dirty="0">
                <a:latin typeface="Museo 300" pitchFamily="50" charset="0"/>
                <a:cs typeface="Arial"/>
              </a:rPr>
              <a:t>A </a:t>
            </a:r>
            <a:r>
              <a:rPr sz="2000" spc="-5" dirty="0">
                <a:latin typeface="Museo 300" pitchFamily="50" charset="0"/>
                <a:cs typeface="Arial"/>
              </a:rPr>
              <a:t>typical computing </a:t>
            </a:r>
            <a:r>
              <a:rPr sz="2000" dirty="0">
                <a:latin typeface="Museo 300" pitchFamily="50" charset="0"/>
                <a:cs typeface="Arial"/>
              </a:rPr>
              <a:t>task consists of </a:t>
            </a:r>
            <a:r>
              <a:rPr sz="2000" spc="-5">
                <a:latin typeface="Museo 300" pitchFamily="50" charset="0"/>
                <a:cs typeface="Arial"/>
              </a:rPr>
              <a:t>a</a:t>
            </a:r>
            <a:r>
              <a:rPr sz="2000">
                <a:latin typeface="Museo 300" pitchFamily="50" charset="0"/>
                <a:ea typeface="Microsoft YaHei UI Light" pitchFamily="34" charset="-122"/>
                <a:cs typeface="Arial" pitchFamily="34" charset="0"/>
              </a:rPr>
              <a:t> </a:t>
            </a:r>
            <a:r>
              <a:rPr lang="en-US" sz="2000" dirty="0">
                <a:latin typeface="Museo 300" pitchFamily="50" charset="0"/>
                <a:ea typeface="Microsoft YaHei UI Light" pitchFamily="34" charset="-122"/>
                <a:cs typeface="Arial" pitchFamily="34" charset="0"/>
              </a:rPr>
              <a:t>series </a:t>
            </a:r>
            <a:r>
              <a:rPr sz="2000">
                <a:latin typeface="Museo 300" pitchFamily="50" charset="0"/>
                <a:cs typeface="Arial"/>
              </a:rPr>
              <a:t>steps </a:t>
            </a:r>
            <a:r>
              <a:rPr sz="2000" spc="-5" dirty="0">
                <a:latin typeface="Museo 300" pitchFamily="50" charset="0"/>
                <a:cs typeface="Arial"/>
              </a:rPr>
              <a:t>specified by a sequence </a:t>
            </a:r>
            <a:r>
              <a:rPr sz="2000" dirty="0">
                <a:latin typeface="Museo 300" pitchFamily="50" charset="0"/>
                <a:cs typeface="Arial"/>
              </a:rPr>
              <a:t>of</a:t>
            </a:r>
            <a:r>
              <a:rPr sz="2000" spc="-10" dirty="0">
                <a:latin typeface="Museo 300" pitchFamily="50" charset="0"/>
                <a:cs typeface="Arial"/>
              </a:rPr>
              <a:t> </a:t>
            </a:r>
            <a:r>
              <a:rPr sz="2000" spc="-5" dirty="0">
                <a:latin typeface="Museo 300" pitchFamily="50" charset="0"/>
                <a:cs typeface="Arial"/>
              </a:rPr>
              <a:t>machine  </a:t>
            </a:r>
            <a:r>
              <a:rPr sz="2000" dirty="0">
                <a:latin typeface="Museo 300" pitchFamily="50" charset="0"/>
                <a:cs typeface="Arial"/>
              </a:rPr>
              <a:t>instructions </a:t>
            </a:r>
            <a:r>
              <a:rPr sz="2000" spc="-5" dirty="0">
                <a:latin typeface="Museo 300" pitchFamily="50" charset="0"/>
                <a:cs typeface="Arial"/>
              </a:rPr>
              <a:t>that constitute </a:t>
            </a:r>
            <a:r>
              <a:rPr sz="2000" dirty="0">
                <a:latin typeface="Museo 300" pitchFamily="50" charset="0"/>
                <a:cs typeface="Arial"/>
              </a:rPr>
              <a:t>a</a:t>
            </a:r>
            <a:r>
              <a:rPr sz="2000" spc="-20" dirty="0">
                <a:latin typeface="Museo 300" pitchFamily="50" charset="0"/>
                <a:cs typeface="Arial"/>
              </a:rPr>
              <a:t> </a:t>
            </a:r>
            <a:r>
              <a:rPr sz="2000" spc="-5" dirty="0">
                <a:latin typeface="Museo 300" pitchFamily="50" charset="0"/>
                <a:cs typeface="Arial"/>
              </a:rPr>
              <a:t>program.</a:t>
            </a:r>
            <a:endParaRPr sz="2000">
              <a:latin typeface="Museo 300" pitchFamily="50" charset="0"/>
              <a:cs typeface="Arial"/>
            </a:endParaRPr>
          </a:p>
          <a:p>
            <a:pPr marL="355600" marR="240029" indent="-343535" algn="just">
              <a:lnSpc>
                <a:spcPct val="150000"/>
              </a:lnSpc>
              <a:spcBef>
                <a:spcPts val="720"/>
              </a:spcBef>
              <a:buClr>
                <a:srgbClr val="330066"/>
              </a:buClr>
              <a:buSzPct val="70000"/>
              <a:buFont typeface="Wingdings"/>
              <a:buChar char="⚫"/>
              <a:tabLst>
                <a:tab pos="356235" algn="l"/>
              </a:tabLst>
            </a:pPr>
            <a:r>
              <a:rPr sz="2000" dirty="0">
                <a:latin typeface="Museo 300" pitchFamily="50" charset="0"/>
                <a:cs typeface="Arial"/>
              </a:rPr>
              <a:t>An instruction is executed by carrying </a:t>
            </a:r>
            <a:r>
              <a:rPr sz="2000">
                <a:latin typeface="Museo 300" pitchFamily="50" charset="0"/>
                <a:cs typeface="Arial"/>
              </a:rPr>
              <a:t>out a</a:t>
            </a:r>
            <a:r>
              <a:rPr lang="en-US" sz="2000" dirty="0">
                <a:latin typeface="Museo 300" pitchFamily="50" charset="0"/>
                <a:cs typeface="Arial"/>
              </a:rPr>
              <a:t> </a:t>
            </a:r>
            <a:r>
              <a:rPr sz="2000">
                <a:latin typeface="Museo 300" pitchFamily="50" charset="0"/>
                <a:cs typeface="Arial"/>
              </a:rPr>
              <a:t>sequence </a:t>
            </a:r>
            <a:r>
              <a:rPr sz="2000" dirty="0">
                <a:latin typeface="Museo 300" pitchFamily="50" charset="0"/>
                <a:cs typeface="Arial"/>
              </a:rPr>
              <a:t>of more rudimentary operations.</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228600"/>
            <a:ext cx="7349067" cy="551433"/>
          </a:xfrm>
          <a:prstGeom prst="rect">
            <a:avLst/>
          </a:prstGeom>
        </p:spPr>
        <p:txBody>
          <a:bodyPr vert="horz" wrap="square" lIns="0" tIns="12700" rIns="0" bIns="0" rtlCol="0">
            <a:spAutoFit/>
          </a:bodyPr>
          <a:lstStyle/>
          <a:p>
            <a:pPr marL="12700">
              <a:lnSpc>
                <a:spcPct val="100000"/>
              </a:lnSpc>
              <a:spcBef>
                <a:spcPts val="100"/>
              </a:spcBef>
            </a:pPr>
            <a:r>
              <a:rPr dirty="0"/>
              <a:t>Fundamental</a:t>
            </a:r>
            <a:r>
              <a:rPr spc="-30" dirty="0"/>
              <a:t> </a:t>
            </a:r>
            <a:r>
              <a:rPr dirty="0"/>
              <a:t>Concepts</a:t>
            </a:r>
          </a:p>
        </p:txBody>
      </p:sp>
      <p:sp>
        <p:nvSpPr>
          <p:cNvPr id="3" name="object 3"/>
          <p:cNvSpPr txBox="1"/>
          <p:nvPr/>
        </p:nvSpPr>
        <p:spPr>
          <a:xfrm>
            <a:off x="838200" y="1219200"/>
            <a:ext cx="10710333" cy="3951274"/>
          </a:xfrm>
          <a:prstGeom prst="rect">
            <a:avLst/>
          </a:prstGeom>
        </p:spPr>
        <p:txBody>
          <a:bodyPr vert="horz" wrap="square" lIns="0" tIns="13335" rIns="0" bIns="0" rtlCol="0">
            <a:spAutoFit/>
          </a:bodyPr>
          <a:lstStyle/>
          <a:p>
            <a:pPr marL="355600" marR="777875" indent="-343535" algn="just">
              <a:lnSpc>
                <a:spcPct val="150000"/>
              </a:lnSpc>
              <a:spcBef>
                <a:spcPts val="105"/>
              </a:spcBef>
              <a:buClr>
                <a:srgbClr val="330066"/>
              </a:buClr>
              <a:buSzPct val="69230"/>
              <a:buFont typeface="Wingdings"/>
              <a:buChar char="⚫"/>
              <a:tabLst>
                <a:tab pos="355600" algn="l"/>
                <a:tab pos="356235" algn="l"/>
              </a:tabLst>
            </a:pPr>
            <a:r>
              <a:rPr sz="2000" dirty="0">
                <a:latin typeface="Museo 300" pitchFamily="50" charset="0"/>
                <a:cs typeface="Arial"/>
              </a:rPr>
              <a:t>Processor fetches one instruction at a time and </a:t>
            </a:r>
            <a:r>
              <a:rPr sz="2000" spc="-350" dirty="0">
                <a:latin typeface="Museo 300" pitchFamily="50" charset="0"/>
                <a:cs typeface="Arial"/>
              </a:rPr>
              <a:t> </a:t>
            </a:r>
            <a:r>
              <a:rPr sz="2000" dirty="0">
                <a:latin typeface="Museo 300" pitchFamily="50" charset="0"/>
                <a:cs typeface="Arial"/>
              </a:rPr>
              <a:t>performs the operation</a:t>
            </a:r>
            <a:r>
              <a:rPr sz="2000" spc="-20" dirty="0">
                <a:latin typeface="Museo 300" pitchFamily="50" charset="0"/>
                <a:cs typeface="Arial"/>
              </a:rPr>
              <a:t> </a:t>
            </a:r>
            <a:r>
              <a:rPr sz="2000" dirty="0">
                <a:latin typeface="Museo 300" pitchFamily="50" charset="0"/>
                <a:cs typeface="Arial"/>
              </a:rPr>
              <a:t>specified.</a:t>
            </a:r>
            <a:endParaRPr sz="2000">
              <a:latin typeface="Museo 300" pitchFamily="50" charset="0"/>
              <a:cs typeface="Arial"/>
            </a:endParaRPr>
          </a:p>
          <a:p>
            <a:pPr marL="355600" marR="485140" indent="-343535" algn="just">
              <a:lnSpc>
                <a:spcPct val="150000"/>
              </a:lnSpc>
              <a:spcBef>
                <a:spcPts val="625"/>
              </a:spcBef>
              <a:buClr>
                <a:srgbClr val="330066"/>
              </a:buClr>
              <a:buSzPct val="69230"/>
              <a:buFont typeface="Wingdings"/>
              <a:buChar char="⚫"/>
              <a:tabLst>
                <a:tab pos="355600" algn="l"/>
                <a:tab pos="356235" algn="l"/>
              </a:tabLst>
            </a:pPr>
            <a:r>
              <a:rPr sz="2000" dirty="0">
                <a:latin typeface="Museo 300" pitchFamily="50" charset="0"/>
                <a:cs typeface="Arial"/>
              </a:rPr>
              <a:t>Instructions are fetched </a:t>
            </a:r>
            <a:r>
              <a:rPr sz="2000" spc="-5" dirty="0">
                <a:latin typeface="Museo 300" pitchFamily="50" charset="0"/>
                <a:cs typeface="Arial"/>
              </a:rPr>
              <a:t>from </a:t>
            </a:r>
            <a:r>
              <a:rPr sz="2000" dirty="0">
                <a:latin typeface="Museo 300" pitchFamily="50" charset="0"/>
                <a:cs typeface="Arial"/>
              </a:rPr>
              <a:t>successive </a:t>
            </a:r>
            <a:r>
              <a:rPr sz="2000" spc="-175" dirty="0">
                <a:latin typeface="Museo 300" pitchFamily="50" charset="0"/>
                <a:cs typeface="Arial"/>
              </a:rPr>
              <a:t>memory  </a:t>
            </a:r>
            <a:r>
              <a:rPr sz="2000" dirty="0">
                <a:latin typeface="Museo 300" pitchFamily="50" charset="0"/>
                <a:cs typeface="Arial"/>
              </a:rPr>
              <a:t>locations until a branch or a jump instruction is  encountered.</a:t>
            </a:r>
            <a:endParaRPr sz="2000">
              <a:latin typeface="Museo 300" pitchFamily="50" charset="0"/>
              <a:cs typeface="Arial"/>
            </a:endParaRPr>
          </a:p>
          <a:p>
            <a:pPr marL="355600" marR="5080" indent="-343535" algn="just">
              <a:lnSpc>
                <a:spcPct val="150000"/>
              </a:lnSpc>
              <a:spcBef>
                <a:spcPts val="625"/>
              </a:spcBef>
              <a:buClr>
                <a:srgbClr val="330066"/>
              </a:buClr>
              <a:buSzPct val="69230"/>
              <a:buFont typeface="Wingdings"/>
              <a:buChar char="⚫"/>
              <a:tabLst>
                <a:tab pos="356235" algn="l"/>
              </a:tabLst>
            </a:pPr>
            <a:r>
              <a:rPr sz="2000" dirty="0">
                <a:latin typeface="Museo 300" pitchFamily="50" charset="0"/>
                <a:cs typeface="Arial"/>
              </a:rPr>
              <a:t>Processor keeps track of the address of the </a:t>
            </a:r>
            <a:r>
              <a:rPr sz="2000">
                <a:latin typeface="Museo 300" pitchFamily="50" charset="0"/>
                <a:cs typeface="Arial"/>
              </a:rPr>
              <a:t>memory location </a:t>
            </a:r>
            <a:r>
              <a:rPr sz="2000" dirty="0">
                <a:latin typeface="Museo 300" pitchFamily="50" charset="0"/>
                <a:cs typeface="Arial"/>
              </a:rPr>
              <a:t>containing the next instruction to be fetched  using Program Counter</a:t>
            </a:r>
            <a:r>
              <a:rPr sz="2000" spc="-55" dirty="0">
                <a:latin typeface="Museo 300" pitchFamily="50" charset="0"/>
                <a:cs typeface="Arial"/>
              </a:rPr>
              <a:t> </a:t>
            </a:r>
            <a:r>
              <a:rPr sz="2000" dirty="0">
                <a:latin typeface="Museo 300" pitchFamily="50" charset="0"/>
                <a:cs typeface="Arial"/>
              </a:rPr>
              <a:t>(PC).</a:t>
            </a:r>
            <a:endParaRPr sz="2000">
              <a:latin typeface="Museo 300" pitchFamily="50" charset="0"/>
              <a:cs typeface="Arial"/>
            </a:endParaRPr>
          </a:p>
          <a:p>
            <a:pPr marL="355600" marR="202565" indent="-343535" algn="just">
              <a:lnSpc>
                <a:spcPct val="150000"/>
              </a:lnSpc>
              <a:spcBef>
                <a:spcPts val="625"/>
              </a:spcBef>
              <a:buClr>
                <a:srgbClr val="330066"/>
              </a:buClr>
              <a:buSzPct val="69230"/>
              <a:buFont typeface="Wingdings"/>
              <a:buChar char="⚫"/>
              <a:tabLst>
                <a:tab pos="355600" algn="l"/>
                <a:tab pos="356235" algn="l"/>
              </a:tabLst>
            </a:pPr>
            <a:r>
              <a:rPr sz="2000" dirty="0">
                <a:latin typeface="Museo 300" pitchFamily="50" charset="0"/>
                <a:cs typeface="Arial"/>
              </a:rPr>
              <a:t>After fetching an instruction, the contents of the PC  are updated to point to the next instruction in the  sequence.</a:t>
            </a:r>
            <a:endParaRPr sz="2000">
              <a:latin typeface="Museo 300" pitchFamily="50" charset="0"/>
              <a:cs typeface="Arial"/>
            </a:endParaRPr>
          </a:p>
          <a:p>
            <a:pPr marL="356870" algn="just">
              <a:lnSpc>
                <a:spcPct val="150000"/>
              </a:lnSpc>
              <a:spcBef>
                <a:spcPts val="535"/>
              </a:spcBef>
              <a:tabLst>
                <a:tab pos="704215" algn="l"/>
              </a:tabLst>
            </a:pPr>
            <a:r>
              <a:rPr sz="2000" spc="1635" dirty="0">
                <a:solidFill>
                  <a:srgbClr val="669999"/>
                </a:solidFill>
                <a:latin typeface="Museo 300" pitchFamily="50" charset="0"/>
                <a:cs typeface="Wingdings"/>
              </a:rPr>
              <a:t>⚫</a:t>
            </a:r>
            <a:r>
              <a:rPr sz="2000" spc="1635" dirty="0">
                <a:solidFill>
                  <a:srgbClr val="669999"/>
                </a:solidFill>
                <a:latin typeface="Museo 300" pitchFamily="50" charset="0"/>
                <a:cs typeface="Times New Roman"/>
              </a:rPr>
              <a:t>	</a:t>
            </a:r>
            <a:r>
              <a:rPr sz="2000" spc="-5" dirty="0">
                <a:latin typeface="Museo 300" pitchFamily="50" charset="0"/>
                <a:cs typeface="Arial"/>
              </a:rPr>
              <a:t>A branch </a:t>
            </a:r>
            <a:r>
              <a:rPr sz="2000" dirty="0">
                <a:latin typeface="Museo 300" pitchFamily="50" charset="0"/>
                <a:cs typeface="Arial"/>
              </a:rPr>
              <a:t>instruction </a:t>
            </a:r>
            <a:r>
              <a:rPr sz="2000" spc="-5" dirty="0">
                <a:latin typeface="Museo 300" pitchFamily="50" charset="0"/>
                <a:cs typeface="Arial"/>
              </a:rPr>
              <a:t>may load a different value into the</a:t>
            </a:r>
            <a:r>
              <a:rPr sz="2000" spc="-90" dirty="0">
                <a:latin typeface="Museo 300" pitchFamily="50" charset="0"/>
                <a:cs typeface="Arial"/>
              </a:rPr>
              <a:t> </a:t>
            </a:r>
            <a:r>
              <a:rPr sz="2000" spc="-5" dirty="0">
                <a:latin typeface="Museo 300" pitchFamily="50" charset="0"/>
                <a:cs typeface="Arial"/>
              </a:rPr>
              <a:t>PC.</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0" y="157098"/>
            <a:ext cx="8229599" cy="551433"/>
          </a:xfrm>
          <a:prstGeom prst="rect">
            <a:avLst/>
          </a:prstGeom>
        </p:spPr>
        <p:txBody>
          <a:bodyPr vert="horz" wrap="square" lIns="0" tIns="12700" rIns="0" bIns="0" rtlCol="0">
            <a:spAutoFit/>
          </a:bodyPr>
          <a:lstStyle/>
          <a:p>
            <a:pPr marL="12700" marR="5080">
              <a:lnSpc>
                <a:spcPct val="100000"/>
              </a:lnSpc>
              <a:spcBef>
                <a:spcPts val="100"/>
              </a:spcBef>
            </a:pPr>
            <a:r>
              <a:rPr dirty="0"/>
              <a:t>Steps in Executing</a:t>
            </a:r>
            <a:r>
              <a:rPr spc="-45" dirty="0"/>
              <a:t> </a:t>
            </a:r>
            <a:r>
              <a:rPr dirty="0"/>
              <a:t>an  Instruction</a:t>
            </a:r>
          </a:p>
        </p:txBody>
      </p:sp>
      <p:sp>
        <p:nvSpPr>
          <p:cNvPr id="3" name="object 3"/>
          <p:cNvSpPr txBox="1"/>
          <p:nvPr/>
        </p:nvSpPr>
        <p:spPr>
          <a:xfrm>
            <a:off x="714587" y="1743583"/>
            <a:ext cx="10690860" cy="3552896"/>
          </a:xfrm>
          <a:prstGeom prst="rect">
            <a:avLst/>
          </a:prstGeom>
        </p:spPr>
        <p:txBody>
          <a:bodyPr vert="horz" wrap="square" lIns="0" tIns="13335" rIns="0" bIns="0" rtlCol="0">
            <a:spAutoFit/>
          </a:bodyPr>
          <a:lstStyle/>
          <a:p>
            <a:pPr marL="355600" marR="153035" indent="-343535" algn="just">
              <a:lnSpc>
                <a:spcPct val="150000"/>
              </a:lnSpc>
              <a:spcBef>
                <a:spcPts val="105"/>
              </a:spcBef>
              <a:buClr>
                <a:srgbClr val="330066"/>
              </a:buClr>
              <a:buSzPct val="69230"/>
              <a:buFont typeface="Wingdings"/>
              <a:buChar char="⚫"/>
              <a:tabLst>
                <a:tab pos="355600" algn="l"/>
                <a:tab pos="356235" algn="l"/>
              </a:tabLst>
            </a:pPr>
            <a:r>
              <a:rPr sz="2000" dirty="0">
                <a:latin typeface="Museo 300" pitchFamily="50" charset="0"/>
                <a:cs typeface="Arial"/>
              </a:rPr>
              <a:t>Fetch the contents of the memory location pointed  to by the PC. The contents of this location are  loaded into the instruction register </a:t>
            </a:r>
            <a:r>
              <a:rPr sz="2000" spc="-10" dirty="0">
                <a:latin typeface="Museo 300" pitchFamily="50" charset="0"/>
                <a:cs typeface="Arial"/>
              </a:rPr>
              <a:t>IR </a:t>
            </a:r>
            <a:r>
              <a:rPr sz="2000" dirty="0">
                <a:latin typeface="Museo 300" pitchFamily="50" charset="0"/>
                <a:cs typeface="Arial"/>
              </a:rPr>
              <a:t>(fetch phase).</a:t>
            </a:r>
            <a:endParaRPr sz="2000">
              <a:latin typeface="Museo 300" pitchFamily="50" charset="0"/>
              <a:cs typeface="Arial"/>
            </a:endParaRPr>
          </a:p>
          <a:p>
            <a:pPr marL="2756535" algn="just">
              <a:lnSpc>
                <a:spcPct val="150000"/>
              </a:lnSpc>
              <a:spcBef>
                <a:spcPts val="625"/>
              </a:spcBef>
            </a:pPr>
            <a:r>
              <a:rPr sz="2000" dirty="0">
                <a:latin typeface="Museo 300" pitchFamily="50" charset="0"/>
                <a:cs typeface="Arial"/>
              </a:rPr>
              <a:t>IR ←</a:t>
            </a:r>
            <a:r>
              <a:rPr sz="2000" spc="-10" dirty="0">
                <a:latin typeface="Museo 300" pitchFamily="50" charset="0"/>
                <a:cs typeface="Arial"/>
              </a:rPr>
              <a:t> </a:t>
            </a:r>
            <a:r>
              <a:rPr sz="2000" dirty="0">
                <a:latin typeface="Museo 300" pitchFamily="50" charset="0"/>
                <a:cs typeface="Arial"/>
              </a:rPr>
              <a:t>[[PC]]</a:t>
            </a:r>
            <a:endParaRPr sz="2000">
              <a:latin typeface="Museo 300" pitchFamily="50" charset="0"/>
              <a:cs typeface="Arial"/>
            </a:endParaRPr>
          </a:p>
          <a:p>
            <a:pPr marL="355600" marR="5080" indent="-343535" algn="just">
              <a:lnSpc>
                <a:spcPct val="150000"/>
              </a:lnSpc>
              <a:spcBef>
                <a:spcPts val="625"/>
              </a:spcBef>
              <a:buClr>
                <a:srgbClr val="330066"/>
              </a:buClr>
              <a:buSzPct val="69230"/>
              <a:buFont typeface="Wingdings"/>
              <a:buChar char="⚫"/>
              <a:tabLst>
                <a:tab pos="355600" algn="l"/>
                <a:tab pos="356235" algn="l"/>
              </a:tabLst>
            </a:pPr>
            <a:r>
              <a:rPr sz="2000" dirty="0">
                <a:latin typeface="Museo 300" pitchFamily="50" charset="0"/>
                <a:cs typeface="Arial"/>
              </a:rPr>
              <a:t>Assuming that the memory is byte addressable,  increment the contents of the PC by 4 (fetch</a:t>
            </a:r>
            <a:r>
              <a:rPr sz="2000" spc="-20" dirty="0">
                <a:latin typeface="Museo 300" pitchFamily="50" charset="0"/>
                <a:cs typeface="Arial"/>
              </a:rPr>
              <a:t> </a:t>
            </a:r>
            <a:r>
              <a:rPr sz="2000" dirty="0">
                <a:latin typeface="Museo 300" pitchFamily="50" charset="0"/>
                <a:cs typeface="Arial"/>
              </a:rPr>
              <a:t>phase).</a:t>
            </a:r>
            <a:endParaRPr sz="2000">
              <a:latin typeface="Museo 300" pitchFamily="50" charset="0"/>
              <a:cs typeface="Arial"/>
            </a:endParaRPr>
          </a:p>
          <a:p>
            <a:pPr marL="2756535" algn="just">
              <a:lnSpc>
                <a:spcPct val="150000"/>
              </a:lnSpc>
              <a:spcBef>
                <a:spcPts val="625"/>
              </a:spcBef>
            </a:pPr>
            <a:r>
              <a:rPr sz="2000" dirty="0">
                <a:latin typeface="Museo 300" pitchFamily="50" charset="0"/>
                <a:cs typeface="Arial"/>
              </a:rPr>
              <a:t>PC ← [PC] +</a:t>
            </a:r>
            <a:r>
              <a:rPr sz="2000" spc="-40" dirty="0">
                <a:latin typeface="Museo 300" pitchFamily="50" charset="0"/>
                <a:cs typeface="Arial"/>
              </a:rPr>
              <a:t> </a:t>
            </a:r>
            <a:r>
              <a:rPr sz="2000" dirty="0">
                <a:latin typeface="Museo 300" pitchFamily="50" charset="0"/>
                <a:cs typeface="Arial"/>
              </a:rPr>
              <a:t>4</a:t>
            </a:r>
            <a:endParaRPr sz="2000">
              <a:latin typeface="Museo 300" pitchFamily="50" charset="0"/>
              <a:cs typeface="Arial"/>
            </a:endParaRPr>
          </a:p>
          <a:p>
            <a:pPr marL="355600" marR="267970" indent="-343535" algn="just">
              <a:lnSpc>
                <a:spcPct val="150000"/>
              </a:lnSpc>
              <a:spcBef>
                <a:spcPts val="625"/>
              </a:spcBef>
              <a:buClr>
                <a:srgbClr val="330066"/>
              </a:buClr>
              <a:buSzPct val="69230"/>
              <a:buFont typeface="Wingdings"/>
              <a:buChar char="⚫"/>
              <a:tabLst>
                <a:tab pos="355600" algn="l"/>
                <a:tab pos="356235" algn="l"/>
              </a:tabLst>
            </a:pPr>
            <a:r>
              <a:rPr sz="2000" dirty="0">
                <a:latin typeface="Museo 300" pitchFamily="50" charset="0"/>
                <a:cs typeface="Arial"/>
              </a:rPr>
              <a:t>Carry out the actions specified by </a:t>
            </a:r>
            <a:r>
              <a:rPr sz="2000" spc="-5" dirty="0">
                <a:latin typeface="Museo 300" pitchFamily="50" charset="0"/>
                <a:cs typeface="Arial"/>
              </a:rPr>
              <a:t>the </a:t>
            </a:r>
            <a:r>
              <a:rPr sz="2000" dirty="0">
                <a:latin typeface="Museo 300" pitchFamily="50" charset="0"/>
                <a:cs typeface="Arial"/>
              </a:rPr>
              <a:t>instruction </a:t>
            </a:r>
            <a:r>
              <a:rPr sz="2000" spc="-515" dirty="0">
                <a:latin typeface="Museo 300" pitchFamily="50" charset="0"/>
                <a:cs typeface="Arial"/>
              </a:rPr>
              <a:t>in  </a:t>
            </a:r>
            <a:r>
              <a:rPr sz="2000" dirty="0">
                <a:latin typeface="Museo 300" pitchFamily="50" charset="0"/>
                <a:cs typeface="Arial"/>
              </a:rPr>
              <a:t>the IR (execution</a:t>
            </a:r>
            <a:r>
              <a:rPr sz="2000" spc="-25" dirty="0">
                <a:latin typeface="Museo 300" pitchFamily="50" charset="0"/>
                <a:cs typeface="Arial"/>
              </a:rPr>
              <a:t> </a:t>
            </a:r>
            <a:r>
              <a:rPr sz="2000" dirty="0">
                <a:latin typeface="Museo 300" pitchFamily="50" charset="0"/>
                <a:cs typeface="Arial"/>
              </a:rPr>
              <a:t>phase).</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152400"/>
            <a:ext cx="6728460" cy="551433"/>
          </a:xfrm>
          <a:prstGeom prst="rect">
            <a:avLst/>
          </a:prstGeom>
        </p:spPr>
        <p:txBody>
          <a:bodyPr vert="horz" wrap="square" lIns="0" tIns="12700" rIns="0" bIns="0" rtlCol="0">
            <a:spAutoFit/>
          </a:bodyPr>
          <a:lstStyle/>
          <a:p>
            <a:pPr marL="12700">
              <a:lnSpc>
                <a:spcPct val="100000"/>
              </a:lnSpc>
              <a:spcBef>
                <a:spcPts val="100"/>
              </a:spcBef>
            </a:pPr>
            <a:r>
              <a:rPr dirty="0"/>
              <a:t>Processor</a:t>
            </a:r>
            <a:r>
              <a:rPr spc="-65" dirty="0"/>
              <a:t> </a:t>
            </a:r>
            <a:r>
              <a:rPr dirty="0"/>
              <a:t>Organization</a:t>
            </a:r>
          </a:p>
        </p:txBody>
      </p:sp>
      <p:sp>
        <p:nvSpPr>
          <p:cNvPr id="3" name="object 3"/>
          <p:cNvSpPr txBox="1"/>
          <p:nvPr/>
        </p:nvSpPr>
        <p:spPr>
          <a:xfrm>
            <a:off x="9759525" y="2894330"/>
            <a:ext cx="1268307"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Museo 300" pitchFamily="50" charset="0"/>
                <a:cs typeface="Arial"/>
              </a:rPr>
              <a:t>D</a:t>
            </a:r>
            <a:r>
              <a:rPr sz="1800" spc="-15" dirty="0">
                <a:latin typeface="Museo 300" pitchFamily="50" charset="0"/>
                <a:cs typeface="Arial"/>
              </a:rPr>
              <a:t>a</a:t>
            </a:r>
            <a:r>
              <a:rPr sz="1800" spc="-5" dirty="0">
                <a:latin typeface="Museo 300" pitchFamily="50" charset="0"/>
                <a:cs typeface="Arial"/>
              </a:rPr>
              <a:t>ta</a:t>
            </a:r>
            <a:r>
              <a:rPr sz="1800" spc="-15" dirty="0">
                <a:latin typeface="Museo 300" pitchFamily="50" charset="0"/>
                <a:cs typeface="Arial"/>
              </a:rPr>
              <a:t>p</a:t>
            </a:r>
            <a:r>
              <a:rPr sz="1800" spc="-5" dirty="0">
                <a:latin typeface="Museo 300" pitchFamily="50" charset="0"/>
                <a:cs typeface="Arial"/>
              </a:rPr>
              <a:t>ath</a:t>
            </a:r>
            <a:endParaRPr sz="1800">
              <a:latin typeface="Museo 300" pitchFamily="50" charset="0"/>
              <a:cs typeface="Arial"/>
            </a:endParaRPr>
          </a:p>
        </p:txBody>
      </p:sp>
      <p:grpSp>
        <p:nvGrpSpPr>
          <p:cNvPr id="5" name="object 5"/>
          <p:cNvGrpSpPr/>
          <p:nvPr/>
        </p:nvGrpSpPr>
        <p:grpSpPr>
          <a:xfrm>
            <a:off x="946319" y="1921447"/>
            <a:ext cx="3547533" cy="1152525"/>
            <a:chOff x="617029" y="2520505"/>
            <a:chExt cx="2660650" cy="1152525"/>
          </a:xfrm>
        </p:grpSpPr>
        <p:sp>
          <p:nvSpPr>
            <p:cNvPr id="6" name="object 6"/>
            <p:cNvSpPr/>
            <p:nvPr/>
          </p:nvSpPr>
          <p:spPr>
            <a:xfrm>
              <a:off x="621791" y="2525267"/>
              <a:ext cx="2651125" cy="1143000"/>
            </a:xfrm>
            <a:custGeom>
              <a:avLst/>
              <a:gdLst/>
              <a:ahLst/>
              <a:cxnLst/>
              <a:rect l="l" t="t" r="r" b="b"/>
              <a:pathLst>
                <a:path w="2651125" h="1143000">
                  <a:moveTo>
                    <a:pt x="1104900" y="0"/>
                  </a:moveTo>
                  <a:lnTo>
                    <a:pt x="190500" y="0"/>
                  </a:lnTo>
                  <a:lnTo>
                    <a:pt x="146821" y="5034"/>
                  </a:lnTo>
                  <a:lnTo>
                    <a:pt x="106724" y="19372"/>
                  </a:lnTo>
                  <a:lnTo>
                    <a:pt x="71353" y="41867"/>
                  </a:lnTo>
                  <a:lnTo>
                    <a:pt x="41851" y="71374"/>
                  </a:lnTo>
                  <a:lnTo>
                    <a:pt x="19363" y="106746"/>
                  </a:lnTo>
                  <a:lnTo>
                    <a:pt x="5031" y="146837"/>
                  </a:lnTo>
                  <a:lnTo>
                    <a:pt x="0" y="190500"/>
                  </a:lnTo>
                  <a:lnTo>
                    <a:pt x="0" y="952500"/>
                  </a:lnTo>
                  <a:lnTo>
                    <a:pt x="5031" y="996162"/>
                  </a:lnTo>
                  <a:lnTo>
                    <a:pt x="19363" y="1036253"/>
                  </a:lnTo>
                  <a:lnTo>
                    <a:pt x="41851" y="1071625"/>
                  </a:lnTo>
                  <a:lnTo>
                    <a:pt x="71353" y="1101132"/>
                  </a:lnTo>
                  <a:lnTo>
                    <a:pt x="106724" y="1123627"/>
                  </a:lnTo>
                  <a:lnTo>
                    <a:pt x="146821" y="1137965"/>
                  </a:lnTo>
                  <a:lnTo>
                    <a:pt x="190500" y="1143000"/>
                  </a:lnTo>
                  <a:lnTo>
                    <a:pt x="1104900" y="1143000"/>
                  </a:lnTo>
                  <a:lnTo>
                    <a:pt x="1148562" y="1137965"/>
                  </a:lnTo>
                  <a:lnTo>
                    <a:pt x="1188653" y="1123627"/>
                  </a:lnTo>
                  <a:lnTo>
                    <a:pt x="1224025" y="1101132"/>
                  </a:lnTo>
                  <a:lnTo>
                    <a:pt x="1253532" y="1071625"/>
                  </a:lnTo>
                  <a:lnTo>
                    <a:pt x="1276027" y="1036253"/>
                  </a:lnTo>
                  <a:lnTo>
                    <a:pt x="1290365" y="996162"/>
                  </a:lnTo>
                  <a:lnTo>
                    <a:pt x="1295400" y="952500"/>
                  </a:lnTo>
                  <a:lnTo>
                    <a:pt x="2651124" y="739775"/>
                  </a:lnTo>
                  <a:lnTo>
                    <a:pt x="1295400" y="666750"/>
                  </a:lnTo>
                  <a:lnTo>
                    <a:pt x="1295400" y="190500"/>
                  </a:lnTo>
                  <a:lnTo>
                    <a:pt x="1290365" y="146837"/>
                  </a:lnTo>
                  <a:lnTo>
                    <a:pt x="1276027" y="106746"/>
                  </a:lnTo>
                  <a:lnTo>
                    <a:pt x="1253532" y="71374"/>
                  </a:lnTo>
                  <a:lnTo>
                    <a:pt x="1224025" y="41867"/>
                  </a:lnTo>
                  <a:lnTo>
                    <a:pt x="1188653" y="19372"/>
                  </a:lnTo>
                  <a:lnTo>
                    <a:pt x="1148562" y="5034"/>
                  </a:lnTo>
                  <a:lnTo>
                    <a:pt x="1104900" y="0"/>
                  </a:lnTo>
                  <a:close/>
                </a:path>
              </a:pathLst>
            </a:custGeom>
            <a:solidFill>
              <a:srgbClr val="CCCC00"/>
            </a:solidFill>
          </p:spPr>
          <p:txBody>
            <a:bodyPr wrap="square" lIns="0" tIns="0" rIns="0" bIns="0" rtlCol="0"/>
            <a:lstStyle/>
            <a:p>
              <a:endParaRPr>
                <a:latin typeface="Museo 300" pitchFamily="50" charset="0"/>
              </a:endParaRPr>
            </a:p>
          </p:txBody>
        </p:sp>
        <p:sp>
          <p:nvSpPr>
            <p:cNvPr id="7" name="object 7"/>
            <p:cNvSpPr/>
            <p:nvPr/>
          </p:nvSpPr>
          <p:spPr>
            <a:xfrm>
              <a:off x="621791" y="2525267"/>
              <a:ext cx="2651125" cy="1143000"/>
            </a:xfrm>
            <a:custGeom>
              <a:avLst/>
              <a:gdLst/>
              <a:ahLst/>
              <a:cxnLst/>
              <a:rect l="l" t="t" r="r" b="b"/>
              <a:pathLst>
                <a:path w="2651125" h="1143000">
                  <a:moveTo>
                    <a:pt x="0" y="190500"/>
                  </a:moveTo>
                  <a:lnTo>
                    <a:pt x="5031" y="146837"/>
                  </a:lnTo>
                  <a:lnTo>
                    <a:pt x="19363" y="106746"/>
                  </a:lnTo>
                  <a:lnTo>
                    <a:pt x="41851" y="71374"/>
                  </a:lnTo>
                  <a:lnTo>
                    <a:pt x="71353" y="41867"/>
                  </a:lnTo>
                  <a:lnTo>
                    <a:pt x="106724" y="19372"/>
                  </a:lnTo>
                  <a:lnTo>
                    <a:pt x="146821" y="5034"/>
                  </a:lnTo>
                  <a:lnTo>
                    <a:pt x="190500" y="0"/>
                  </a:lnTo>
                  <a:lnTo>
                    <a:pt x="755649" y="0"/>
                  </a:lnTo>
                  <a:lnTo>
                    <a:pt x="1079500" y="0"/>
                  </a:lnTo>
                  <a:lnTo>
                    <a:pt x="1104900" y="0"/>
                  </a:lnTo>
                  <a:lnTo>
                    <a:pt x="1148562" y="5034"/>
                  </a:lnTo>
                  <a:lnTo>
                    <a:pt x="1188653" y="19372"/>
                  </a:lnTo>
                  <a:lnTo>
                    <a:pt x="1224025" y="41867"/>
                  </a:lnTo>
                  <a:lnTo>
                    <a:pt x="1253532" y="71374"/>
                  </a:lnTo>
                  <a:lnTo>
                    <a:pt x="1276027" y="106746"/>
                  </a:lnTo>
                  <a:lnTo>
                    <a:pt x="1290365" y="146837"/>
                  </a:lnTo>
                  <a:lnTo>
                    <a:pt x="1295400" y="190500"/>
                  </a:lnTo>
                  <a:lnTo>
                    <a:pt x="1295400" y="666750"/>
                  </a:lnTo>
                  <a:lnTo>
                    <a:pt x="2651124" y="739775"/>
                  </a:lnTo>
                  <a:lnTo>
                    <a:pt x="1295400" y="952500"/>
                  </a:lnTo>
                  <a:lnTo>
                    <a:pt x="1290365" y="996162"/>
                  </a:lnTo>
                  <a:lnTo>
                    <a:pt x="1276027" y="1036253"/>
                  </a:lnTo>
                  <a:lnTo>
                    <a:pt x="1253532" y="1071625"/>
                  </a:lnTo>
                  <a:lnTo>
                    <a:pt x="1224025" y="1101132"/>
                  </a:lnTo>
                  <a:lnTo>
                    <a:pt x="1188653" y="1123627"/>
                  </a:lnTo>
                  <a:lnTo>
                    <a:pt x="1148562" y="1137965"/>
                  </a:lnTo>
                  <a:lnTo>
                    <a:pt x="1104900" y="1143000"/>
                  </a:lnTo>
                  <a:lnTo>
                    <a:pt x="1079500" y="1143000"/>
                  </a:lnTo>
                  <a:lnTo>
                    <a:pt x="755649" y="1143000"/>
                  </a:lnTo>
                  <a:lnTo>
                    <a:pt x="190500" y="1143000"/>
                  </a:lnTo>
                  <a:lnTo>
                    <a:pt x="146821" y="1137965"/>
                  </a:lnTo>
                  <a:lnTo>
                    <a:pt x="106724" y="1123627"/>
                  </a:lnTo>
                  <a:lnTo>
                    <a:pt x="71353" y="1101132"/>
                  </a:lnTo>
                  <a:lnTo>
                    <a:pt x="41851" y="1071625"/>
                  </a:lnTo>
                  <a:lnTo>
                    <a:pt x="19363" y="1036253"/>
                  </a:lnTo>
                  <a:lnTo>
                    <a:pt x="5031" y="996162"/>
                  </a:lnTo>
                  <a:lnTo>
                    <a:pt x="0" y="952500"/>
                  </a:lnTo>
                  <a:lnTo>
                    <a:pt x="0" y="666750"/>
                  </a:lnTo>
                  <a:lnTo>
                    <a:pt x="0" y="190500"/>
                  </a:lnTo>
                  <a:close/>
                </a:path>
              </a:pathLst>
            </a:custGeom>
            <a:ln w="9143">
              <a:solidFill>
                <a:srgbClr val="000000"/>
              </a:solidFill>
            </a:ln>
          </p:spPr>
          <p:txBody>
            <a:bodyPr wrap="square" lIns="0" tIns="0" rIns="0" bIns="0" rtlCol="0"/>
            <a:lstStyle/>
            <a:p>
              <a:endParaRPr>
                <a:latin typeface="Museo 300" pitchFamily="50" charset="0"/>
              </a:endParaRPr>
            </a:p>
          </p:txBody>
        </p:sp>
      </p:grpSp>
      <p:sp>
        <p:nvSpPr>
          <p:cNvPr id="8" name="object 8"/>
          <p:cNvSpPr txBox="1"/>
          <p:nvPr/>
        </p:nvSpPr>
        <p:spPr>
          <a:xfrm>
            <a:off x="1158036" y="2010487"/>
            <a:ext cx="1313180" cy="566822"/>
          </a:xfrm>
          <a:prstGeom prst="rect">
            <a:avLst/>
          </a:prstGeom>
        </p:spPr>
        <p:txBody>
          <a:bodyPr vert="horz" wrap="square" lIns="0" tIns="12700" rIns="0" bIns="0" rtlCol="0">
            <a:spAutoFit/>
          </a:bodyPr>
          <a:lstStyle/>
          <a:p>
            <a:pPr marL="12065" marR="5080" algn="ctr">
              <a:lnSpc>
                <a:spcPct val="100000"/>
              </a:lnSpc>
              <a:spcBef>
                <a:spcPts val="100"/>
              </a:spcBef>
            </a:pPr>
            <a:r>
              <a:rPr sz="1200" dirty="0">
                <a:latin typeface="Museo 300" pitchFamily="50" charset="0"/>
                <a:cs typeface="Arial"/>
              </a:rPr>
              <a:t>MDR HAS  </a:t>
            </a:r>
            <a:r>
              <a:rPr sz="1200" spc="10" dirty="0">
                <a:latin typeface="Museo 300" pitchFamily="50" charset="0"/>
                <a:cs typeface="Arial"/>
              </a:rPr>
              <a:t>TWO</a:t>
            </a:r>
            <a:r>
              <a:rPr sz="1200" spc="-120" dirty="0">
                <a:latin typeface="Museo 300" pitchFamily="50" charset="0"/>
                <a:cs typeface="Arial"/>
              </a:rPr>
              <a:t> </a:t>
            </a:r>
            <a:r>
              <a:rPr sz="1200" dirty="0">
                <a:latin typeface="Museo 300" pitchFamily="50" charset="0"/>
                <a:cs typeface="Arial"/>
              </a:rPr>
              <a:t>INPUTS  </a:t>
            </a:r>
            <a:r>
              <a:rPr sz="1200" spc="-5" dirty="0">
                <a:latin typeface="Museo 300" pitchFamily="50" charset="0"/>
                <a:cs typeface="Arial"/>
              </a:rPr>
              <a:t>AND </a:t>
            </a:r>
            <a:r>
              <a:rPr sz="1200" spc="15" dirty="0">
                <a:latin typeface="Museo 300" pitchFamily="50" charset="0"/>
                <a:cs typeface="Arial"/>
              </a:rPr>
              <a:t>TWO  </a:t>
            </a:r>
            <a:r>
              <a:rPr sz="1200" dirty="0">
                <a:latin typeface="Museo 300" pitchFamily="50" charset="0"/>
                <a:cs typeface="Arial"/>
              </a:rPr>
              <a:t>OUTPUTS</a:t>
            </a:r>
            <a:endParaRPr sz="1200">
              <a:latin typeface="Museo 300" pitchFamily="50" charset="0"/>
              <a:cs typeface="Arial"/>
            </a:endParaRPr>
          </a:p>
        </p:txBody>
      </p:sp>
      <p:grpSp>
        <p:nvGrpSpPr>
          <p:cNvPr id="9" name="object 9"/>
          <p:cNvGrpSpPr/>
          <p:nvPr/>
        </p:nvGrpSpPr>
        <p:grpSpPr>
          <a:xfrm>
            <a:off x="4429336" y="1874330"/>
            <a:ext cx="3253740" cy="2943225"/>
            <a:chOff x="3229292" y="2473388"/>
            <a:chExt cx="2440305" cy="2943225"/>
          </a:xfrm>
        </p:grpSpPr>
        <p:sp>
          <p:nvSpPr>
            <p:cNvPr id="10" name="object 10"/>
            <p:cNvSpPr/>
            <p:nvPr/>
          </p:nvSpPr>
          <p:spPr>
            <a:xfrm>
              <a:off x="5173217" y="2478786"/>
              <a:ext cx="82550" cy="35560"/>
            </a:xfrm>
            <a:custGeom>
              <a:avLst/>
              <a:gdLst/>
              <a:ahLst/>
              <a:cxnLst/>
              <a:rect l="l" t="t" r="r" b="b"/>
              <a:pathLst>
                <a:path w="82550" h="35560">
                  <a:moveTo>
                    <a:pt x="82296" y="0"/>
                  </a:moveTo>
                  <a:lnTo>
                    <a:pt x="0" y="23367"/>
                  </a:lnTo>
                  <a:lnTo>
                    <a:pt x="82296" y="35051"/>
                  </a:lnTo>
                  <a:lnTo>
                    <a:pt x="82296" y="23367"/>
                  </a:lnTo>
                  <a:lnTo>
                    <a:pt x="82296" y="0"/>
                  </a:lnTo>
                </a:path>
              </a:pathLst>
            </a:custGeom>
            <a:ln w="10667">
              <a:solidFill>
                <a:srgbClr val="000000"/>
              </a:solidFill>
            </a:ln>
          </p:spPr>
          <p:txBody>
            <a:bodyPr wrap="square" lIns="0" tIns="0" rIns="0" bIns="0" rtlCol="0"/>
            <a:lstStyle/>
            <a:p>
              <a:endParaRPr>
                <a:latin typeface="Museo 300" pitchFamily="50" charset="0"/>
              </a:endParaRPr>
            </a:p>
          </p:txBody>
        </p:sp>
        <p:sp>
          <p:nvSpPr>
            <p:cNvPr id="11" name="object 11"/>
            <p:cNvSpPr/>
            <p:nvPr/>
          </p:nvSpPr>
          <p:spPr>
            <a:xfrm>
              <a:off x="5173217" y="2478786"/>
              <a:ext cx="82550" cy="35560"/>
            </a:xfrm>
            <a:custGeom>
              <a:avLst/>
              <a:gdLst/>
              <a:ahLst/>
              <a:cxnLst/>
              <a:rect l="l" t="t" r="r" b="b"/>
              <a:pathLst>
                <a:path w="82550" h="35560">
                  <a:moveTo>
                    <a:pt x="82296" y="0"/>
                  </a:moveTo>
                  <a:lnTo>
                    <a:pt x="0" y="23875"/>
                  </a:lnTo>
                  <a:lnTo>
                    <a:pt x="82296" y="35051"/>
                  </a:lnTo>
                  <a:lnTo>
                    <a:pt x="82296" y="0"/>
                  </a:lnTo>
                  <a:close/>
                </a:path>
              </a:pathLst>
            </a:custGeom>
            <a:solidFill>
              <a:srgbClr val="000000"/>
            </a:solidFill>
          </p:spPr>
          <p:txBody>
            <a:bodyPr wrap="square" lIns="0" tIns="0" rIns="0" bIns="0" rtlCol="0"/>
            <a:lstStyle/>
            <a:p>
              <a:endParaRPr>
                <a:latin typeface="Museo 300" pitchFamily="50" charset="0"/>
              </a:endParaRPr>
            </a:p>
          </p:txBody>
        </p:sp>
        <p:sp>
          <p:nvSpPr>
            <p:cNvPr id="12" name="object 12"/>
            <p:cNvSpPr/>
            <p:nvPr/>
          </p:nvSpPr>
          <p:spPr>
            <a:xfrm>
              <a:off x="5173217" y="2478786"/>
              <a:ext cx="82550" cy="35560"/>
            </a:xfrm>
            <a:custGeom>
              <a:avLst/>
              <a:gdLst/>
              <a:ahLst/>
              <a:cxnLst/>
              <a:rect l="l" t="t" r="r" b="b"/>
              <a:pathLst>
                <a:path w="82550" h="35560">
                  <a:moveTo>
                    <a:pt x="82296" y="0"/>
                  </a:moveTo>
                  <a:lnTo>
                    <a:pt x="0" y="23875"/>
                  </a:lnTo>
                  <a:lnTo>
                    <a:pt x="82296" y="35051"/>
                  </a:lnTo>
                  <a:lnTo>
                    <a:pt x="82296" y="23875"/>
                  </a:lnTo>
                  <a:lnTo>
                    <a:pt x="82296"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3" name="object 13"/>
            <p:cNvSpPr/>
            <p:nvPr/>
          </p:nvSpPr>
          <p:spPr>
            <a:xfrm>
              <a:off x="5255513" y="2503170"/>
              <a:ext cx="408940" cy="0"/>
            </a:xfrm>
            <a:custGeom>
              <a:avLst/>
              <a:gdLst/>
              <a:ahLst/>
              <a:cxnLst/>
              <a:rect l="l" t="t" r="r" b="b"/>
              <a:pathLst>
                <a:path w="408939">
                  <a:moveTo>
                    <a:pt x="0" y="0"/>
                  </a:moveTo>
                  <a:lnTo>
                    <a:pt x="408432" y="0"/>
                  </a:lnTo>
                </a:path>
              </a:pathLst>
            </a:custGeom>
            <a:ln w="10668">
              <a:solidFill>
                <a:srgbClr val="000000"/>
              </a:solidFill>
            </a:ln>
          </p:spPr>
          <p:txBody>
            <a:bodyPr wrap="square" lIns="0" tIns="0" rIns="0" bIns="0" rtlCol="0"/>
            <a:lstStyle/>
            <a:p>
              <a:endParaRPr>
                <a:latin typeface="Museo 300" pitchFamily="50" charset="0"/>
              </a:endParaRPr>
            </a:p>
          </p:txBody>
        </p:sp>
        <p:sp>
          <p:nvSpPr>
            <p:cNvPr id="14" name="object 14"/>
            <p:cNvSpPr/>
            <p:nvPr/>
          </p:nvSpPr>
          <p:spPr>
            <a:xfrm>
              <a:off x="3515105" y="5036058"/>
              <a:ext cx="58419" cy="24765"/>
            </a:xfrm>
            <a:custGeom>
              <a:avLst/>
              <a:gdLst/>
              <a:ahLst/>
              <a:cxnLst/>
              <a:rect l="l" t="t" r="r" b="b"/>
              <a:pathLst>
                <a:path w="58420" h="24764">
                  <a:moveTo>
                    <a:pt x="0" y="24384"/>
                  </a:moveTo>
                  <a:lnTo>
                    <a:pt x="57912" y="12192"/>
                  </a:lnTo>
                  <a:lnTo>
                    <a:pt x="0" y="0"/>
                  </a:lnTo>
                  <a:lnTo>
                    <a:pt x="0" y="12192"/>
                  </a:lnTo>
                  <a:lnTo>
                    <a:pt x="0" y="24384"/>
                  </a:lnTo>
                </a:path>
              </a:pathLst>
            </a:custGeom>
            <a:ln w="10668">
              <a:solidFill>
                <a:srgbClr val="00FFFF"/>
              </a:solidFill>
            </a:ln>
          </p:spPr>
          <p:txBody>
            <a:bodyPr wrap="square" lIns="0" tIns="0" rIns="0" bIns="0" rtlCol="0"/>
            <a:lstStyle/>
            <a:p>
              <a:endParaRPr>
                <a:latin typeface="Museo 300" pitchFamily="50" charset="0"/>
              </a:endParaRPr>
            </a:p>
          </p:txBody>
        </p:sp>
        <p:sp>
          <p:nvSpPr>
            <p:cNvPr id="15" name="object 15"/>
            <p:cNvSpPr/>
            <p:nvPr/>
          </p:nvSpPr>
          <p:spPr>
            <a:xfrm>
              <a:off x="3515105" y="5036058"/>
              <a:ext cx="58419" cy="24765"/>
            </a:xfrm>
            <a:custGeom>
              <a:avLst/>
              <a:gdLst/>
              <a:ahLst/>
              <a:cxnLst/>
              <a:rect l="l" t="t" r="r" b="b"/>
              <a:pathLst>
                <a:path w="58420" h="24764">
                  <a:moveTo>
                    <a:pt x="0" y="0"/>
                  </a:moveTo>
                  <a:lnTo>
                    <a:pt x="0" y="24384"/>
                  </a:lnTo>
                  <a:lnTo>
                    <a:pt x="57912" y="12954"/>
                  </a:lnTo>
                  <a:lnTo>
                    <a:pt x="0" y="0"/>
                  </a:lnTo>
                  <a:close/>
                </a:path>
              </a:pathLst>
            </a:custGeom>
            <a:solidFill>
              <a:srgbClr val="00FFFF"/>
            </a:solidFill>
          </p:spPr>
          <p:txBody>
            <a:bodyPr wrap="square" lIns="0" tIns="0" rIns="0" bIns="0" rtlCol="0"/>
            <a:lstStyle/>
            <a:p>
              <a:endParaRPr>
                <a:latin typeface="Museo 300" pitchFamily="50" charset="0"/>
              </a:endParaRPr>
            </a:p>
          </p:txBody>
        </p:sp>
        <p:sp>
          <p:nvSpPr>
            <p:cNvPr id="16" name="object 16"/>
            <p:cNvSpPr/>
            <p:nvPr/>
          </p:nvSpPr>
          <p:spPr>
            <a:xfrm>
              <a:off x="3515105" y="5036058"/>
              <a:ext cx="58419" cy="24765"/>
            </a:xfrm>
            <a:custGeom>
              <a:avLst/>
              <a:gdLst/>
              <a:ahLst/>
              <a:cxnLst/>
              <a:rect l="l" t="t" r="r" b="b"/>
              <a:pathLst>
                <a:path w="58420" h="24764">
                  <a:moveTo>
                    <a:pt x="0" y="24384"/>
                  </a:moveTo>
                  <a:lnTo>
                    <a:pt x="57912" y="12954"/>
                  </a:lnTo>
                  <a:lnTo>
                    <a:pt x="0" y="0"/>
                  </a:lnTo>
                  <a:lnTo>
                    <a:pt x="0" y="12954"/>
                  </a:lnTo>
                  <a:lnTo>
                    <a:pt x="0" y="24384"/>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17" name="object 17"/>
            <p:cNvSpPr/>
            <p:nvPr/>
          </p:nvSpPr>
          <p:spPr>
            <a:xfrm>
              <a:off x="3234689" y="5049774"/>
              <a:ext cx="280670" cy="0"/>
            </a:xfrm>
            <a:custGeom>
              <a:avLst/>
              <a:gdLst/>
              <a:ahLst/>
              <a:cxnLst/>
              <a:rect l="l" t="t" r="r" b="b"/>
              <a:pathLst>
                <a:path w="280670">
                  <a:moveTo>
                    <a:pt x="280415" y="0"/>
                  </a:moveTo>
                  <a:lnTo>
                    <a:pt x="0" y="0"/>
                  </a:lnTo>
                </a:path>
              </a:pathLst>
            </a:custGeom>
            <a:ln w="10668">
              <a:solidFill>
                <a:srgbClr val="00FFFF"/>
              </a:solidFill>
            </a:ln>
          </p:spPr>
          <p:txBody>
            <a:bodyPr wrap="square" lIns="0" tIns="0" rIns="0" bIns="0" rtlCol="0"/>
            <a:lstStyle/>
            <a:p>
              <a:endParaRPr>
                <a:latin typeface="Museo 300" pitchFamily="50" charset="0"/>
              </a:endParaRPr>
            </a:p>
          </p:txBody>
        </p:sp>
        <p:sp>
          <p:nvSpPr>
            <p:cNvPr id="18" name="object 18"/>
            <p:cNvSpPr/>
            <p:nvPr/>
          </p:nvSpPr>
          <p:spPr>
            <a:xfrm>
              <a:off x="4712207" y="5125211"/>
              <a:ext cx="163068" cy="149352"/>
            </a:xfrm>
            <a:prstGeom prst="rect">
              <a:avLst/>
            </a:prstGeom>
            <a:blipFill>
              <a:blip r:embed="rId2" cstate="print"/>
              <a:stretch>
                <a:fillRect/>
              </a:stretch>
            </a:blipFill>
          </p:spPr>
          <p:txBody>
            <a:bodyPr wrap="square" lIns="0" tIns="0" rIns="0" bIns="0" rtlCol="0"/>
            <a:lstStyle/>
            <a:p>
              <a:endParaRPr>
                <a:latin typeface="Museo 300" pitchFamily="50" charset="0"/>
              </a:endParaRPr>
            </a:p>
          </p:txBody>
        </p:sp>
        <p:sp>
          <p:nvSpPr>
            <p:cNvPr id="19" name="object 19"/>
            <p:cNvSpPr/>
            <p:nvPr/>
          </p:nvSpPr>
          <p:spPr>
            <a:xfrm>
              <a:off x="3620261" y="5386577"/>
              <a:ext cx="59690" cy="24765"/>
            </a:xfrm>
            <a:custGeom>
              <a:avLst/>
              <a:gdLst/>
              <a:ahLst/>
              <a:cxnLst/>
              <a:rect l="l" t="t" r="r" b="b"/>
              <a:pathLst>
                <a:path w="59689" h="24764">
                  <a:moveTo>
                    <a:pt x="0" y="24384"/>
                  </a:moveTo>
                  <a:lnTo>
                    <a:pt x="59436" y="12192"/>
                  </a:lnTo>
                  <a:lnTo>
                    <a:pt x="0" y="0"/>
                  </a:lnTo>
                  <a:lnTo>
                    <a:pt x="0" y="12192"/>
                  </a:lnTo>
                  <a:lnTo>
                    <a:pt x="0" y="24384"/>
                  </a:lnTo>
                </a:path>
              </a:pathLst>
            </a:custGeom>
            <a:ln w="10668">
              <a:solidFill>
                <a:srgbClr val="00FFFF"/>
              </a:solidFill>
            </a:ln>
          </p:spPr>
          <p:txBody>
            <a:bodyPr wrap="square" lIns="0" tIns="0" rIns="0" bIns="0" rtlCol="0"/>
            <a:lstStyle/>
            <a:p>
              <a:endParaRPr>
                <a:latin typeface="Museo 300" pitchFamily="50" charset="0"/>
              </a:endParaRPr>
            </a:p>
          </p:txBody>
        </p:sp>
        <p:sp>
          <p:nvSpPr>
            <p:cNvPr id="20" name="object 20"/>
            <p:cNvSpPr/>
            <p:nvPr/>
          </p:nvSpPr>
          <p:spPr>
            <a:xfrm>
              <a:off x="3620261" y="5386577"/>
              <a:ext cx="59690" cy="24765"/>
            </a:xfrm>
            <a:custGeom>
              <a:avLst/>
              <a:gdLst/>
              <a:ahLst/>
              <a:cxnLst/>
              <a:rect l="l" t="t" r="r" b="b"/>
              <a:pathLst>
                <a:path w="59689" h="24764">
                  <a:moveTo>
                    <a:pt x="0" y="0"/>
                  </a:moveTo>
                  <a:lnTo>
                    <a:pt x="0" y="24384"/>
                  </a:lnTo>
                  <a:lnTo>
                    <a:pt x="59436" y="11430"/>
                  </a:lnTo>
                  <a:lnTo>
                    <a:pt x="0" y="0"/>
                  </a:lnTo>
                  <a:close/>
                </a:path>
              </a:pathLst>
            </a:custGeom>
            <a:solidFill>
              <a:srgbClr val="00FFFF"/>
            </a:solidFill>
          </p:spPr>
          <p:txBody>
            <a:bodyPr wrap="square" lIns="0" tIns="0" rIns="0" bIns="0" rtlCol="0"/>
            <a:lstStyle/>
            <a:p>
              <a:endParaRPr>
                <a:latin typeface="Museo 300" pitchFamily="50" charset="0"/>
              </a:endParaRPr>
            </a:p>
          </p:txBody>
        </p:sp>
        <p:sp>
          <p:nvSpPr>
            <p:cNvPr id="21" name="object 21"/>
            <p:cNvSpPr/>
            <p:nvPr/>
          </p:nvSpPr>
          <p:spPr>
            <a:xfrm>
              <a:off x="3620261" y="5386577"/>
              <a:ext cx="59690" cy="24765"/>
            </a:xfrm>
            <a:custGeom>
              <a:avLst/>
              <a:gdLst/>
              <a:ahLst/>
              <a:cxnLst/>
              <a:rect l="l" t="t" r="r" b="b"/>
              <a:pathLst>
                <a:path w="59689" h="24764">
                  <a:moveTo>
                    <a:pt x="0" y="24384"/>
                  </a:moveTo>
                  <a:lnTo>
                    <a:pt x="59436" y="11430"/>
                  </a:lnTo>
                  <a:lnTo>
                    <a:pt x="0" y="0"/>
                  </a:lnTo>
                  <a:lnTo>
                    <a:pt x="0" y="11430"/>
                  </a:lnTo>
                  <a:lnTo>
                    <a:pt x="0" y="24384"/>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22" name="object 22"/>
            <p:cNvSpPr/>
            <p:nvPr/>
          </p:nvSpPr>
          <p:spPr>
            <a:xfrm>
              <a:off x="3467861" y="4872990"/>
              <a:ext cx="59690" cy="24765"/>
            </a:xfrm>
            <a:custGeom>
              <a:avLst/>
              <a:gdLst/>
              <a:ahLst/>
              <a:cxnLst/>
              <a:rect l="l" t="t" r="r" b="b"/>
              <a:pathLst>
                <a:path w="59689" h="24764">
                  <a:moveTo>
                    <a:pt x="0" y="24384"/>
                  </a:moveTo>
                  <a:lnTo>
                    <a:pt x="59436" y="12192"/>
                  </a:lnTo>
                  <a:lnTo>
                    <a:pt x="0" y="0"/>
                  </a:lnTo>
                  <a:lnTo>
                    <a:pt x="0" y="12192"/>
                  </a:lnTo>
                  <a:lnTo>
                    <a:pt x="0" y="24384"/>
                  </a:lnTo>
                </a:path>
              </a:pathLst>
            </a:custGeom>
            <a:ln w="10668">
              <a:solidFill>
                <a:srgbClr val="00FFFF"/>
              </a:solidFill>
            </a:ln>
          </p:spPr>
          <p:txBody>
            <a:bodyPr wrap="square" lIns="0" tIns="0" rIns="0" bIns="0" rtlCol="0"/>
            <a:lstStyle/>
            <a:p>
              <a:endParaRPr>
                <a:latin typeface="Museo 300" pitchFamily="50" charset="0"/>
              </a:endParaRPr>
            </a:p>
          </p:txBody>
        </p:sp>
        <p:sp>
          <p:nvSpPr>
            <p:cNvPr id="23" name="object 23"/>
            <p:cNvSpPr/>
            <p:nvPr/>
          </p:nvSpPr>
          <p:spPr>
            <a:xfrm>
              <a:off x="3467861" y="4872990"/>
              <a:ext cx="59690" cy="24765"/>
            </a:xfrm>
            <a:custGeom>
              <a:avLst/>
              <a:gdLst/>
              <a:ahLst/>
              <a:cxnLst/>
              <a:rect l="l" t="t" r="r" b="b"/>
              <a:pathLst>
                <a:path w="59689" h="24764">
                  <a:moveTo>
                    <a:pt x="0" y="0"/>
                  </a:moveTo>
                  <a:lnTo>
                    <a:pt x="0" y="24384"/>
                  </a:lnTo>
                  <a:lnTo>
                    <a:pt x="59436" y="12954"/>
                  </a:lnTo>
                  <a:lnTo>
                    <a:pt x="0" y="0"/>
                  </a:lnTo>
                  <a:close/>
                </a:path>
              </a:pathLst>
            </a:custGeom>
            <a:solidFill>
              <a:srgbClr val="00FFFF"/>
            </a:solidFill>
          </p:spPr>
          <p:txBody>
            <a:bodyPr wrap="square" lIns="0" tIns="0" rIns="0" bIns="0" rtlCol="0"/>
            <a:lstStyle/>
            <a:p>
              <a:endParaRPr>
                <a:latin typeface="Museo 300" pitchFamily="50" charset="0"/>
              </a:endParaRPr>
            </a:p>
          </p:txBody>
        </p:sp>
        <p:sp>
          <p:nvSpPr>
            <p:cNvPr id="24" name="object 24"/>
            <p:cNvSpPr/>
            <p:nvPr/>
          </p:nvSpPr>
          <p:spPr>
            <a:xfrm>
              <a:off x="3467861" y="4872990"/>
              <a:ext cx="59690" cy="24765"/>
            </a:xfrm>
            <a:custGeom>
              <a:avLst/>
              <a:gdLst/>
              <a:ahLst/>
              <a:cxnLst/>
              <a:rect l="l" t="t" r="r" b="b"/>
              <a:pathLst>
                <a:path w="59689" h="24764">
                  <a:moveTo>
                    <a:pt x="0" y="24384"/>
                  </a:moveTo>
                  <a:lnTo>
                    <a:pt x="59436" y="12954"/>
                  </a:lnTo>
                  <a:lnTo>
                    <a:pt x="0" y="0"/>
                  </a:lnTo>
                  <a:lnTo>
                    <a:pt x="0" y="12954"/>
                  </a:lnTo>
                  <a:lnTo>
                    <a:pt x="0" y="24384"/>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25" name="object 25"/>
            <p:cNvSpPr/>
            <p:nvPr/>
          </p:nvSpPr>
          <p:spPr>
            <a:xfrm>
              <a:off x="3234689" y="4885182"/>
              <a:ext cx="222885" cy="0"/>
            </a:xfrm>
            <a:custGeom>
              <a:avLst/>
              <a:gdLst/>
              <a:ahLst/>
              <a:cxnLst/>
              <a:rect l="l" t="t" r="r" b="b"/>
              <a:pathLst>
                <a:path w="222885">
                  <a:moveTo>
                    <a:pt x="222504" y="0"/>
                  </a:moveTo>
                  <a:lnTo>
                    <a:pt x="0" y="0"/>
                  </a:lnTo>
                </a:path>
              </a:pathLst>
            </a:custGeom>
            <a:ln w="10668">
              <a:solidFill>
                <a:srgbClr val="00FFFF"/>
              </a:solidFill>
            </a:ln>
          </p:spPr>
          <p:txBody>
            <a:bodyPr wrap="square" lIns="0" tIns="0" rIns="0" bIns="0" rtlCol="0"/>
            <a:lstStyle/>
            <a:p>
              <a:endParaRPr>
                <a:latin typeface="Museo 300" pitchFamily="50" charset="0"/>
              </a:endParaRPr>
            </a:p>
          </p:txBody>
        </p:sp>
      </p:grpSp>
      <p:grpSp>
        <p:nvGrpSpPr>
          <p:cNvPr id="26" name="object 26"/>
          <p:cNvGrpSpPr/>
          <p:nvPr/>
        </p:nvGrpSpPr>
        <p:grpSpPr>
          <a:xfrm>
            <a:off x="8570636" y="1278508"/>
            <a:ext cx="47413" cy="240029"/>
            <a:chOff x="6335267" y="1877567"/>
            <a:chExt cx="35560" cy="240029"/>
          </a:xfrm>
        </p:grpSpPr>
        <p:sp>
          <p:nvSpPr>
            <p:cNvPr id="27" name="object 27"/>
            <p:cNvSpPr/>
            <p:nvPr/>
          </p:nvSpPr>
          <p:spPr>
            <a:xfrm>
              <a:off x="6340601" y="1882901"/>
              <a:ext cx="24765" cy="59690"/>
            </a:xfrm>
            <a:custGeom>
              <a:avLst/>
              <a:gdLst/>
              <a:ahLst/>
              <a:cxnLst/>
              <a:rect l="l" t="t" r="r" b="b"/>
              <a:pathLst>
                <a:path w="24764" h="59689">
                  <a:moveTo>
                    <a:pt x="24384" y="59436"/>
                  </a:moveTo>
                  <a:lnTo>
                    <a:pt x="12192" y="0"/>
                  </a:lnTo>
                  <a:lnTo>
                    <a:pt x="0" y="59436"/>
                  </a:lnTo>
                  <a:lnTo>
                    <a:pt x="12192" y="59436"/>
                  </a:lnTo>
                  <a:lnTo>
                    <a:pt x="24384" y="59436"/>
                  </a:lnTo>
                </a:path>
              </a:pathLst>
            </a:custGeom>
            <a:ln w="10668">
              <a:solidFill>
                <a:srgbClr val="00FFFF"/>
              </a:solidFill>
            </a:ln>
          </p:spPr>
          <p:txBody>
            <a:bodyPr wrap="square" lIns="0" tIns="0" rIns="0" bIns="0" rtlCol="0"/>
            <a:lstStyle/>
            <a:p>
              <a:endParaRPr>
                <a:latin typeface="Museo 300" pitchFamily="50" charset="0"/>
              </a:endParaRPr>
            </a:p>
          </p:txBody>
        </p:sp>
        <p:sp>
          <p:nvSpPr>
            <p:cNvPr id="28" name="object 28"/>
            <p:cNvSpPr/>
            <p:nvPr/>
          </p:nvSpPr>
          <p:spPr>
            <a:xfrm>
              <a:off x="6340601" y="1882901"/>
              <a:ext cx="24765" cy="59690"/>
            </a:xfrm>
            <a:custGeom>
              <a:avLst/>
              <a:gdLst/>
              <a:ahLst/>
              <a:cxnLst/>
              <a:rect l="l" t="t" r="r" b="b"/>
              <a:pathLst>
                <a:path w="24764" h="59689">
                  <a:moveTo>
                    <a:pt x="11430" y="0"/>
                  </a:moveTo>
                  <a:lnTo>
                    <a:pt x="0" y="59436"/>
                  </a:lnTo>
                  <a:lnTo>
                    <a:pt x="24384" y="59436"/>
                  </a:lnTo>
                  <a:lnTo>
                    <a:pt x="11430" y="0"/>
                  </a:lnTo>
                  <a:close/>
                </a:path>
              </a:pathLst>
            </a:custGeom>
            <a:solidFill>
              <a:srgbClr val="00FFFF"/>
            </a:solidFill>
          </p:spPr>
          <p:txBody>
            <a:bodyPr wrap="square" lIns="0" tIns="0" rIns="0" bIns="0" rtlCol="0"/>
            <a:lstStyle/>
            <a:p>
              <a:endParaRPr>
                <a:latin typeface="Museo 300" pitchFamily="50" charset="0"/>
              </a:endParaRPr>
            </a:p>
          </p:txBody>
        </p:sp>
        <p:sp>
          <p:nvSpPr>
            <p:cNvPr id="29" name="object 29"/>
            <p:cNvSpPr/>
            <p:nvPr/>
          </p:nvSpPr>
          <p:spPr>
            <a:xfrm>
              <a:off x="6340601" y="1882901"/>
              <a:ext cx="24765" cy="59690"/>
            </a:xfrm>
            <a:custGeom>
              <a:avLst/>
              <a:gdLst/>
              <a:ahLst/>
              <a:cxnLst/>
              <a:rect l="l" t="t" r="r" b="b"/>
              <a:pathLst>
                <a:path w="24764" h="59689">
                  <a:moveTo>
                    <a:pt x="24384" y="59436"/>
                  </a:moveTo>
                  <a:lnTo>
                    <a:pt x="11430" y="0"/>
                  </a:lnTo>
                  <a:lnTo>
                    <a:pt x="0" y="59436"/>
                  </a:lnTo>
                  <a:lnTo>
                    <a:pt x="11430" y="59436"/>
                  </a:lnTo>
                  <a:lnTo>
                    <a:pt x="24384" y="59436"/>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30" name="object 30"/>
            <p:cNvSpPr/>
            <p:nvPr/>
          </p:nvSpPr>
          <p:spPr>
            <a:xfrm>
              <a:off x="6352793" y="1953005"/>
              <a:ext cx="0" cy="165100"/>
            </a:xfrm>
            <a:custGeom>
              <a:avLst/>
              <a:gdLst/>
              <a:ahLst/>
              <a:cxnLst/>
              <a:rect l="l" t="t" r="r" b="b"/>
              <a:pathLst>
                <a:path h="165100">
                  <a:moveTo>
                    <a:pt x="0" y="0"/>
                  </a:moveTo>
                  <a:lnTo>
                    <a:pt x="0" y="164592"/>
                  </a:lnTo>
                </a:path>
              </a:pathLst>
            </a:custGeom>
            <a:ln w="10668">
              <a:solidFill>
                <a:srgbClr val="00FFFF"/>
              </a:solidFill>
            </a:ln>
          </p:spPr>
          <p:txBody>
            <a:bodyPr wrap="square" lIns="0" tIns="0" rIns="0" bIns="0" rtlCol="0"/>
            <a:lstStyle/>
            <a:p>
              <a:endParaRPr>
                <a:latin typeface="Museo 300" pitchFamily="50" charset="0"/>
              </a:endParaRPr>
            </a:p>
          </p:txBody>
        </p:sp>
      </p:grpSp>
      <p:grpSp>
        <p:nvGrpSpPr>
          <p:cNvPr id="31" name="object 31"/>
          <p:cNvGrpSpPr/>
          <p:nvPr/>
        </p:nvGrpSpPr>
        <p:grpSpPr>
          <a:xfrm>
            <a:off x="7885852" y="1278508"/>
            <a:ext cx="47413" cy="240029"/>
            <a:chOff x="5821679" y="1877567"/>
            <a:chExt cx="35560" cy="240029"/>
          </a:xfrm>
        </p:grpSpPr>
        <p:sp>
          <p:nvSpPr>
            <p:cNvPr id="32" name="object 32"/>
            <p:cNvSpPr/>
            <p:nvPr/>
          </p:nvSpPr>
          <p:spPr>
            <a:xfrm>
              <a:off x="5827013" y="1882901"/>
              <a:ext cx="24765" cy="59690"/>
            </a:xfrm>
            <a:custGeom>
              <a:avLst/>
              <a:gdLst/>
              <a:ahLst/>
              <a:cxnLst/>
              <a:rect l="l" t="t" r="r" b="b"/>
              <a:pathLst>
                <a:path w="24764" h="59689">
                  <a:moveTo>
                    <a:pt x="24384" y="59436"/>
                  </a:moveTo>
                  <a:lnTo>
                    <a:pt x="12191" y="0"/>
                  </a:lnTo>
                  <a:lnTo>
                    <a:pt x="0" y="59436"/>
                  </a:lnTo>
                  <a:lnTo>
                    <a:pt x="12191" y="59436"/>
                  </a:lnTo>
                  <a:lnTo>
                    <a:pt x="24384" y="59436"/>
                  </a:lnTo>
                </a:path>
              </a:pathLst>
            </a:custGeom>
            <a:ln w="10668">
              <a:solidFill>
                <a:srgbClr val="00FFFF"/>
              </a:solidFill>
            </a:ln>
          </p:spPr>
          <p:txBody>
            <a:bodyPr wrap="square" lIns="0" tIns="0" rIns="0" bIns="0" rtlCol="0"/>
            <a:lstStyle/>
            <a:p>
              <a:endParaRPr>
                <a:latin typeface="Museo 300" pitchFamily="50" charset="0"/>
              </a:endParaRPr>
            </a:p>
          </p:txBody>
        </p:sp>
        <p:sp>
          <p:nvSpPr>
            <p:cNvPr id="33" name="object 33"/>
            <p:cNvSpPr/>
            <p:nvPr/>
          </p:nvSpPr>
          <p:spPr>
            <a:xfrm>
              <a:off x="5827013" y="1882901"/>
              <a:ext cx="24765" cy="59690"/>
            </a:xfrm>
            <a:custGeom>
              <a:avLst/>
              <a:gdLst/>
              <a:ahLst/>
              <a:cxnLst/>
              <a:rect l="l" t="t" r="r" b="b"/>
              <a:pathLst>
                <a:path w="24764" h="59689">
                  <a:moveTo>
                    <a:pt x="12953" y="0"/>
                  </a:moveTo>
                  <a:lnTo>
                    <a:pt x="0" y="59436"/>
                  </a:lnTo>
                  <a:lnTo>
                    <a:pt x="24384" y="59436"/>
                  </a:lnTo>
                  <a:lnTo>
                    <a:pt x="12953" y="0"/>
                  </a:lnTo>
                  <a:close/>
                </a:path>
              </a:pathLst>
            </a:custGeom>
            <a:solidFill>
              <a:srgbClr val="00FFFF"/>
            </a:solidFill>
          </p:spPr>
          <p:txBody>
            <a:bodyPr wrap="square" lIns="0" tIns="0" rIns="0" bIns="0" rtlCol="0"/>
            <a:lstStyle/>
            <a:p>
              <a:endParaRPr>
                <a:latin typeface="Museo 300" pitchFamily="50" charset="0"/>
              </a:endParaRPr>
            </a:p>
          </p:txBody>
        </p:sp>
        <p:sp>
          <p:nvSpPr>
            <p:cNvPr id="34" name="object 34"/>
            <p:cNvSpPr/>
            <p:nvPr/>
          </p:nvSpPr>
          <p:spPr>
            <a:xfrm>
              <a:off x="5827013" y="1882901"/>
              <a:ext cx="24765" cy="59690"/>
            </a:xfrm>
            <a:custGeom>
              <a:avLst/>
              <a:gdLst/>
              <a:ahLst/>
              <a:cxnLst/>
              <a:rect l="l" t="t" r="r" b="b"/>
              <a:pathLst>
                <a:path w="24764" h="59689">
                  <a:moveTo>
                    <a:pt x="24384" y="59436"/>
                  </a:moveTo>
                  <a:lnTo>
                    <a:pt x="12953" y="0"/>
                  </a:lnTo>
                  <a:lnTo>
                    <a:pt x="0" y="59436"/>
                  </a:lnTo>
                  <a:lnTo>
                    <a:pt x="12953" y="59436"/>
                  </a:lnTo>
                  <a:lnTo>
                    <a:pt x="24384" y="59436"/>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35" name="object 35"/>
            <p:cNvSpPr/>
            <p:nvPr/>
          </p:nvSpPr>
          <p:spPr>
            <a:xfrm>
              <a:off x="5839205" y="1953005"/>
              <a:ext cx="0" cy="165100"/>
            </a:xfrm>
            <a:custGeom>
              <a:avLst/>
              <a:gdLst/>
              <a:ahLst/>
              <a:cxnLst/>
              <a:rect l="l" t="t" r="r" b="b"/>
              <a:pathLst>
                <a:path h="165100">
                  <a:moveTo>
                    <a:pt x="0" y="0"/>
                  </a:moveTo>
                  <a:lnTo>
                    <a:pt x="0" y="164592"/>
                  </a:lnTo>
                </a:path>
              </a:pathLst>
            </a:custGeom>
            <a:ln w="10668">
              <a:solidFill>
                <a:srgbClr val="00FFFF"/>
              </a:solidFill>
            </a:ln>
          </p:spPr>
          <p:txBody>
            <a:bodyPr wrap="square" lIns="0" tIns="0" rIns="0" bIns="0" rtlCol="0"/>
            <a:lstStyle/>
            <a:p>
              <a:endParaRPr>
                <a:latin typeface="Museo 300" pitchFamily="50" charset="0"/>
              </a:endParaRPr>
            </a:p>
          </p:txBody>
        </p:sp>
      </p:grpSp>
      <p:sp>
        <p:nvSpPr>
          <p:cNvPr id="36" name="object 36"/>
          <p:cNvSpPr txBox="1"/>
          <p:nvPr/>
        </p:nvSpPr>
        <p:spPr>
          <a:xfrm>
            <a:off x="4622122" y="2654808"/>
            <a:ext cx="292947" cy="234679"/>
          </a:xfrm>
          <a:prstGeom prst="rect">
            <a:avLst/>
          </a:prstGeom>
        </p:spPr>
        <p:txBody>
          <a:bodyPr vert="horz" wrap="square" lIns="0" tIns="29209" rIns="0" bIns="0" rtlCol="0">
            <a:spAutoFit/>
          </a:bodyPr>
          <a:lstStyle/>
          <a:p>
            <a:pPr marL="12700" marR="5080">
              <a:lnSpc>
                <a:spcPts val="840"/>
              </a:lnSpc>
              <a:spcBef>
                <a:spcPts val="229"/>
              </a:spcBef>
            </a:pPr>
            <a:r>
              <a:rPr sz="800" spc="-5" dirty="0">
                <a:latin typeface="Museo 300" pitchFamily="50" charset="0"/>
                <a:cs typeface="Carlito"/>
              </a:rPr>
              <a:t>D</a:t>
            </a:r>
            <a:r>
              <a:rPr sz="800" dirty="0">
                <a:latin typeface="Museo 300" pitchFamily="50" charset="0"/>
                <a:cs typeface="Carlito"/>
              </a:rPr>
              <a:t>a</a:t>
            </a:r>
            <a:r>
              <a:rPr sz="800" spc="-10" dirty="0">
                <a:latin typeface="Museo 300" pitchFamily="50" charset="0"/>
                <a:cs typeface="Carlito"/>
              </a:rPr>
              <a:t>t</a:t>
            </a:r>
            <a:r>
              <a:rPr sz="800" dirty="0">
                <a:latin typeface="Museo 300" pitchFamily="50" charset="0"/>
                <a:cs typeface="Carlito"/>
              </a:rPr>
              <a:t>a  </a:t>
            </a:r>
            <a:r>
              <a:rPr sz="800" spc="-5" dirty="0">
                <a:latin typeface="Museo 300" pitchFamily="50" charset="0"/>
                <a:cs typeface="Carlito"/>
              </a:rPr>
              <a:t>lin</a:t>
            </a:r>
            <a:r>
              <a:rPr sz="800" spc="-10" dirty="0">
                <a:latin typeface="Museo 300" pitchFamily="50" charset="0"/>
                <a:cs typeface="Carlito"/>
              </a:rPr>
              <a:t>e</a:t>
            </a:r>
            <a:r>
              <a:rPr sz="800" dirty="0">
                <a:latin typeface="Museo 300" pitchFamily="50" charset="0"/>
                <a:cs typeface="Carlito"/>
              </a:rPr>
              <a:t>s</a:t>
            </a:r>
            <a:endParaRPr sz="800">
              <a:latin typeface="Museo 300" pitchFamily="50" charset="0"/>
              <a:cs typeface="Carlito"/>
            </a:endParaRPr>
          </a:p>
        </p:txBody>
      </p:sp>
      <p:sp>
        <p:nvSpPr>
          <p:cNvPr id="37" name="object 37"/>
          <p:cNvSpPr txBox="1"/>
          <p:nvPr/>
        </p:nvSpPr>
        <p:spPr>
          <a:xfrm>
            <a:off x="4527125" y="1744979"/>
            <a:ext cx="475827" cy="253274"/>
          </a:xfrm>
          <a:prstGeom prst="rect">
            <a:avLst/>
          </a:prstGeom>
        </p:spPr>
        <p:txBody>
          <a:bodyPr vert="horz" wrap="square" lIns="0" tIns="22225" rIns="0" bIns="0" rtlCol="0">
            <a:spAutoFit/>
          </a:bodyPr>
          <a:lstStyle/>
          <a:p>
            <a:pPr marL="83820" marR="5080" indent="-71755">
              <a:lnSpc>
                <a:spcPts val="910"/>
              </a:lnSpc>
              <a:spcBef>
                <a:spcPts val="175"/>
              </a:spcBef>
            </a:pPr>
            <a:r>
              <a:rPr sz="800" dirty="0">
                <a:latin typeface="Museo 300" pitchFamily="50" charset="0"/>
                <a:cs typeface="Carlito"/>
              </a:rPr>
              <a:t>A</a:t>
            </a:r>
            <a:r>
              <a:rPr sz="800" spc="-5" dirty="0">
                <a:latin typeface="Museo 300" pitchFamily="50" charset="0"/>
                <a:cs typeface="Carlito"/>
              </a:rPr>
              <a:t>ddress  lines</a:t>
            </a:r>
            <a:endParaRPr sz="800">
              <a:latin typeface="Museo 300" pitchFamily="50" charset="0"/>
              <a:cs typeface="Carlito"/>
            </a:endParaRPr>
          </a:p>
        </p:txBody>
      </p:sp>
      <p:grpSp>
        <p:nvGrpSpPr>
          <p:cNvPr id="38" name="object 38"/>
          <p:cNvGrpSpPr/>
          <p:nvPr/>
        </p:nvGrpSpPr>
        <p:grpSpPr>
          <a:xfrm>
            <a:off x="4600108" y="2026792"/>
            <a:ext cx="474980" cy="45720"/>
            <a:chOff x="3357371" y="2625851"/>
            <a:chExt cx="356235" cy="45720"/>
          </a:xfrm>
        </p:grpSpPr>
        <p:sp>
          <p:nvSpPr>
            <p:cNvPr id="39" name="object 39"/>
            <p:cNvSpPr/>
            <p:nvPr/>
          </p:nvSpPr>
          <p:spPr>
            <a:xfrm>
              <a:off x="3362705" y="2631185"/>
              <a:ext cx="81280" cy="35560"/>
            </a:xfrm>
            <a:custGeom>
              <a:avLst/>
              <a:gdLst/>
              <a:ahLst/>
              <a:cxnLst/>
              <a:rect l="l" t="t" r="r" b="b"/>
              <a:pathLst>
                <a:path w="81279" h="35560">
                  <a:moveTo>
                    <a:pt x="80772" y="0"/>
                  </a:moveTo>
                  <a:lnTo>
                    <a:pt x="0" y="11684"/>
                  </a:lnTo>
                  <a:lnTo>
                    <a:pt x="80772" y="35051"/>
                  </a:lnTo>
                  <a:lnTo>
                    <a:pt x="80772" y="11684"/>
                  </a:lnTo>
                  <a:lnTo>
                    <a:pt x="80772" y="0"/>
                  </a:lnTo>
                </a:path>
              </a:pathLst>
            </a:custGeom>
            <a:ln w="10667">
              <a:solidFill>
                <a:srgbClr val="000000"/>
              </a:solidFill>
            </a:ln>
          </p:spPr>
          <p:txBody>
            <a:bodyPr wrap="square" lIns="0" tIns="0" rIns="0" bIns="0" rtlCol="0"/>
            <a:lstStyle/>
            <a:p>
              <a:endParaRPr>
                <a:latin typeface="Museo 300" pitchFamily="50" charset="0"/>
              </a:endParaRPr>
            </a:p>
          </p:txBody>
        </p:sp>
        <p:sp>
          <p:nvSpPr>
            <p:cNvPr id="40" name="object 40"/>
            <p:cNvSpPr/>
            <p:nvPr/>
          </p:nvSpPr>
          <p:spPr>
            <a:xfrm>
              <a:off x="3362705" y="2631185"/>
              <a:ext cx="81280" cy="35560"/>
            </a:xfrm>
            <a:custGeom>
              <a:avLst/>
              <a:gdLst/>
              <a:ahLst/>
              <a:cxnLst/>
              <a:rect l="l" t="t" r="r" b="b"/>
              <a:pathLst>
                <a:path w="81279" h="35560">
                  <a:moveTo>
                    <a:pt x="80772" y="0"/>
                  </a:moveTo>
                  <a:lnTo>
                    <a:pt x="0" y="11175"/>
                  </a:lnTo>
                  <a:lnTo>
                    <a:pt x="80772" y="35051"/>
                  </a:lnTo>
                  <a:lnTo>
                    <a:pt x="80772" y="0"/>
                  </a:lnTo>
                  <a:close/>
                </a:path>
              </a:pathLst>
            </a:custGeom>
            <a:solidFill>
              <a:srgbClr val="000000"/>
            </a:solidFill>
          </p:spPr>
          <p:txBody>
            <a:bodyPr wrap="square" lIns="0" tIns="0" rIns="0" bIns="0" rtlCol="0"/>
            <a:lstStyle/>
            <a:p>
              <a:endParaRPr>
                <a:latin typeface="Museo 300" pitchFamily="50" charset="0"/>
              </a:endParaRPr>
            </a:p>
          </p:txBody>
        </p:sp>
        <p:sp>
          <p:nvSpPr>
            <p:cNvPr id="41" name="object 41"/>
            <p:cNvSpPr/>
            <p:nvPr/>
          </p:nvSpPr>
          <p:spPr>
            <a:xfrm>
              <a:off x="3362705" y="2631185"/>
              <a:ext cx="81280" cy="35560"/>
            </a:xfrm>
            <a:custGeom>
              <a:avLst/>
              <a:gdLst/>
              <a:ahLst/>
              <a:cxnLst/>
              <a:rect l="l" t="t" r="r" b="b"/>
              <a:pathLst>
                <a:path w="81279" h="35560">
                  <a:moveTo>
                    <a:pt x="80772" y="0"/>
                  </a:moveTo>
                  <a:lnTo>
                    <a:pt x="0" y="11175"/>
                  </a:lnTo>
                  <a:lnTo>
                    <a:pt x="80772" y="35051"/>
                  </a:lnTo>
                  <a:lnTo>
                    <a:pt x="80772" y="11175"/>
                  </a:lnTo>
                  <a:lnTo>
                    <a:pt x="80772"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42" name="object 42"/>
            <p:cNvSpPr/>
            <p:nvPr/>
          </p:nvSpPr>
          <p:spPr>
            <a:xfrm>
              <a:off x="3443477" y="2641853"/>
              <a:ext cx="269875" cy="0"/>
            </a:xfrm>
            <a:custGeom>
              <a:avLst/>
              <a:gdLst/>
              <a:ahLst/>
              <a:cxnLst/>
              <a:rect l="l" t="t" r="r" b="b"/>
              <a:pathLst>
                <a:path w="269875">
                  <a:moveTo>
                    <a:pt x="0" y="0"/>
                  </a:moveTo>
                  <a:lnTo>
                    <a:pt x="269748" y="0"/>
                  </a:lnTo>
                </a:path>
              </a:pathLst>
            </a:custGeom>
            <a:ln w="10668">
              <a:solidFill>
                <a:srgbClr val="000000"/>
              </a:solidFill>
            </a:ln>
          </p:spPr>
          <p:txBody>
            <a:bodyPr wrap="square" lIns="0" tIns="0" rIns="0" bIns="0" rtlCol="0"/>
            <a:lstStyle/>
            <a:p>
              <a:endParaRPr>
                <a:latin typeface="Museo 300" pitchFamily="50" charset="0"/>
              </a:endParaRPr>
            </a:p>
          </p:txBody>
        </p:sp>
      </p:grpSp>
      <p:grpSp>
        <p:nvGrpSpPr>
          <p:cNvPr id="43" name="object 43"/>
          <p:cNvGrpSpPr/>
          <p:nvPr/>
        </p:nvGrpSpPr>
        <p:grpSpPr>
          <a:xfrm>
            <a:off x="4600109" y="2622676"/>
            <a:ext cx="451273" cy="45720"/>
            <a:chOff x="3357371" y="3221735"/>
            <a:chExt cx="338455" cy="45720"/>
          </a:xfrm>
        </p:grpSpPr>
        <p:sp>
          <p:nvSpPr>
            <p:cNvPr id="44" name="object 44"/>
            <p:cNvSpPr/>
            <p:nvPr/>
          </p:nvSpPr>
          <p:spPr>
            <a:xfrm>
              <a:off x="3620261" y="3227069"/>
              <a:ext cx="70485" cy="35560"/>
            </a:xfrm>
            <a:custGeom>
              <a:avLst/>
              <a:gdLst/>
              <a:ahLst/>
              <a:cxnLst/>
              <a:rect l="l" t="t" r="r" b="b"/>
              <a:pathLst>
                <a:path w="70485" h="35560">
                  <a:moveTo>
                    <a:pt x="0" y="35051"/>
                  </a:moveTo>
                  <a:lnTo>
                    <a:pt x="70103" y="11683"/>
                  </a:lnTo>
                  <a:lnTo>
                    <a:pt x="0" y="0"/>
                  </a:lnTo>
                  <a:lnTo>
                    <a:pt x="0" y="11683"/>
                  </a:lnTo>
                  <a:lnTo>
                    <a:pt x="0" y="35051"/>
                  </a:lnTo>
                </a:path>
              </a:pathLst>
            </a:custGeom>
            <a:ln w="10667">
              <a:solidFill>
                <a:srgbClr val="000000"/>
              </a:solidFill>
            </a:ln>
          </p:spPr>
          <p:txBody>
            <a:bodyPr wrap="square" lIns="0" tIns="0" rIns="0" bIns="0" rtlCol="0"/>
            <a:lstStyle/>
            <a:p>
              <a:endParaRPr>
                <a:latin typeface="Museo 300" pitchFamily="50" charset="0"/>
              </a:endParaRPr>
            </a:p>
          </p:txBody>
        </p:sp>
        <p:sp>
          <p:nvSpPr>
            <p:cNvPr id="45" name="object 45"/>
            <p:cNvSpPr/>
            <p:nvPr/>
          </p:nvSpPr>
          <p:spPr>
            <a:xfrm>
              <a:off x="3620261" y="3227069"/>
              <a:ext cx="70485" cy="35560"/>
            </a:xfrm>
            <a:custGeom>
              <a:avLst/>
              <a:gdLst/>
              <a:ahLst/>
              <a:cxnLst/>
              <a:rect l="l" t="t" r="r" b="b"/>
              <a:pathLst>
                <a:path w="70485" h="35560">
                  <a:moveTo>
                    <a:pt x="0" y="0"/>
                  </a:moveTo>
                  <a:lnTo>
                    <a:pt x="0" y="35051"/>
                  </a:lnTo>
                  <a:lnTo>
                    <a:pt x="70103" y="11175"/>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46" name="object 46"/>
            <p:cNvSpPr/>
            <p:nvPr/>
          </p:nvSpPr>
          <p:spPr>
            <a:xfrm>
              <a:off x="3620261" y="3227069"/>
              <a:ext cx="70485" cy="35560"/>
            </a:xfrm>
            <a:custGeom>
              <a:avLst/>
              <a:gdLst/>
              <a:ahLst/>
              <a:cxnLst/>
              <a:rect l="l" t="t" r="r" b="b"/>
              <a:pathLst>
                <a:path w="70485" h="35560">
                  <a:moveTo>
                    <a:pt x="0" y="35051"/>
                  </a:moveTo>
                  <a:lnTo>
                    <a:pt x="70103" y="11175"/>
                  </a:lnTo>
                  <a:lnTo>
                    <a:pt x="0" y="0"/>
                  </a:lnTo>
                  <a:lnTo>
                    <a:pt x="0" y="11175"/>
                  </a:lnTo>
                  <a:lnTo>
                    <a:pt x="0" y="35051"/>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47" name="object 47"/>
            <p:cNvSpPr/>
            <p:nvPr/>
          </p:nvSpPr>
          <p:spPr>
            <a:xfrm>
              <a:off x="3362705" y="3227069"/>
              <a:ext cx="81280" cy="35560"/>
            </a:xfrm>
            <a:custGeom>
              <a:avLst/>
              <a:gdLst/>
              <a:ahLst/>
              <a:cxnLst/>
              <a:rect l="l" t="t" r="r" b="b"/>
              <a:pathLst>
                <a:path w="81279" h="35560">
                  <a:moveTo>
                    <a:pt x="80772" y="0"/>
                  </a:moveTo>
                  <a:lnTo>
                    <a:pt x="0" y="11683"/>
                  </a:lnTo>
                  <a:lnTo>
                    <a:pt x="80772" y="35051"/>
                  </a:lnTo>
                  <a:lnTo>
                    <a:pt x="80772" y="11683"/>
                  </a:lnTo>
                  <a:lnTo>
                    <a:pt x="80772" y="0"/>
                  </a:lnTo>
                </a:path>
              </a:pathLst>
            </a:custGeom>
            <a:ln w="10667">
              <a:solidFill>
                <a:srgbClr val="000000"/>
              </a:solidFill>
            </a:ln>
          </p:spPr>
          <p:txBody>
            <a:bodyPr wrap="square" lIns="0" tIns="0" rIns="0" bIns="0" rtlCol="0"/>
            <a:lstStyle/>
            <a:p>
              <a:endParaRPr>
                <a:latin typeface="Museo 300" pitchFamily="50" charset="0"/>
              </a:endParaRPr>
            </a:p>
          </p:txBody>
        </p:sp>
        <p:sp>
          <p:nvSpPr>
            <p:cNvPr id="48" name="object 48"/>
            <p:cNvSpPr/>
            <p:nvPr/>
          </p:nvSpPr>
          <p:spPr>
            <a:xfrm>
              <a:off x="3362705" y="3227069"/>
              <a:ext cx="81280" cy="35560"/>
            </a:xfrm>
            <a:custGeom>
              <a:avLst/>
              <a:gdLst/>
              <a:ahLst/>
              <a:cxnLst/>
              <a:rect l="l" t="t" r="r" b="b"/>
              <a:pathLst>
                <a:path w="81279" h="35560">
                  <a:moveTo>
                    <a:pt x="80772" y="0"/>
                  </a:moveTo>
                  <a:lnTo>
                    <a:pt x="0" y="11175"/>
                  </a:lnTo>
                  <a:lnTo>
                    <a:pt x="80772" y="35051"/>
                  </a:lnTo>
                  <a:lnTo>
                    <a:pt x="80772" y="0"/>
                  </a:lnTo>
                  <a:close/>
                </a:path>
              </a:pathLst>
            </a:custGeom>
            <a:solidFill>
              <a:srgbClr val="000000"/>
            </a:solidFill>
          </p:spPr>
          <p:txBody>
            <a:bodyPr wrap="square" lIns="0" tIns="0" rIns="0" bIns="0" rtlCol="0"/>
            <a:lstStyle/>
            <a:p>
              <a:endParaRPr>
                <a:latin typeface="Museo 300" pitchFamily="50" charset="0"/>
              </a:endParaRPr>
            </a:p>
          </p:txBody>
        </p:sp>
        <p:sp>
          <p:nvSpPr>
            <p:cNvPr id="49" name="object 49"/>
            <p:cNvSpPr/>
            <p:nvPr/>
          </p:nvSpPr>
          <p:spPr>
            <a:xfrm>
              <a:off x="3362705" y="3227069"/>
              <a:ext cx="81280" cy="35560"/>
            </a:xfrm>
            <a:custGeom>
              <a:avLst/>
              <a:gdLst/>
              <a:ahLst/>
              <a:cxnLst/>
              <a:rect l="l" t="t" r="r" b="b"/>
              <a:pathLst>
                <a:path w="81279" h="35560">
                  <a:moveTo>
                    <a:pt x="80772" y="0"/>
                  </a:moveTo>
                  <a:lnTo>
                    <a:pt x="0" y="11175"/>
                  </a:lnTo>
                  <a:lnTo>
                    <a:pt x="80772" y="35051"/>
                  </a:lnTo>
                  <a:lnTo>
                    <a:pt x="80772" y="11175"/>
                  </a:lnTo>
                  <a:lnTo>
                    <a:pt x="80772"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50" name="object 50"/>
            <p:cNvSpPr/>
            <p:nvPr/>
          </p:nvSpPr>
          <p:spPr>
            <a:xfrm>
              <a:off x="3443477" y="3237737"/>
              <a:ext cx="177165" cy="0"/>
            </a:xfrm>
            <a:custGeom>
              <a:avLst/>
              <a:gdLst/>
              <a:ahLst/>
              <a:cxnLst/>
              <a:rect l="l" t="t" r="r" b="b"/>
              <a:pathLst>
                <a:path w="177164">
                  <a:moveTo>
                    <a:pt x="0" y="0"/>
                  </a:moveTo>
                  <a:lnTo>
                    <a:pt x="176784" y="0"/>
                  </a:lnTo>
                </a:path>
              </a:pathLst>
            </a:custGeom>
            <a:ln w="10668">
              <a:solidFill>
                <a:srgbClr val="000000"/>
              </a:solidFill>
            </a:ln>
          </p:spPr>
          <p:txBody>
            <a:bodyPr wrap="square" lIns="0" tIns="0" rIns="0" bIns="0" rtlCol="0"/>
            <a:lstStyle/>
            <a:p>
              <a:endParaRPr>
                <a:latin typeface="Museo 300" pitchFamily="50" charset="0"/>
              </a:endParaRPr>
            </a:p>
          </p:txBody>
        </p:sp>
      </p:grpSp>
      <p:sp>
        <p:nvSpPr>
          <p:cNvPr id="51" name="object 51"/>
          <p:cNvSpPr txBox="1"/>
          <p:nvPr/>
        </p:nvSpPr>
        <p:spPr>
          <a:xfrm>
            <a:off x="3872822" y="2187830"/>
            <a:ext cx="506307" cy="251351"/>
          </a:xfrm>
          <a:prstGeom prst="rect">
            <a:avLst/>
          </a:prstGeom>
        </p:spPr>
        <p:txBody>
          <a:bodyPr vert="horz" wrap="square" lIns="0" tIns="20320" rIns="0" bIns="0" rtlCol="0">
            <a:spAutoFit/>
          </a:bodyPr>
          <a:lstStyle/>
          <a:p>
            <a:pPr marL="118745" marR="5080" indent="-106680">
              <a:lnSpc>
                <a:spcPts val="930"/>
              </a:lnSpc>
              <a:spcBef>
                <a:spcPts val="160"/>
              </a:spcBef>
            </a:pPr>
            <a:r>
              <a:rPr sz="800" spc="-5" dirty="0">
                <a:latin typeface="Museo 300" pitchFamily="50" charset="0"/>
                <a:cs typeface="Carlito"/>
              </a:rPr>
              <a:t>Me</a:t>
            </a:r>
            <a:r>
              <a:rPr sz="800" spc="5" dirty="0">
                <a:latin typeface="Museo 300" pitchFamily="50" charset="0"/>
                <a:cs typeface="Carlito"/>
              </a:rPr>
              <a:t>m</a:t>
            </a:r>
            <a:r>
              <a:rPr sz="800" spc="-5" dirty="0">
                <a:latin typeface="Museo 300" pitchFamily="50" charset="0"/>
                <a:cs typeface="Carlito"/>
              </a:rPr>
              <a:t>or</a:t>
            </a:r>
            <a:r>
              <a:rPr sz="800" dirty="0">
                <a:latin typeface="Museo 300" pitchFamily="50" charset="0"/>
                <a:cs typeface="Carlito"/>
              </a:rPr>
              <a:t>y  </a:t>
            </a:r>
            <a:r>
              <a:rPr sz="800" spc="-5" dirty="0">
                <a:latin typeface="Museo 300" pitchFamily="50" charset="0"/>
                <a:cs typeface="Carlito"/>
              </a:rPr>
              <a:t>bus</a:t>
            </a:r>
            <a:endParaRPr sz="800">
              <a:latin typeface="Museo 300" pitchFamily="50" charset="0"/>
              <a:cs typeface="Carlito"/>
            </a:endParaRPr>
          </a:p>
        </p:txBody>
      </p:sp>
      <p:sp>
        <p:nvSpPr>
          <p:cNvPr id="52" name="object 52"/>
          <p:cNvSpPr txBox="1"/>
          <p:nvPr/>
        </p:nvSpPr>
        <p:spPr>
          <a:xfrm>
            <a:off x="6349830" y="4676268"/>
            <a:ext cx="470747" cy="135935"/>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00FFFF"/>
                </a:solidFill>
                <a:latin typeface="Museo 300" pitchFamily="50" charset="0"/>
                <a:cs typeface="Carlito"/>
              </a:rPr>
              <a:t>Carry-in</a:t>
            </a:r>
            <a:endParaRPr sz="800">
              <a:latin typeface="Museo 300" pitchFamily="50" charset="0"/>
              <a:cs typeface="Carlito"/>
            </a:endParaRPr>
          </a:p>
        </p:txBody>
      </p:sp>
      <p:grpSp>
        <p:nvGrpSpPr>
          <p:cNvPr id="53" name="object 53"/>
          <p:cNvGrpSpPr/>
          <p:nvPr/>
        </p:nvGrpSpPr>
        <p:grpSpPr>
          <a:xfrm>
            <a:off x="4803224" y="3954590"/>
            <a:ext cx="2099733" cy="1388745"/>
            <a:chOff x="3509708" y="4553648"/>
            <a:chExt cx="1574800" cy="1388745"/>
          </a:xfrm>
        </p:grpSpPr>
        <p:sp>
          <p:nvSpPr>
            <p:cNvPr id="54" name="object 54"/>
            <p:cNvSpPr/>
            <p:nvPr/>
          </p:nvSpPr>
          <p:spPr>
            <a:xfrm>
              <a:off x="4496562" y="4744973"/>
              <a:ext cx="22860" cy="58419"/>
            </a:xfrm>
            <a:custGeom>
              <a:avLst/>
              <a:gdLst/>
              <a:ahLst/>
              <a:cxnLst/>
              <a:rect l="l" t="t" r="r" b="b"/>
              <a:pathLst>
                <a:path w="22860" h="58420">
                  <a:moveTo>
                    <a:pt x="0" y="0"/>
                  </a:moveTo>
                  <a:lnTo>
                    <a:pt x="11429" y="57912"/>
                  </a:lnTo>
                  <a:lnTo>
                    <a:pt x="22860" y="0"/>
                  </a:lnTo>
                  <a:lnTo>
                    <a:pt x="11429" y="0"/>
                  </a:lnTo>
                  <a:lnTo>
                    <a:pt x="0" y="0"/>
                  </a:lnTo>
                </a:path>
              </a:pathLst>
            </a:custGeom>
            <a:ln w="10668">
              <a:solidFill>
                <a:srgbClr val="000000"/>
              </a:solidFill>
            </a:ln>
          </p:spPr>
          <p:txBody>
            <a:bodyPr wrap="square" lIns="0" tIns="0" rIns="0" bIns="0" rtlCol="0"/>
            <a:lstStyle/>
            <a:p>
              <a:endParaRPr>
                <a:latin typeface="Museo 300" pitchFamily="50" charset="0"/>
              </a:endParaRPr>
            </a:p>
          </p:txBody>
        </p:sp>
        <p:sp>
          <p:nvSpPr>
            <p:cNvPr id="55" name="object 55"/>
            <p:cNvSpPr/>
            <p:nvPr/>
          </p:nvSpPr>
          <p:spPr>
            <a:xfrm>
              <a:off x="4496562" y="4744973"/>
              <a:ext cx="22860" cy="58419"/>
            </a:xfrm>
            <a:custGeom>
              <a:avLst/>
              <a:gdLst/>
              <a:ahLst/>
              <a:cxnLst/>
              <a:rect l="l" t="t" r="r" b="b"/>
              <a:pathLst>
                <a:path w="22860" h="58420">
                  <a:moveTo>
                    <a:pt x="22860" y="0"/>
                  </a:moveTo>
                  <a:lnTo>
                    <a:pt x="0" y="0"/>
                  </a:lnTo>
                  <a:lnTo>
                    <a:pt x="11429" y="57912"/>
                  </a:lnTo>
                  <a:lnTo>
                    <a:pt x="22860" y="0"/>
                  </a:lnTo>
                  <a:close/>
                </a:path>
              </a:pathLst>
            </a:custGeom>
            <a:solidFill>
              <a:srgbClr val="000000"/>
            </a:solidFill>
          </p:spPr>
          <p:txBody>
            <a:bodyPr wrap="square" lIns="0" tIns="0" rIns="0" bIns="0" rtlCol="0"/>
            <a:lstStyle/>
            <a:p>
              <a:endParaRPr>
                <a:latin typeface="Museo 300" pitchFamily="50" charset="0"/>
              </a:endParaRPr>
            </a:p>
          </p:txBody>
        </p:sp>
        <p:sp>
          <p:nvSpPr>
            <p:cNvPr id="56" name="object 56"/>
            <p:cNvSpPr/>
            <p:nvPr/>
          </p:nvSpPr>
          <p:spPr>
            <a:xfrm>
              <a:off x="4496562" y="4744973"/>
              <a:ext cx="22860" cy="58419"/>
            </a:xfrm>
            <a:custGeom>
              <a:avLst/>
              <a:gdLst/>
              <a:ahLst/>
              <a:cxnLst/>
              <a:rect l="l" t="t" r="r" b="b"/>
              <a:pathLst>
                <a:path w="22860" h="58420">
                  <a:moveTo>
                    <a:pt x="0" y="0"/>
                  </a:moveTo>
                  <a:lnTo>
                    <a:pt x="11429" y="57912"/>
                  </a:lnTo>
                  <a:lnTo>
                    <a:pt x="22860" y="0"/>
                  </a:lnTo>
                  <a:lnTo>
                    <a:pt x="11429"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57" name="object 57"/>
            <p:cNvSpPr/>
            <p:nvPr/>
          </p:nvSpPr>
          <p:spPr>
            <a:xfrm>
              <a:off x="3515106" y="4559045"/>
              <a:ext cx="1564005" cy="897890"/>
            </a:xfrm>
            <a:custGeom>
              <a:avLst/>
              <a:gdLst/>
              <a:ahLst/>
              <a:cxnLst/>
              <a:rect l="l" t="t" r="r" b="b"/>
              <a:pathLst>
                <a:path w="1564004" h="897889">
                  <a:moveTo>
                    <a:pt x="992124" y="185927"/>
                  </a:moveTo>
                  <a:lnTo>
                    <a:pt x="992124" y="0"/>
                  </a:lnTo>
                  <a:lnTo>
                    <a:pt x="1563624" y="0"/>
                  </a:lnTo>
                </a:path>
                <a:path w="1564004" h="897889">
                  <a:moveTo>
                    <a:pt x="642366" y="324611"/>
                  </a:moveTo>
                  <a:lnTo>
                    <a:pt x="572262" y="254507"/>
                  </a:lnTo>
                  <a:lnTo>
                    <a:pt x="0" y="254507"/>
                  </a:lnTo>
                  <a:lnTo>
                    <a:pt x="210185" y="897635"/>
                  </a:lnTo>
                  <a:lnTo>
                    <a:pt x="1074547" y="897635"/>
                  </a:lnTo>
                  <a:lnTo>
                    <a:pt x="1284732" y="254507"/>
                  </a:lnTo>
                  <a:lnTo>
                    <a:pt x="712470" y="254507"/>
                  </a:lnTo>
                  <a:lnTo>
                    <a:pt x="642366" y="324611"/>
                  </a:lnTo>
                </a:path>
              </a:pathLst>
            </a:custGeom>
            <a:ln w="10668">
              <a:solidFill>
                <a:srgbClr val="000000"/>
              </a:solidFill>
            </a:ln>
          </p:spPr>
          <p:txBody>
            <a:bodyPr wrap="square" lIns="0" tIns="0" rIns="0" bIns="0" rtlCol="0"/>
            <a:lstStyle/>
            <a:p>
              <a:endParaRPr>
                <a:latin typeface="Museo 300" pitchFamily="50" charset="0"/>
              </a:endParaRPr>
            </a:p>
          </p:txBody>
        </p:sp>
        <p:sp>
          <p:nvSpPr>
            <p:cNvPr id="58" name="object 58"/>
            <p:cNvSpPr/>
            <p:nvPr/>
          </p:nvSpPr>
          <p:spPr>
            <a:xfrm>
              <a:off x="3701034" y="5714237"/>
              <a:ext cx="887094" cy="222885"/>
            </a:xfrm>
            <a:custGeom>
              <a:avLst/>
              <a:gdLst/>
              <a:ahLst/>
              <a:cxnLst/>
              <a:rect l="l" t="t" r="r" b="b"/>
              <a:pathLst>
                <a:path w="887095" h="222885">
                  <a:moveTo>
                    <a:pt x="0" y="222503"/>
                  </a:moveTo>
                  <a:lnTo>
                    <a:pt x="886967" y="222503"/>
                  </a:lnTo>
                  <a:lnTo>
                    <a:pt x="886967" y="0"/>
                  </a:lnTo>
                  <a:lnTo>
                    <a:pt x="0" y="0"/>
                  </a:lnTo>
                  <a:lnTo>
                    <a:pt x="0" y="222503"/>
                  </a:lnTo>
                  <a:close/>
                </a:path>
              </a:pathLst>
            </a:custGeom>
            <a:ln w="10668">
              <a:solidFill>
                <a:srgbClr val="000000"/>
              </a:solidFill>
            </a:ln>
          </p:spPr>
          <p:txBody>
            <a:bodyPr wrap="square" lIns="0" tIns="0" rIns="0" bIns="0" rtlCol="0"/>
            <a:lstStyle/>
            <a:p>
              <a:endParaRPr>
                <a:latin typeface="Museo 300" pitchFamily="50" charset="0"/>
              </a:endParaRPr>
            </a:p>
          </p:txBody>
        </p:sp>
        <p:sp>
          <p:nvSpPr>
            <p:cNvPr id="59" name="object 59"/>
            <p:cNvSpPr/>
            <p:nvPr/>
          </p:nvSpPr>
          <p:spPr>
            <a:xfrm>
              <a:off x="4997958" y="5807201"/>
              <a:ext cx="81280" cy="35560"/>
            </a:xfrm>
            <a:custGeom>
              <a:avLst/>
              <a:gdLst/>
              <a:ahLst/>
              <a:cxnLst/>
              <a:rect l="l" t="t" r="r" b="b"/>
              <a:pathLst>
                <a:path w="81279" h="35560">
                  <a:moveTo>
                    <a:pt x="0" y="35052"/>
                  </a:moveTo>
                  <a:lnTo>
                    <a:pt x="80771" y="23368"/>
                  </a:lnTo>
                  <a:lnTo>
                    <a:pt x="0" y="0"/>
                  </a:lnTo>
                  <a:lnTo>
                    <a:pt x="0" y="23368"/>
                  </a:lnTo>
                  <a:lnTo>
                    <a:pt x="0" y="35052"/>
                  </a:lnTo>
                </a:path>
              </a:pathLst>
            </a:custGeom>
            <a:ln w="10667">
              <a:solidFill>
                <a:srgbClr val="000000"/>
              </a:solidFill>
            </a:ln>
          </p:spPr>
          <p:txBody>
            <a:bodyPr wrap="square" lIns="0" tIns="0" rIns="0" bIns="0" rtlCol="0"/>
            <a:lstStyle/>
            <a:p>
              <a:endParaRPr>
                <a:latin typeface="Museo 300" pitchFamily="50" charset="0"/>
              </a:endParaRPr>
            </a:p>
          </p:txBody>
        </p:sp>
        <p:sp>
          <p:nvSpPr>
            <p:cNvPr id="60" name="object 60"/>
            <p:cNvSpPr/>
            <p:nvPr/>
          </p:nvSpPr>
          <p:spPr>
            <a:xfrm>
              <a:off x="4997958" y="5807201"/>
              <a:ext cx="81280" cy="35560"/>
            </a:xfrm>
            <a:custGeom>
              <a:avLst/>
              <a:gdLst/>
              <a:ahLst/>
              <a:cxnLst/>
              <a:rect l="l" t="t" r="r" b="b"/>
              <a:pathLst>
                <a:path w="81279" h="35560">
                  <a:moveTo>
                    <a:pt x="0" y="0"/>
                  </a:moveTo>
                  <a:lnTo>
                    <a:pt x="0" y="35052"/>
                  </a:lnTo>
                  <a:lnTo>
                    <a:pt x="80771" y="23901"/>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61" name="object 61"/>
            <p:cNvSpPr/>
            <p:nvPr/>
          </p:nvSpPr>
          <p:spPr>
            <a:xfrm>
              <a:off x="4997958" y="5807201"/>
              <a:ext cx="81280" cy="35560"/>
            </a:xfrm>
            <a:custGeom>
              <a:avLst/>
              <a:gdLst/>
              <a:ahLst/>
              <a:cxnLst/>
              <a:rect l="l" t="t" r="r" b="b"/>
              <a:pathLst>
                <a:path w="81279" h="35560">
                  <a:moveTo>
                    <a:pt x="0" y="35052"/>
                  </a:moveTo>
                  <a:lnTo>
                    <a:pt x="80771" y="23901"/>
                  </a:lnTo>
                  <a:lnTo>
                    <a:pt x="0" y="0"/>
                  </a:lnTo>
                  <a:lnTo>
                    <a:pt x="0" y="23901"/>
                  </a:lnTo>
                  <a:lnTo>
                    <a:pt x="0" y="35052"/>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62" name="object 62"/>
            <p:cNvSpPr/>
            <p:nvPr/>
          </p:nvSpPr>
          <p:spPr>
            <a:xfrm>
              <a:off x="4588002" y="5831585"/>
              <a:ext cx="410209" cy="0"/>
            </a:xfrm>
            <a:custGeom>
              <a:avLst/>
              <a:gdLst/>
              <a:ahLst/>
              <a:cxnLst/>
              <a:rect l="l" t="t" r="r" b="b"/>
              <a:pathLst>
                <a:path w="410210">
                  <a:moveTo>
                    <a:pt x="409956" y="0"/>
                  </a:moveTo>
                  <a:lnTo>
                    <a:pt x="0" y="0"/>
                  </a:lnTo>
                </a:path>
              </a:pathLst>
            </a:custGeom>
            <a:ln w="10668">
              <a:solidFill>
                <a:srgbClr val="000000"/>
              </a:solidFill>
            </a:ln>
          </p:spPr>
          <p:txBody>
            <a:bodyPr wrap="square" lIns="0" tIns="0" rIns="0" bIns="0" rtlCol="0"/>
            <a:lstStyle/>
            <a:p>
              <a:endParaRPr>
                <a:latin typeface="Museo 300" pitchFamily="50" charset="0"/>
              </a:endParaRPr>
            </a:p>
          </p:txBody>
        </p:sp>
      </p:grpSp>
      <p:sp>
        <p:nvSpPr>
          <p:cNvPr id="63" name="object 63"/>
          <p:cNvSpPr txBox="1"/>
          <p:nvPr/>
        </p:nvSpPr>
        <p:spPr>
          <a:xfrm>
            <a:off x="5509429" y="4466463"/>
            <a:ext cx="258233" cy="135935"/>
          </a:xfrm>
          <a:prstGeom prst="rect">
            <a:avLst/>
          </a:prstGeom>
        </p:spPr>
        <p:txBody>
          <a:bodyPr vert="horz" wrap="square" lIns="0" tIns="12700" rIns="0" bIns="0" rtlCol="0">
            <a:spAutoFit/>
          </a:bodyPr>
          <a:lstStyle/>
          <a:p>
            <a:pPr marL="12700">
              <a:lnSpc>
                <a:spcPct val="100000"/>
              </a:lnSpc>
              <a:spcBef>
                <a:spcPts val="100"/>
              </a:spcBef>
            </a:pPr>
            <a:r>
              <a:rPr sz="800" dirty="0">
                <a:latin typeface="Museo 300" pitchFamily="50" charset="0"/>
                <a:cs typeface="Carlito"/>
              </a:rPr>
              <a:t>A</a:t>
            </a:r>
            <a:r>
              <a:rPr sz="800" spc="-5" dirty="0">
                <a:latin typeface="Museo 300" pitchFamily="50" charset="0"/>
                <a:cs typeface="Carlito"/>
              </a:rPr>
              <a:t>LU</a:t>
            </a:r>
            <a:endParaRPr sz="800">
              <a:latin typeface="Museo 300" pitchFamily="50" charset="0"/>
              <a:cs typeface="Carlito"/>
            </a:endParaRPr>
          </a:p>
        </p:txBody>
      </p:sp>
      <p:sp>
        <p:nvSpPr>
          <p:cNvPr id="64" name="object 64"/>
          <p:cNvSpPr txBox="1"/>
          <p:nvPr/>
        </p:nvSpPr>
        <p:spPr>
          <a:xfrm>
            <a:off x="5058325" y="1343280"/>
            <a:ext cx="1182792" cy="151965"/>
          </a:xfrm>
          <a:prstGeom prst="rect">
            <a:avLst/>
          </a:prstGeom>
          <a:ln w="10668">
            <a:solidFill>
              <a:srgbClr val="000000"/>
            </a:solidFill>
          </a:ln>
        </p:spPr>
        <p:txBody>
          <a:bodyPr vert="horz" wrap="square" lIns="0" tIns="28575" rIns="0" bIns="0" rtlCol="0">
            <a:spAutoFit/>
          </a:bodyPr>
          <a:lstStyle/>
          <a:p>
            <a:pPr algn="ctr">
              <a:lnSpc>
                <a:spcPct val="100000"/>
              </a:lnSpc>
              <a:spcBef>
                <a:spcPts val="225"/>
              </a:spcBef>
            </a:pPr>
            <a:r>
              <a:rPr sz="800" dirty="0">
                <a:latin typeface="Museo 300" pitchFamily="50" charset="0"/>
                <a:cs typeface="Carlito"/>
              </a:rPr>
              <a:t>PC</a:t>
            </a:r>
            <a:endParaRPr sz="800">
              <a:latin typeface="Museo 300" pitchFamily="50" charset="0"/>
              <a:cs typeface="Carlito"/>
            </a:endParaRPr>
          </a:p>
        </p:txBody>
      </p:sp>
      <p:sp>
        <p:nvSpPr>
          <p:cNvPr id="65" name="object 65"/>
          <p:cNvSpPr txBox="1"/>
          <p:nvPr/>
        </p:nvSpPr>
        <p:spPr>
          <a:xfrm>
            <a:off x="5058325" y="1939164"/>
            <a:ext cx="1182792" cy="162865"/>
          </a:xfrm>
          <a:prstGeom prst="rect">
            <a:avLst/>
          </a:prstGeom>
          <a:ln w="10668">
            <a:solidFill>
              <a:srgbClr val="000000"/>
            </a:solidFill>
          </a:ln>
        </p:spPr>
        <p:txBody>
          <a:bodyPr vert="horz" wrap="square" lIns="0" tIns="39370" rIns="0" bIns="0" rtlCol="0">
            <a:spAutoFit/>
          </a:bodyPr>
          <a:lstStyle/>
          <a:p>
            <a:pPr marR="22860" algn="ctr">
              <a:lnSpc>
                <a:spcPct val="100000"/>
              </a:lnSpc>
              <a:spcBef>
                <a:spcPts val="310"/>
              </a:spcBef>
            </a:pPr>
            <a:r>
              <a:rPr sz="800" dirty="0">
                <a:latin typeface="Museo 300" pitchFamily="50" charset="0"/>
                <a:cs typeface="Carlito"/>
              </a:rPr>
              <a:t>MAR</a:t>
            </a:r>
            <a:endParaRPr sz="800">
              <a:latin typeface="Museo 300" pitchFamily="50" charset="0"/>
              <a:cs typeface="Carlito"/>
            </a:endParaRPr>
          </a:p>
        </p:txBody>
      </p:sp>
      <p:sp>
        <p:nvSpPr>
          <p:cNvPr id="66" name="object 66"/>
          <p:cNvSpPr txBox="1"/>
          <p:nvPr/>
        </p:nvSpPr>
        <p:spPr>
          <a:xfrm>
            <a:off x="5058325" y="2533524"/>
            <a:ext cx="1182792" cy="152605"/>
          </a:xfrm>
          <a:prstGeom prst="rect">
            <a:avLst/>
          </a:prstGeom>
          <a:ln w="10668">
            <a:solidFill>
              <a:srgbClr val="000000"/>
            </a:solidFill>
          </a:ln>
        </p:spPr>
        <p:txBody>
          <a:bodyPr vert="horz" wrap="square" lIns="0" tIns="29209" rIns="0" bIns="0" rtlCol="0">
            <a:spAutoFit/>
          </a:bodyPr>
          <a:lstStyle/>
          <a:p>
            <a:pPr marR="20320" algn="ctr">
              <a:lnSpc>
                <a:spcPct val="100000"/>
              </a:lnSpc>
              <a:spcBef>
                <a:spcPts val="229"/>
              </a:spcBef>
            </a:pPr>
            <a:r>
              <a:rPr sz="800" spc="-5" dirty="0">
                <a:latin typeface="Museo 300" pitchFamily="50" charset="0"/>
                <a:cs typeface="Carlito"/>
              </a:rPr>
              <a:t>MDR</a:t>
            </a:r>
            <a:endParaRPr sz="800">
              <a:latin typeface="Museo 300" pitchFamily="50" charset="0"/>
              <a:cs typeface="Carlito"/>
            </a:endParaRPr>
          </a:p>
        </p:txBody>
      </p:sp>
      <p:sp>
        <p:nvSpPr>
          <p:cNvPr id="67" name="object 67"/>
          <p:cNvSpPr txBox="1"/>
          <p:nvPr/>
        </p:nvSpPr>
        <p:spPr>
          <a:xfrm>
            <a:off x="5058325" y="3129406"/>
            <a:ext cx="1182792" cy="164789"/>
          </a:xfrm>
          <a:prstGeom prst="rect">
            <a:avLst/>
          </a:prstGeom>
          <a:ln w="10668">
            <a:solidFill>
              <a:srgbClr val="000000"/>
            </a:solidFill>
          </a:ln>
        </p:spPr>
        <p:txBody>
          <a:bodyPr vert="horz" wrap="square" lIns="0" tIns="41275" rIns="0" bIns="0" rtlCol="0">
            <a:spAutoFit/>
          </a:bodyPr>
          <a:lstStyle/>
          <a:p>
            <a:pPr marR="9525" algn="ctr">
              <a:lnSpc>
                <a:spcPct val="100000"/>
              </a:lnSpc>
              <a:spcBef>
                <a:spcPts val="325"/>
              </a:spcBef>
            </a:pPr>
            <a:r>
              <a:rPr sz="800" dirty="0">
                <a:latin typeface="Museo 300" pitchFamily="50" charset="0"/>
                <a:cs typeface="Carlito"/>
              </a:rPr>
              <a:t>Y</a:t>
            </a:r>
            <a:endParaRPr sz="800">
              <a:latin typeface="Museo 300" pitchFamily="50" charset="0"/>
              <a:cs typeface="Carlito"/>
            </a:endParaRPr>
          </a:p>
        </p:txBody>
      </p:sp>
      <p:sp>
        <p:nvSpPr>
          <p:cNvPr id="68" name="object 68"/>
          <p:cNvSpPr txBox="1"/>
          <p:nvPr/>
        </p:nvSpPr>
        <p:spPr>
          <a:xfrm>
            <a:off x="5572590" y="5144389"/>
            <a:ext cx="81280" cy="135935"/>
          </a:xfrm>
          <a:prstGeom prst="rect">
            <a:avLst/>
          </a:prstGeom>
        </p:spPr>
        <p:txBody>
          <a:bodyPr vert="horz" wrap="square" lIns="0" tIns="12700" rIns="0" bIns="0" rtlCol="0">
            <a:spAutoFit/>
          </a:bodyPr>
          <a:lstStyle/>
          <a:p>
            <a:pPr>
              <a:lnSpc>
                <a:spcPct val="100000"/>
              </a:lnSpc>
              <a:spcBef>
                <a:spcPts val="100"/>
              </a:spcBef>
            </a:pPr>
            <a:r>
              <a:rPr sz="800" dirty="0">
                <a:latin typeface="Museo 300" pitchFamily="50" charset="0"/>
                <a:cs typeface="Carlito"/>
              </a:rPr>
              <a:t>Z</a:t>
            </a:r>
            <a:endParaRPr sz="800">
              <a:latin typeface="Museo 300" pitchFamily="50" charset="0"/>
              <a:cs typeface="Carlito"/>
            </a:endParaRPr>
          </a:p>
        </p:txBody>
      </p:sp>
      <p:grpSp>
        <p:nvGrpSpPr>
          <p:cNvPr id="69" name="object 69"/>
          <p:cNvGrpSpPr/>
          <p:nvPr/>
        </p:nvGrpSpPr>
        <p:grpSpPr>
          <a:xfrm>
            <a:off x="5597736" y="4852225"/>
            <a:ext cx="61807" cy="257810"/>
            <a:chOff x="4105592" y="5451284"/>
            <a:chExt cx="46355" cy="257810"/>
          </a:xfrm>
        </p:grpSpPr>
        <p:sp>
          <p:nvSpPr>
            <p:cNvPr id="70" name="object 70"/>
            <p:cNvSpPr/>
            <p:nvPr/>
          </p:nvSpPr>
          <p:spPr>
            <a:xfrm>
              <a:off x="4110989" y="5621273"/>
              <a:ext cx="35560" cy="82550"/>
            </a:xfrm>
            <a:custGeom>
              <a:avLst/>
              <a:gdLst/>
              <a:ahLst/>
              <a:cxnLst/>
              <a:rect l="l" t="t" r="r" b="b"/>
              <a:pathLst>
                <a:path w="35560" h="82550">
                  <a:moveTo>
                    <a:pt x="0" y="0"/>
                  </a:moveTo>
                  <a:lnTo>
                    <a:pt x="23368" y="82295"/>
                  </a:lnTo>
                  <a:lnTo>
                    <a:pt x="35051" y="0"/>
                  </a:lnTo>
                  <a:lnTo>
                    <a:pt x="23368" y="0"/>
                  </a:lnTo>
                  <a:lnTo>
                    <a:pt x="0" y="0"/>
                  </a:lnTo>
                </a:path>
              </a:pathLst>
            </a:custGeom>
            <a:ln w="10667">
              <a:solidFill>
                <a:srgbClr val="000000"/>
              </a:solidFill>
            </a:ln>
          </p:spPr>
          <p:txBody>
            <a:bodyPr wrap="square" lIns="0" tIns="0" rIns="0" bIns="0" rtlCol="0"/>
            <a:lstStyle/>
            <a:p>
              <a:endParaRPr>
                <a:latin typeface="Museo 300" pitchFamily="50" charset="0"/>
              </a:endParaRPr>
            </a:p>
          </p:txBody>
        </p:sp>
        <p:sp>
          <p:nvSpPr>
            <p:cNvPr id="71" name="object 71"/>
            <p:cNvSpPr/>
            <p:nvPr/>
          </p:nvSpPr>
          <p:spPr>
            <a:xfrm>
              <a:off x="4110989" y="5621273"/>
              <a:ext cx="35560" cy="82550"/>
            </a:xfrm>
            <a:custGeom>
              <a:avLst/>
              <a:gdLst/>
              <a:ahLst/>
              <a:cxnLst/>
              <a:rect l="l" t="t" r="r" b="b"/>
              <a:pathLst>
                <a:path w="35560" h="82550">
                  <a:moveTo>
                    <a:pt x="35051" y="0"/>
                  </a:moveTo>
                  <a:lnTo>
                    <a:pt x="0" y="0"/>
                  </a:lnTo>
                  <a:lnTo>
                    <a:pt x="22351" y="82295"/>
                  </a:lnTo>
                  <a:lnTo>
                    <a:pt x="35051" y="0"/>
                  </a:lnTo>
                  <a:close/>
                </a:path>
              </a:pathLst>
            </a:custGeom>
            <a:solidFill>
              <a:srgbClr val="000000"/>
            </a:solidFill>
          </p:spPr>
          <p:txBody>
            <a:bodyPr wrap="square" lIns="0" tIns="0" rIns="0" bIns="0" rtlCol="0"/>
            <a:lstStyle/>
            <a:p>
              <a:endParaRPr>
                <a:latin typeface="Museo 300" pitchFamily="50" charset="0"/>
              </a:endParaRPr>
            </a:p>
          </p:txBody>
        </p:sp>
        <p:sp>
          <p:nvSpPr>
            <p:cNvPr id="72" name="object 72"/>
            <p:cNvSpPr/>
            <p:nvPr/>
          </p:nvSpPr>
          <p:spPr>
            <a:xfrm>
              <a:off x="4110989" y="5621273"/>
              <a:ext cx="35560" cy="82550"/>
            </a:xfrm>
            <a:custGeom>
              <a:avLst/>
              <a:gdLst/>
              <a:ahLst/>
              <a:cxnLst/>
              <a:rect l="l" t="t" r="r" b="b"/>
              <a:pathLst>
                <a:path w="35560" h="82550">
                  <a:moveTo>
                    <a:pt x="0" y="0"/>
                  </a:moveTo>
                  <a:lnTo>
                    <a:pt x="22351" y="82295"/>
                  </a:lnTo>
                  <a:lnTo>
                    <a:pt x="35051" y="0"/>
                  </a:lnTo>
                  <a:lnTo>
                    <a:pt x="22351"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73" name="object 73"/>
            <p:cNvSpPr/>
            <p:nvPr/>
          </p:nvSpPr>
          <p:spPr>
            <a:xfrm>
              <a:off x="4132325" y="5456681"/>
              <a:ext cx="0" cy="165100"/>
            </a:xfrm>
            <a:custGeom>
              <a:avLst/>
              <a:gdLst/>
              <a:ahLst/>
              <a:cxnLst/>
              <a:rect l="l" t="t" r="r" b="b"/>
              <a:pathLst>
                <a:path h="165100">
                  <a:moveTo>
                    <a:pt x="0" y="164592"/>
                  </a:moveTo>
                  <a:lnTo>
                    <a:pt x="0" y="0"/>
                  </a:lnTo>
                </a:path>
              </a:pathLst>
            </a:custGeom>
            <a:ln w="10668">
              <a:solidFill>
                <a:srgbClr val="000000"/>
              </a:solidFill>
            </a:ln>
          </p:spPr>
          <p:txBody>
            <a:bodyPr wrap="square" lIns="0" tIns="0" rIns="0" bIns="0" rtlCol="0"/>
            <a:lstStyle/>
            <a:p>
              <a:endParaRPr>
                <a:latin typeface="Museo 300" pitchFamily="50" charset="0"/>
              </a:endParaRPr>
            </a:p>
          </p:txBody>
        </p:sp>
      </p:grpSp>
      <p:sp>
        <p:nvSpPr>
          <p:cNvPr id="74" name="object 74"/>
          <p:cNvSpPr txBox="1"/>
          <p:nvPr/>
        </p:nvSpPr>
        <p:spPr>
          <a:xfrm>
            <a:off x="4433994" y="4104387"/>
            <a:ext cx="256540" cy="13593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00FFFF"/>
                </a:solidFill>
                <a:latin typeface="Museo 300" pitchFamily="50" charset="0"/>
                <a:cs typeface="Carlito"/>
              </a:rPr>
              <a:t>A</a:t>
            </a:r>
            <a:r>
              <a:rPr sz="800" spc="-5" dirty="0">
                <a:solidFill>
                  <a:srgbClr val="00FFFF"/>
                </a:solidFill>
                <a:latin typeface="Museo 300" pitchFamily="50" charset="0"/>
                <a:cs typeface="Carlito"/>
              </a:rPr>
              <a:t>dd</a:t>
            </a:r>
            <a:endParaRPr sz="800">
              <a:latin typeface="Museo 300" pitchFamily="50" charset="0"/>
              <a:cs typeface="Carlito"/>
            </a:endParaRPr>
          </a:p>
        </p:txBody>
      </p:sp>
      <p:sp>
        <p:nvSpPr>
          <p:cNvPr id="75" name="object 75"/>
          <p:cNvSpPr txBox="1"/>
          <p:nvPr/>
        </p:nvSpPr>
        <p:spPr>
          <a:xfrm>
            <a:off x="4418923" y="4676267"/>
            <a:ext cx="575733" cy="251992"/>
          </a:xfrm>
          <a:prstGeom prst="rect">
            <a:avLst/>
          </a:prstGeom>
        </p:spPr>
        <p:txBody>
          <a:bodyPr vert="horz" wrap="square" lIns="0" tIns="20955" rIns="0" bIns="0" rtlCol="0">
            <a:spAutoFit/>
          </a:bodyPr>
          <a:lstStyle/>
          <a:p>
            <a:pPr marL="12700" marR="5080">
              <a:lnSpc>
                <a:spcPts val="919"/>
              </a:lnSpc>
              <a:spcBef>
                <a:spcPts val="165"/>
              </a:spcBef>
              <a:tabLst>
                <a:tab pos="418465" algn="l"/>
              </a:tabLst>
            </a:pPr>
            <a:r>
              <a:rPr sz="800" u="sng" dirty="0">
                <a:solidFill>
                  <a:srgbClr val="00FFFF"/>
                </a:solidFill>
                <a:uFill>
                  <a:solidFill>
                    <a:srgbClr val="00FFFF"/>
                  </a:solidFill>
                </a:uFill>
                <a:latin typeface="Museo 300" pitchFamily="50" charset="0"/>
                <a:cs typeface="Carlito"/>
              </a:rPr>
              <a:t> 	</a:t>
            </a:r>
            <a:r>
              <a:rPr sz="800" dirty="0">
                <a:solidFill>
                  <a:srgbClr val="00FFFF"/>
                </a:solidFill>
                <a:latin typeface="Museo 300" pitchFamily="50" charset="0"/>
                <a:cs typeface="Carlito"/>
              </a:rPr>
              <a:t> X</a:t>
            </a:r>
            <a:r>
              <a:rPr sz="800" spc="-5" dirty="0">
                <a:solidFill>
                  <a:srgbClr val="00FFFF"/>
                </a:solidFill>
                <a:latin typeface="Museo 300" pitchFamily="50" charset="0"/>
                <a:cs typeface="Carlito"/>
              </a:rPr>
              <a:t>O</a:t>
            </a:r>
            <a:r>
              <a:rPr sz="800" dirty="0">
                <a:solidFill>
                  <a:srgbClr val="00FFFF"/>
                </a:solidFill>
                <a:latin typeface="Museo 300" pitchFamily="50" charset="0"/>
                <a:cs typeface="Carlito"/>
              </a:rPr>
              <a:t>R</a:t>
            </a:r>
            <a:endParaRPr sz="800">
              <a:latin typeface="Museo 300" pitchFamily="50" charset="0"/>
              <a:cs typeface="Carlito"/>
            </a:endParaRPr>
          </a:p>
        </p:txBody>
      </p:sp>
      <p:sp>
        <p:nvSpPr>
          <p:cNvPr id="76" name="object 76"/>
          <p:cNvSpPr txBox="1"/>
          <p:nvPr/>
        </p:nvSpPr>
        <p:spPr>
          <a:xfrm>
            <a:off x="4450756" y="4291838"/>
            <a:ext cx="240453" cy="13593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00FFFF"/>
                </a:solidFill>
                <a:latin typeface="Museo 300" pitchFamily="50" charset="0"/>
                <a:cs typeface="Carlito"/>
              </a:rPr>
              <a:t>S</a:t>
            </a:r>
            <a:r>
              <a:rPr sz="800" spc="-5" dirty="0">
                <a:solidFill>
                  <a:srgbClr val="00FFFF"/>
                </a:solidFill>
                <a:latin typeface="Museo 300" pitchFamily="50" charset="0"/>
                <a:cs typeface="Carlito"/>
              </a:rPr>
              <a:t>ub</a:t>
            </a:r>
            <a:endParaRPr sz="800">
              <a:latin typeface="Museo 300" pitchFamily="50" charset="0"/>
              <a:cs typeface="Carlito"/>
            </a:endParaRPr>
          </a:p>
        </p:txBody>
      </p:sp>
      <p:sp>
        <p:nvSpPr>
          <p:cNvPr id="77" name="object 77"/>
          <p:cNvSpPr/>
          <p:nvPr/>
        </p:nvSpPr>
        <p:spPr>
          <a:xfrm>
            <a:off x="7659284" y="2698115"/>
            <a:ext cx="1185333" cy="220979"/>
          </a:xfrm>
          <a:custGeom>
            <a:avLst/>
            <a:gdLst/>
            <a:ahLst/>
            <a:cxnLst/>
            <a:rect l="l" t="t" r="r" b="b"/>
            <a:pathLst>
              <a:path w="889000" h="220979">
                <a:moveTo>
                  <a:pt x="0" y="220979"/>
                </a:moveTo>
                <a:lnTo>
                  <a:pt x="888492" y="220979"/>
                </a:lnTo>
                <a:lnTo>
                  <a:pt x="888492" y="0"/>
                </a:lnTo>
                <a:lnTo>
                  <a:pt x="0" y="0"/>
                </a:lnTo>
                <a:lnTo>
                  <a:pt x="0" y="220979"/>
                </a:lnTo>
                <a:close/>
              </a:path>
            </a:pathLst>
          </a:custGeom>
          <a:ln w="10668">
            <a:solidFill>
              <a:srgbClr val="000000"/>
            </a:solidFill>
          </a:ln>
        </p:spPr>
        <p:txBody>
          <a:bodyPr wrap="square" lIns="0" tIns="0" rIns="0" bIns="0" rtlCol="0"/>
          <a:lstStyle/>
          <a:p>
            <a:endParaRPr>
              <a:latin typeface="Museo 300" pitchFamily="50" charset="0"/>
            </a:endParaRPr>
          </a:p>
        </p:txBody>
      </p:sp>
      <p:sp>
        <p:nvSpPr>
          <p:cNvPr id="78" name="object 78"/>
          <p:cNvSpPr txBox="1"/>
          <p:nvPr/>
        </p:nvSpPr>
        <p:spPr>
          <a:xfrm>
            <a:off x="8189467" y="2726055"/>
            <a:ext cx="126153" cy="136576"/>
          </a:xfrm>
          <a:prstGeom prst="rect">
            <a:avLst/>
          </a:prstGeom>
        </p:spPr>
        <p:txBody>
          <a:bodyPr vert="horz" wrap="square" lIns="0" tIns="13335" rIns="0" bIns="0" rtlCol="0">
            <a:spAutoFit/>
          </a:bodyPr>
          <a:lstStyle/>
          <a:p>
            <a:pPr>
              <a:lnSpc>
                <a:spcPct val="100000"/>
              </a:lnSpc>
              <a:spcBef>
                <a:spcPts val="105"/>
              </a:spcBef>
            </a:pPr>
            <a:r>
              <a:rPr sz="800" dirty="0">
                <a:latin typeface="Museo 300" pitchFamily="50" charset="0"/>
                <a:cs typeface="Carlito"/>
              </a:rPr>
              <a:t>IR</a:t>
            </a:r>
            <a:endParaRPr sz="800">
              <a:latin typeface="Museo 300" pitchFamily="50" charset="0"/>
              <a:cs typeface="Carlito"/>
            </a:endParaRPr>
          </a:p>
        </p:txBody>
      </p:sp>
      <p:grpSp>
        <p:nvGrpSpPr>
          <p:cNvPr id="79" name="object 79"/>
          <p:cNvGrpSpPr/>
          <p:nvPr/>
        </p:nvGrpSpPr>
        <p:grpSpPr>
          <a:xfrm>
            <a:off x="7014040" y="2282762"/>
            <a:ext cx="1276773" cy="549275"/>
            <a:chOff x="5167820" y="2881820"/>
            <a:chExt cx="957580" cy="549275"/>
          </a:xfrm>
        </p:grpSpPr>
        <p:sp>
          <p:nvSpPr>
            <p:cNvPr id="80" name="object 80"/>
            <p:cNvSpPr/>
            <p:nvPr/>
          </p:nvSpPr>
          <p:spPr>
            <a:xfrm>
              <a:off x="6084570" y="2887217"/>
              <a:ext cx="35560" cy="71755"/>
            </a:xfrm>
            <a:custGeom>
              <a:avLst/>
              <a:gdLst/>
              <a:ahLst/>
              <a:cxnLst/>
              <a:rect l="l" t="t" r="r" b="b"/>
              <a:pathLst>
                <a:path w="35560" h="71755">
                  <a:moveTo>
                    <a:pt x="35051" y="71628"/>
                  </a:moveTo>
                  <a:lnTo>
                    <a:pt x="11683" y="0"/>
                  </a:lnTo>
                  <a:lnTo>
                    <a:pt x="0" y="71628"/>
                  </a:lnTo>
                  <a:lnTo>
                    <a:pt x="11683" y="71628"/>
                  </a:lnTo>
                  <a:lnTo>
                    <a:pt x="35051" y="71628"/>
                  </a:lnTo>
                </a:path>
              </a:pathLst>
            </a:custGeom>
            <a:ln w="10667">
              <a:solidFill>
                <a:srgbClr val="000000"/>
              </a:solidFill>
            </a:ln>
          </p:spPr>
          <p:txBody>
            <a:bodyPr wrap="square" lIns="0" tIns="0" rIns="0" bIns="0" rtlCol="0"/>
            <a:lstStyle/>
            <a:p>
              <a:endParaRPr>
                <a:latin typeface="Museo 300" pitchFamily="50" charset="0"/>
              </a:endParaRPr>
            </a:p>
          </p:txBody>
        </p:sp>
        <p:sp>
          <p:nvSpPr>
            <p:cNvPr id="81" name="object 81"/>
            <p:cNvSpPr/>
            <p:nvPr/>
          </p:nvSpPr>
          <p:spPr>
            <a:xfrm>
              <a:off x="6084570" y="2887217"/>
              <a:ext cx="35560" cy="71755"/>
            </a:xfrm>
            <a:custGeom>
              <a:avLst/>
              <a:gdLst/>
              <a:ahLst/>
              <a:cxnLst/>
              <a:rect l="l" t="t" r="r" b="b"/>
              <a:pathLst>
                <a:path w="35560" h="71755">
                  <a:moveTo>
                    <a:pt x="11175" y="0"/>
                  </a:moveTo>
                  <a:lnTo>
                    <a:pt x="0" y="71628"/>
                  </a:lnTo>
                  <a:lnTo>
                    <a:pt x="35051" y="71628"/>
                  </a:lnTo>
                  <a:lnTo>
                    <a:pt x="11175" y="0"/>
                  </a:lnTo>
                  <a:close/>
                </a:path>
              </a:pathLst>
            </a:custGeom>
            <a:solidFill>
              <a:srgbClr val="000000"/>
            </a:solidFill>
          </p:spPr>
          <p:txBody>
            <a:bodyPr wrap="square" lIns="0" tIns="0" rIns="0" bIns="0" rtlCol="0"/>
            <a:lstStyle/>
            <a:p>
              <a:endParaRPr>
                <a:latin typeface="Museo 300" pitchFamily="50" charset="0"/>
              </a:endParaRPr>
            </a:p>
          </p:txBody>
        </p:sp>
        <p:sp>
          <p:nvSpPr>
            <p:cNvPr id="82" name="object 82"/>
            <p:cNvSpPr/>
            <p:nvPr/>
          </p:nvSpPr>
          <p:spPr>
            <a:xfrm>
              <a:off x="6084570" y="2887217"/>
              <a:ext cx="35560" cy="71755"/>
            </a:xfrm>
            <a:custGeom>
              <a:avLst/>
              <a:gdLst/>
              <a:ahLst/>
              <a:cxnLst/>
              <a:rect l="l" t="t" r="r" b="b"/>
              <a:pathLst>
                <a:path w="35560" h="71755">
                  <a:moveTo>
                    <a:pt x="35051" y="71628"/>
                  </a:moveTo>
                  <a:lnTo>
                    <a:pt x="11175" y="0"/>
                  </a:lnTo>
                  <a:lnTo>
                    <a:pt x="0" y="71628"/>
                  </a:lnTo>
                  <a:lnTo>
                    <a:pt x="11175" y="71628"/>
                  </a:lnTo>
                  <a:lnTo>
                    <a:pt x="35051" y="71628"/>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83" name="object 83"/>
            <p:cNvSpPr/>
            <p:nvPr/>
          </p:nvSpPr>
          <p:spPr>
            <a:xfrm>
              <a:off x="5583174" y="2958845"/>
              <a:ext cx="512445" cy="466725"/>
            </a:xfrm>
            <a:custGeom>
              <a:avLst/>
              <a:gdLst/>
              <a:ahLst/>
              <a:cxnLst/>
              <a:rect l="l" t="t" r="r" b="b"/>
              <a:pathLst>
                <a:path w="512445" h="466725">
                  <a:moveTo>
                    <a:pt x="512063" y="0"/>
                  </a:moveTo>
                  <a:lnTo>
                    <a:pt x="512063" y="338327"/>
                  </a:lnTo>
                </a:path>
                <a:path w="512445" h="466725">
                  <a:moveTo>
                    <a:pt x="0" y="466343"/>
                  </a:moveTo>
                  <a:lnTo>
                    <a:pt x="68579" y="454659"/>
                  </a:lnTo>
                  <a:lnTo>
                    <a:pt x="0" y="431291"/>
                  </a:lnTo>
                  <a:lnTo>
                    <a:pt x="0" y="454659"/>
                  </a:lnTo>
                  <a:lnTo>
                    <a:pt x="0" y="466343"/>
                  </a:lnTo>
                </a:path>
              </a:pathLst>
            </a:custGeom>
            <a:ln w="10668">
              <a:solidFill>
                <a:srgbClr val="000000"/>
              </a:solidFill>
            </a:ln>
          </p:spPr>
          <p:txBody>
            <a:bodyPr wrap="square" lIns="0" tIns="0" rIns="0" bIns="0" rtlCol="0"/>
            <a:lstStyle/>
            <a:p>
              <a:endParaRPr>
                <a:latin typeface="Museo 300" pitchFamily="50" charset="0"/>
              </a:endParaRPr>
            </a:p>
          </p:txBody>
        </p:sp>
        <p:sp>
          <p:nvSpPr>
            <p:cNvPr id="84" name="object 84"/>
            <p:cNvSpPr/>
            <p:nvPr/>
          </p:nvSpPr>
          <p:spPr>
            <a:xfrm>
              <a:off x="5583174" y="3390137"/>
              <a:ext cx="68580" cy="35560"/>
            </a:xfrm>
            <a:custGeom>
              <a:avLst/>
              <a:gdLst/>
              <a:ahLst/>
              <a:cxnLst/>
              <a:rect l="l" t="t" r="r" b="b"/>
              <a:pathLst>
                <a:path w="68579" h="35560">
                  <a:moveTo>
                    <a:pt x="0" y="0"/>
                  </a:moveTo>
                  <a:lnTo>
                    <a:pt x="0" y="35051"/>
                  </a:lnTo>
                  <a:lnTo>
                    <a:pt x="68579" y="23875"/>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85" name="object 85"/>
            <p:cNvSpPr/>
            <p:nvPr/>
          </p:nvSpPr>
          <p:spPr>
            <a:xfrm>
              <a:off x="5583174" y="3390137"/>
              <a:ext cx="68580" cy="35560"/>
            </a:xfrm>
            <a:custGeom>
              <a:avLst/>
              <a:gdLst/>
              <a:ahLst/>
              <a:cxnLst/>
              <a:rect l="l" t="t" r="r" b="b"/>
              <a:pathLst>
                <a:path w="68579" h="35560">
                  <a:moveTo>
                    <a:pt x="0" y="35051"/>
                  </a:moveTo>
                  <a:lnTo>
                    <a:pt x="68579" y="23875"/>
                  </a:lnTo>
                  <a:lnTo>
                    <a:pt x="0" y="0"/>
                  </a:lnTo>
                  <a:lnTo>
                    <a:pt x="0" y="23875"/>
                  </a:lnTo>
                  <a:lnTo>
                    <a:pt x="0" y="35051"/>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86" name="object 86"/>
            <p:cNvSpPr/>
            <p:nvPr/>
          </p:nvSpPr>
          <p:spPr>
            <a:xfrm>
              <a:off x="5173218" y="3414521"/>
              <a:ext cx="410209" cy="0"/>
            </a:xfrm>
            <a:custGeom>
              <a:avLst/>
              <a:gdLst/>
              <a:ahLst/>
              <a:cxnLst/>
              <a:rect l="l" t="t" r="r" b="b"/>
              <a:pathLst>
                <a:path w="410210">
                  <a:moveTo>
                    <a:pt x="409956" y="0"/>
                  </a:moveTo>
                  <a:lnTo>
                    <a:pt x="0" y="0"/>
                  </a:lnTo>
                </a:path>
              </a:pathLst>
            </a:custGeom>
            <a:ln w="10668">
              <a:solidFill>
                <a:srgbClr val="000000"/>
              </a:solidFill>
            </a:ln>
          </p:spPr>
          <p:txBody>
            <a:bodyPr wrap="square" lIns="0" tIns="0" rIns="0" bIns="0" rtlCol="0"/>
            <a:lstStyle/>
            <a:p>
              <a:endParaRPr>
                <a:latin typeface="Museo 300" pitchFamily="50" charset="0"/>
              </a:endParaRPr>
            </a:p>
          </p:txBody>
        </p:sp>
      </p:grpSp>
      <p:sp>
        <p:nvSpPr>
          <p:cNvPr id="87" name="object 87"/>
          <p:cNvSpPr txBox="1"/>
          <p:nvPr/>
        </p:nvSpPr>
        <p:spPr>
          <a:xfrm>
            <a:off x="7659284" y="4787520"/>
            <a:ext cx="1185333" cy="166071"/>
          </a:xfrm>
          <a:prstGeom prst="rect">
            <a:avLst/>
          </a:prstGeom>
          <a:ln w="10667">
            <a:solidFill>
              <a:srgbClr val="000000"/>
            </a:solidFill>
          </a:ln>
        </p:spPr>
        <p:txBody>
          <a:bodyPr vert="horz" wrap="square" lIns="0" tIns="42545" rIns="0" bIns="0" rtlCol="0">
            <a:spAutoFit/>
          </a:bodyPr>
          <a:lstStyle/>
          <a:p>
            <a:pPr marR="32384" algn="ctr">
              <a:lnSpc>
                <a:spcPct val="100000"/>
              </a:lnSpc>
              <a:spcBef>
                <a:spcPts val="335"/>
              </a:spcBef>
            </a:pPr>
            <a:r>
              <a:rPr sz="800" dirty="0">
                <a:latin typeface="Museo 300" pitchFamily="50" charset="0"/>
                <a:cs typeface="Carlito"/>
              </a:rPr>
              <a:t>TEMP</a:t>
            </a:r>
            <a:endParaRPr sz="800">
              <a:latin typeface="Museo 300" pitchFamily="50" charset="0"/>
              <a:cs typeface="Carlito"/>
            </a:endParaRPr>
          </a:p>
        </p:txBody>
      </p:sp>
      <p:grpSp>
        <p:nvGrpSpPr>
          <p:cNvPr id="88" name="object 88"/>
          <p:cNvGrpSpPr/>
          <p:nvPr/>
        </p:nvGrpSpPr>
        <p:grpSpPr>
          <a:xfrm>
            <a:off x="7030296" y="4361497"/>
            <a:ext cx="636693" cy="561340"/>
            <a:chOff x="5180012" y="4960556"/>
            <a:chExt cx="477520" cy="561340"/>
          </a:xfrm>
        </p:grpSpPr>
        <p:sp>
          <p:nvSpPr>
            <p:cNvPr id="89" name="object 89"/>
            <p:cNvSpPr/>
            <p:nvPr/>
          </p:nvSpPr>
          <p:spPr>
            <a:xfrm>
              <a:off x="5583174" y="4965954"/>
              <a:ext cx="68580" cy="35560"/>
            </a:xfrm>
            <a:custGeom>
              <a:avLst/>
              <a:gdLst/>
              <a:ahLst/>
              <a:cxnLst/>
              <a:rect l="l" t="t" r="r" b="b"/>
              <a:pathLst>
                <a:path w="68579" h="35560">
                  <a:moveTo>
                    <a:pt x="0" y="35052"/>
                  </a:moveTo>
                  <a:lnTo>
                    <a:pt x="68579" y="11684"/>
                  </a:lnTo>
                  <a:lnTo>
                    <a:pt x="0" y="0"/>
                  </a:lnTo>
                  <a:lnTo>
                    <a:pt x="0" y="11684"/>
                  </a:lnTo>
                  <a:lnTo>
                    <a:pt x="0" y="35052"/>
                  </a:lnTo>
                </a:path>
              </a:pathLst>
            </a:custGeom>
            <a:ln w="10667">
              <a:solidFill>
                <a:srgbClr val="000000"/>
              </a:solidFill>
            </a:ln>
          </p:spPr>
          <p:txBody>
            <a:bodyPr wrap="square" lIns="0" tIns="0" rIns="0" bIns="0" rtlCol="0"/>
            <a:lstStyle/>
            <a:p>
              <a:endParaRPr>
                <a:latin typeface="Museo 300" pitchFamily="50" charset="0"/>
              </a:endParaRPr>
            </a:p>
          </p:txBody>
        </p:sp>
        <p:sp>
          <p:nvSpPr>
            <p:cNvPr id="90" name="object 90"/>
            <p:cNvSpPr/>
            <p:nvPr/>
          </p:nvSpPr>
          <p:spPr>
            <a:xfrm>
              <a:off x="5583174" y="4965954"/>
              <a:ext cx="68580" cy="35560"/>
            </a:xfrm>
            <a:custGeom>
              <a:avLst/>
              <a:gdLst/>
              <a:ahLst/>
              <a:cxnLst/>
              <a:rect l="l" t="t" r="r" b="b"/>
              <a:pathLst>
                <a:path w="68579" h="35560">
                  <a:moveTo>
                    <a:pt x="0" y="0"/>
                  </a:moveTo>
                  <a:lnTo>
                    <a:pt x="0" y="35052"/>
                  </a:lnTo>
                  <a:lnTo>
                    <a:pt x="68579" y="11176"/>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91" name="object 91"/>
            <p:cNvSpPr/>
            <p:nvPr/>
          </p:nvSpPr>
          <p:spPr>
            <a:xfrm>
              <a:off x="5583174" y="4965954"/>
              <a:ext cx="68580" cy="35560"/>
            </a:xfrm>
            <a:custGeom>
              <a:avLst/>
              <a:gdLst/>
              <a:ahLst/>
              <a:cxnLst/>
              <a:rect l="l" t="t" r="r" b="b"/>
              <a:pathLst>
                <a:path w="68579" h="35560">
                  <a:moveTo>
                    <a:pt x="0" y="35052"/>
                  </a:moveTo>
                  <a:lnTo>
                    <a:pt x="68579" y="11176"/>
                  </a:lnTo>
                  <a:lnTo>
                    <a:pt x="0" y="0"/>
                  </a:lnTo>
                  <a:lnTo>
                    <a:pt x="0" y="11176"/>
                  </a:lnTo>
                  <a:lnTo>
                    <a:pt x="0" y="35052"/>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92" name="object 92"/>
            <p:cNvSpPr/>
            <p:nvPr/>
          </p:nvSpPr>
          <p:spPr>
            <a:xfrm>
              <a:off x="5185410" y="4965954"/>
              <a:ext cx="70485" cy="35560"/>
            </a:xfrm>
            <a:custGeom>
              <a:avLst/>
              <a:gdLst/>
              <a:ahLst/>
              <a:cxnLst/>
              <a:rect l="l" t="t" r="r" b="b"/>
              <a:pathLst>
                <a:path w="70485" h="35560">
                  <a:moveTo>
                    <a:pt x="70103" y="0"/>
                  </a:moveTo>
                  <a:lnTo>
                    <a:pt x="0" y="11684"/>
                  </a:lnTo>
                  <a:lnTo>
                    <a:pt x="70103" y="35052"/>
                  </a:lnTo>
                  <a:lnTo>
                    <a:pt x="70103" y="11684"/>
                  </a:lnTo>
                  <a:lnTo>
                    <a:pt x="70103" y="0"/>
                  </a:lnTo>
                </a:path>
              </a:pathLst>
            </a:custGeom>
            <a:ln w="10667">
              <a:solidFill>
                <a:srgbClr val="000000"/>
              </a:solidFill>
            </a:ln>
          </p:spPr>
          <p:txBody>
            <a:bodyPr wrap="square" lIns="0" tIns="0" rIns="0" bIns="0" rtlCol="0"/>
            <a:lstStyle/>
            <a:p>
              <a:endParaRPr>
                <a:latin typeface="Museo 300" pitchFamily="50" charset="0"/>
              </a:endParaRPr>
            </a:p>
          </p:txBody>
        </p:sp>
        <p:sp>
          <p:nvSpPr>
            <p:cNvPr id="93" name="object 93"/>
            <p:cNvSpPr/>
            <p:nvPr/>
          </p:nvSpPr>
          <p:spPr>
            <a:xfrm>
              <a:off x="5185410" y="4965954"/>
              <a:ext cx="70485" cy="35560"/>
            </a:xfrm>
            <a:custGeom>
              <a:avLst/>
              <a:gdLst/>
              <a:ahLst/>
              <a:cxnLst/>
              <a:rect l="l" t="t" r="r" b="b"/>
              <a:pathLst>
                <a:path w="70485" h="35560">
                  <a:moveTo>
                    <a:pt x="70103" y="0"/>
                  </a:moveTo>
                  <a:lnTo>
                    <a:pt x="0" y="11176"/>
                  </a:lnTo>
                  <a:lnTo>
                    <a:pt x="70103" y="35052"/>
                  </a:lnTo>
                  <a:lnTo>
                    <a:pt x="70103" y="0"/>
                  </a:lnTo>
                  <a:close/>
                </a:path>
              </a:pathLst>
            </a:custGeom>
            <a:solidFill>
              <a:srgbClr val="000000"/>
            </a:solidFill>
          </p:spPr>
          <p:txBody>
            <a:bodyPr wrap="square" lIns="0" tIns="0" rIns="0" bIns="0" rtlCol="0"/>
            <a:lstStyle/>
            <a:p>
              <a:endParaRPr>
                <a:latin typeface="Museo 300" pitchFamily="50" charset="0"/>
              </a:endParaRPr>
            </a:p>
          </p:txBody>
        </p:sp>
        <p:sp>
          <p:nvSpPr>
            <p:cNvPr id="94" name="object 94"/>
            <p:cNvSpPr/>
            <p:nvPr/>
          </p:nvSpPr>
          <p:spPr>
            <a:xfrm>
              <a:off x="5185410" y="4965954"/>
              <a:ext cx="70485" cy="35560"/>
            </a:xfrm>
            <a:custGeom>
              <a:avLst/>
              <a:gdLst/>
              <a:ahLst/>
              <a:cxnLst/>
              <a:rect l="l" t="t" r="r" b="b"/>
              <a:pathLst>
                <a:path w="70485" h="35560">
                  <a:moveTo>
                    <a:pt x="70103" y="0"/>
                  </a:moveTo>
                  <a:lnTo>
                    <a:pt x="0" y="11176"/>
                  </a:lnTo>
                  <a:lnTo>
                    <a:pt x="70103" y="35052"/>
                  </a:lnTo>
                  <a:lnTo>
                    <a:pt x="70103" y="11176"/>
                  </a:lnTo>
                  <a:lnTo>
                    <a:pt x="70103"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95" name="object 95"/>
            <p:cNvSpPr/>
            <p:nvPr/>
          </p:nvSpPr>
          <p:spPr>
            <a:xfrm>
              <a:off x="5255514" y="4978146"/>
              <a:ext cx="396240" cy="538480"/>
            </a:xfrm>
            <a:custGeom>
              <a:avLst/>
              <a:gdLst/>
              <a:ahLst/>
              <a:cxnLst/>
              <a:rect l="l" t="t" r="r" b="b"/>
              <a:pathLst>
                <a:path w="396239" h="538479">
                  <a:moveTo>
                    <a:pt x="0" y="0"/>
                  </a:moveTo>
                  <a:lnTo>
                    <a:pt x="313944" y="0"/>
                  </a:lnTo>
                </a:path>
                <a:path w="396239" h="538479">
                  <a:moveTo>
                    <a:pt x="313944" y="537971"/>
                  </a:moveTo>
                  <a:lnTo>
                    <a:pt x="396239" y="526287"/>
                  </a:lnTo>
                  <a:lnTo>
                    <a:pt x="313944" y="502919"/>
                  </a:lnTo>
                  <a:lnTo>
                    <a:pt x="313944" y="526287"/>
                  </a:lnTo>
                  <a:lnTo>
                    <a:pt x="313944" y="537971"/>
                  </a:lnTo>
                </a:path>
              </a:pathLst>
            </a:custGeom>
            <a:ln w="10668">
              <a:solidFill>
                <a:srgbClr val="000000"/>
              </a:solidFill>
            </a:ln>
          </p:spPr>
          <p:txBody>
            <a:bodyPr wrap="square" lIns="0" tIns="0" rIns="0" bIns="0" rtlCol="0"/>
            <a:lstStyle/>
            <a:p>
              <a:endParaRPr>
                <a:latin typeface="Museo 300" pitchFamily="50" charset="0"/>
              </a:endParaRPr>
            </a:p>
          </p:txBody>
        </p:sp>
        <p:sp>
          <p:nvSpPr>
            <p:cNvPr id="96" name="object 96"/>
            <p:cNvSpPr/>
            <p:nvPr/>
          </p:nvSpPr>
          <p:spPr>
            <a:xfrm>
              <a:off x="5569458" y="5481066"/>
              <a:ext cx="82550" cy="35560"/>
            </a:xfrm>
            <a:custGeom>
              <a:avLst/>
              <a:gdLst/>
              <a:ahLst/>
              <a:cxnLst/>
              <a:rect l="l" t="t" r="r" b="b"/>
              <a:pathLst>
                <a:path w="82550" h="35560">
                  <a:moveTo>
                    <a:pt x="0" y="0"/>
                  </a:moveTo>
                  <a:lnTo>
                    <a:pt x="0" y="35052"/>
                  </a:lnTo>
                  <a:lnTo>
                    <a:pt x="82295" y="23876"/>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97" name="object 97"/>
            <p:cNvSpPr/>
            <p:nvPr/>
          </p:nvSpPr>
          <p:spPr>
            <a:xfrm>
              <a:off x="5569458" y="5481066"/>
              <a:ext cx="82550" cy="35560"/>
            </a:xfrm>
            <a:custGeom>
              <a:avLst/>
              <a:gdLst/>
              <a:ahLst/>
              <a:cxnLst/>
              <a:rect l="l" t="t" r="r" b="b"/>
              <a:pathLst>
                <a:path w="82550" h="35560">
                  <a:moveTo>
                    <a:pt x="0" y="35052"/>
                  </a:moveTo>
                  <a:lnTo>
                    <a:pt x="82295" y="23876"/>
                  </a:lnTo>
                  <a:lnTo>
                    <a:pt x="0" y="0"/>
                  </a:lnTo>
                  <a:lnTo>
                    <a:pt x="0" y="23876"/>
                  </a:lnTo>
                  <a:lnTo>
                    <a:pt x="0" y="35052"/>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98" name="object 98"/>
            <p:cNvSpPr/>
            <p:nvPr/>
          </p:nvSpPr>
          <p:spPr>
            <a:xfrm>
              <a:off x="5185410" y="5481066"/>
              <a:ext cx="70485" cy="35560"/>
            </a:xfrm>
            <a:custGeom>
              <a:avLst/>
              <a:gdLst/>
              <a:ahLst/>
              <a:cxnLst/>
              <a:rect l="l" t="t" r="r" b="b"/>
              <a:pathLst>
                <a:path w="70485" h="35560">
                  <a:moveTo>
                    <a:pt x="70103" y="0"/>
                  </a:moveTo>
                  <a:lnTo>
                    <a:pt x="0" y="23368"/>
                  </a:lnTo>
                  <a:lnTo>
                    <a:pt x="70103" y="35052"/>
                  </a:lnTo>
                  <a:lnTo>
                    <a:pt x="70103" y="23368"/>
                  </a:lnTo>
                  <a:lnTo>
                    <a:pt x="70103" y="0"/>
                  </a:lnTo>
                </a:path>
              </a:pathLst>
            </a:custGeom>
            <a:ln w="10668">
              <a:solidFill>
                <a:srgbClr val="000000"/>
              </a:solidFill>
            </a:ln>
          </p:spPr>
          <p:txBody>
            <a:bodyPr wrap="square" lIns="0" tIns="0" rIns="0" bIns="0" rtlCol="0"/>
            <a:lstStyle/>
            <a:p>
              <a:endParaRPr>
                <a:latin typeface="Museo 300" pitchFamily="50" charset="0"/>
              </a:endParaRPr>
            </a:p>
          </p:txBody>
        </p:sp>
        <p:sp>
          <p:nvSpPr>
            <p:cNvPr id="99" name="object 99"/>
            <p:cNvSpPr/>
            <p:nvPr/>
          </p:nvSpPr>
          <p:spPr>
            <a:xfrm>
              <a:off x="5185410" y="5481066"/>
              <a:ext cx="70485" cy="35560"/>
            </a:xfrm>
            <a:custGeom>
              <a:avLst/>
              <a:gdLst/>
              <a:ahLst/>
              <a:cxnLst/>
              <a:rect l="l" t="t" r="r" b="b"/>
              <a:pathLst>
                <a:path w="70485" h="35560">
                  <a:moveTo>
                    <a:pt x="70103" y="0"/>
                  </a:moveTo>
                  <a:lnTo>
                    <a:pt x="0" y="23876"/>
                  </a:lnTo>
                  <a:lnTo>
                    <a:pt x="70103" y="35052"/>
                  </a:lnTo>
                  <a:lnTo>
                    <a:pt x="70103" y="0"/>
                  </a:lnTo>
                  <a:close/>
                </a:path>
              </a:pathLst>
            </a:custGeom>
            <a:solidFill>
              <a:srgbClr val="000000"/>
            </a:solidFill>
          </p:spPr>
          <p:txBody>
            <a:bodyPr wrap="square" lIns="0" tIns="0" rIns="0" bIns="0" rtlCol="0"/>
            <a:lstStyle/>
            <a:p>
              <a:endParaRPr>
                <a:latin typeface="Museo 300" pitchFamily="50" charset="0"/>
              </a:endParaRPr>
            </a:p>
          </p:txBody>
        </p:sp>
        <p:sp>
          <p:nvSpPr>
            <p:cNvPr id="100" name="object 100"/>
            <p:cNvSpPr/>
            <p:nvPr/>
          </p:nvSpPr>
          <p:spPr>
            <a:xfrm>
              <a:off x="5185410" y="5481066"/>
              <a:ext cx="70485" cy="35560"/>
            </a:xfrm>
            <a:custGeom>
              <a:avLst/>
              <a:gdLst/>
              <a:ahLst/>
              <a:cxnLst/>
              <a:rect l="l" t="t" r="r" b="b"/>
              <a:pathLst>
                <a:path w="70485" h="35560">
                  <a:moveTo>
                    <a:pt x="70103" y="0"/>
                  </a:moveTo>
                  <a:lnTo>
                    <a:pt x="0" y="23876"/>
                  </a:lnTo>
                  <a:lnTo>
                    <a:pt x="70103" y="35052"/>
                  </a:lnTo>
                  <a:lnTo>
                    <a:pt x="70103" y="23876"/>
                  </a:lnTo>
                  <a:lnTo>
                    <a:pt x="70103"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01" name="object 101"/>
            <p:cNvSpPr/>
            <p:nvPr/>
          </p:nvSpPr>
          <p:spPr>
            <a:xfrm>
              <a:off x="5255514" y="5503926"/>
              <a:ext cx="314325" cy="0"/>
            </a:xfrm>
            <a:custGeom>
              <a:avLst/>
              <a:gdLst/>
              <a:ahLst/>
              <a:cxnLst/>
              <a:rect l="l" t="t" r="r" b="b"/>
              <a:pathLst>
                <a:path w="314325">
                  <a:moveTo>
                    <a:pt x="0" y="0"/>
                  </a:moveTo>
                  <a:lnTo>
                    <a:pt x="313944" y="0"/>
                  </a:lnTo>
                </a:path>
              </a:pathLst>
            </a:custGeom>
            <a:ln w="10668">
              <a:solidFill>
                <a:srgbClr val="000000"/>
              </a:solidFill>
            </a:ln>
          </p:spPr>
          <p:txBody>
            <a:bodyPr wrap="square" lIns="0" tIns="0" rIns="0" bIns="0" rtlCol="0"/>
            <a:lstStyle/>
            <a:p>
              <a:endParaRPr>
                <a:latin typeface="Museo 300" pitchFamily="50" charset="0"/>
              </a:endParaRPr>
            </a:p>
          </p:txBody>
        </p:sp>
      </p:grpSp>
      <p:sp>
        <p:nvSpPr>
          <p:cNvPr id="102" name="object 102"/>
          <p:cNvSpPr txBox="1"/>
          <p:nvPr/>
        </p:nvSpPr>
        <p:spPr>
          <a:xfrm>
            <a:off x="7659284" y="3304668"/>
            <a:ext cx="1185333" cy="164148"/>
          </a:xfrm>
          <a:prstGeom prst="rect">
            <a:avLst/>
          </a:prstGeom>
          <a:ln w="10667">
            <a:solidFill>
              <a:srgbClr val="000000"/>
            </a:solidFill>
          </a:ln>
        </p:spPr>
        <p:txBody>
          <a:bodyPr vert="horz" wrap="square" lIns="0" tIns="40640" rIns="0" bIns="0" rtlCol="0">
            <a:spAutoFit/>
          </a:bodyPr>
          <a:lstStyle/>
          <a:p>
            <a:pPr marR="1270" algn="ctr">
              <a:lnSpc>
                <a:spcPct val="100000"/>
              </a:lnSpc>
              <a:spcBef>
                <a:spcPts val="320"/>
              </a:spcBef>
            </a:pPr>
            <a:r>
              <a:rPr sz="800" spc="-5" dirty="0">
                <a:latin typeface="Museo 300" pitchFamily="50" charset="0"/>
                <a:cs typeface="Carlito"/>
              </a:rPr>
              <a:t>R0</a:t>
            </a:r>
            <a:endParaRPr sz="800">
              <a:latin typeface="Museo 300" pitchFamily="50" charset="0"/>
              <a:cs typeface="Carlito"/>
            </a:endParaRPr>
          </a:p>
        </p:txBody>
      </p:sp>
      <p:grpSp>
        <p:nvGrpSpPr>
          <p:cNvPr id="103" name="object 103"/>
          <p:cNvGrpSpPr/>
          <p:nvPr/>
        </p:nvGrpSpPr>
        <p:grpSpPr>
          <a:xfrm>
            <a:off x="4559214" y="3404425"/>
            <a:ext cx="3107267" cy="1285240"/>
            <a:chOff x="3326701" y="4003484"/>
            <a:chExt cx="2330450" cy="1285240"/>
          </a:xfrm>
        </p:grpSpPr>
        <p:sp>
          <p:nvSpPr>
            <p:cNvPr id="104" name="object 104"/>
            <p:cNvSpPr/>
            <p:nvPr/>
          </p:nvSpPr>
          <p:spPr>
            <a:xfrm>
              <a:off x="3327654" y="5153405"/>
              <a:ext cx="24765" cy="24765"/>
            </a:xfrm>
            <a:custGeom>
              <a:avLst/>
              <a:gdLst/>
              <a:ahLst/>
              <a:cxnLst/>
              <a:rect l="l" t="t" r="r" b="b"/>
              <a:pathLst>
                <a:path w="24764" h="24764">
                  <a:moveTo>
                    <a:pt x="11430" y="0"/>
                  </a:moveTo>
                  <a:lnTo>
                    <a:pt x="0" y="0"/>
                  </a:lnTo>
                  <a:lnTo>
                    <a:pt x="0" y="24384"/>
                  </a:lnTo>
                  <a:lnTo>
                    <a:pt x="24384" y="24384"/>
                  </a:lnTo>
                  <a:lnTo>
                    <a:pt x="24384" y="11430"/>
                  </a:lnTo>
                  <a:lnTo>
                    <a:pt x="11430" y="11430"/>
                  </a:lnTo>
                  <a:lnTo>
                    <a:pt x="11430" y="0"/>
                  </a:lnTo>
                  <a:close/>
                </a:path>
                <a:path w="24764" h="24764">
                  <a:moveTo>
                    <a:pt x="24384" y="0"/>
                  </a:moveTo>
                  <a:lnTo>
                    <a:pt x="11430" y="0"/>
                  </a:lnTo>
                  <a:lnTo>
                    <a:pt x="11430" y="11430"/>
                  </a:lnTo>
                  <a:lnTo>
                    <a:pt x="24384" y="11430"/>
                  </a:lnTo>
                  <a:lnTo>
                    <a:pt x="24384" y="0"/>
                  </a:lnTo>
                  <a:close/>
                </a:path>
              </a:pathLst>
            </a:custGeom>
            <a:solidFill>
              <a:srgbClr val="00FFFF"/>
            </a:solidFill>
          </p:spPr>
          <p:txBody>
            <a:bodyPr wrap="square" lIns="0" tIns="0" rIns="0" bIns="0" rtlCol="0"/>
            <a:lstStyle/>
            <a:p>
              <a:endParaRPr>
                <a:latin typeface="Museo 300" pitchFamily="50" charset="0"/>
              </a:endParaRPr>
            </a:p>
          </p:txBody>
        </p:sp>
        <p:sp>
          <p:nvSpPr>
            <p:cNvPr id="105" name="object 105"/>
            <p:cNvSpPr/>
            <p:nvPr/>
          </p:nvSpPr>
          <p:spPr>
            <a:xfrm>
              <a:off x="3327654" y="5153405"/>
              <a:ext cx="24765" cy="24765"/>
            </a:xfrm>
            <a:custGeom>
              <a:avLst/>
              <a:gdLst/>
              <a:ahLst/>
              <a:cxnLst/>
              <a:rect l="l" t="t" r="r" b="b"/>
              <a:pathLst>
                <a:path w="24764" h="24764">
                  <a:moveTo>
                    <a:pt x="11430" y="11430"/>
                  </a:moveTo>
                  <a:lnTo>
                    <a:pt x="11430" y="0"/>
                  </a:lnTo>
                  <a:lnTo>
                    <a:pt x="0" y="0"/>
                  </a:lnTo>
                  <a:lnTo>
                    <a:pt x="0" y="11430"/>
                  </a:lnTo>
                  <a:lnTo>
                    <a:pt x="0" y="24384"/>
                  </a:lnTo>
                  <a:lnTo>
                    <a:pt x="11430" y="24384"/>
                  </a:lnTo>
                  <a:lnTo>
                    <a:pt x="24384" y="24384"/>
                  </a:lnTo>
                  <a:lnTo>
                    <a:pt x="24384" y="11430"/>
                  </a:lnTo>
                  <a:lnTo>
                    <a:pt x="24384" y="0"/>
                  </a:lnTo>
                  <a:lnTo>
                    <a:pt x="11430" y="0"/>
                  </a:lnTo>
                  <a:lnTo>
                    <a:pt x="11430" y="11430"/>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106" name="object 106"/>
            <p:cNvSpPr/>
            <p:nvPr/>
          </p:nvSpPr>
          <p:spPr>
            <a:xfrm>
              <a:off x="3339846" y="5165597"/>
              <a:ext cx="12700" cy="12700"/>
            </a:xfrm>
            <a:custGeom>
              <a:avLst/>
              <a:gdLst/>
              <a:ahLst/>
              <a:cxnLst/>
              <a:rect l="l" t="t" r="r" b="b"/>
              <a:pathLst>
                <a:path w="12700" h="12700">
                  <a:moveTo>
                    <a:pt x="0" y="0"/>
                  </a:moveTo>
                  <a:lnTo>
                    <a:pt x="0" y="12191"/>
                  </a:lnTo>
                  <a:lnTo>
                    <a:pt x="12191" y="0"/>
                  </a:lnTo>
                  <a:lnTo>
                    <a:pt x="0" y="0"/>
                  </a:lnTo>
                </a:path>
              </a:pathLst>
            </a:custGeom>
            <a:ln w="10668">
              <a:solidFill>
                <a:srgbClr val="00FFFF"/>
              </a:solidFill>
            </a:ln>
          </p:spPr>
          <p:txBody>
            <a:bodyPr wrap="square" lIns="0" tIns="0" rIns="0" bIns="0" rtlCol="0"/>
            <a:lstStyle/>
            <a:p>
              <a:endParaRPr>
                <a:latin typeface="Museo 300" pitchFamily="50" charset="0"/>
              </a:endParaRPr>
            </a:p>
          </p:txBody>
        </p:sp>
        <p:sp>
          <p:nvSpPr>
            <p:cNvPr id="107" name="object 107"/>
            <p:cNvSpPr/>
            <p:nvPr/>
          </p:nvSpPr>
          <p:spPr>
            <a:xfrm>
              <a:off x="3327654" y="5212841"/>
              <a:ext cx="24765" cy="21590"/>
            </a:xfrm>
            <a:custGeom>
              <a:avLst/>
              <a:gdLst/>
              <a:ahLst/>
              <a:cxnLst/>
              <a:rect l="l" t="t" r="r" b="b"/>
              <a:pathLst>
                <a:path w="24764" h="21589">
                  <a:moveTo>
                    <a:pt x="11430" y="0"/>
                  </a:moveTo>
                  <a:lnTo>
                    <a:pt x="0" y="0"/>
                  </a:lnTo>
                  <a:lnTo>
                    <a:pt x="0" y="21335"/>
                  </a:lnTo>
                  <a:lnTo>
                    <a:pt x="24384" y="21335"/>
                  </a:lnTo>
                  <a:lnTo>
                    <a:pt x="24384" y="10667"/>
                  </a:lnTo>
                  <a:lnTo>
                    <a:pt x="11430" y="10667"/>
                  </a:lnTo>
                  <a:lnTo>
                    <a:pt x="11430" y="0"/>
                  </a:lnTo>
                  <a:close/>
                </a:path>
                <a:path w="24764" h="21589">
                  <a:moveTo>
                    <a:pt x="24384" y="0"/>
                  </a:moveTo>
                  <a:lnTo>
                    <a:pt x="11430" y="0"/>
                  </a:lnTo>
                  <a:lnTo>
                    <a:pt x="11430" y="10667"/>
                  </a:lnTo>
                  <a:lnTo>
                    <a:pt x="24384" y="10667"/>
                  </a:lnTo>
                  <a:lnTo>
                    <a:pt x="24384" y="0"/>
                  </a:lnTo>
                  <a:close/>
                </a:path>
              </a:pathLst>
            </a:custGeom>
            <a:solidFill>
              <a:srgbClr val="00FFFF"/>
            </a:solidFill>
          </p:spPr>
          <p:txBody>
            <a:bodyPr wrap="square" lIns="0" tIns="0" rIns="0" bIns="0" rtlCol="0"/>
            <a:lstStyle/>
            <a:p>
              <a:endParaRPr>
                <a:latin typeface="Museo 300" pitchFamily="50" charset="0"/>
              </a:endParaRPr>
            </a:p>
          </p:txBody>
        </p:sp>
        <p:sp>
          <p:nvSpPr>
            <p:cNvPr id="108" name="object 108"/>
            <p:cNvSpPr/>
            <p:nvPr/>
          </p:nvSpPr>
          <p:spPr>
            <a:xfrm>
              <a:off x="3327654" y="5212841"/>
              <a:ext cx="24765" cy="21590"/>
            </a:xfrm>
            <a:custGeom>
              <a:avLst/>
              <a:gdLst/>
              <a:ahLst/>
              <a:cxnLst/>
              <a:rect l="l" t="t" r="r" b="b"/>
              <a:pathLst>
                <a:path w="24764" h="21589">
                  <a:moveTo>
                    <a:pt x="11430" y="10667"/>
                  </a:moveTo>
                  <a:lnTo>
                    <a:pt x="11430" y="0"/>
                  </a:lnTo>
                  <a:lnTo>
                    <a:pt x="0" y="0"/>
                  </a:lnTo>
                  <a:lnTo>
                    <a:pt x="0" y="10667"/>
                  </a:lnTo>
                  <a:lnTo>
                    <a:pt x="0" y="21335"/>
                  </a:lnTo>
                  <a:lnTo>
                    <a:pt x="11430" y="21335"/>
                  </a:lnTo>
                  <a:lnTo>
                    <a:pt x="24384" y="21335"/>
                  </a:lnTo>
                  <a:lnTo>
                    <a:pt x="24384" y="10667"/>
                  </a:lnTo>
                  <a:lnTo>
                    <a:pt x="24384" y="0"/>
                  </a:lnTo>
                  <a:lnTo>
                    <a:pt x="11430" y="0"/>
                  </a:lnTo>
                  <a:lnTo>
                    <a:pt x="11430" y="10667"/>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109" name="object 109"/>
            <p:cNvSpPr/>
            <p:nvPr/>
          </p:nvSpPr>
          <p:spPr>
            <a:xfrm>
              <a:off x="3339846" y="5212841"/>
              <a:ext cx="12700" cy="10795"/>
            </a:xfrm>
            <a:custGeom>
              <a:avLst/>
              <a:gdLst/>
              <a:ahLst/>
              <a:cxnLst/>
              <a:rect l="l" t="t" r="r" b="b"/>
              <a:pathLst>
                <a:path w="12700" h="10795">
                  <a:moveTo>
                    <a:pt x="0" y="0"/>
                  </a:moveTo>
                  <a:lnTo>
                    <a:pt x="0" y="10667"/>
                  </a:lnTo>
                  <a:lnTo>
                    <a:pt x="12191" y="0"/>
                  </a:lnTo>
                  <a:lnTo>
                    <a:pt x="0" y="0"/>
                  </a:lnTo>
                </a:path>
              </a:pathLst>
            </a:custGeom>
            <a:ln w="10668">
              <a:solidFill>
                <a:srgbClr val="00FFFF"/>
              </a:solidFill>
            </a:ln>
          </p:spPr>
          <p:txBody>
            <a:bodyPr wrap="square" lIns="0" tIns="0" rIns="0" bIns="0" rtlCol="0"/>
            <a:lstStyle/>
            <a:p>
              <a:endParaRPr>
                <a:latin typeface="Museo 300" pitchFamily="50" charset="0"/>
              </a:endParaRPr>
            </a:p>
          </p:txBody>
        </p:sp>
        <p:sp>
          <p:nvSpPr>
            <p:cNvPr id="110" name="object 110"/>
            <p:cNvSpPr/>
            <p:nvPr/>
          </p:nvSpPr>
          <p:spPr>
            <a:xfrm>
              <a:off x="3327654" y="5258561"/>
              <a:ext cx="24765" cy="24765"/>
            </a:xfrm>
            <a:custGeom>
              <a:avLst/>
              <a:gdLst/>
              <a:ahLst/>
              <a:cxnLst/>
              <a:rect l="l" t="t" r="r" b="b"/>
              <a:pathLst>
                <a:path w="24764" h="24764">
                  <a:moveTo>
                    <a:pt x="11430" y="0"/>
                  </a:moveTo>
                  <a:lnTo>
                    <a:pt x="0" y="0"/>
                  </a:lnTo>
                  <a:lnTo>
                    <a:pt x="0" y="24384"/>
                  </a:lnTo>
                  <a:lnTo>
                    <a:pt x="24384" y="24384"/>
                  </a:lnTo>
                  <a:lnTo>
                    <a:pt x="24384" y="11429"/>
                  </a:lnTo>
                  <a:lnTo>
                    <a:pt x="11430" y="11429"/>
                  </a:lnTo>
                  <a:lnTo>
                    <a:pt x="11430" y="0"/>
                  </a:lnTo>
                  <a:close/>
                </a:path>
                <a:path w="24764" h="24764">
                  <a:moveTo>
                    <a:pt x="24384" y="0"/>
                  </a:moveTo>
                  <a:lnTo>
                    <a:pt x="11430" y="0"/>
                  </a:lnTo>
                  <a:lnTo>
                    <a:pt x="11430" y="11429"/>
                  </a:lnTo>
                  <a:lnTo>
                    <a:pt x="24384" y="11429"/>
                  </a:lnTo>
                  <a:lnTo>
                    <a:pt x="24384" y="0"/>
                  </a:lnTo>
                  <a:close/>
                </a:path>
              </a:pathLst>
            </a:custGeom>
            <a:solidFill>
              <a:srgbClr val="00FFFF"/>
            </a:solidFill>
          </p:spPr>
          <p:txBody>
            <a:bodyPr wrap="square" lIns="0" tIns="0" rIns="0" bIns="0" rtlCol="0"/>
            <a:lstStyle/>
            <a:p>
              <a:endParaRPr>
                <a:latin typeface="Museo 300" pitchFamily="50" charset="0"/>
              </a:endParaRPr>
            </a:p>
          </p:txBody>
        </p:sp>
        <p:sp>
          <p:nvSpPr>
            <p:cNvPr id="111" name="object 111"/>
            <p:cNvSpPr/>
            <p:nvPr/>
          </p:nvSpPr>
          <p:spPr>
            <a:xfrm>
              <a:off x="3327654" y="5258561"/>
              <a:ext cx="24765" cy="24765"/>
            </a:xfrm>
            <a:custGeom>
              <a:avLst/>
              <a:gdLst/>
              <a:ahLst/>
              <a:cxnLst/>
              <a:rect l="l" t="t" r="r" b="b"/>
              <a:pathLst>
                <a:path w="24764" h="24764">
                  <a:moveTo>
                    <a:pt x="11430" y="11429"/>
                  </a:moveTo>
                  <a:lnTo>
                    <a:pt x="11430" y="0"/>
                  </a:lnTo>
                  <a:lnTo>
                    <a:pt x="0" y="0"/>
                  </a:lnTo>
                  <a:lnTo>
                    <a:pt x="0" y="11429"/>
                  </a:lnTo>
                  <a:lnTo>
                    <a:pt x="0" y="24384"/>
                  </a:lnTo>
                  <a:lnTo>
                    <a:pt x="11430" y="24384"/>
                  </a:lnTo>
                  <a:lnTo>
                    <a:pt x="24384" y="24384"/>
                  </a:lnTo>
                  <a:lnTo>
                    <a:pt x="24384" y="11429"/>
                  </a:lnTo>
                  <a:lnTo>
                    <a:pt x="24384" y="0"/>
                  </a:lnTo>
                  <a:lnTo>
                    <a:pt x="11430" y="0"/>
                  </a:lnTo>
                  <a:lnTo>
                    <a:pt x="11430" y="11429"/>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112" name="object 112"/>
            <p:cNvSpPr/>
            <p:nvPr/>
          </p:nvSpPr>
          <p:spPr>
            <a:xfrm>
              <a:off x="3339846" y="5269229"/>
              <a:ext cx="12700" cy="13970"/>
            </a:xfrm>
            <a:custGeom>
              <a:avLst/>
              <a:gdLst/>
              <a:ahLst/>
              <a:cxnLst/>
              <a:rect l="l" t="t" r="r" b="b"/>
              <a:pathLst>
                <a:path w="12700" h="13970">
                  <a:moveTo>
                    <a:pt x="0" y="0"/>
                  </a:moveTo>
                  <a:lnTo>
                    <a:pt x="0" y="13716"/>
                  </a:lnTo>
                  <a:lnTo>
                    <a:pt x="12191" y="0"/>
                  </a:lnTo>
                  <a:lnTo>
                    <a:pt x="0" y="0"/>
                  </a:lnTo>
                </a:path>
              </a:pathLst>
            </a:custGeom>
            <a:ln w="10668">
              <a:solidFill>
                <a:srgbClr val="00FFFF"/>
              </a:solidFill>
            </a:ln>
          </p:spPr>
          <p:txBody>
            <a:bodyPr wrap="square" lIns="0" tIns="0" rIns="0" bIns="0" rtlCol="0"/>
            <a:lstStyle/>
            <a:p>
              <a:endParaRPr>
                <a:latin typeface="Museo 300" pitchFamily="50" charset="0"/>
              </a:endParaRPr>
            </a:p>
          </p:txBody>
        </p:sp>
        <p:sp>
          <p:nvSpPr>
            <p:cNvPr id="113" name="object 113"/>
            <p:cNvSpPr/>
            <p:nvPr/>
          </p:nvSpPr>
          <p:spPr>
            <a:xfrm>
              <a:off x="5569458" y="4008881"/>
              <a:ext cx="82550" cy="22860"/>
            </a:xfrm>
            <a:custGeom>
              <a:avLst/>
              <a:gdLst/>
              <a:ahLst/>
              <a:cxnLst/>
              <a:rect l="l" t="t" r="r" b="b"/>
              <a:pathLst>
                <a:path w="82550" h="22860">
                  <a:moveTo>
                    <a:pt x="0" y="22860"/>
                  </a:moveTo>
                  <a:lnTo>
                    <a:pt x="82295" y="11430"/>
                  </a:lnTo>
                  <a:lnTo>
                    <a:pt x="0" y="0"/>
                  </a:lnTo>
                  <a:lnTo>
                    <a:pt x="0" y="11430"/>
                  </a:lnTo>
                  <a:lnTo>
                    <a:pt x="0" y="22860"/>
                  </a:lnTo>
                </a:path>
              </a:pathLst>
            </a:custGeom>
            <a:ln w="10668">
              <a:solidFill>
                <a:srgbClr val="000000"/>
              </a:solidFill>
            </a:ln>
          </p:spPr>
          <p:txBody>
            <a:bodyPr wrap="square" lIns="0" tIns="0" rIns="0" bIns="0" rtlCol="0"/>
            <a:lstStyle/>
            <a:p>
              <a:endParaRPr>
                <a:latin typeface="Museo 300" pitchFamily="50" charset="0"/>
              </a:endParaRPr>
            </a:p>
          </p:txBody>
        </p:sp>
        <p:sp>
          <p:nvSpPr>
            <p:cNvPr id="114" name="object 114"/>
            <p:cNvSpPr/>
            <p:nvPr/>
          </p:nvSpPr>
          <p:spPr>
            <a:xfrm>
              <a:off x="5569458" y="4008881"/>
              <a:ext cx="82550" cy="22860"/>
            </a:xfrm>
            <a:custGeom>
              <a:avLst/>
              <a:gdLst/>
              <a:ahLst/>
              <a:cxnLst/>
              <a:rect l="l" t="t" r="r" b="b"/>
              <a:pathLst>
                <a:path w="82550" h="22860">
                  <a:moveTo>
                    <a:pt x="0" y="0"/>
                  </a:moveTo>
                  <a:lnTo>
                    <a:pt x="0" y="22860"/>
                  </a:lnTo>
                  <a:lnTo>
                    <a:pt x="82295" y="11430"/>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115" name="object 115"/>
            <p:cNvSpPr/>
            <p:nvPr/>
          </p:nvSpPr>
          <p:spPr>
            <a:xfrm>
              <a:off x="5569458" y="4008881"/>
              <a:ext cx="82550" cy="22860"/>
            </a:xfrm>
            <a:custGeom>
              <a:avLst/>
              <a:gdLst/>
              <a:ahLst/>
              <a:cxnLst/>
              <a:rect l="l" t="t" r="r" b="b"/>
              <a:pathLst>
                <a:path w="82550" h="22860">
                  <a:moveTo>
                    <a:pt x="0" y="22860"/>
                  </a:moveTo>
                  <a:lnTo>
                    <a:pt x="82295" y="11430"/>
                  </a:lnTo>
                  <a:lnTo>
                    <a:pt x="0" y="0"/>
                  </a:lnTo>
                  <a:lnTo>
                    <a:pt x="0" y="11430"/>
                  </a:lnTo>
                  <a:lnTo>
                    <a:pt x="0" y="2286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16" name="object 116"/>
            <p:cNvSpPr/>
            <p:nvPr/>
          </p:nvSpPr>
          <p:spPr>
            <a:xfrm>
              <a:off x="5185410" y="4008881"/>
              <a:ext cx="70485" cy="22860"/>
            </a:xfrm>
            <a:custGeom>
              <a:avLst/>
              <a:gdLst/>
              <a:ahLst/>
              <a:cxnLst/>
              <a:rect l="l" t="t" r="r" b="b"/>
              <a:pathLst>
                <a:path w="70485" h="22860">
                  <a:moveTo>
                    <a:pt x="70103" y="0"/>
                  </a:moveTo>
                  <a:lnTo>
                    <a:pt x="0" y="11430"/>
                  </a:lnTo>
                  <a:lnTo>
                    <a:pt x="70103" y="22860"/>
                  </a:lnTo>
                  <a:lnTo>
                    <a:pt x="70103" y="11430"/>
                  </a:lnTo>
                  <a:lnTo>
                    <a:pt x="70103" y="0"/>
                  </a:lnTo>
                </a:path>
              </a:pathLst>
            </a:custGeom>
            <a:ln w="10668">
              <a:solidFill>
                <a:srgbClr val="000000"/>
              </a:solidFill>
            </a:ln>
          </p:spPr>
          <p:txBody>
            <a:bodyPr wrap="square" lIns="0" tIns="0" rIns="0" bIns="0" rtlCol="0"/>
            <a:lstStyle/>
            <a:p>
              <a:endParaRPr>
                <a:latin typeface="Museo 300" pitchFamily="50" charset="0"/>
              </a:endParaRPr>
            </a:p>
          </p:txBody>
        </p:sp>
        <p:sp>
          <p:nvSpPr>
            <p:cNvPr id="117" name="object 117"/>
            <p:cNvSpPr/>
            <p:nvPr/>
          </p:nvSpPr>
          <p:spPr>
            <a:xfrm>
              <a:off x="5185410" y="4008881"/>
              <a:ext cx="70485" cy="22860"/>
            </a:xfrm>
            <a:custGeom>
              <a:avLst/>
              <a:gdLst/>
              <a:ahLst/>
              <a:cxnLst/>
              <a:rect l="l" t="t" r="r" b="b"/>
              <a:pathLst>
                <a:path w="70485" h="22860">
                  <a:moveTo>
                    <a:pt x="70103" y="0"/>
                  </a:moveTo>
                  <a:lnTo>
                    <a:pt x="0" y="11430"/>
                  </a:lnTo>
                  <a:lnTo>
                    <a:pt x="70103" y="22860"/>
                  </a:lnTo>
                  <a:lnTo>
                    <a:pt x="70103" y="0"/>
                  </a:lnTo>
                  <a:close/>
                </a:path>
              </a:pathLst>
            </a:custGeom>
            <a:solidFill>
              <a:srgbClr val="000000"/>
            </a:solidFill>
          </p:spPr>
          <p:txBody>
            <a:bodyPr wrap="square" lIns="0" tIns="0" rIns="0" bIns="0" rtlCol="0"/>
            <a:lstStyle/>
            <a:p>
              <a:endParaRPr>
                <a:latin typeface="Museo 300" pitchFamily="50" charset="0"/>
              </a:endParaRPr>
            </a:p>
          </p:txBody>
        </p:sp>
        <p:sp>
          <p:nvSpPr>
            <p:cNvPr id="118" name="object 118"/>
            <p:cNvSpPr/>
            <p:nvPr/>
          </p:nvSpPr>
          <p:spPr>
            <a:xfrm>
              <a:off x="5185410" y="4008881"/>
              <a:ext cx="70485" cy="22860"/>
            </a:xfrm>
            <a:custGeom>
              <a:avLst/>
              <a:gdLst/>
              <a:ahLst/>
              <a:cxnLst/>
              <a:rect l="l" t="t" r="r" b="b"/>
              <a:pathLst>
                <a:path w="70485" h="22860">
                  <a:moveTo>
                    <a:pt x="70103" y="0"/>
                  </a:moveTo>
                  <a:lnTo>
                    <a:pt x="0" y="11430"/>
                  </a:lnTo>
                  <a:lnTo>
                    <a:pt x="70103" y="22860"/>
                  </a:lnTo>
                  <a:lnTo>
                    <a:pt x="70103" y="11430"/>
                  </a:lnTo>
                  <a:lnTo>
                    <a:pt x="70103"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19" name="object 119"/>
            <p:cNvSpPr/>
            <p:nvPr/>
          </p:nvSpPr>
          <p:spPr>
            <a:xfrm>
              <a:off x="5255514" y="4021073"/>
              <a:ext cx="314325" cy="0"/>
            </a:xfrm>
            <a:custGeom>
              <a:avLst/>
              <a:gdLst/>
              <a:ahLst/>
              <a:cxnLst/>
              <a:rect l="l" t="t" r="r" b="b"/>
              <a:pathLst>
                <a:path w="314325">
                  <a:moveTo>
                    <a:pt x="0" y="0"/>
                  </a:moveTo>
                  <a:lnTo>
                    <a:pt x="313944" y="0"/>
                  </a:lnTo>
                </a:path>
              </a:pathLst>
            </a:custGeom>
            <a:ln w="10668">
              <a:solidFill>
                <a:srgbClr val="000000"/>
              </a:solidFill>
            </a:ln>
          </p:spPr>
          <p:txBody>
            <a:bodyPr wrap="square" lIns="0" tIns="0" rIns="0" bIns="0" rtlCol="0"/>
            <a:lstStyle/>
            <a:p>
              <a:endParaRPr>
                <a:latin typeface="Museo 300" pitchFamily="50" charset="0"/>
              </a:endParaRPr>
            </a:p>
          </p:txBody>
        </p:sp>
      </p:grpSp>
      <p:sp>
        <p:nvSpPr>
          <p:cNvPr id="120" name="object 120"/>
          <p:cNvSpPr txBox="1"/>
          <p:nvPr/>
        </p:nvSpPr>
        <p:spPr>
          <a:xfrm>
            <a:off x="3764618" y="4337938"/>
            <a:ext cx="426720" cy="346710"/>
          </a:xfrm>
          <a:prstGeom prst="rect">
            <a:avLst/>
          </a:prstGeom>
        </p:spPr>
        <p:txBody>
          <a:bodyPr vert="horz" wrap="square" lIns="0" tIns="12700" rIns="0" bIns="0" rtlCol="0">
            <a:spAutoFit/>
          </a:bodyPr>
          <a:lstStyle/>
          <a:p>
            <a:pPr marL="58419">
              <a:lnSpc>
                <a:spcPts val="850"/>
              </a:lnSpc>
              <a:spcBef>
                <a:spcPts val="100"/>
              </a:spcBef>
            </a:pPr>
            <a:r>
              <a:rPr sz="800" spc="-5" dirty="0">
                <a:solidFill>
                  <a:srgbClr val="00FFFF"/>
                </a:solidFill>
                <a:latin typeface="Museo 300" pitchFamily="50" charset="0"/>
                <a:cs typeface="Carlito"/>
              </a:rPr>
              <a:t>ALU</a:t>
            </a:r>
            <a:endParaRPr sz="800">
              <a:latin typeface="Museo 300" pitchFamily="50" charset="0"/>
              <a:cs typeface="Carlito"/>
            </a:endParaRPr>
          </a:p>
          <a:p>
            <a:pPr marL="71120" marR="5080" indent="-59055">
              <a:lnSpc>
                <a:spcPts val="830"/>
              </a:lnSpc>
              <a:spcBef>
                <a:spcPts val="25"/>
              </a:spcBef>
            </a:pPr>
            <a:r>
              <a:rPr sz="800" spc="-5" dirty="0">
                <a:solidFill>
                  <a:srgbClr val="00FFFF"/>
                </a:solidFill>
                <a:latin typeface="Museo 300" pitchFamily="50" charset="0"/>
                <a:cs typeface="Carlito"/>
              </a:rPr>
              <a:t>con</a:t>
            </a:r>
            <a:r>
              <a:rPr sz="800" spc="-10" dirty="0">
                <a:solidFill>
                  <a:srgbClr val="00FFFF"/>
                </a:solidFill>
                <a:latin typeface="Museo 300" pitchFamily="50" charset="0"/>
                <a:cs typeface="Carlito"/>
              </a:rPr>
              <a:t>t</a:t>
            </a:r>
            <a:r>
              <a:rPr sz="800" spc="-5" dirty="0">
                <a:solidFill>
                  <a:srgbClr val="00FFFF"/>
                </a:solidFill>
                <a:latin typeface="Museo 300" pitchFamily="50" charset="0"/>
                <a:cs typeface="Carlito"/>
              </a:rPr>
              <a:t>ro</a:t>
            </a:r>
            <a:r>
              <a:rPr sz="800" dirty="0">
                <a:solidFill>
                  <a:srgbClr val="00FFFF"/>
                </a:solidFill>
                <a:latin typeface="Museo 300" pitchFamily="50" charset="0"/>
                <a:cs typeface="Carlito"/>
              </a:rPr>
              <a:t>l  </a:t>
            </a:r>
            <a:r>
              <a:rPr sz="800" spc="-5" dirty="0">
                <a:solidFill>
                  <a:srgbClr val="00FFFF"/>
                </a:solidFill>
                <a:latin typeface="Museo 300" pitchFamily="50" charset="0"/>
                <a:cs typeface="Carlito"/>
              </a:rPr>
              <a:t>lines</a:t>
            </a:r>
            <a:endParaRPr sz="800">
              <a:latin typeface="Museo 300" pitchFamily="50" charset="0"/>
              <a:cs typeface="Carlito"/>
            </a:endParaRPr>
          </a:p>
        </p:txBody>
      </p:sp>
      <p:sp>
        <p:nvSpPr>
          <p:cNvPr id="121" name="object 121"/>
          <p:cNvSpPr txBox="1"/>
          <p:nvPr/>
        </p:nvSpPr>
        <p:spPr>
          <a:xfrm>
            <a:off x="7659284" y="4273932"/>
            <a:ext cx="1185333" cy="168636"/>
          </a:xfrm>
          <a:prstGeom prst="rect">
            <a:avLst/>
          </a:prstGeom>
          <a:ln w="10667">
            <a:solidFill>
              <a:srgbClr val="000000"/>
            </a:solidFill>
          </a:ln>
        </p:spPr>
        <p:txBody>
          <a:bodyPr vert="horz" wrap="square" lIns="0" tIns="45085" rIns="0" bIns="0" rtlCol="0">
            <a:spAutoFit/>
          </a:bodyPr>
          <a:lstStyle/>
          <a:p>
            <a:pPr marL="257810">
              <a:lnSpc>
                <a:spcPct val="100000"/>
              </a:lnSpc>
              <a:spcBef>
                <a:spcPts val="355"/>
              </a:spcBef>
            </a:pPr>
            <a:r>
              <a:rPr sz="800">
                <a:latin typeface="Museo 300" pitchFamily="50" charset="0"/>
                <a:cs typeface="Carlito"/>
              </a:rPr>
              <a:t>R </a:t>
            </a:r>
            <a:r>
              <a:rPr lang="en-US" sz="800" dirty="0">
                <a:latin typeface="Museo 300" pitchFamily="50" charset="0"/>
                <a:cs typeface="Times New Roman"/>
              </a:rPr>
              <a:t>(</a:t>
            </a:r>
            <a:r>
              <a:rPr sz="800" i="1">
                <a:latin typeface="Museo 300" pitchFamily="50" charset="0"/>
                <a:cs typeface="Carlito"/>
              </a:rPr>
              <a:t>n </a:t>
            </a:r>
            <a:r>
              <a:rPr lang="en-US" sz="800" dirty="0">
                <a:latin typeface="Museo 300" pitchFamily="50" charset="0"/>
                <a:cs typeface="Carlito"/>
              </a:rPr>
              <a:t>–</a:t>
            </a:r>
            <a:r>
              <a:rPr sz="800" spc="60">
                <a:latin typeface="Museo 300" pitchFamily="50" charset="0"/>
                <a:cs typeface="Carlito"/>
              </a:rPr>
              <a:t> </a:t>
            </a:r>
            <a:r>
              <a:rPr sz="800" spc="25">
                <a:latin typeface="Museo 300" pitchFamily="50" charset="0"/>
                <a:cs typeface="Carlito"/>
              </a:rPr>
              <a:t>1</a:t>
            </a:r>
            <a:r>
              <a:rPr lang="en-US" sz="800" spc="25" dirty="0">
                <a:latin typeface="Museo 300" pitchFamily="50" charset="0"/>
                <a:cs typeface="Carlito"/>
              </a:rPr>
              <a:t>)</a:t>
            </a:r>
            <a:endParaRPr sz="800">
              <a:latin typeface="Museo 300" pitchFamily="50" charset="0"/>
              <a:cs typeface="Symbol"/>
            </a:endParaRPr>
          </a:p>
        </p:txBody>
      </p:sp>
      <p:grpSp>
        <p:nvGrpSpPr>
          <p:cNvPr id="122" name="object 122"/>
          <p:cNvGrpSpPr/>
          <p:nvPr/>
        </p:nvGrpSpPr>
        <p:grpSpPr>
          <a:xfrm>
            <a:off x="8249411" y="3802253"/>
            <a:ext cx="41487" cy="29209"/>
            <a:chOff x="6094348" y="4401311"/>
            <a:chExt cx="31115" cy="29209"/>
          </a:xfrm>
        </p:grpSpPr>
        <p:sp>
          <p:nvSpPr>
            <p:cNvPr id="123" name="object 123"/>
            <p:cNvSpPr/>
            <p:nvPr/>
          </p:nvSpPr>
          <p:spPr>
            <a:xfrm>
              <a:off x="6095237" y="4406645"/>
              <a:ext cx="24765" cy="22860"/>
            </a:xfrm>
            <a:custGeom>
              <a:avLst/>
              <a:gdLst/>
              <a:ahLst/>
              <a:cxnLst/>
              <a:rect l="l" t="t" r="r" b="b"/>
              <a:pathLst>
                <a:path w="24764" h="22860">
                  <a:moveTo>
                    <a:pt x="12953" y="0"/>
                  </a:moveTo>
                  <a:lnTo>
                    <a:pt x="0" y="0"/>
                  </a:lnTo>
                  <a:lnTo>
                    <a:pt x="0" y="22859"/>
                  </a:lnTo>
                  <a:lnTo>
                    <a:pt x="24384" y="22859"/>
                  </a:lnTo>
                  <a:lnTo>
                    <a:pt x="24384" y="10667"/>
                  </a:lnTo>
                  <a:lnTo>
                    <a:pt x="12953" y="10667"/>
                  </a:lnTo>
                  <a:lnTo>
                    <a:pt x="12953" y="0"/>
                  </a:lnTo>
                  <a:close/>
                </a:path>
                <a:path w="24764" h="22860">
                  <a:moveTo>
                    <a:pt x="24384" y="0"/>
                  </a:moveTo>
                  <a:lnTo>
                    <a:pt x="12953" y="0"/>
                  </a:lnTo>
                  <a:lnTo>
                    <a:pt x="12953" y="10667"/>
                  </a:lnTo>
                  <a:lnTo>
                    <a:pt x="24384" y="10667"/>
                  </a:lnTo>
                  <a:lnTo>
                    <a:pt x="24384" y="0"/>
                  </a:lnTo>
                  <a:close/>
                </a:path>
              </a:pathLst>
            </a:custGeom>
            <a:solidFill>
              <a:srgbClr val="000000"/>
            </a:solidFill>
          </p:spPr>
          <p:txBody>
            <a:bodyPr wrap="square" lIns="0" tIns="0" rIns="0" bIns="0" rtlCol="0"/>
            <a:lstStyle/>
            <a:p>
              <a:endParaRPr>
                <a:latin typeface="Museo 300" pitchFamily="50" charset="0"/>
              </a:endParaRPr>
            </a:p>
          </p:txBody>
        </p:sp>
        <p:sp>
          <p:nvSpPr>
            <p:cNvPr id="124" name="object 124"/>
            <p:cNvSpPr/>
            <p:nvPr/>
          </p:nvSpPr>
          <p:spPr>
            <a:xfrm>
              <a:off x="6095237" y="4406645"/>
              <a:ext cx="24765" cy="22860"/>
            </a:xfrm>
            <a:custGeom>
              <a:avLst/>
              <a:gdLst/>
              <a:ahLst/>
              <a:cxnLst/>
              <a:rect l="l" t="t" r="r" b="b"/>
              <a:pathLst>
                <a:path w="24764" h="22860">
                  <a:moveTo>
                    <a:pt x="12953" y="10667"/>
                  </a:moveTo>
                  <a:lnTo>
                    <a:pt x="12953" y="0"/>
                  </a:lnTo>
                  <a:lnTo>
                    <a:pt x="0" y="0"/>
                  </a:lnTo>
                  <a:lnTo>
                    <a:pt x="0" y="10667"/>
                  </a:lnTo>
                  <a:lnTo>
                    <a:pt x="0" y="22859"/>
                  </a:lnTo>
                  <a:lnTo>
                    <a:pt x="12953" y="22859"/>
                  </a:lnTo>
                  <a:lnTo>
                    <a:pt x="24384" y="22859"/>
                  </a:lnTo>
                  <a:lnTo>
                    <a:pt x="24384" y="10667"/>
                  </a:lnTo>
                  <a:lnTo>
                    <a:pt x="24384" y="0"/>
                  </a:lnTo>
                  <a:lnTo>
                    <a:pt x="12953" y="0"/>
                  </a:lnTo>
                  <a:lnTo>
                    <a:pt x="12953" y="10667"/>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25" name="object 125"/>
            <p:cNvSpPr/>
            <p:nvPr/>
          </p:nvSpPr>
          <p:spPr>
            <a:xfrm>
              <a:off x="6107429" y="4406645"/>
              <a:ext cx="12700" cy="10795"/>
            </a:xfrm>
            <a:custGeom>
              <a:avLst/>
              <a:gdLst/>
              <a:ahLst/>
              <a:cxnLst/>
              <a:rect l="l" t="t" r="r" b="b"/>
              <a:pathLst>
                <a:path w="12700" h="10795">
                  <a:moveTo>
                    <a:pt x="0" y="0"/>
                  </a:moveTo>
                  <a:lnTo>
                    <a:pt x="0" y="10667"/>
                  </a:lnTo>
                  <a:lnTo>
                    <a:pt x="12192" y="0"/>
                  </a:lnTo>
                  <a:lnTo>
                    <a:pt x="0" y="0"/>
                  </a:lnTo>
                </a:path>
              </a:pathLst>
            </a:custGeom>
            <a:ln w="10667">
              <a:solidFill>
                <a:srgbClr val="000000"/>
              </a:solidFill>
            </a:ln>
          </p:spPr>
          <p:txBody>
            <a:bodyPr wrap="square" lIns="0" tIns="0" rIns="0" bIns="0" rtlCol="0"/>
            <a:lstStyle/>
            <a:p>
              <a:endParaRPr>
                <a:latin typeface="Museo 300" pitchFamily="50" charset="0"/>
              </a:endParaRPr>
            </a:p>
          </p:txBody>
        </p:sp>
      </p:grpSp>
      <p:grpSp>
        <p:nvGrpSpPr>
          <p:cNvPr id="126" name="object 126"/>
          <p:cNvGrpSpPr/>
          <p:nvPr/>
        </p:nvGrpSpPr>
        <p:grpSpPr>
          <a:xfrm>
            <a:off x="8249411" y="3883026"/>
            <a:ext cx="41487" cy="29209"/>
            <a:chOff x="6094348" y="4482084"/>
            <a:chExt cx="31115" cy="29209"/>
          </a:xfrm>
        </p:grpSpPr>
        <p:sp>
          <p:nvSpPr>
            <p:cNvPr id="127" name="object 127"/>
            <p:cNvSpPr/>
            <p:nvPr/>
          </p:nvSpPr>
          <p:spPr>
            <a:xfrm>
              <a:off x="6095237" y="4487418"/>
              <a:ext cx="24765" cy="22860"/>
            </a:xfrm>
            <a:custGeom>
              <a:avLst/>
              <a:gdLst/>
              <a:ahLst/>
              <a:cxnLst/>
              <a:rect l="l" t="t" r="r" b="b"/>
              <a:pathLst>
                <a:path w="24764" h="22860">
                  <a:moveTo>
                    <a:pt x="12953" y="0"/>
                  </a:moveTo>
                  <a:lnTo>
                    <a:pt x="0" y="0"/>
                  </a:lnTo>
                  <a:lnTo>
                    <a:pt x="0" y="22859"/>
                  </a:lnTo>
                  <a:lnTo>
                    <a:pt x="24384" y="22859"/>
                  </a:lnTo>
                  <a:lnTo>
                    <a:pt x="24384" y="12191"/>
                  </a:lnTo>
                  <a:lnTo>
                    <a:pt x="12953" y="12191"/>
                  </a:lnTo>
                  <a:lnTo>
                    <a:pt x="12953" y="0"/>
                  </a:lnTo>
                  <a:close/>
                </a:path>
                <a:path w="24764" h="22860">
                  <a:moveTo>
                    <a:pt x="24384" y="0"/>
                  </a:moveTo>
                  <a:lnTo>
                    <a:pt x="12953" y="0"/>
                  </a:lnTo>
                  <a:lnTo>
                    <a:pt x="12953" y="12191"/>
                  </a:lnTo>
                  <a:lnTo>
                    <a:pt x="24384" y="12191"/>
                  </a:lnTo>
                  <a:lnTo>
                    <a:pt x="24384" y="0"/>
                  </a:lnTo>
                  <a:close/>
                </a:path>
              </a:pathLst>
            </a:custGeom>
            <a:solidFill>
              <a:srgbClr val="000000"/>
            </a:solidFill>
          </p:spPr>
          <p:txBody>
            <a:bodyPr wrap="square" lIns="0" tIns="0" rIns="0" bIns="0" rtlCol="0"/>
            <a:lstStyle/>
            <a:p>
              <a:endParaRPr>
                <a:latin typeface="Museo 300" pitchFamily="50" charset="0"/>
              </a:endParaRPr>
            </a:p>
          </p:txBody>
        </p:sp>
        <p:sp>
          <p:nvSpPr>
            <p:cNvPr id="128" name="object 128"/>
            <p:cNvSpPr/>
            <p:nvPr/>
          </p:nvSpPr>
          <p:spPr>
            <a:xfrm>
              <a:off x="6095237" y="4487418"/>
              <a:ext cx="24765" cy="22860"/>
            </a:xfrm>
            <a:custGeom>
              <a:avLst/>
              <a:gdLst/>
              <a:ahLst/>
              <a:cxnLst/>
              <a:rect l="l" t="t" r="r" b="b"/>
              <a:pathLst>
                <a:path w="24764" h="22860">
                  <a:moveTo>
                    <a:pt x="12953" y="12191"/>
                  </a:moveTo>
                  <a:lnTo>
                    <a:pt x="12953" y="0"/>
                  </a:lnTo>
                  <a:lnTo>
                    <a:pt x="0" y="0"/>
                  </a:lnTo>
                  <a:lnTo>
                    <a:pt x="0" y="12191"/>
                  </a:lnTo>
                  <a:lnTo>
                    <a:pt x="0" y="22859"/>
                  </a:lnTo>
                  <a:lnTo>
                    <a:pt x="12953" y="22859"/>
                  </a:lnTo>
                  <a:lnTo>
                    <a:pt x="24384" y="22859"/>
                  </a:lnTo>
                  <a:lnTo>
                    <a:pt x="24384" y="12191"/>
                  </a:lnTo>
                  <a:lnTo>
                    <a:pt x="24384" y="0"/>
                  </a:lnTo>
                  <a:lnTo>
                    <a:pt x="12953" y="0"/>
                  </a:lnTo>
                  <a:lnTo>
                    <a:pt x="12953" y="12191"/>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29" name="object 129"/>
            <p:cNvSpPr/>
            <p:nvPr/>
          </p:nvSpPr>
          <p:spPr>
            <a:xfrm>
              <a:off x="6107429" y="4487418"/>
              <a:ext cx="12700" cy="12700"/>
            </a:xfrm>
            <a:custGeom>
              <a:avLst/>
              <a:gdLst/>
              <a:ahLst/>
              <a:cxnLst/>
              <a:rect l="l" t="t" r="r" b="b"/>
              <a:pathLst>
                <a:path w="12700" h="12700">
                  <a:moveTo>
                    <a:pt x="0" y="0"/>
                  </a:moveTo>
                  <a:lnTo>
                    <a:pt x="0" y="12191"/>
                  </a:lnTo>
                  <a:lnTo>
                    <a:pt x="12192" y="0"/>
                  </a:lnTo>
                  <a:lnTo>
                    <a:pt x="0" y="0"/>
                  </a:lnTo>
                </a:path>
              </a:pathLst>
            </a:custGeom>
            <a:ln w="10668">
              <a:solidFill>
                <a:srgbClr val="000000"/>
              </a:solidFill>
            </a:ln>
          </p:spPr>
          <p:txBody>
            <a:bodyPr wrap="square" lIns="0" tIns="0" rIns="0" bIns="0" rtlCol="0"/>
            <a:lstStyle/>
            <a:p>
              <a:endParaRPr>
                <a:latin typeface="Museo 300" pitchFamily="50" charset="0"/>
              </a:endParaRPr>
            </a:p>
          </p:txBody>
        </p:sp>
      </p:grpSp>
      <p:grpSp>
        <p:nvGrpSpPr>
          <p:cNvPr id="130" name="object 130"/>
          <p:cNvGrpSpPr/>
          <p:nvPr/>
        </p:nvGrpSpPr>
        <p:grpSpPr>
          <a:xfrm>
            <a:off x="8249411" y="3965321"/>
            <a:ext cx="41487" cy="31115"/>
            <a:chOff x="6094348" y="4564379"/>
            <a:chExt cx="31115" cy="31115"/>
          </a:xfrm>
        </p:grpSpPr>
        <p:sp>
          <p:nvSpPr>
            <p:cNvPr id="131" name="object 131"/>
            <p:cNvSpPr/>
            <p:nvPr/>
          </p:nvSpPr>
          <p:spPr>
            <a:xfrm>
              <a:off x="6095237" y="4569713"/>
              <a:ext cx="24765" cy="24765"/>
            </a:xfrm>
            <a:custGeom>
              <a:avLst/>
              <a:gdLst/>
              <a:ahLst/>
              <a:cxnLst/>
              <a:rect l="l" t="t" r="r" b="b"/>
              <a:pathLst>
                <a:path w="24764" h="24764">
                  <a:moveTo>
                    <a:pt x="12953" y="0"/>
                  </a:moveTo>
                  <a:lnTo>
                    <a:pt x="0" y="0"/>
                  </a:lnTo>
                  <a:lnTo>
                    <a:pt x="0" y="24384"/>
                  </a:lnTo>
                  <a:lnTo>
                    <a:pt x="24384" y="24384"/>
                  </a:lnTo>
                  <a:lnTo>
                    <a:pt x="24384" y="11430"/>
                  </a:lnTo>
                  <a:lnTo>
                    <a:pt x="12953" y="11430"/>
                  </a:lnTo>
                  <a:lnTo>
                    <a:pt x="12953" y="0"/>
                  </a:lnTo>
                  <a:close/>
                </a:path>
                <a:path w="24764" h="24764">
                  <a:moveTo>
                    <a:pt x="24384" y="0"/>
                  </a:moveTo>
                  <a:lnTo>
                    <a:pt x="12953" y="0"/>
                  </a:lnTo>
                  <a:lnTo>
                    <a:pt x="12953" y="11430"/>
                  </a:lnTo>
                  <a:lnTo>
                    <a:pt x="24384" y="11430"/>
                  </a:lnTo>
                  <a:lnTo>
                    <a:pt x="24384" y="0"/>
                  </a:lnTo>
                  <a:close/>
                </a:path>
              </a:pathLst>
            </a:custGeom>
            <a:solidFill>
              <a:srgbClr val="000000"/>
            </a:solidFill>
          </p:spPr>
          <p:txBody>
            <a:bodyPr wrap="square" lIns="0" tIns="0" rIns="0" bIns="0" rtlCol="0"/>
            <a:lstStyle/>
            <a:p>
              <a:endParaRPr>
                <a:latin typeface="Museo 300" pitchFamily="50" charset="0"/>
              </a:endParaRPr>
            </a:p>
          </p:txBody>
        </p:sp>
        <p:sp>
          <p:nvSpPr>
            <p:cNvPr id="132" name="object 132"/>
            <p:cNvSpPr/>
            <p:nvPr/>
          </p:nvSpPr>
          <p:spPr>
            <a:xfrm>
              <a:off x="6095237" y="4569713"/>
              <a:ext cx="24765" cy="24765"/>
            </a:xfrm>
            <a:custGeom>
              <a:avLst/>
              <a:gdLst/>
              <a:ahLst/>
              <a:cxnLst/>
              <a:rect l="l" t="t" r="r" b="b"/>
              <a:pathLst>
                <a:path w="24764" h="24764">
                  <a:moveTo>
                    <a:pt x="12953" y="11430"/>
                  </a:moveTo>
                  <a:lnTo>
                    <a:pt x="12953" y="0"/>
                  </a:lnTo>
                  <a:lnTo>
                    <a:pt x="0" y="0"/>
                  </a:lnTo>
                  <a:lnTo>
                    <a:pt x="0" y="11430"/>
                  </a:lnTo>
                  <a:lnTo>
                    <a:pt x="0" y="24384"/>
                  </a:lnTo>
                  <a:lnTo>
                    <a:pt x="12953" y="24384"/>
                  </a:lnTo>
                  <a:lnTo>
                    <a:pt x="24384" y="24384"/>
                  </a:lnTo>
                  <a:lnTo>
                    <a:pt x="24384" y="11430"/>
                  </a:lnTo>
                  <a:lnTo>
                    <a:pt x="24384" y="0"/>
                  </a:lnTo>
                  <a:lnTo>
                    <a:pt x="12953" y="0"/>
                  </a:lnTo>
                  <a:lnTo>
                    <a:pt x="12953" y="1143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33" name="object 133"/>
            <p:cNvSpPr/>
            <p:nvPr/>
          </p:nvSpPr>
          <p:spPr>
            <a:xfrm>
              <a:off x="6107429" y="4569713"/>
              <a:ext cx="12700" cy="10795"/>
            </a:xfrm>
            <a:custGeom>
              <a:avLst/>
              <a:gdLst/>
              <a:ahLst/>
              <a:cxnLst/>
              <a:rect l="l" t="t" r="r" b="b"/>
              <a:pathLst>
                <a:path w="12700" h="10795">
                  <a:moveTo>
                    <a:pt x="0" y="0"/>
                  </a:moveTo>
                  <a:lnTo>
                    <a:pt x="0" y="10668"/>
                  </a:lnTo>
                  <a:lnTo>
                    <a:pt x="12192" y="0"/>
                  </a:lnTo>
                  <a:lnTo>
                    <a:pt x="0" y="0"/>
                  </a:lnTo>
                </a:path>
              </a:pathLst>
            </a:custGeom>
            <a:ln w="10667">
              <a:solidFill>
                <a:srgbClr val="000000"/>
              </a:solidFill>
            </a:ln>
          </p:spPr>
          <p:txBody>
            <a:bodyPr wrap="square" lIns="0" tIns="0" rIns="0" bIns="0" rtlCol="0"/>
            <a:lstStyle/>
            <a:p>
              <a:endParaRPr>
                <a:latin typeface="Museo 300" pitchFamily="50" charset="0"/>
              </a:endParaRPr>
            </a:p>
          </p:txBody>
        </p:sp>
      </p:grpSp>
      <p:grpSp>
        <p:nvGrpSpPr>
          <p:cNvPr id="134" name="object 134"/>
          <p:cNvGrpSpPr/>
          <p:nvPr/>
        </p:nvGrpSpPr>
        <p:grpSpPr>
          <a:xfrm>
            <a:off x="8155940" y="1388111"/>
            <a:ext cx="211667" cy="31115"/>
            <a:chOff x="6024245" y="1987169"/>
            <a:chExt cx="158750" cy="31115"/>
          </a:xfrm>
        </p:grpSpPr>
        <p:sp>
          <p:nvSpPr>
            <p:cNvPr id="135" name="object 135"/>
            <p:cNvSpPr/>
            <p:nvPr/>
          </p:nvSpPr>
          <p:spPr>
            <a:xfrm>
              <a:off x="6095238" y="1988058"/>
              <a:ext cx="24765" cy="24765"/>
            </a:xfrm>
            <a:custGeom>
              <a:avLst/>
              <a:gdLst/>
              <a:ahLst/>
              <a:cxnLst/>
              <a:rect l="l" t="t" r="r" b="b"/>
              <a:pathLst>
                <a:path w="24764" h="24764">
                  <a:moveTo>
                    <a:pt x="12953" y="0"/>
                  </a:moveTo>
                  <a:lnTo>
                    <a:pt x="0" y="0"/>
                  </a:lnTo>
                  <a:lnTo>
                    <a:pt x="0" y="24383"/>
                  </a:lnTo>
                  <a:lnTo>
                    <a:pt x="24384" y="24383"/>
                  </a:lnTo>
                  <a:lnTo>
                    <a:pt x="24384" y="11429"/>
                  </a:lnTo>
                  <a:lnTo>
                    <a:pt x="12953" y="11429"/>
                  </a:lnTo>
                  <a:lnTo>
                    <a:pt x="12953" y="0"/>
                  </a:lnTo>
                  <a:close/>
                </a:path>
                <a:path w="24764" h="24764">
                  <a:moveTo>
                    <a:pt x="24384" y="0"/>
                  </a:moveTo>
                  <a:lnTo>
                    <a:pt x="12953" y="0"/>
                  </a:lnTo>
                  <a:lnTo>
                    <a:pt x="12953" y="11429"/>
                  </a:lnTo>
                  <a:lnTo>
                    <a:pt x="24384" y="11429"/>
                  </a:lnTo>
                  <a:lnTo>
                    <a:pt x="24384" y="0"/>
                  </a:lnTo>
                  <a:close/>
                </a:path>
              </a:pathLst>
            </a:custGeom>
            <a:solidFill>
              <a:srgbClr val="00FFFF"/>
            </a:solidFill>
          </p:spPr>
          <p:txBody>
            <a:bodyPr wrap="square" lIns="0" tIns="0" rIns="0" bIns="0" rtlCol="0"/>
            <a:lstStyle/>
            <a:p>
              <a:endParaRPr>
                <a:latin typeface="Museo 300" pitchFamily="50" charset="0"/>
              </a:endParaRPr>
            </a:p>
          </p:txBody>
        </p:sp>
        <p:sp>
          <p:nvSpPr>
            <p:cNvPr id="136" name="object 136"/>
            <p:cNvSpPr/>
            <p:nvPr/>
          </p:nvSpPr>
          <p:spPr>
            <a:xfrm>
              <a:off x="6095238" y="1988058"/>
              <a:ext cx="24765" cy="24765"/>
            </a:xfrm>
            <a:custGeom>
              <a:avLst/>
              <a:gdLst/>
              <a:ahLst/>
              <a:cxnLst/>
              <a:rect l="l" t="t" r="r" b="b"/>
              <a:pathLst>
                <a:path w="24764" h="24764">
                  <a:moveTo>
                    <a:pt x="12953" y="11429"/>
                  </a:moveTo>
                  <a:lnTo>
                    <a:pt x="12953" y="0"/>
                  </a:lnTo>
                  <a:lnTo>
                    <a:pt x="0" y="0"/>
                  </a:lnTo>
                  <a:lnTo>
                    <a:pt x="0" y="11429"/>
                  </a:lnTo>
                  <a:lnTo>
                    <a:pt x="0" y="24383"/>
                  </a:lnTo>
                  <a:lnTo>
                    <a:pt x="12953" y="24383"/>
                  </a:lnTo>
                  <a:lnTo>
                    <a:pt x="24384" y="24383"/>
                  </a:lnTo>
                  <a:lnTo>
                    <a:pt x="24384" y="11429"/>
                  </a:lnTo>
                  <a:lnTo>
                    <a:pt x="24384" y="0"/>
                  </a:lnTo>
                  <a:lnTo>
                    <a:pt x="12953" y="0"/>
                  </a:lnTo>
                  <a:lnTo>
                    <a:pt x="12953" y="11429"/>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137" name="object 137"/>
            <p:cNvSpPr/>
            <p:nvPr/>
          </p:nvSpPr>
          <p:spPr>
            <a:xfrm>
              <a:off x="6107430" y="1998726"/>
              <a:ext cx="12700" cy="13970"/>
            </a:xfrm>
            <a:custGeom>
              <a:avLst/>
              <a:gdLst/>
              <a:ahLst/>
              <a:cxnLst/>
              <a:rect l="l" t="t" r="r" b="b"/>
              <a:pathLst>
                <a:path w="12700" h="13969">
                  <a:moveTo>
                    <a:pt x="0" y="0"/>
                  </a:moveTo>
                  <a:lnTo>
                    <a:pt x="0" y="13715"/>
                  </a:lnTo>
                  <a:lnTo>
                    <a:pt x="12192" y="0"/>
                  </a:lnTo>
                  <a:lnTo>
                    <a:pt x="0" y="0"/>
                  </a:lnTo>
                </a:path>
              </a:pathLst>
            </a:custGeom>
            <a:ln w="10668">
              <a:solidFill>
                <a:srgbClr val="00FFFF"/>
              </a:solidFill>
            </a:ln>
          </p:spPr>
          <p:txBody>
            <a:bodyPr wrap="square" lIns="0" tIns="0" rIns="0" bIns="0" rtlCol="0"/>
            <a:lstStyle/>
            <a:p>
              <a:endParaRPr>
                <a:latin typeface="Museo 300" pitchFamily="50" charset="0"/>
              </a:endParaRPr>
            </a:p>
          </p:txBody>
        </p:sp>
        <p:sp>
          <p:nvSpPr>
            <p:cNvPr id="138" name="object 138"/>
            <p:cNvSpPr/>
            <p:nvPr/>
          </p:nvSpPr>
          <p:spPr>
            <a:xfrm>
              <a:off x="6154674" y="1988058"/>
              <a:ext cx="22860" cy="24765"/>
            </a:xfrm>
            <a:custGeom>
              <a:avLst/>
              <a:gdLst/>
              <a:ahLst/>
              <a:cxnLst/>
              <a:rect l="l" t="t" r="r" b="b"/>
              <a:pathLst>
                <a:path w="22860" h="24764">
                  <a:moveTo>
                    <a:pt x="12191" y="0"/>
                  </a:moveTo>
                  <a:lnTo>
                    <a:pt x="0" y="0"/>
                  </a:lnTo>
                  <a:lnTo>
                    <a:pt x="0" y="24383"/>
                  </a:lnTo>
                  <a:lnTo>
                    <a:pt x="22860" y="24383"/>
                  </a:lnTo>
                  <a:lnTo>
                    <a:pt x="22860" y="11429"/>
                  </a:lnTo>
                  <a:lnTo>
                    <a:pt x="12191" y="11429"/>
                  </a:lnTo>
                  <a:lnTo>
                    <a:pt x="12191" y="0"/>
                  </a:lnTo>
                  <a:close/>
                </a:path>
                <a:path w="22860" h="24764">
                  <a:moveTo>
                    <a:pt x="22860" y="0"/>
                  </a:moveTo>
                  <a:lnTo>
                    <a:pt x="12191" y="0"/>
                  </a:lnTo>
                  <a:lnTo>
                    <a:pt x="12191" y="11429"/>
                  </a:lnTo>
                  <a:lnTo>
                    <a:pt x="22860" y="11429"/>
                  </a:lnTo>
                  <a:lnTo>
                    <a:pt x="22860" y="0"/>
                  </a:lnTo>
                  <a:close/>
                </a:path>
              </a:pathLst>
            </a:custGeom>
            <a:solidFill>
              <a:srgbClr val="00FFFF"/>
            </a:solidFill>
          </p:spPr>
          <p:txBody>
            <a:bodyPr wrap="square" lIns="0" tIns="0" rIns="0" bIns="0" rtlCol="0"/>
            <a:lstStyle/>
            <a:p>
              <a:endParaRPr>
                <a:latin typeface="Museo 300" pitchFamily="50" charset="0"/>
              </a:endParaRPr>
            </a:p>
          </p:txBody>
        </p:sp>
        <p:sp>
          <p:nvSpPr>
            <p:cNvPr id="139" name="object 139"/>
            <p:cNvSpPr/>
            <p:nvPr/>
          </p:nvSpPr>
          <p:spPr>
            <a:xfrm>
              <a:off x="6154674" y="1988058"/>
              <a:ext cx="22860" cy="24765"/>
            </a:xfrm>
            <a:custGeom>
              <a:avLst/>
              <a:gdLst/>
              <a:ahLst/>
              <a:cxnLst/>
              <a:rect l="l" t="t" r="r" b="b"/>
              <a:pathLst>
                <a:path w="22860" h="24764">
                  <a:moveTo>
                    <a:pt x="12191" y="11429"/>
                  </a:moveTo>
                  <a:lnTo>
                    <a:pt x="12191" y="0"/>
                  </a:lnTo>
                  <a:lnTo>
                    <a:pt x="0" y="0"/>
                  </a:lnTo>
                  <a:lnTo>
                    <a:pt x="0" y="11429"/>
                  </a:lnTo>
                  <a:lnTo>
                    <a:pt x="0" y="24383"/>
                  </a:lnTo>
                  <a:lnTo>
                    <a:pt x="12191" y="24383"/>
                  </a:lnTo>
                  <a:lnTo>
                    <a:pt x="22860" y="24383"/>
                  </a:lnTo>
                  <a:lnTo>
                    <a:pt x="22860" y="11429"/>
                  </a:lnTo>
                  <a:lnTo>
                    <a:pt x="22860" y="0"/>
                  </a:lnTo>
                  <a:lnTo>
                    <a:pt x="12191" y="0"/>
                  </a:lnTo>
                  <a:lnTo>
                    <a:pt x="12191" y="11429"/>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140" name="object 140"/>
            <p:cNvSpPr/>
            <p:nvPr/>
          </p:nvSpPr>
          <p:spPr>
            <a:xfrm>
              <a:off x="6166866" y="1998726"/>
              <a:ext cx="10795" cy="13970"/>
            </a:xfrm>
            <a:custGeom>
              <a:avLst/>
              <a:gdLst/>
              <a:ahLst/>
              <a:cxnLst/>
              <a:rect l="l" t="t" r="r" b="b"/>
              <a:pathLst>
                <a:path w="10795" h="13969">
                  <a:moveTo>
                    <a:pt x="0" y="0"/>
                  </a:moveTo>
                  <a:lnTo>
                    <a:pt x="0" y="13715"/>
                  </a:lnTo>
                  <a:lnTo>
                    <a:pt x="10668" y="0"/>
                  </a:lnTo>
                  <a:lnTo>
                    <a:pt x="0" y="0"/>
                  </a:lnTo>
                </a:path>
              </a:pathLst>
            </a:custGeom>
            <a:ln w="10668">
              <a:solidFill>
                <a:srgbClr val="00FFFF"/>
              </a:solidFill>
            </a:ln>
          </p:spPr>
          <p:txBody>
            <a:bodyPr wrap="square" lIns="0" tIns="0" rIns="0" bIns="0" rtlCol="0"/>
            <a:lstStyle/>
            <a:p>
              <a:endParaRPr>
                <a:latin typeface="Museo 300" pitchFamily="50" charset="0"/>
              </a:endParaRPr>
            </a:p>
          </p:txBody>
        </p:sp>
        <p:sp>
          <p:nvSpPr>
            <p:cNvPr id="141" name="object 141"/>
            <p:cNvSpPr/>
            <p:nvPr/>
          </p:nvSpPr>
          <p:spPr>
            <a:xfrm>
              <a:off x="6025134" y="1988058"/>
              <a:ext cx="24765" cy="24765"/>
            </a:xfrm>
            <a:custGeom>
              <a:avLst/>
              <a:gdLst/>
              <a:ahLst/>
              <a:cxnLst/>
              <a:rect l="l" t="t" r="r" b="b"/>
              <a:pathLst>
                <a:path w="24764" h="24764">
                  <a:moveTo>
                    <a:pt x="12953" y="0"/>
                  </a:moveTo>
                  <a:lnTo>
                    <a:pt x="0" y="0"/>
                  </a:lnTo>
                  <a:lnTo>
                    <a:pt x="0" y="24383"/>
                  </a:lnTo>
                  <a:lnTo>
                    <a:pt x="24383" y="24383"/>
                  </a:lnTo>
                  <a:lnTo>
                    <a:pt x="24383" y="11429"/>
                  </a:lnTo>
                  <a:lnTo>
                    <a:pt x="12953" y="11429"/>
                  </a:lnTo>
                  <a:lnTo>
                    <a:pt x="12953" y="0"/>
                  </a:lnTo>
                  <a:close/>
                </a:path>
                <a:path w="24764" h="24764">
                  <a:moveTo>
                    <a:pt x="24383" y="0"/>
                  </a:moveTo>
                  <a:lnTo>
                    <a:pt x="12953" y="0"/>
                  </a:lnTo>
                  <a:lnTo>
                    <a:pt x="12953" y="11429"/>
                  </a:lnTo>
                  <a:lnTo>
                    <a:pt x="24383" y="11429"/>
                  </a:lnTo>
                  <a:lnTo>
                    <a:pt x="24383" y="0"/>
                  </a:lnTo>
                  <a:close/>
                </a:path>
              </a:pathLst>
            </a:custGeom>
            <a:solidFill>
              <a:srgbClr val="00FFFF"/>
            </a:solidFill>
          </p:spPr>
          <p:txBody>
            <a:bodyPr wrap="square" lIns="0" tIns="0" rIns="0" bIns="0" rtlCol="0"/>
            <a:lstStyle/>
            <a:p>
              <a:endParaRPr>
                <a:latin typeface="Museo 300" pitchFamily="50" charset="0"/>
              </a:endParaRPr>
            </a:p>
          </p:txBody>
        </p:sp>
        <p:sp>
          <p:nvSpPr>
            <p:cNvPr id="142" name="object 142"/>
            <p:cNvSpPr/>
            <p:nvPr/>
          </p:nvSpPr>
          <p:spPr>
            <a:xfrm>
              <a:off x="6025134" y="1988058"/>
              <a:ext cx="24765" cy="24765"/>
            </a:xfrm>
            <a:custGeom>
              <a:avLst/>
              <a:gdLst/>
              <a:ahLst/>
              <a:cxnLst/>
              <a:rect l="l" t="t" r="r" b="b"/>
              <a:pathLst>
                <a:path w="24764" h="24764">
                  <a:moveTo>
                    <a:pt x="12953" y="11429"/>
                  </a:moveTo>
                  <a:lnTo>
                    <a:pt x="12953" y="0"/>
                  </a:lnTo>
                  <a:lnTo>
                    <a:pt x="0" y="0"/>
                  </a:lnTo>
                  <a:lnTo>
                    <a:pt x="0" y="11429"/>
                  </a:lnTo>
                  <a:lnTo>
                    <a:pt x="0" y="24383"/>
                  </a:lnTo>
                  <a:lnTo>
                    <a:pt x="12953" y="24383"/>
                  </a:lnTo>
                  <a:lnTo>
                    <a:pt x="24383" y="24383"/>
                  </a:lnTo>
                  <a:lnTo>
                    <a:pt x="24383" y="11429"/>
                  </a:lnTo>
                  <a:lnTo>
                    <a:pt x="24383" y="0"/>
                  </a:lnTo>
                  <a:lnTo>
                    <a:pt x="12953" y="0"/>
                  </a:lnTo>
                  <a:lnTo>
                    <a:pt x="12953" y="11429"/>
                  </a:lnTo>
                  <a:close/>
                </a:path>
              </a:pathLst>
            </a:custGeom>
            <a:ln w="3175">
              <a:solidFill>
                <a:srgbClr val="00FFFF"/>
              </a:solidFill>
            </a:ln>
          </p:spPr>
          <p:txBody>
            <a:bodyPr wrap="square" lIns="0" tIns="0" rIns="0" bIns="0" rtlCol="0"/>
            <a:lstStyle/>
            <a:p>
              <a:endParaRPr>
                <a:latin typeface="Museo 300" pitchFamily="50" charset="0"/>
              </a:endParaRPr>
            </a:p>
          </p:txBody>
        </p:sp>
        <p:sp>
          <p:nvSpPr>
            <p:cNvPr id="143" name="object 143"/>
            <p:cNvSpPr/>
            <p:nvPr/>
          </p:nvSpPr>
          <p:spPr>
            <a:xfrm>
              <a:off x="6037326" y="1998726"/>
              <a:ext cx="12700" cy="13970"/>
            </a:xfrm>
            <a:custGeom>
              <a:avLst/>
              <a:gdLst/>
              <a:ahLst/>
              <a:cxnLst/>
              <a:rect l="l" t="t" r="r" b="b"/>
              <a:pathLst>
                <a:path w="12700" h="13969">
                  <a:moveTo>
                    <a:pt x="0" y="0"/>
                  </a:moveTo>
                  <a:lnTo>
                    <a:pt x="0" y="13715"/>
                  </a:lnTo>
                  <a:lnTo>
                    <a:pt x="12191" y="0"/>
                  </a:lnTo>
                  <a:lnTo>
                    <a:pt x="0" y="0"/>
                  </a:lnTo>
                </a:path>
              </a:pathLst>
            </a:custGeom>
            <a:ln w="10668">
              <a:solidFill>
                <a:srgbClr val="00FFFF"/>
              </a:solidFill>
            </a:ln>
          </p:spPr>
          <p:txBody>
            <a:bodyPr wrap="square" lIns="0" tIns="0" rIns="0" bIns="0" rtlCol="0"/>
            <a:lstStyle/>
            <a:p>
              <a:endParaRPr>
                <a:latin typeface="Museo 300" pitchFamily="50" charset="0"/>
              </a:endParaRPr>
            </a:p>
          </p:txBody>
        </p:sp>
      </p:grpSp>
      <p:sp>
        <p:nvSpPr>
          <p:cNvPr id="144" name="object 144"/>
          <p:cNvSpPr/>
          <p:nvPr/>
        </p:nvSpPr>
        <p:spPr>
          <a:xfrm>
            <a:off x="4404020" y="2032126"/>
            <a:ext cx="79587" cy="631190"/>
          </a:xfrm>
          <a:custGeom>
            <a:avLst/>
            <a:gdLst/>
            <a:ahLst/>
            <a:cxnLst/>
            <a:rect l="l" t="t" r="r" b="b"/>
            <a:pathLst>
              <a:path w="59689" h="631189">
                <a:moveTo>
                  <a:pt x="59435" y="0"/>
                </a:moveTo>
                <a:lnTo>
                  <a:pt x="59435" y="0"/>
                </a:lnTo>
                <a:lnTo>
                  <a:pt x="35687" y="23240"/>
                </a:lnTo>
                <a:lnTo>
                  <a:pt x="35687" y="290702"/>
                </a:lnTo>
                <a:lnTo>
                  <a:pt x="23749" y="302260"/>
                </a:lnTo>
                <a:lnTo>
                  <a:pt x="0" y="313943"/>
                </a:lnTo>
              </a:path>
              <a:path w="59689" h="631189">
                <a:moveTo>
                  <a:pt x="59435" y="630936"/>
                </a:moveTo>
                <a:lnTo>
                  <a:pt x="47497" y="619251"/>
                </a:lnTo>
                <a:lnTo>
                  <a:pt x="35687" y="607440"/>
                </a:lnTo>
                <a:lnTo>
                  <a:pt x="35687" y="595756"/>
                </a:lnTo>
                <a:lnTo>
                  <a:pt x="35687" y="548766"/>
                </a:lnTo>
                <a:lnTo>
                  <a:pt x="35687" y="466598"/>
                </a:lnTo>
                <a:lnTo>
                  <a:pt x="35687" y="396113"/>
                </a:lnTo>
                <a:lnTo>
                  <a:pt x="35687" y="349123"/>
                </a:lnTo>
                <a:lnTo>
                  <a:pt x="35687" y="337438"/>
                </a:lnTo>
                <a:lnTo>
                  <a:pt x="35687" y="325627"/>
                </a:lnTo>
                <a:lnTo>
                  <a:pt x="23749" y="325627"/>
                </a:lnTo>
                <a:lnTo>
                  <a:pt x="0" y="313943"/>
                </a:lnTo>
              </a:path>
            </a:pathLst>
          </a:custGeom>
          <a:ln w="10668">
            <a:solidFill>
              <a:srgbClr val="000000"/>
            </a:solidFill>
          </a:ln>
        </p:spPr>
        <p:txBody>
          <a:bodyPr wrap="square" lIns="0" tIns="0" rIns="0" bIns="0" rtlCol="0"/>
          <a:lstStyle/>
          <a:p>
            <a:endParaRPr>
              <a:latin typeface="Museo 300" pitchFamily="50" charset="0"/>
            </a:endParaRPr>
          </a:p>
        </p:txBody>
      </p:sp>
      <p:sp>
        <p:nvSpPr>
          <p:cNvPr id="145" name="object 145"/>
          <p:cNvSpPr txBox="1"/>
          <p:nvPr/>
        </p:nvSpPr>
        <p:spPr>
          <a:xfrm>
            <a:off x="6442793" y="750950"/>
            <a:ext cx="2214880" cy="346249"/>
          </a:xfrm>
          <a:prstGeom prst="rect">
            <a:avLst/>
          </a:prstGeom>
        </p:spPr>
        <p:txBody>
          <a:bodyPr vert="horz" wrap="square" lIns="0" tIns="30480" rIns="0" bIns="0" rtlCol="0">
            <a:spAutoFit/>
          </a:bodyPr>
          <a:lstStyle/>
          <a:p>
            <a:pPr marL="317500" marR="890269" indent="-304800">
              <a:lnSpc>
                <a:spcPts val="830"/>
              </a:lnSpc>
              <a:spcBef>
                <a:spcPts val="240"/>
              </a:spcBef>
            </a:pPr>
            <a:r>
              <a:rPr sz="800" spc="-5" dirty="0">
                <a:latin typeface="Carlito"/>
                <a:cs typeface="Carlito"/>
              </a:rPr>
              <a:t>Internal</a:t>
            </a:r>
            <a:r>
              <a:rPr sz="800" spc="-45" dirty="0">
                <a:latin typeface="Carlito"/>
                <a:cs typeface="Carlito"/>
              </a:rPr>
              <a:t> </a:t>
            </a:r>
            <a:r>
              <a:rPr sz="800" spc="-5" dirty="0">
                <a:latin typeface="Carlito"/>
                <a:cs typeface="Carlito"/>
              </a:rPr>
              <a:t>processor  bus</a:t>
            </a:r>
            <a:endParaRPr sz="800">
              <a:latin typeface="Carlito"/>
              <a:cs typeface="Carlito"/>
            </a:endParaRPr>
          </a:p>
          <a:p>
            <a:pPr marL="1041400">
              <a:lnSpc>
                <a:spcPct val="100000"/>
              </a:lnSpc>
              <a:spcBef>
                <a:spcPts val="690"/>
              </a:spcBef>
            </a:pPr>
            <a:r>
              <a:rPr sz="800" spc="-5" dirty="0">
                <a:solidFill>
                  <a:srgbClr val="00FFFF"/>
                </a:solidFill>
                <a:latin typeface="Carlito"/>
                <a:cs typeface="Carlito"/>
              </a:rPr>
              <a:t>Control</a:t>
            </a:r>
            <a:r>
              <a:rPr sz="800" spc="-35" dirty="0">
                <a:solidFill>
                  <a:srgbClr val="00FFFF"/>
                </a:solidFill>
                <a:latin typeface="Carlito"/>
                <a:cs typeface="Carlito"/>
              </a:rPr>
              <a:t> </a:t>
            </a:r>
            <a:r>
              <a:rPr sz="800" spc="-5" dirty="0">
                <a:solidFill>
                  <a:srgbClr val="00FFFF"/>
                </a:solidFill>
                <a:latin typeface="Carlito"/>
                <a:cs typeface="Carlito"/>
              </a:rPr>
              <a:t>signals</a:t>
            </a:r>
            <a:endParaRPr sz="800">
              <a:latin typeface="Carlito"/>
              <a:cs typeface="Carlito"/>
            </a:endParaRPr>
          </a:p>
        </p:txBody>
      </p:sp>
      <p:sp>
        <p:nvSpPr>
          <p:cNvPr id="146" name="object 146"/>
          <p:cNvSpPr txBox="1"/>
          <p:nvPr/>
        </p:nvSpPr>
        <p:spPr>
          <a:xfrm>
            <a:off x="7675541" y="1518540"/>
            <a:ext cx="1198880" cy="591124"/>
          </a:xfrm>
          <a:prstGeom prst="rect">
            <a:avLst/>
          </a:prstGeom>
          <a:solidFill>
            <a:srgbClr val="F7FFFF"/>
          </a:solidFill>
          <a:ln w="10667">
            <a:solidFill>
              <a:srgbClr val="00FFFF"/>
            </a:solidFill>
          </a:ln>
        </p:spPr>
        <p:txBody>
          <a:bodyPr vert="horz" wrap="square" lIns="0" tIns="3810" rIns="0" bIns="0" rtlCol="0">
            <a:spAutoFit/>
          </a:bodyPr>
          <a:lstStyle/>
          <a:p>
            <a:pPr>
              <a:lnSpc>
                <a:spcPct val="100000"/>
              </a:lnSpc>
              <a:spcBef>
                <a:spcPts val="30"/>
              </a:spcBef>
            </a:pPr>
            <a:endParaRPr sz="600">
              <a:latin typeface="Museo 300" pitchFamily="50" charset="0"/>
              <a:cs typeface="Times New Roman"/>
            </a:endParaRPr>
          </a:p>
          <a:p>
            <a:pPr marL="186690" marR="173355" indent="34290">
              <a:lnSpc>
                <a:spcPct val="134100"/>
              </a:lnSpc>
            </a:pPr>
            <a:r>
              <a:rPr sz="800" spc="-5" dirty="0">
                <a:latin typeface="Museo 300" pitchFamily="50" charset="0"/>
                <a:cs typeface="Carlito"/>
              </a:rPr>
              <a:t>Instruction  decoder </a:t>
            </a:r>
            <a:r>
              <a:rPr sz="800" dirty="0">
                <a:latin typeface="Museo 300" pitchFamily="50" charset="0"/>
                <a:cs typeface="Carlito"/>
              </a:rPr>
              <a:t>and  </a:t>
            </a:r>
            <a:r>
              <a:rPr sz="800" spc="-5" dirty="0">
                <a:latin typeface="Museo 300" pitchFamily="50" charset="0"/>
                <a:cs typeface="Carlito"/>
              </a:rPr>
              <a:t>control</a:t>
            </a:r>
            <a:r>
              <a:rPr sz="800" spc="-30" dirty="0">
                <a:latin typeface="Museo 300" pitchFamily="50" charset="0"/>
                <a:cs typeface="Carlito"/>
              </a:rPr>
              <a:t> </a:t>
            </a:r>
            <a:r>
              <a:rPr sz="800" spc="-5" dirty="0">
                <a:latin typeface="Museo 300" pitchFamily="50" charset="0"/>
                <a:cs typeface="Carlito"/>
              </a:rPr>
              <a:t>logic</a:t>
            </a:r>
            <a:endParaRPr sz="800">
              <a:latin typeface="Museo 300" pitchFamily="50" charset="0"/>
              <a:cs typeface="Carlito"/>
            </a:endParaRPr>
          </a:p>
        </p:txBody>
      </p:sp>
      <p:sp>
        <p:nvSpPr>
          <p:cNvPr id="147" name="object 147"/>
          <p:cNvSpPr/>
          <p:nvPr/>
        </p:nvSpPr>
        <p:spPr>
          <a:xfrm>
            <a:off x="4249590" y="4263262"/>
            <a:ext cx="77892" cy="548640"/>
          </a:xfrm>
          <a:custGeom>
            <a:avLst/>
            <a:gdLst/>
            <a:ahLst/>
            <a:cxnLst/>
            <a:rect l="l" t="t" r="r" b="b"/>
            <a:pathLst>
              <a:path w="58419" h="548639">
                <a:moveTo>
                  <a:pt x="57912" y="0"/>
                </a:moveTo>
                <a:lnTo>
                  <a:pt x="46355" y="11556"/>
                </a:lnTo>
                <a:lnTo>
                  <a:pt x="34798" y="11556"/>
                </a:lnTo>
                <a:lnTo>
                  <a:pt x="34798" y="23240"/>
                </a:lnTo>
                <a:lnTo>
                  <a:pt x="34798" y="34797"/>
                </a:lnTo>
                <a:lnTo>
                  <a:pt x="34798" y="81279"/>
                </a:lnTo>
                <a:lnTo>
                  <a:pt x="34798" y="139445"/>
                </a:lnTo>
                <a:lnTo>
                  <a:pt x="34798" y="197484"/>
                </a:lnTo>
                <a:lnTo>
                  <a:pt x="34798" y="243966"/>
                </a:lnTo>
                <a:lnTo>
                  <a:pt x="34798" y="255650"/>
                </a:lnTo>
                <a:lnTo>
                  <a:pt x="23113" y="267207"/>
                </a:lnTo>
                <a:lnTo>
                  <a:pt x="0" y="278891"/>
                </a:lnTo>
              </a:path>
              <a:path w="58419" h="548639">
                <a:moveTo>
                  <a:pt x="57912" y="548639"/>
                </a:moveTo>
                <a:lnTo>
                  <a:pt x="46355" y="536955"/>
                </a:lnTo>
                <a:lnTo>
                  <a:pt x="34798" y="536955"/>
                </a:lnTo>
                <a:lnTo>
                  <a:pt x="34798" y="525144"/>
                </a:lnTo>
                <a:lnTo>
                  <a:pt x="34798" y="513460"/>
                </a:lnTo>
                <a:lnTo>
                  <a:pt x="34798" y="466597"/>
                </a:lnTo>
                <a:lnTo>
                  <a:pt x="34798" y="407923"/>
                </a:lnTo>
                <a:lnTo>
                  <a:pt x="34798" y="349250"/>
                </a:lnTo>
                <a:lnTo>
                  <a:pt x="34798" y="302386"/>
                </a:lnTo>
                <a:lnTo>
                  <a:pt x="34798" y="290575"/>
                </a:lnTo>
                <a:lnTo>
                  <a:pt x="23113" y="278891"/>
                </a:lnTo>
                <a:lnTo>
                  <a:pt x="0" y="278891"/>
                </a:lnTo>
              </a:path>
            </a:pathLst>
          </a:custGeom>
          <a:ln w="10668">
            <a:solidFill>
              <a:srgbClr val="00FFFF"/>
            </a:solidFill>
          </a:ln>
        </p:spPr>
        <p:txBody>
          <a:bodyPr wrap="square" lIns="0" tIns="0" rIns="0" bIns="0" rtlCol="0"/>
          <a:lstStyle/>
          <a:p>
            <a:endParaRPr>
              <a:latin typeface="Museo 300" pitchFamily="50" charset="0"/>
            </a:endParaRPr>
          </a:p>
        </p:txBody>
      </p:sp>
      <p:grpSp>
        <p:nvGrpSpPr>
          <p:cNvPr id="148" name="object 148"/>
          <p:cNvGrpSpPr/>
          <p:nvPr/>
        </p:nvGrpSpPr>
        <p:grpSpPr>
          <a:xfrm>
            <a:off x="5177112" y="1057465"/>
            <a:ext cx="1898227" cy="4599940"/>
            <a:chOff x="3790124" y="1656524"/>
            <a:chExt cx="1423670" cy="4599940"/>
          </a:xfrm>
        </p:grpSpPr>
        <p:sp>
          <p:nvSpPr>
            <p:cNvPr id="149" name="object 149"/>
            <p:cNvSpPr/>
            <p:nvPr/>
          </p:nvSpPr>
          <p:spPr>
            <a:xfrm>
              <a:off x="4601717" y="1661921"/>
              <a:ext cx="607060" cy="4472940"/>
            </a:xfrm>
            <a:custGeom>
              <a:avLst/>
              <a:gdLst/>
              <a:ahLst/>
              <a:cxnLst/>
              <a:rect l="l" t="t" r="r" b="b"/>
              <a:pathLst>
                <a:path w="607060" h="4472940">
                  <a:moveTo>
                    <a:pt x="560070" y="103631"/>
                  </a:moveTo>
                  <a:lnTo>
                    <a:pt x="606552" y="103631"/>
                  </a:lnTo>
                  <a:lnTo>
                    <a:pt x="525272" y="0"/>
                  </a:lnTo>
                  <a:lnTo>
                    <a:pt x="455676" y="103631"/>
                  </a:lnTo>
                  <a:lnTo>
                    <a:pt x="490474" y="103631"/>
                  </a:lnTo>
                </a:path>
                <a:path w="607060" h="4472940">
                  <a:moveTo>
                    <a:pt x="490728" y="4472940"/>
                  </a:moveTo>
                  <a:lnTo>
                    <a:pt x="490728" y="103631"/>
                  </a:lnTo>
                </a:path>
                <a:path w="607060" h="4472940">
                  <a:moveTo>
                    <a:pt x="571500" y="4472940"/>
                  </a:moveTo>
                  <a:lnTo>
                    <a:pt x="571500" y="103631"/>
                  </a:lnTo>
                </a:path>
                <a:path w="607060" h="4472940">
                  <a:moveTo>
                    <a:pt x="70104" y="371855"/>
                  </a:moveTo>
                  <a:lnTo>
                    <a:pt x="0" y="384048"/>
                  </a:lnTo>
                  <a:lnTo>
                    <a:pt x="70104" y="396239"/>
                  </a:lnTo>
                  <a:lnTo>
                    <a:pt x="70104" y="384048"/>
                  </a:lnTo>
                  <a:lnTo>
                    <a:pt x="70104" y="371855"/>
                  </a:lnTo>
                </a:path>
              </a:pathLst>
            </a:custGeom>
            <a:ln w="10668">
              <a:solidFill>
                <a:srgbClr val="000000"/>
              </a:solidFill>
            </a:ln>
          </p:spPr>
          <p:txBody>
            <a:bodyPr wrap="square" lIns="0" tIns="0" rIns="0" bIns="0" rtlCol="0"/>
            <a:lstStyle/>
            <a:p>
              <a:endParaRPr>
                <a:latin typeface="Museo 300" pitchFamily="50" charset="0"/>
              </a:endParaRPr>
            </a:p>
          </p:txBody>
        </p:sp>
        <p:sp>
          <p:nvSpPr>
            <p:cNvPr id="150" name="object 150"/>
            <p:cNvSpPr/>
            <p:nvPr/>
          </p:nvSpPr>
          <p:spPr>
            <a:xfrm>
              <a:off x="4601717" y="2033777"/>
              <a:ext cx="70485" cy="24765"/>
            </a:xfrm>
            <a:custGeom>
              <a:avLst/>
              <a:gdLst/>
              <a:ahLst/>
              <a:cxnLst/>
              <a:rect l="l" t="t" r="r" b="b"/>
              <a:pathLst>
                <a:path w="70485" h="24764">
                  <a:moveTo>
                    <a:pt x="70104" y="0"/>
                  </a:moveTo>
                  <a:lnTo>
                    <a:pt x="0" y="12954"/>
                  </a:lnTo>
                  <a:lnTo>
                    <a:pt x="70104" y="24384"/>
                  </a:lnTo>
                  <a:lnTo>
                    <a:pt x="70104" y="0"/>
                  </a:lnTo>
                  <a:close/>
                </a:path>
              </a:pathLst>
            </a:custGeom>
            <a:solidFill>
              <a:srgbClr val="000000"/>
            </a:solidFill>
          </p:spPr>
          <p:txBody>
            <a:bodyPr wrap="square" lIns="0" tIns="0" rIns="0" bIns="0" rtlCol="0"/>
            <a:lstStyle/>
            <a:p>
              <a:endParaRPr>
                <a:latin typeface="Museo 300" pitchFamily="50" charset="0"/>
              </a:endParaRPr>
            </a:p>
          </p:txBody>
        </p:sp>
        <p:sp>
          <p:nvSpPr>
            <p:cNvPr id="151" name="object 151"/>
            <p:cNvSpPr/>
            <p:nvPr/>
          </p:nvSpPr>
          <p:spPr>
            <a:xfrm>
              <a:off x="4601717" y="2033777"/>
              <a:ext cx="70485" cy="24765"/>
            </a:xfrm>
            <a:custGeom>
              <a:avLst/>
              <a:gdLst/>
              <a:ahLst/>
              <a:cxnLst/>
              <a:rect l="l" t="t" r="r" b="b"/>
              <a:pathLst>
                <a:path w="70485" h="24764">
                  <a:moveTo>
                    <a:pt x="70104" y="0"/>
                  </a:moveTo>
                  <a:lnTo>
                    <a:pt x="0" y="12954"/>
                  </a:lnTo>
                  <a:lnTo>
                    <a:pt x="70104" y="24384"/>
                  </a:lnTo>
                  <a:lnTo>
                    <a:pt x="70104" y="12954"/>
                  </a:lnTo>
                  <a:lnTo>
                    <a:pt x="70104"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52" name="object 152"/>
            <p:cNvSpPr/>
            <p:nvPr/>
          </p:nvSpPr>
          <p:spPr>
            <a:xfrm>
              <a:off x="4997958" y="2033777"/>
              <a:ext cx="81280" cy="24765"/>
            </a:xfrm>
            <a:custGeom>
              <a:avLst/>
              <a:gdLst/>
              <a:ahLst/>
              <a:cxnLst/>
              <a:rect l="l" t="t" r="r" b="b"/>
              <a:pathLst>
                <a:path w="81279" h="24764">
                  <a:moveTo>
                    <a:pt x="0" y="24384"/>
                  </a:moveTo>
                  <a:lnTo>
                    <a:pt x="80771" y="12192"/>
                  </a:lnTo>
                  <a:lnTo>
                    <a:pt x="0" y="0"/>
                  </a:lnTo>
                  <a:lnTo>
                    <a:pt x="0" y="12192"/>
                  </a:lnTo>
                  <a:lnTo>
                    <a:pt x="0" y="24384"/>
                  </a:lnTo>
                </a:path>
              </a:pathLst>
            </a:custGeom>
            <a:ln w="10668">
              <a:solidFill>
                <a:srgbClr val="000000"/>
              </a:solidFill>
            </a:ln>
          </p:spPr>
          <p:txBody>
            <a:bodyPr wrap="square" lIns="0" tIns="0" rIns="0" bIns="0" rtlCol="0"/>
            <a:lstStyle/>
            <a:p>
              <a:endParaRPr>
                <a:latin typeface="Museo 300" pitchFamily="50" charset="0"/>
              </a:endParaRPr>
            </a:p>
          </p:txBody>
        </p:sp>
        <p:sp>
          <p:nvSpPr>
            <p:cNvPr id="153" name="object 153"/>
            <p:cNvSpPr/>
            <p:nvPr/>
          </p:nvSpPr>
          <p:spPr>
            <a:xfrm>
              <a:off x="4997958" y="2033777"/>
              <a:ext cx="81280" cy="24765"/>
            </a:xfrm>
            <a:custGeom>
              <a:avLst/>
              <a:gdLst/>
              <a:ahLst/>
              <a:cxnLst/>
              <a:rect l="l" t="t" r="r" b="b"/>
              <a:pathLst>
                <a:path w="81279" h="24764">
                  <a:moveTo>
                    <a:pt x="0" y="0"/>
                  </a:moveTo>
                  <a:lnTo>
                    <a:pt x="0" y="24384"/>
                  </a:lnTo>
                  <a:lnTo>
                    <a:pt x="80771" y="12954"/>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154" name="object 154"/>
            <p:cNvSpPr/>
            <p:nvPr/>
          </p:nvSpPr>
          <p:spPr>
            <a:xfrm>
              <a:off x="4997958" y="2033777"/>
              <a:ext cx="81280" cy="24765"/>
            </a:xfrm>
            <a:custGeom>
              <a:avLst/>
              <a:gdLst/>
              <a:ahLst/>
              <a:cxnLst/>
              <a:rect l="l" t="t" r="r" b="b"/>
              <a:pathLst>
                <a:path w="81279" h="24764">
                  <a:moveTo>
                    <a:pt x="0" y="24384"/>
                  </a:moveTo>
                  <a:lnTo>
                    <a:pt x="80771" y="12954"/>
                  </a:lnTo>
                  <a:lnTo>
                    <a:pt x="0" y="0"/>
                  </a:lnTo>
                  <a:lnTo>
                    <a:pt x="0" y="12954"/>
                  </a:lnTo>
                  <a:lnTo>
                    <a:pt x="0" y="24384"/>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55" name="object 155"/>
            <p:cNvSpPr/>
            <p:nvPr/>
          </p:nvSpPr>
          <p:spPr>
            <a:xfrm>
              <a:off x="4601717" y="2047493"/>
              <a:ext cx="396240" cy="641985"/>
            </a:xfrm>
            <a:custGeom>
              <a:avLst/>
              <a:gdLst/>
              <a:ahLst/>
              <a:cxnLst/>
              <a:rect l="l" t="t" r="r" b="b"/>
              <a:pathLst>
                <a:path w="396239" h="641985">
                  <a:moveTo>
                    <a:pt x="396240" y="0"/>
                  </a:moveTo>
                  <a:lnTo>
                    <a:pt x="70104" y="0"/>
                  </a:lnTo>
                </a:path>
                <a:path w="396239" h="641985">
                  <a:moveTo>
                    <a:pt x="57912" y="618743"/>
                  </a:moveTo>
                  <a:lnTo>
                    <a:pt x="0" y="630173"/>
                  </a:lnTo>
                  <a:lnTo>
                    <a:pt x="57912" y="641603"/>
                  </a:lnTo>
                  <a:lnTo>
                    <a:pt x="57912" y="630173"/>
                  </a:lnTo>
                  <a:lnTo>
                    <a:pt x="57912" y="618743"/>
                  </a:lnTo>
                </a:path>
              </a:pathLst>
            </a:custGeom>
            <a:ln w="10668">
              <a:solidFill>
                <a:srgbClr val="000000"/>
              </a:solidFill>
            </a:ln>
          </p:spPr>
          <p:txBody>
            <a:bodyPr wrap="square" lIns="0" tIns="0" rIns="0" bIns="0" rtlCol="0"/>
            <a:lstStyle/>
            <a:p>
              <a:endParaRPr>
                <a:latin typeface="Museo 300" pitchFamily="50" charset="0"/>
              </a:endParaRPr>
            </a:p>
          </p:txBody>
        </p:sp>
        <p:sp>
          <p:nvSpPr>
            <p:cNvPr id="156" name="object 156"/>
            <p:cNvSpPr/>
            <p:nvPr/>
          </p:nvSpPr>
          <p:spPr>
            <a:xfrm>
              <a:off x="4601717" y="2666237"/>
              <a:ext cx="58419" cy="22860"/>
            </a:xfrm>
            <a:custGeom>
              <a:avLst/>
              <a:gdLst/>
              <a:ahLst/>
              <a:cxnLst/>
              <a:rect l="l" t="t" r="r" b="b"/>
              <a:pathLst>
                <a:path w="58420" h="22860">
                  <a:moveTo>
                    <a:pt x="57912" y="0"/>
                  </a:moveTo>
                  <a:lnTo>
                    <a:pt x="0" y="11429"/>
                  </a:lnTo>
                  <a:lnTo>
                    <a:pt x="57912" y="22860"/>
                  </a:lnTo>
                  <a:lnTo>
                    <a:pt x="57912" y="0"/>
                  </a:lnTo>
                  <a:close/>
                </a:path>
              </a:pathLst>
            </a:custGeom>
            <a:solidFill>
              <a:srgbClr val="000000"/>
            </a:solidFill>
          </p:spPr>
          <p:txBody>
            <a:bodyPr wrap="square" lIns="0" tIns="0" rIns="0" bIns="0" rtlCol="0"/>
            <a:lstStyle/>
            <a:p>
              <a:endParaRPr>
                <a:latin typeface="Museo 300" pitchFamily="50" charset="0"/>
              </a:endParaRPr>
            </a:p>
          </p:txBody>
        </p:sp>
        <p:sp>
          <p:nvSpPr>
            <p:cNvPr id="157" name="object 157"/>
            <p:cNvSpPr/>
            <p:nvPr/>
          </p:nvSpPr>
          <p:spPr>
            <a:xfrm>
              <a:off x="4601717" y="2666237"/>
              <a:ext cx="58419" cy="22860"/>
            </a:xfrm>
            <a:custGeom>
              <a:avLst/>
              <a:gdLst/>
              <a:ahLst/>
              <a:cxnLst/>
              <a:rect l="l" t="t" r="r" b="b"/>
              <a:pathLst>
                <a:path w="58420" h="22860">
                  <a:moveTo>
                    <a:pt x="57912" y="0"/>
                  </a:moveTo>
                  <a:lnTo>
                    <a:pt x="0" y="11429"/>
                  </a:lnTo>
                  <a:lnTo>
                    <a:pt x="57912" y="22860"/>
                  </a:lnTo>
                  <a:lnTo>
                    <a:pt x="57912" y="11429"/>
                  </a:lnTo>
                  <a:lnTo>
                    <a:pt x="57912"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58" name="object 158"/>
            <p:cNvSpPr/>
            <p:nvPr/>
          </p:nvSpPr>
          <p:spPr>
            <a:xfrm>
              <a:off x="4601717" y="2676905"/>
              <a:ext cx="490855" cy="596265"/>
            </a:xfrm>
            <a:custGeom>
              <a:avLst/>
              <a:gdLst/>
              <a:ahLst/>
              <a:cxnLst/>
              <a:rect l="l" t="t" r="r" b="b"/>
              <a:pathLst>
                <a:path w="490854" h="596264">
                  <a:moveTo>
                    <a:pt x="490728" y="0"/>
                  </a:moveTo>
                  <a:lnTo>
                    <a:pt x="57912" y="0"/>
                  </a:lnTo>
                </a:path>
                <a:path w="490854" h="596264">
                  <a:moveTo>
                    <a:pt x="57912" y="573024"/>
                  </a:moveTo>
                  <a:lnTo>
                    <a:pt x="0" y="584454"/>
                  </a:lnTo>
                  <a:lnTo>
                    <a:pt x="57912" y="595884"/>
                  </a:lnTo>
                  <a:lnTo>
                    <a:pt x="57912" y="584454"/>
                  </a:lnTo>
                  <a:lnTo>
                    <a:pt x="57912" y="573024"/>
                  </a:lnTo>
                </a:path>
              </a:pathLst>
            </a:custGeom>
            <a:ln w="10668">
              <a:solidFill>
                <a:srgbClr val="000000"/>
              </a:solidFill>
            </a:ln>
          </p:spPr>
          <p:txBody>
            <a:bodyPr wrap="square" lIns="0" tIns="0" rIns="0" bIns="0" rtlCol="0"/>
            <a:lstStyle/>
            <a:p>
              <a:endParaRPr>
                <a:latin typeface="Museo 300" pitchFamily="50" charset="0"/>
              </a:endParaRPr>
            </a:p>
          </p:txBody>
        </p:sp>
        <p:sp>
          <p:nvSpPr>
            <p:cNvPr id="159" name="object 159"/>
            <p:cNvSpPr/>
            <p:nvPr/>
          </p:nvSpPr>
          <p:spPr>
            <a:xfrm>
              <a:off x="4601717" y="3249929"/>
              <a:ext cx="58419" cy="22860"/>
            </a:xfrm>
            <a:custGeom>
              <a:avLst/>
              <a:gdLst/>
              <a:ahLst/>
              <a:cxnLst/>
              <a:rect l="l" t="t" r="r" b="b"/>
              <a:pathLst>
                <a:path w="58420" h="22860">
                  <a:moveTo>
                    <a:pt x="57912" y="0"/>
                  </a:moveTo>
                  <a:lnTo>
                    <a:pt x="0" y="11430"/>
                  </a:lnTo>
                  <a:lnTo>
                    <a:pt x="57912" y="22860"/>
                  </a:lnTo>
                  <a:lnTo>
                    <a:pt x="57912" y="0"/>
                  </a:lnTo>
                  <a:close/>
                </a:path>
              </a:pathLst>
            </a:custGeom>
            <a:solidFill>
              <a:srgbClr val="000000"/>
            </a:solidFill>
          </p:spPr>
          <p:txBody>
            <a:bodyPr wrap="square" lIns="0" tIns="0" rIns="0" bIns="0" rtlCol="0"/>
            <a:lstStyle/>
            <a:p>
              <a:endParaRPr>
                <a:latin typeface="Museo 300" pitchFamily="50" charset="0"/>
              </a:endParaRPr>
            </a:p>
          </p:txBody>
        </p:sp>
        <p:sp>
          <p:nvSpPr>
            <p:cNvPr id="160" name="object 160"/>
            <p:cNvSpPr/>
            <p:nvPr/>
          </p:nvSpPr>
          <p:spPr>
            <a:xfrm>
              <a:off x="4601717" y="3249929"/>
              <a:ext cx="58419" cy="22860"/>
            </a:xfrm>
            <a:custGeom>
              <a:avLst/>
              <a:gdLst/>
              <a:ahLst/>
              <a:cxnLst/>
              <a:rect l="l" t="t" r="r" b="b"/>
              <a:pathLst>
                <a:path w="58420" h="22860">
                  <a:moveTo>
                    <a:pt x="57912" y="0"/>
                  </a:moveTo>
                  <a:lnTo>
                    <a:pt x="0" y="11430"/>
                  </a:lnTo>
                  <a:lnTo>
                    <a:pt x="57912" y="22860"/>
                  </a:lnTo>
                  <a:lnTo>
                    <a:pt x="57912" y="11430"/>
                  </a:lnTo>
                  <a:lnTo>
                    <a:pt x="57912"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61" name="object 161"/>
            <p:cNvSpPr/>
            <p:nvPr/>
          </p:nvSpPr>
          <p:spPr>
            <a:xfrm>
              <a:off x="5022341" y="3249929"/>
              <a:ext cx="56515" cy="22860"/>
            </a:xfrm>
            <a:custGeom>
              <a:avLst/>
              <a:gdLst/>
              <a:ahLst/>
              <a:cxnLst/>
              <a:rect l="l" t="t" r="r" b="b"/>
              <a:pathLst>
                <a:path w="56514" h="22860">
                  <a:moveTo>
                    <a:pt x="0" y="22860"/>
                  </a:moveTo>
                  <a:lnTo>
                    <a:pt x="56387" y="11430"/>
                  </a:lnTo>
                  <a:lnTo>
                    <a:pt x="0" y="0"/>
                  </a:lnTo>
                  <a:lnTo>
                    <a:pt x="0" y="11430"/>
                  </a:lnTo>
                  <a:lnTo>
                    <a:pt x="0" y="22860"/>
                  </a:lnTo>
                </a:path>
              </a:pathLst>
            </a:custGeom>
            <a:ln w="10668">
              <a:solidFill>
                <a:srgbClr val="000000"/>
              </a:solidFill>
            </a:ln>
          </p:spPr>
          <p:txBody>
            <a:bodyPr wrap="square" lIns="0" tIns="0" rIns="0" bIns="0" rtlCol="0"/>
            <a:lstStyle/>
            <a:p>
              <a:endParaRPr>
                <a:latin typeface="Museo 300" pitchFamily="50" charset="0"/>
              </a:endParaRPr>
            </a:p>
          </p:txBody>
        </p:sp>
        <p:sp>
          <p:nvSpPr>
            <p:cNvPr id="162" name="object 162"/>
            <p:cNvSpPr/>
            <p:nvPr/>
          </p:nvSpPr>
          <p:spPr>
            <a:xfrm>
              <a:off x="5022341" y="3249929"/>
              <a:ext cx="56515" cy="22860"/>
            </a:xfrm>
            <a:custGeom>
              <a:avLst/>
              <a:gdLst/>
              <a:ahLst/>
              <a:cxnLst/>
              <a:rect l="l" t="t" r="r" b="b"/>
              <a:pathLst>
                <a:path w="56514" h="22860">
                  <a:moveTo>
                    <a:pt x="0" y="0"/>
                  </a:moveTo>
                  <a:lnTo>
                    <a:pt x="0" y="22860"/>
                  </a:lnTo>
                  <a:lnTo>
                    <a:pt x="56387" y="11430"/>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163" name="object 163"/>
            <p:cNvSpPr/>
            <p:nvPr/>
          </p:nvSpPr>
          <p:spPr>
            <a:xfrm>
              <a:off x="5022341" y="3249929"/>
              <a:ext cx="56515" cy="22860"/>
            </a:xfrm>
            <a:custGeom>
              <a:avLst/>
              <a:gdLst/>
              <a:ahLst/>
              <a:cxnLst/>
              <a:rect l="l" t="t" r="r" b="b"/>
              <a:pathLst>
                <a:path w="56514" h="22860">
                  <a:moveTo>
                    <a:pt x="0" y="22860"/>
                  </a:moveTo>
                  <a:lnTo>
                    <a:pt x="56387" y="11430"/>
                  </a:lnTo>
                  <a:lnTo>
                    <a:pt x="0" y="0"/>
                  </a:lnTo>
                  <a:lnTo>
                    <a:pt x="0" y="11430"/>
                  </a:lnTo>
                  <a:lnTo>
                    <a:pt x="0" y="2286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64" name="object 164"/>
            <p:cNvSpPr/>
            <p:nvPr/>
          </p:nvSpPr>
          <p:spPr>
            <a:xfrm>
              <a:off x="4601717" y="3262122"/>
              <a:ext cx="421005" cy="594360"/>
            </a:xfrm>
            <a:custGeom>
              <a:avLst/>
              <a:gdLst/>
              <a:ahLst/>
              <a:cxnLst/>
              <a:rect l="l" t="t" r="r" b="b"/>
              <a:pathLst>
                <a:path w="421004" h="594360">
                  <a:moveTo>
                    <a:pt x="420624" y="0"/>
                  </a:moveTo>
                  <a:lnTo>
                    <a:pt x="57912" y="0"/>
                  </a:lnTo>
                </a:path>
                <a:path w="421004" h="594360">
                  <a:moveTo>
                    <a:pt x="70104" y="559307"/>
                  </a:moveTo>
                  <a:lnTo>
                    <a:pt x="0" y="582676"/>
                  </a:lnTo>
                  <a:lnTo>
                    <a:pt x="70104" y="594359"/>
                  </a:lnTo>
                  <a:lnTo>
                    <a:pt x="70104" y="582676"/>
                  </a:lnTo>
                  <a:lnTo>
                    <a:pt x="70104" y="559307"/>
                  </a:lnTo>
                </a:path>
              </a:pathLst>
            </a:custGeom>
            <a:ln w="10668">
              <a:solidFill>
                <a:srgbClr val="000000"/>
              </a:solidFill>
            </a:ln>
          </p:spPr>
          <p:txBody>
            <a:bodyPr wrap="square" lIns="0" tIns="0" rIns="0" bIns="0" rtlCol="0"/>
            <a:lstStyle/>
            <a:p>
              <a:endParaRPr>
                <a:latin typeface="Museo 300" pitchFamily="50" charset="0"/>
              </a:endParaRPr>
            </a:p>
          </p:txBody>
        </p:sp>
        <p:sp>
          <p:nvSpPr>
            <p:cNvPr id="165" name="object 165"/>
            <p:cNvSpPr/>
            <p:nvPr/>
          </p:nvSpPr>
          <p:spPr>
            <a:xfrm>
              <a:off x="4601717" y="3821429"/>
              <a:ext cx="70485" cy="35560"/>
            </a:xfrm>
            <a:custGeom>
              <a:avLst/>
              <a:gdLst/>
              <a:ahLst/>
              <a:cxnLst/>
              <a:rect l="l" t="t" r="r" b="b"/>
              <a:pathLst>
                <a:path w="70485" h="35560">
                  <a:moveTo>
                    <a:pt x="70104" y="0"/>
                  </a:moveTo>
                  <a:lnTo>
                    <a:pt x="0" y="23876"/>
                  </a:lnTo>
                  <a:lnTo>
                    <a:pt x="70104" y="35052"/>
                  </a:lnTo>
                  <a:lnTo>
                    <a:pt x="70104" y="0"/>
                  </a:lnTo>
                  <a:close/>
                </a:path>
              </a:pathLst>
            </a:custGeom>
            <a:solidFill>
              <a:srgbClr val="000000"/>
            </a:solidFill>
          </p:spPr>
          <p:txBody>
            <a:bodyPr wrap="square" lIns="0" tIns="0" rIns="0" bIns="0" rtlCol="0"/>
            <a:lstStyle/>
            <a:p>
              <a:endParaRPr>
                <a:latin typeface="Museo 300" pitchFamily="50" charset="0"/>
              </a:endParaRPr>
            </a:p>
          </p:txBody>
        </p:sp>
        <p:sp>
          <p:nvSpPr>
            <p:cNvPr id="166" name="object 166"/>
            <p:cNvSpPr/>
            <p:nvPr/>
          </p:nvSpPr>
          <p:spPr>
            <a:xfrm>
              <a:off x="4601717" y="3821429"/>
              <a:ext cx="70485" cy="35560"/>
            </a:xfrm>
            <a:custGeom>
              <a:avLst/>
              <a:gdLst/>
              <a:ahLst/>
              <a:cxnLst/>
              <a:rect l="l" t="t" r="r" b="b"/>
              <a:pathLst>
                <a:path w="70485" h="35560">
                  <a:moveTo>
                    <a:pt x="70104" y="0"/>
                  </a:moveTo>
                  <a:lnTo>
                    <a:pt x="0" y="23876"/>
                  </a:lnTo>
                  <a:lnTo>
                    <a:pt x="70104" y="35052"/>
                  </a:lnTo>
                  <a:lnTo>
                    <a:pt x="70104" y="23876"/>
                  </a:lnTo>
                  <a:lnTo>
                    <a:pt x="70104"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67" name="object 167"/>
            <p:cNvSpPr/>
            <p:nvPr/>
          </p:nvSpPr>
          <p:spPr>
            <a:xfrm>
              <a:off x="3795521" y="3845813"/>
              <a:ext cx="1297305" cy="957580"/>
            </a:xfrm>
            <a:custGeom>
              <a:avLst/>
              <a:gdLst/>
              <a:ahLst/>
              <a:cxnLst/>
              <a:rect l="l" t="t" r="r" b="b"/>
              <a:pathLst>
                <a:path w="1297304" h="957579">
                  <a:moveTo>
                    <a:pt x="1296924" y="0"/>
                  </a:moveTo>
                  <a:lnTo>
                    <a:pt x="876300" y="0"/>
                  </a:lnTo>
                </a:path>
                <a:path w="1297304" h="957579">
                  <a:moveTo>
                    <a:pt x="0" y="899160"/>
                  </a:moveTo>
                  <a:lnTo>
                    <a:pt x="11429" y="957072"/>
                  </a:lnTo>
                  <a:lnTo>
                    <a:pt x="22860" y="899160"/>
                  </a:lnTo>
                  <a:lnTo>
                    <a:pt x="11429" y="899160"/>
                  </a:lnTo>
                  <a:lnTo>
                    <a:pt x="0" y="899160"/>
                  </a:lnTo>
                </a:path>
              </a:pathLst>
            </a:custGeom>
            <a:ln w="10668">
              <a:solidFill>
                <a:srgbClr val="000000"/>
              </a:solidFill>
            </a:ln>
          </p:spPr>
          <p:txBody>
            <a:bodyPr wrap="square" lIns="0" tIns="0" rIns="0" bIns="0" rtlCol="0"/>
            <a:lstStyle/>
            <a:p>
              <a:endParaRPr>
                <a:latin typeface="Museo 300" pitchFamily="50" charset="0"/>
              </a:endParaRPr>
            </a:p>
          </p:txBody>
        </p:sp>
        <p:sp>
          <p:nvSpPr>
            <p:cNvPr id="168" name="object 168"/>
            <p:cNvSpPr/>
            <p:nvPr/>
          </p:nvSpPr>
          <p:spPr>
            <a:xfrm>
              <a:off x="3795521" y="4744973"/>
              <a:ext cx="22860" cy="58419"/>
            </a:xfrm>
            <a:custGeom>
              <a:avLst/>
              <a:gdLst/>
              <a:ahLst/>
              <a:cxnLst/>
              <a:rect l="l" t="t" r="r" b="b"/>
              <a:pathLst>
                <a:path w="22860" h="58420">
                  <a:moveTo>
                    <a:pt x="22860" y="0"/>
                  </a:moveTo>
                  <a:lnTo>
                    <a:pt x="0" y="0"/>
                  </a:lnTo>
                  <a:lnTo>
                    <a:pt x="10667" y="57912"/>
                  </a:lnTo>
                  <a:lnTo>
                    <a:pt x="22860" y="0"/>
                  </a:lnTo>
                  <a:close/>
                </a:path>
              </a:pathLst>
            </a:custGeom>
            <a:solidFill>
              <a:srgbClr val="000000"/>
            </a:solidFill>
          </p:spPr>
          <p:txBody>
            <a:bodyPr wrap="square" lIns="0" tIns="0" rIns="0" bIns="0" rtlCol="0"/>
            <a:lstStyle/>
            <a:p>
              <a:endParaRPr>
                <a:latin typeface="Museo 300" pitchFamily="50" charset="0"/>
              </a:endParaRPr>
            </a:p>
          </p:txBody>
        </p:sp>
        <p:sp>
          <p:nvSpPr>
            <p:cNvPr id="169" name="object 169"/>
            <p:cNvSpPr/>
            <p:nvPr/>
          </p:nvSpPr>
          <p:spPr>
            <a:xfrm>
              <a:off x="3795521" y="4744973"/>
              <a:ext cx="22860" cy="58419"/>
            </a:xfrm>
            <a:custGeom>
              <a:avLst/>
              <a:gdLst/>
              <a:ahLst/>
              <a:cxnLst/>
              <a:rect l="l" t="t" r="r" b="b"/>
              <a:pathLst>
                <a:path w="22860" h="58420">
                  <a:moveTo>
                    <a:pt x="0" y="0"/>
                  </a:moveTo>
                  <a:lnTo>
                    <a:pt x="10667" y="57912"/>
                  </a:lnTo>
                  <a:lnTo>
                    <a:pt x="22860" y="0"/>
                  </a:lnTo>
                  <a:lnTo>
                    <a:pt x="10667"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70" name="object 170"/>
            <p:cNvSpPr/>
            <p:nvPr/>
          </p:nvSpPr>
          <p:spPr>
            <a:xfrm>
              <a:off x="3806189" y="4559045"/>
              <a:ext cx="1402080" cy="1691639"/>
            </a:xfrm>
            <a:custGeom>
              <a:avLst/>
              <a:gdLst/>
              <a:ahLst/>
              <a:cxnLst/>
              <a:rect l="l" t="t" r="r" b="b"/>
              <a:pathLst>
                <a:path w="1402079" h="1691639">
                  <a:moveTo>
                    <a:pt x="0" y="173735"/>
                  </a:moveTo>
                  <a:lnTo>
                    <a:pt x="0" y="0"/>
                  </a:lnTo>
                </a:path>
                <a:path w="1402079" h="1691639">
                  <a:moveTo>
                    <a:pt x="1355598" y="1575815"/>
                  </a:moveTo>
                  <a:lnTo>
                    <a:pt x="1402080" y="1575815"/>
                  </a:lnTo>
                  <a:lnTo>
                    <a:pt x="1320800" y="1691639"/>
                  </a:lnTo>
                  <a:lnTo>
                    <a:pt x="1251204" y="1575815"/>
                  </a:lnTo>
                  <a:lnTo>
                    <a:pt x="1286002" y="1575815"/>
                  </a:lnTo>
                </a:path>
              </a:pathLst>
            </a:custGeom>
            <a:ln w="10668">
              <a:solidFill>
                <a:srgbClr val="000000"/>
              </a:solidFill>
            </a:ln>
          </p:spPr>
          <p:txBody>
            <a:bodyPr wrap="square" lIns="0" tIns="0" rIns="0" bIns="0" rtlCol="0"/>
            <a:lstStyle/>
            <a:p>
              <a:endParaRPr>
                <a:latin typeface="Museo 300" pitchFamily="50" charset="0"/>
              </a:endParaRPr>
            </a:p>
          </p:txBody>
        </p:sp>
        <p:sp>
          <p:nvSpPr>
            <p:cNvPr id="171" name="object 171"/>
            <p:cNvSpPr/>
            <p:nvPr/>
          </p:nvSpPr>
          <p:spPr>
            <a:xfrm>
              <a:off x="4070603" y="3950969"/>
              <a:ext cx="80772" cy="390906"/>
            </a:xfrm>
            <a:prstGeom prst="rect">
              <a:avLst/>
            </a:prstGeom>
            <a:blipFill>
              <a:blip r:embed="rId3" cstate="print"/>
              <a:stretch>
                <a:fillRect/>
              </a:stretch>
            </a:blipFill>
          </p:spPr>
          <p:txBody>
            <a:bodyPr wrap="square" lIns="0" tIns="0" rIns="0" bIns="0" rtlCol="0"/>
            <a:lstStyle/>
            <a:p>
              <a:endParaRPr>
                <a:latin typeface="Museo 300" pitchFamily="50" charset="0"/>
              </a:endParaRPr>
            </a:p>
          </p:txBody>
        </p:sp>
      </p:grpSp>
      <p:sp>
        <p:nvSpPr>
          <p:cNvPr id="172" name="object 172"/>
          <p:cNvSpPr txBox="1"/>
          <p:nvPr/>
        </p:nvSpPr>
        <p:spPr>
          <a:xfrm>
            <a:off x="5134693" y="4209288"/>
            <a:ext cx="113453" cy="135935"/>
          </a:xfrm>
          <a:prstGeom prst="rect">
            <a:avLst/>
          </a:prstGeom>
        </p:spPr>
        <p:txBody>
          <a:bodyPr vert="horz" wrap="square" lIns="0" tIns="12700" rIns="0" bIns="0" rtlCol="0">
            <a:spAutoFit/>
          </a:bodyPr>
          <a:lstStyle/>
          <a:p>
            <a:pPr marL="12700">
              <a:lnSpc>
                <a:spcPct val="100000"/>
              </a:lnSpc>
              <a:spcBef>
                <a:spcPts val="100"/>
              </a:spcBef>
            </a:pPr>
            <a:r>
              <a:rPr sz="800" dirty="0">
                <a:latin typeface="Museo 300" pitchFamily="50" charset="0"/>
                <a:cs typeface="Carlito"/>
              </a:rPr>
              <a:t>A</a:t>
            </a:r>
            <a:endParaRPr sz="800">
              <a:latin typeface="Museo 300" pitchFamily="50" charset="0"/>
              <a:cs typeface="Carlito"/>
            </a:endParaRPr>
          </a:p>
        </p:txBody>
      </p:sp>
      <p:sp>
        <p:nvSpPr>
          <p:cNvPr id="173" name="object 173"/>
          <p:cNvSpPr txBox="1"/>
          <p:nvPr/>
        </p:nvSpPr>
        <p:spPr>
          <a:xfrm>
            <a:off x="6085161" y="4209288"/>
            <a:ext cx="108373" cy="135935"/>
          </a:xfrm>
          <a:prstGeom prst="rect">
            <a:avLst/>
          </a:prstGeom>
        </p:spPr>
        <p:txBody>
          <a:bodyPr vert="horz" wrap="square" lIns="0" tIns="12700" rIns="0" bIns="0" rtlCol="0">
            <a:spAutoFit/>
          </a:bodyPr>
          <a:lstStyle/>
          <a:p>
            <a:pPr marL="12700">
              <a:lnSpc>
                <a:spcPct val="100000"/>
              </a:lnSpc>
              <a:spcBef>
                <a:spcPts val="100"/>
              </a:spcBef>
            </a:pPr>
            <a:r>
              <a:rPr sz="800" dirty="0">
                <a:latin typeface="Museo 300" pitchFamily="50" charset="0"/>
                <a:cs typeface="Carlito"/>
              </a:rPr>
              <a:t>B</a:t>
            </a:r>
            <a:endParaRPr sz="800">
              <a:latin typeface="Museo 300" pitchFamily="50" charset="0"/>
              <a:cs typeface="Carlito"/>
            </a:endParaRPr>
          </a:p>
        </p:txBody>
      </p:sp>
      <p:sp>
        <p:nvSpPr>
          <p:cNvPr id="174" name="object 174"/>
          <p:cNvSpPr txBox="1"/>
          <p:nvPr/>
        </p:nvSpPr>
        <p:spPr>
          <a:xfrm>
            <a:off x="5011926" y="3764534"/>
            <a:ext cx="308187" cy="135935"/>
          </a:xfrm>
          <a:prstGeom prst="rect">
            <a:avLst/>
          </a:prstGeom>
        </p:spPr>
        <p:txBody>
          <a:bodyPr vert="horz" wrap="square" lIns="0" tIns="12700" rIns="0" bIns="0" rtlCol="0">
            <a:spAutoFit/>
          </a:bodyPr>
          <a:lstStyle/>
          <a:p>
            <a:pPr marL="12700">
              <a:lnSpc>
                <a:spcPct val="100000"/>
              </a:lnSpc>
              <a:spcBef>
                <a:spcPts val="100"/>
              </a:spcBef>
            </a:pPr>
            <a:r>
              <a:rPr sz="800" spc="-5" dirty="0">
                <a:latin typeface="Museo 300" pitchFamily="50" charset="0"/>
                <a:cs typeface="Carlito"/>
              </a:rPr>
              <a:t>M</a:t>
            </a:r>
            <a:r>
              <a:rPr sz="800" dirty="0">
                <a:latin typeface="Museo 300" pitchFamily="50" charset="0"/>
                <a:cs typeface="Carlito"/>
              </a:rPr>
              <a:t>UX</a:t>
            </a:r>
            <a:endParaRPr sz="800">
              <a:latin typeface="Museo 300" pitchFamily="50" charset="0"/>
              <a:cs typeface="Carlito"/>
            </a:endParaRPr>
          </a:p>
        </p:txBody>
      </p:sp>
      <p:grpSp>
        <p:nvGrpSpPr>
          <p:cNvPr id="175" name="object 175"/>
          <p:cNvGrpSpPr/>
          <p:nvPr/>
        </p:nvGrpSpPr>
        <p:grpSpPr>
          <a:xfrm>
            <a:off x="4616280" y="3742754"/>
            <a:ext cx="1150620" cy="222885"/>
            <a:chOff x="3369500" y="4341812"/>
            <a:chExt cx="862965" cy="222885"/>
          </a:xfrm>
        </p:grpSpPr>
        <p:sp>
          <p:nvSpPr>
            <p:cNvPr id="176" name="object 176"/>
            <p:cNvSpPr/>
            <p:nvPr/>
          </p:nvSpPr>
          <p:spPr>
            <a:xfrm>
              <a:off x="3387090" y="4347210"/>
              <a:ext cx="840105" cy="212090"/>
            </a:xfrm>
            <a:custGeom>
              <a:avLst/>
              <a:gdLst/>
              <a:ahLst/>
              <a:cxnLst/>
              <a:rect l="l" t="t" r="r" b="b"/>
              <a:pathLst>
                <a:path w="840104" h="212089">
                  <a:moveTo>
                    <a:pt x="104901" y="211835"/>
                  </a:moveTo>
                  <a:lnTo>
                    <a:pt x="734695" y="211835"/>
                  </a:lnTo>
                  <a:lnTo>
                    <a:pt x="839724" y="0"/>
                  </a:lnTo>
                  <a:lnTo>
                    <a:pt x="0" y="0"/>
                  </a:lnTo>
                  <a:lnTo>
                    <a:pt x="104901" y="211835"/>
                  </a:lnTo>
                </a:path>
              </a:pathLst>
            </a:custGeom>
            <a:ln w="10667">
              <a:solidFill>
                <a:srgbClr val="000000"/>
              </a:solidFill>
            </a:ln>
          </p:spPr>
          <p:txBody>
            <a:bodyPr wrap="square" lIns="0" tIns="0" rIns="0" bIns="0" rtlCol="0"/>
            <a:lstStyle/>
            <a:p>
              <a:endParaRPr>
                <a:latin typeface="Museo 300" pitchFamily="50" charset="0"/>
              </a:endParaRPr>
            </a:p>
          </p:txBody>
        </p:sp>
        <p:sp>
          <p:nvSpPr>
            <p:cNvPr id="177" name="object 177"/>
            <p:cNvSpPr/>
            <p:nvPr/>
          </p:nvSpPr>
          <p:spPr>
            <a:xfrm>
              <a:off x="3374898" y="4441697"/>
              <a:ext cx="58419" cy="22860"/>
            </a:xfrm>
            <a:custGeom>
              <a:avLst/>
              <a:gdLst/>
              <a:ahLst/>
              <a:cxnLst/>
              <a:rect l="l" t="t" r="r" b="b"/>
              <a:pathLst>
                <a:path w="58420" h="22860">
                  <a:moveTo>
                    <a:pt x="0" y="22859"/>
                  </a:moveTo>
                  <a:lnTo>
                    <a:pt x="57912" y="11429"/>
                  </a:lnTo>
                  <a:lnTo>
                    <a:pt x="0" y="0"/>
                  </a:lnTo>
                  <a:lnTo>
                    <a:pt x="0" y="11429"/>
                  </a:lnTo>
                  <a:lnTo>
                    <a:pt x="0" y="22859"/>
                  </a:lnTo>
                </a:path>
              </a:pathLst>
            </a:custGeom>
            <a:ln w="10668">
              <a:solidFill>
                <a:srgbClr val="00FFFF"/>
              </a:solidFill>
            </a:ln>
          </p:spPr>
          <p:txBody>
            <a:bodyPr wrap="square" lIns="0" tIns="0" rIns="0" bIns="0" rtlCol="0"/>
            <a:lstStyle/>
            <a:p>
              <a:endParaRPr>
                <a:latin typeface="Museo 300" pitchFamily="50" charset="0"/>
              </a:endParaRPr>
            </a:p>
          </p:txBody>
        </p:sp>
        <p:sp>
          <p:nvSpPr>
            <p:cNvPr id="178" name="object 178"/>
            <p:cNvSpPr/>
            <p:nvPr/>
          </p:nvSpPr>
          <p:spPr>
            <a:xfrm>
              <a:off x="3374898" y="4441697"/>
              <a:ext cx="58419" cy="22860"/>
            </a:xfrm>
            <a:custGeom>
              <a:avLst/>
              <a:gdLst/>
              <a:ahLst/>
              <a:cxnLst/>
              <a:rect l="l" t="t" r="r" b="b"/>
              <a:pathLst>
                <a:path w="58420" h="22860">
                  <a:moveTo>
                    <a:pt x="0" y="0"/>
                  </a:moveTo>
                  <a:lnTo>
                    <a:pt x="0" y="22859"/>
                  </a:lnTo>
                  <a:lnTo>
                    <a:pt x="57912" y="10668"/>
                  </a:lnTo>
                  <a:lnTo>
                    <a:pt x="0" y="0"/>
                  </a:lnTo>
                  <a:close/>
                </a:path>
              </a:pathLst>
            </a:custGeom>
            <a:solidFill>
              <a:srgbClr val="00FFFF"/>
            </a:solidFill>
          </p:spPr>
          <p:txBody>
            <a:bodyPr wrap="square" lIns="0" tIns="0" rIns="0" bIns="0" rtlCol="0"/>
            <a:lstStyle/>
            <a:p>
              <a:endParaRPr>
                <a:latin typeface="Museo 300" pitchFamily="50" charset="0"/>
              </a:endParaRPr>
            </a:p>
          </p:txBody>
        </p:sp>
        <p:sp>
          <p:nvSpPr>
            <p:cNvPr id="179" name="object 179"/>
            <p:cNvSpPr/>
            <p:nvPr/>
          </p:nvSpPr>
          <p:spPr>
            <a:xfrm>
              <a:off x="3374898" y="4441697"/>
              <a:ext cx="58419" cy="22860"/>
            </a:xfrm>
            <a:custGeom>
              <a:avLst/>
              <a:gdLst/>
              <a:ahLst/>
              <a:cxnLst/>
              <a:rect l="l" t="t" r="r" b="b"/>
              <a:pathLst>
                <a:path w="58420" h="22860">
                  <a:moveTo>
                    <a:pt x="0" y="22859"/>
                  </a:moveTo>
                  <a:lnTo>
                    <a:pt x="57912" y="10668"/>
                  </a:lnTo>
                  <a:lnTo>
                    <a:pt x="0" y="0"/>
                  </a:lnTo>
                  <a:lnTo>
                    <a:pt x="0" y="10668"/>
                  </a:lnTo>
                  <a:lnTo>
                    <a:pt x="0" y="22859"/>
                  </a:lnTo>
                  <a:close/>
                </a:path>
              </a:pathLst>
            </a:custGeom>
            <a:ln w="3175">
              <a:solidFill>
                <a:srgbClr val="00FFFF"/>
              </a:solidFill>
            </a:ln>
          </p:spPr>
          <p:txBody>
            <a:bodyPr wrap="square" lIns="0" tIns="0" rIns="0" bIns="0" rtlCol="0"/>
            <a:lstStyle/>
            <a:p>
              <a:endParaRPr>
                <a:latin typeface="Museo 300" pitchFamily="50" charset="0"/>
              </a:endParaRPr>
            </a:p>
          </p:txBody>
        </p:sp>
      </p:grpSp>
      <p:sp>
        <p:nvSpPr>
          <p:cNvPr id="180" name="object 180"/>
          <p:cNvSpPr txBox="1"/>
          <p:nvPr/>
        </p:nvSpPr>
        <p:spPr>
          <a:xfrm>
            <a:off x="3889924" y="3742309"/>
            <a:ext cx="762000" cy="135935"/>
          </a:xfrm>
          <a:prstGeom prst="rect">
            <a:avLst/>
          </a:prstGeom>
        </p:spPr>
        <p:txBody>
          <a:bodyPr vert="horz" wrap="square" lIns="0" tIns="12700" rIns="0" bIns="0" rtlCol="0">
            <a:spAutoFit/>
          </a:bodyPr>
          <a:lstStyle/>
          <a:p>
            <a:pPr marL="12700">
              <a:lnSpc>
                <a:spcPct val="100000"/>
              </a:lnSpc>
              <a:spcBef>
                <a:spcPts val="100"/>
              </a:spcBef>
              <a:tabLst>
                <a:tab pos="557530" algn="l"/>
              </a:tabLst>
            </a:pPr>
            <a:r>
              <a:rPr sz="800" spc="-5" dirty="0">
                <a:solidFill>
                  <a:srgbClr val="00FFFF"/>
                </a:solidFill>
                <a:latin typeface="Museo 300" pitchFamily="50" charset="0"/>
                <a:cs typeface="Carlito"/>
              </a:rPr>
              <a:t>Select </a:t>
            </a:r>
            <a:r>
              <a:rPr sz="800" spc="70" dirty="0">
                <a:solidFill>
                  <a:srgbClr val="00FFFF"/>
                </a:solidFill>
                <a:latin typeface="Museo 300" pitchFamily="50" charset="0"/>
                <a:cs typeface="Carlito"/>
              </a:rPr>
              <a:t> </a:t>
            </a:r>
            <a:r>
              <a:rPr sz="800" u="sng" dirty="0">
                <a:solidFill>
                  <a:srgbClr val="00FFFF"/>
                </a:solidFill>
                <a:uFill>
                  <a:solidFill>
                    <a:srgbClr val="00FFFF"/>
                  </a:solidFill>
                </a:uFill>
                <a:latin typeface="Museo 300" pitchFamily="50" charset="0"/>
                <a:cs typeface="Carlito"/>
              </a:rPr>
              <a:t> 	</a:t>
            </a:r>
            <a:endParaRPr sz="800">
              <a:latin typeface="Museo 300" pitchFamily="50" charset="0"/>
              <a:cs typeface="Carlito"/>
            </a:endParaRPr>
          </a:p>
        </p:txBody>
      </p:sp>
      <p:sp>
        <p:nvSpPr>
          <p:cNvPr id="181" name="object 181"/>
          <p:cNvSpPr txBox="1"/>
          <p:nvPr/>
        </p:nvSpPr>
        <p:spPr>
          <a:xfrm>
            <a:off x="4527125" y="3367659"/>
            <a:ext cx="627379" cy="135935"/>
          </a:xfrm>
          <a:prstGeom prst="rect">
            <a:avLst/>
          </a:prstGeom>
        </p:spPr>
        <p:txBody>
          <a:bodyPr vert="horz" wrap="square" lIns="0" tIns="12700" rIns="0" bIns="0" rtlCol="0">
            <a:spAutoFit/>
          </a:bodyPr>
          <a:lstStyle/>
          <a:p>
            <a:pPr marL="12700">
              <a:lnSpc>
                <a:spcPct val="100000"/>
              </a:lnSpc>
              <a:spcBef>
                <a:spcPts val="100"/>
              </a:spcBef>
            </a:pPr>
            <a:r>
              <a:rPr sz="800" spc="-5" dirty="0">
                <a:latin typeface="Museo 300" pitchFamily="50" charset="0"/>
                <a:cs typeface="Carlito"/>
              </a:rPr>
              <a:t>Constant</a:t>
            </a:r>
            <a:r>
              <a:rPr sz="800" spc="-55" dirty="0">
                <a:latin typeface="Museo 300" pitchFamily="50" charset="0"/>
                <a:cs typeface="Carlito"/>
              </a:rPr>
              <a:t> </a:t>
            </a:r>
            <a:r>
              <a:rPr sz="800" dirty="0">
                <a:latin typeface="Museo 300" pitchFamily="50" charset="0"/>
                <a:cs typeface="Carlito"/>
              </a:rPr>
              <a:t>4</a:t>
            </a:r>
            <a:endParaRPr sz="800">
              <a:latin typeface="Museo 300" pitchFamily="50" charset="0"/>
              <a:cs typeface="Carlito"/>
            </a:endParaRPr>
          </a:p>
        </p:txBody>
      </p:sp>
      <p:grpSp>
        <p:nvGrpSpPr>
          <p:cNvPr id="182" name="object 182"/>
          <p:cNvGrpSpPr/>
          <p:nvPr/>
        </p:nvGrpSpPr>
        <p:grpSpPr>
          <a:xfrm>
            <a:off x="4819565" y="3539363"/>
            <a:ext cx="59267" cy="203835"/>
            <a:chOff x="3521964" y="4138421"/>
            <a:chExt cx="44450" cy="203835"/>
          </a:xfrm>
        </p:grpSpPr>
        <p:sp>
          <p:nvSpPr>
            <p:cNvPr id="183" name="object 183"/>
            <p:cNvSpPr/>
            <p:nvPr/>
          </p:nvSpPr>
          <p:spPr>
            <a:xfrm>
              <a:off x="3527298" y="4254245"/>
              <a:ext cx="33655" cy="82550"/>
            </a:xfrm>
            <a:custGeom>
              <a:avLst/>
              <a:gdLst/>
              <a:ahLst/>
              <a:cxnLst/>
              <a:rect l="l" t="t" r="r" b="b"/>
              <a:pathLst>
                <a:path w="33654" h="82550">
                  <a:moveTo>
                    <a:pt x="0" y="0"/>
                  </a:moveTo>
                  <a:lnTo>
                    <a:pt x="11175" y="82295"/>
                  </a:lnTo>
                  <a:lnTo>
                    <a:pt x="33527" y="0"/>
                  </a:lnTo>
                  <a:lnTo>
                    <a:pt x="11175" y="0"/>
                  </a:lnTo>
                  <a:lnTo>
                    <a:pt x="0" y="0"/>
                  </a:lnTo>
                </a:path>
              </a:pathLst>
            </a:custGeom>
            <a:ln w="10668">
              <a:solidFill>
                <a:srgbClr val="000000"/>
              </a:solidFill>
            </a:ln>
          </p:spPr>
          <p:txBody>
            <a:bodyPr wrap="square" lIns="0" tIns="0" rIns="0" bIns="0" rtlCol="0"/>
            <a:lstStyle/>
            <a:p>
              <a:endParaRPr>
                <a:latin typeface="Museo 300" pitchFamily="50" charset="0"/>
              </a:endParaRPr>
            </a:p>
          </p:txBody>
        </p:sp>
        <p:sp>
          <p:nvSpPr>
            <p:cNvPr id="184" name="object 184"/>
            <p:cNvSpPr/>
            <p:nvPr/>
          </p:nvSpPr>
          <p:spPr>
            <a:xfrm>
              <a:off x="3527298" y="4254245"/>
              <a:ext cx="33655" cy="82550"/>
            </a:xfrm>
            <a:custGeom>
              <a:avLst/>
              <a:gdLst/>
              <a:ahLst/>
              <a:cxnLst/>
              <a:rect l="l" t="t" r="r" b="b"/>
              <a:pathLst>
                <a:path w="33654" h="82550">
                  <a:moveTo>
                    <a:pt x="33527" y="0"/>
                  </a:moveTo>
                  <a:lnTo>
                    <a:pt x="0" y="0"/>
                  </a:lnTo>
                  <a:lnTo>
                    <a:pt x="10667" y="82295"/>
                  </a:lnTo>
                  <a:lnTo>
                    <a:pt x="33527" y="0"/>
                  </a:lnTo>
                  <a:close/>
                </a:path>
              </a:pathLst>
            </a:custGeom>
            <a:solidFill>
              <a:srgbClr val="000000"/>
            </a:solidFill>
          </p:spPr>
          <p:txBody>
            <a:bodyPr wrap="square" lIns="0" tIns="0" rIns="0" bIns="0" rtlCol="0"/>
            <a:lstStyle/>
            <a:p>
              <a:endParaRPr>
                <a:latin typeface="Museo 300" pitchFamily="50" charset="0"/>
              </a:endParaRPr>
            </a:p>
          </p:txBody>
        </p:sp>
        <p:sp>
          <p:nvSpPr>
            <p:cNvPr id="185" name="object 185"/>
            <p:cNvSpPr/>
            <p:nvPr/>
          </p:nvSpPr>
          <p:spPr>
            <a:xfrm>
              <a:off x="3527298" y="4254245"/>
              <a:ext cx="33655" cy="82550"/>
            </a:xfrm>
            <a:custGeom>
              <a:avLst/>
              <a:gdLst/>
              <a:ahLst/>
              <a:cxnLst/>
              <a:rect l="l" t="t" r="r" b="b"/>
              <a:pathLst>
                <a:path w="33654" h="82550">
                  <a:moveTo>
                    <a:pt x="0" y="0"/>
                  </a:moveTo>
                  <a:lnTo>
                    <a:pt x="10667" y="82295"/>
                  </a:lnTo>
                  <a:lnTo>
                    <a:pt x="33527" y="0"/>
                  </a:lnTo>
                  <a:lnTo>
                    <a:pt x="10667"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86" name="object 186"/>
            <p:cNvSpPr/>
            <p:nvPr/>
          </p:nvSpPr>
          <p:spPr>
            <a:xfrm>
              <a:off x="3537966" y="4138421"/>
              <a:ext cx="0" cy="116205"/>
            </a:xfrm>
            <a:custGeom>
              <a:avLst/>
              <a:gdLst/>
              <a:ahLst/>
              <a:cxnLst/>
              <a:rect l="l" t="t" r="r" b="b"/>
              <a:pathLst>
                <a:path h="116204">
                  <a:moveTo>
                    <a:pt x="0" y="115823"/>
                  </a:moveTo>
                  <a:lnTo>
                    <a:pt x="0" y="0"/>
                  </a:lnTo>
                </a:path>
              </a:pathLst>
            </a:custGeom>
            <a:ln w="10668">
              <a:solidFill>
                <a:srgbClr val="000000"/>
              </a:solidFill>
            </a:ln>
          </p:spPr>
          <p:txBody>
            <a:bodyPr wrap="square" lIns="0" tIns="0" rIns="0" bIns="0" rtlCol="0"/>
            <a:lstStyle/>
            <a:p>
              <a:endParaRPr>
                <a:latin typeface="Museo 300" pitchFamily="50" charset="0"/>
              </a:endParaRPr>
            </a:p>
          </p:txBody>
        </p:sp>
      </p:grpSp>
      <p:sp>
        <p:nvSpPr>
          <p:cNvPr id="187" name="object 187"/>
          <p:cNvSpPr/>
          <p:nvPr/>
        </p:nvSpPr>
        <p:spPr>
          <a:xfrm>
            <a:off x="4297733" y="5962287"/>
            <a:ext cx="4731771" cy="166474"/>
          </a:xfrm>
          <a:prstGeom prst="rect">
            <a:avLst/>
          </a:prstGeom>
          <a:blipFill>
            <a:blip r:embed="rId4" cstate="print"/>
            <a:stretch>
              <a:fillRect/>
            </a:stretch>
          </a:blipFill>
        </p:spPr>
        <p:txBody>
          <a:bodyPr wrap="square" lIns="0" tIns="0" rIns="0" bIns="0" rtlCol="0"/>
          <a:lstStyle/>
          <a:p>
            <a:endParaRPr>
              <a:latin typeface="Museo 300" pitchFamily="50" charset="0"/>
            </a:endParaRPr>
          </a:p>
        </p:txBody>
      </p:sp>
      <p:sp>
        <p:nvSpPr>
          <p:cNvPr id="188" name="Slide Number Placeholder 187"/>
          <p:cNvSpPr>
            <a:spLocks noGrp="1"/>
          </p:cNvSpPr>
          <p:nvPr>
            <p:ph type="sldNum" sz="quarter" idx="12"/>
          </p:nvPr>
        </p:nvSpPr>
        <p:spPr/>
        <p:txBody>
          <a:bodyPr/>
          <a:lstStyle/>
          <a:p>
            <a:pPr>
              <a:defRPr/>
            </a:pPr>
            <a:fld id="{7567225B-3001-4770-81AD-EA67E82D7225}" type="slidenum">
              <a:rPr lang="en-US" smtClean="0"/>
              <a:pPr>
                <a:defRPr/>
              </a:pPr>
              <a:t>10</a:t>
            </a:fld>
            <a:endParaRPr lang="en-US" dirty="0"/>
          </a:p>
        </p:txBody>
      </p:sp>
      <p:sp>
        <p:nvSpPr>
          <p:cNvPr id="189" name="Rectangle 188"/>
          <p:cNvSpPr/>
          <p:nvPr/>
        </p:nvSpPr>
        <p:spPr>
          <a:xfrm>
            <a:off x="5943600" y="6172200"/>
            <a:ext cx="6096000" cy="261610"/>
          </a:xfrm>
          <a:prstGeom prst="rect">
            <a:avLst/>
          </a:prstGeom>
        </p:spPr>
        <p:txBody>
          <a:bodyPr>
            <a:spAutoFit/>
          </a:bodyPr>
          <a:lstStyle/>
          <a:p>
            <a:r>
              <a:rPr lang="en-US" sz="1100" dirty="0">
                <a:solidFill>
                  <a:schemeClr val="accent1"/>
                </a:solidFill>
                <a:latin typeface="Museo 300" panose="02000000000000000000" pitchFamily="50" charset="0"/>
              </a:rPr>
              <a:t>Carl </a:t>
            </a:r>
            <a:r>
              <a:rPr lang="en-US" sz="1100" dirty="0" err="1">
                <a:solidFill>
                  <a:schemeClr val="accent1"/>
                </a:solidFill>
                <a:latin typeface="Museo 300" panose="02000000000000000000" pitchFamily="50" charset="0"/>
              </a:rPr>
              <a:t>Hamacher</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ZvonkoVranesic</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SafwatZaky</a:t>
            </a:r>
            <a:r>
              <a:rPr lang="en-US" sz="1100" dirty="0">
                <a:solidFill>
                  <a:schemeClr val="accent1"/>
                </a:solidFill>
                <a:latin typeface="Museo 300" panose="02000000000000000000" pitchFamily="50" charset="0"/>
              </a:rPr>
              <a:t>: Computer Organization, 5th Edition, 2000. </a:t>
            </a:r>
            <a:endParaRPr lang="en-US" sz="1100" dirty="0">
              <a:solidFill>
                <a:schemeClr val="accen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304800"/>
            <a:ext cx="7857913" cy="551433"/>
          </a:xfrm>
          <a:prstGeom prst="rect">
            <a:avLst/>
          </a:prstGeom>
        </p:spPr>
        <p:txBody>
          <a:bodyPr vert="horz" wrap="square" lIns="0" tIns="12700" rIns="0" bIns="0" rtlCol="0">
            <a:spAutoFit/>
          </a:bodyPr>
          <a:lstStyle/>
          <a:p>
            <a:pPr marL="12700">
              <a:lnSpc>
                <a:spcPct val="100000"/>
              </a:lnSpc>
              <a:spcBef>
                <a:spcPts val="100"/>
              </a:spcBef>
            </a:pPr>
            <a:r>
              <a:t>Processor</a:t>
            </a:r>
            <a:r>
              <a:rPr spc="-65"/>
              <a:t> </a:t>
            </a:r>
            <a:r>
              <a:t>Organization</a:t>
            </a:r>
            <a:r>
              <a:rPr lang="en-US" dirty="0"/>
              <a:t> continue…</a:t>
            </a:r>
            <a:r>
              <a:t>.</a:t>
            </a:r>
            <a:endParaRPr dirty="0"/>
          </a:p>
        </p:txBody>
      </p:sp>
      <p:sp>
        <p:nvSpPr>
          <p:cNvPr id="3" name="object 3"/>
          <p:cNvSpPr txBox="1"/>
          <p:nvPr/>
        </p:nvSpPr>
        <p:spPr>
          <a:xfrm>
            <a:off x="685800" y="1371600"/>
            <a:ext cx="10490200" cy="3464410"/>
          </a:xfrm>
          <a:prstGeom prst="rect">
            <a:avLst/>
          </a:prstGeom>
        </p:spPr>
        <p:txBody>
          <a:bodyPr vert="horz" wrap="square" lIns="0" tIns="12065" rIns="0" bIns="0" rtlCol="0">
            <a:spAutoFit/>
          </a:bodyPr>
          <a:lstStyle/>
          <a:p>
            <a:pPr marL="355600" marR="5080" indent="-343535" algn="just">
              <a:lnSpc>
                <a:spcPct val="150000"/>
              </a:lnSpc>
              <a:spcBef>
                <a:spcPts val="95"/>
              </a:spcBef>
              <a:buClr>
                <a:srgbClr val="330066"/>
              </a:buClr>
              <a:buSzPct val="69642"/>
              <a:buFont typeface="Wingdings"/>
              <a:buChar char="⚫"/>
              <a:tabLst>
                <a:tab pos="355600" algn="l"/>
                <a:tab pos="356235" algn="l"/>
              </a:tabLst>
            </a:pPr>
            <a:r>
              <a:rPr sz="2000" spc="-5">
                <a:latin typeface="Museo 300" pitchFamily="50" charset="0"/>
                <a:cs typeface="Arial"/>
              </a:rPr>
              <a:t>Figure shows </a:t>
            </a:r>
            <a:r>
              <a:rPr sz="2000" spc="-5" dirty="0">
                <a:latin typeface="Museo 300" pitchFamily="50" charset="0"/>
                <a:cs typeface="Arial"/>
              </a:rPr>
              <a:t>an </a:t>
            </a:r>
            <a:r>
              <a:rPr sz="2000" dirty="0">
                <a:latin typeface="Museo 300" pitchFamily="50" charset="0"/>
                <a:cs typeface="Arial"/>
              </a:rPr>
              <a:t>organization </a:t>
            </a:r>
            <a:r>
              <a:rPr sz="2000" spc="-5" dirty="0">
                <a:latin typeface="Museo 300" pitchFamily="50" charset="0"/>
                <a:cs typeface="Arial"/>
              </a:rPr>
              <a:t>in which the  ALU and </a:t>
            </a:r>
            <a:r>
              <a:rPr sz="2000" dirty="0">
                <a:latin typeface="Museo 300" pitchFamily="50" charset="0"/>
                <a:cs typeface="Arial"/>
              </a:rPr>
              <a:t>all </a:t>
            </a:r>
            <a:r>
              <a:rPr sz="2000" spc="-5" dirty="0">
                <a:latin typeface="Museo 300" pitchFamily="50" charset="0"/>
                <a:cs typeface="Arial"/>
              </a:rPr>
              <a:t>the </a:t>
            </a:r>
            <a:r>
              <a:rPr sz="2000" dirty="0">
                <a:latin typeface="Museo 300" pitchFamily="50" charset="0"/>
                <a:cs typeface="Arial"/>
              </a:rPr>
              <a:t>registers </a:t>
            </a:r>
            <a:r>
              <a:rPr sz="2000" spc="-5" dirty="0">
                <a:latin typeface="Museo 300" pitchFamily="50" charset="0"/>
                <a:cs typeface="Arial"/>
              </a:rPr>
              <a:t>are </a:t>
            </a:r>
            <a:r>
              <a:rPr sz="2000" dirty="0">
                <a:latin typeface="Museo 300" pitchFamily="50" charset="0"/>
                <a:cs typeface="Arial"/>
              </a:rPr>
              <a:t>interconnected </a:t>
            </a:r>
            <a:r>
              <a:rPr sz="2000" spc="-5" dirty="0">
                <a:latin typeface="Museo 300" pitchFamily="50" charset="0"/>
                <a:cs typeface="Arial"/>
              </a:rPr>
              <a:t>via  a </a:t>
            </a:r>
            <a:r>
              <a:rPr sz="2000" dirty="0">
                <a:latin typeface="Museo 300" pitchFamily="50" charset="0"/>
                <a:cs typeface="Arial"/>
              </a:rPr>
              <a:t>single </a:t>
            </a:r>
            <a:r>
              <a:rPr sz="2000" spc="-5" dirty="0">
                <a:latin typeface="Museo 300" pitchFamily="50" charset="0"/>
                <a:cs typeface="Arial"/>
              </a:rPr>
              <a:t>common</a:t>
            </a:r>
            <a:r>
              <a:rPr sz="2000" spc="5" dirty="0">
                <a:latin typeface="Museo 300" pitchFamily="50" charset="0"/>
                <a:cs typeface="Arial"/>
              </a:rPr>
              <a:t> </a:t>
            </a:r>
            <a:r>
              <a:rPr sz="2000" spc="-5" dirty="0">
                <a:latin typeface="Museo 300" pitchFamily="50" charset="0"/>
                <a:cs typeface="Arial"/>
              </a:rPr>
              <a:t>bus.</a:t>
            </a:r>
            <a:endParaRPr sz="2000">
              <a:latin typeface="Museo 300" pitchFamily="50" charset="0"/>
              <a:cs typeface="Arial"/>
            </a:endParaRPr>
          </a:p>
          <a:p>
            <a:pPr marL="355600" indent="-343535" algn="just">
              <a:lnSpc>
                <a:spcPct val="150000"/>
              </a:lnSpc>
              <a:spcBef>
                <a:spcPts val="675"/>
              </a:spcBef>
              <a:buClr>
                <a:srgbClr val="330066"/>
              </a:buClr>
              <a:buSzPct val="69642"/>
              <a:buFont typeface="Wingdings"/>
              <a:buChar char="⚫"/>
              <a:tabLst>
                <a:tab pos="355600" algn="l"/>
                <a:tab pos="356235" algn="l"/>
              </a:tabLst>
            </a:pPr>
            <a:r>
              <a:rPr sz="2000" spc="-5" dirty="0">
                <a:latin typeface="Museo 300" pitchFamily="50" charset="0"/>
                <a:cs typeface="Arial"/>
              </a:rPr>
              <a:t>This </a:t>
            </a:r>
            <a:r>
              <a:rPr sz="2000" dirty="0">
                <a:latin typeface="Museo 300" pitchFamily="50" charset="0"/>
                <a:cs typeface="Arial"/>
              </a:rPr>
              <a:t>bus </a:t>
            </a:r>
            <a:r>
              <a:rPr sz="2000" spc="-5" dirty="0">
                <a:latin typeface="Museo 300" pitchFamily="50" charset="0"/>
                <a:cs typeface="Arial"/>
              </a:rPr>
              <a:t>is </a:t>
            </a:r>
            <a:r>
              <a:rPr sz="2000" dirty="0">
                <a:latin typeface="Museo 300" pitchFamily="50" charset="0"/>
                <a:cs typeface="Arial"/>
              </a:rPr>
              <a:t>internal </a:t>
            </a:r>
            <a:r>
              <a:rPr sz="2000" spc="-5" dirty="0">
                <a:latin typeface="Museo 300" pitchFamily="50" charset="0"/>
                <a:cs typeface="Arial"/>
              </a:rPr>
              <a:t>to the</a:t>
            </a:r>
            <a:r>
              <a:rPr sz="2000" spc="15" dirty="0">
                <a:latin typeface="Museo 300" pitchFamily="50" charset="0"/>
                <a:cs typeface="Arial"/>
              </a:rPr>
              <a:t> </a:t>
            </a:r>
            <a:r>
              <a:rPr sz="2000" spc="-15" dirty="0">
                <a:latin typeface="Museo 300" pitchFamily="50" charset="0"/>
                <a:cs typeface="Arial"/>
              </a:rPr>
              <a:t>processor.</a:t>
            </a:r>
            <a:endParaRPr sz="2000">
              <a:latin typeface="Museo 300" pitchFamily="50" charset="0"/>
              <a:cs typeface="Arial"/>
            </a:endParaRPr>
          </a:p>
          <a:p>
            <a:pPr marL="355600" marR="206375" indent="-343535" algn="just">
              <a:lnSpc>
                <a:spcPct val="150000"/>
              </a:lnSpc>
              <a:spcBef>
                <a:spcPts val="675"/>
              </a:spcBef>
              <a:buClr>
                <a:srgbClr val="330066"/>
              </a:buClr>
              <a:buSzPct val="69642"/>
              <a:buFont typeface="Wingdings"/>
              <a:buChar char="⚫"/>
              <a:tabLst>
                <a:tab pos="355600" algn="l"/>
                <a:tab pos="356235" algn="l"/>
              </a:tabLst>
            </a:pPr>
            <a:r>
              <a:rPr sz="2000" spc="-5" dirty="0">
                <a:latin typeface="Museo 300" pitchFamily="50" charset="0"/>
                <a:cs typeface="Arial"/>
              </a:rPr>
              <a:t>The data and address lines of the </a:t>
            </a:r>
            <a:r>
              <a:rPr sz="2000" dirty="0">
                <a:latin typeface="Museo 300" pitchFamily="50" charset="0"/>
                <a:cs typeface="Arial"/>
              </a:rPr>
              <a:t>external  </a:t>
            </a:r>
            <a:r>
              <a:rPr sz="2000" spc="-5" dirty="0">
                <a:latin typeface="Museo 300" pitchFamily="50" charset="0"/>
                <a:cs typeface="Arial"/>
              </a:rPr>
              <a:t>memory bus are </a:t>
            </a:r>
            <a:r>
              <a:rPr sz="2000" dirty="0">
                <a:latin typeface="Museo 300" pitchFamily="50" charset="0"/>
                <a:cs typeface="Arial"/>
              </a:rPr>
              <a:t>connected </a:t>
            </a:r>
            <a:r>
              <a:rPr sz="2000" spc="-5" dirty="0">
                <a:latin typeface="Museo 300" pitchFamily="50" charset="0"/>
                <a:cs typeface="Arial"/>
              </a:rPr>
              <a:t>to the </a:t>
            </a:r>
            <a:r>
              <a:rPr sz="2000" dirty="0">
                <a:latin typeface="Museo 300" pitchFamily="50" charset="0"/>
                <a:cs typeface="Arial"/>
              </a:rPr>
              <a:t>internal  </a:t>
            </a:r>
            <a:r>
              <a:rPr sz="2000" spc="-5" dirty="0">
                <a:latin typeface="Museo 300" pitchFamily="50" charset="0"/>
                <a:cs typeface="Arial"/>
              </a:rPr>
              <a:t>processor bus via the memory data </a:t>
            </a:r>
            <a:r>
              <a:rPr sz="2000" spc="-20" dirty="0">
                <a:latin typeface="Museo 300" pitchFamily="50" charset="0"/>
                <a:cs typeface="Arial"/>
              </a:rPr>
              <a:t>register,  </a:t>
            </a:r>
            <a:r>
              <a:rPr sz="2000" spc="-5" dirty="0">
                <a:latin typeface="Museo 300" pitchFamily="50" charset="0"/>
                <a:cs typeface="Arial"/>
              </a:rPr>
              <a:t>MDR, and the memory address </a:t>
            </a:r>
            <a:r>
              <a:rPr sz="2000" spc="-20" dirty="0">
                <a:latin typeface="Museo 300" pitchFamily="50" charset="0"/>
                <a:cs typeface="Arial"/>
              </a:rPr>
              <a:t>register, </a:t>
            </a:r>
            <a:r>
              <a:rPr sz="2000" spc="-10" dirty="0">
                <a:latin typeface="Museo 300" pitchFamily="50" charset="0"/>
                <a:cs typeface="Arial"/>
              </a:rPr>
              <a:t>MAR,  </a:t>
            </a:r>
            <a:r>
              <a:rPr sz="2000" spc="-20" dirty="0">
                <a:latin typeface="Museo 300" pitchFamily="50" charset="0"/>
                <a:cs typeface="Arial"/>
              </a:rPr>
              <a:t>respectively.</a:t>
            </a:r>
            <a:endParaRPr sz="2000">
              <a:latin typeface="Museo 300" pitchFamily="50" charset="0"/>
              <a:cs typeface="Arial"/>
            </a:endParaRPr>
          </a:p>
          <a:p>
            <a:pPr marL="355600" indent="-343535" algn="just">
              <a:lnSpc>
                <a:spcPct val="150000"/>
              </a:lnSpc>
              <a:spcBef>
                <a:spcPts val="675"/>
              </a:spcBef>
              <a:buClr>
                <a:srgbClr val="330066"/>
              </a:buClr>
              <a:buSzPct val="69642"/>
              <a:buFont typeface="Wingdings"/>
              <a:buChar char="⚫"/>
              <a:tabLst>
                <a:tab pos="355600" algn="l"/>
                <a:tab pos="356235" algn="l"/>
              </a:tabLst>
            </a:pPr>
            <a:r>
              <a:rPr sz="2000" spc="-5" dirty="0">
                <a:latin typeface="Museo 300" pitchFamily="50" charset="0"/>
                <a:cs typeface="Arial"/>
              </a:rPr>
              <a:t>Register MDR has two </a:t>
            </a:r>
            <a:r>
              <a:rPr sz="2000" dirty="0">
                <a:latin typeface="Museo 300" pitchFamily="50" charset="0"/>
                <a:cs typeface="Arial"/>
              </a:rPr>
              <a:t>inputs </a:t>
            </a:r>
            <a:r>
              <a:rPr sz="2000" spc="-5" dirty="0">
                <a:latin typeface="Museo 300" pitchFamily="50" charset="0"/>
                <a:cs typeface="Arial"/>
              </a:rPr>
              <a:t>and two</a:t>
            </a:r>
            <a:r>
              <a:rPr sz="2000" spc="65" dirty="0">
                <a:latin typeface="Museo 300" pitchFamily="50" charset="0"/>
                <a:cs typeface="Arial"/>
              </a:rPr>
              <a:t> </a:t>
            </a:r>
            <a:r>
              <a:rPr sz="2000" dirty="0">
                <a:latin typeface="Museo 300" pitchFamily="50" charset="0"/>
                <a:cs typeface="Arial"/>
              </a:rPr>
              <a:t>outputs.</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381000"/>
            <a:ext cx="7857913" cy="551433"/>
          </a:xfrm>
          <a:prstGeom prst="rect">
            <a:avLst/>
          </a:prstGeom>
        </p:spPr>
        <p:txBody>
          <a:bodyPr vert="horz" wrap="square" lIns="0" tIns="12700" rIns="0" bIns="0" rtlCol="0">
            <a:spAutoFit/>
          </a:bodyPr>
          <a:lstStyle/>
          <a:p>
            <a:pPr marL="12700">
              <a:lnSpc>
                <a:spcPct val="100000"/>
              </a:lnSpc>
              <a:spcBef>
                <a:spcPts val="100"/>
              </a:spcBef>
            </a:pPr>
            <a:r>
              <a:t>Processor</a:t>
            </a:r>
            <a:r>
              <a:rPr spc="-65"/>
              <a:t> </a:t>
            </a:r>
            <a:r>
              <a:t>Organization</a:t>
            </a:r>
            <a:r>
              <a:rPr lang="en-US" dirty="0"/>
              <a:t> continue..</a:t>
            </a:r>
            <a:r>
              <a:t>..</a:t>
            </a:r>
            <a:endParaRPr dirty="0"/>
          </a:p>
        </p:txBody>
      </p:sp>
      <p:sp>
        <p:nvSpPr>
          <p:cNvPr id="3" name="object 3"/>
          <p:cNvSpPr txBox="1"/>
          <p:nvPr/>
        </p:nvSpPr>
        <p:spPr>
          <a:xfrm>
            <a:off x="762000" y="1447800"/>
            <a:ext cx="10686627" cy="3888885"/>
          </a:xfrm>
          <a:prstGeom prst="rect">
            <a:avLst/>
          </a:prstGeom>
        </p:spPr>
        <p:txBody>
          <a:bodyPr vert="horz" wrap="square" lIns="0" tIns="13335" rIns="0" bIns="0" rtlCol="0">
            <a:spAutoFit/>
          </a:bodyPr>
          <a:lstStyle/>
          <a:p>
            <a:pPr marL="355600" marR="5080" indent="-343535" algn="just">
              <a:lnSpc>
                <a:spcPct val="150000"/>
              </a:lnSpc>
              <a:spcBef>
                <a:spcPts val="105"/>
              </a:spcBef>
              <a:buClr>
                <a:srgbClr val="330066"/>
              </a:buClr>
              <a:buSzPct val="69230"/>
              <a:buFont typeface="Wingdings"/>
              <a:buChar char="⚫"/>
              <a:tabLst>
                <a:tab pos="355600" algn="l"/>
                <a:tab pos="356235" algn="l"/>
              </a:tabLst>
            </a:pPr>
            <a:r>
              <a:rPr sz="2000" dirty="0">
                <a:latin typeface="Museo 300" pitchFamily="50" charset="0"/>
                <a:cs typeface="Arial"/>
              </a:rPr>
              <a:t>As instruction execution progresses, data are  transferred from one register to </a:t>
            </a:r>
            <a:r>
              <a:rPr sz="2000" spc="-15" dirty="0">
                <a:latin typeface="Museo 300" pitchFamily="50" charset="0"/>
                <a:cs typeface="Arial"/>
              </a:rPr>
              <a:t>another, </a:t>
            </a:r>
            <a:r>
              <a:rPr sz="2000" dirty="0">
                <a:latin typeface="Museo 300" pitchFamily="50" charset="0"/>
                <a:cs typeface="Arial"/>
              </a:rPr>
              <a:t>often  passing through the ALU to perform some</a:t>
            </a:r>
            <a:r>
              <a:rPr sz="2000" spc="-180" dirty="0">
                <a:latin typeface="Museo 300" pitchFamily="50" charset="0"/>
                <a:cs typeface="Arial"/>
              </a:rPr>
              <a:t> </a:t>
            </a:r>
            <a:r>
              <a:rPr sz="2000" dirty="0">
                <a:latin typeface="Museo 300" pitchFamily="50" charset="0"/>
                <a:cs typeface="Arial"/>
              </a:rPr>
              <a:t>arithmetic  or logic</a:t>
            </a:r>
            <a:r>
              <a:rPr sz="2000" spc="-15" dirty="0">
                <a:latin typeface="Museo 300" pitchFamily="50" charset="0"/>
                <a:cs typeface="Arial"/>
              </a:rPr>
              <a:t> </a:t>
            </a:r>
            <a:r>
              <a:rPr sz="2000" dirty="0">
                <a:latin typeface="Museo 300" pitchFamily="50" charset="0"/>
                <a:cs typeface="Arial"/>
              </a:rPr>
              <a:t>operation.</a:t>
            </a:r>
            <a:endParaRPr sz="2000">
              <a:latin typeface="Museo 300" pitchFamily="50" charset="0"/>
              <a:cs typeface="Arial"/>
            </a:endParaRPr>
          </a:p>
          <a:p>
            <a:pPr marL="355600" marR="334010" indent="-343535" algn="just">
              <a:lnSpc>
                <a:spcPct val="150000"/>
              </a:lnSpc>
              <a:spcBef>
                <a:spcPts val="625"/>
              </a:spcBef>
              <a:buClr>
                <a:srgbClr val="330066"/>
              </a:buClr>
              <a:buSzPct val="69230"/>
              <a:buFont typeface="Wingdings"/>
              <a:buChar char="⚫"/>
              <a:tabLst>
                <a:tab pos="355600" algn="l"/>
                <a:tab pos="356235" algn="l"/>
              </a:tabLst>
            </a:pPr>
            <a:r>
              <a:rPr sz="2000" dirty="0">
                <a:latin typeface="Museo 300" pitchFamily="50" charset="0"/>
                <a:cs typeface="Arial"/>
              </a:rPr>
              <a:t>The instruction decoder and control </a:t>
            </a:r>
            <a:r>
              <a:rPr sz="2000" spc="-5" dirty="0">
                <a:latin typeface="Museo 300" pitchFamily="50" charset="0"/>
                <a:cs typeface="Arial"/>
              </a:rPr>
              <a:t>logic </a:t>
            </a:r>
            <a:r>
              <a:rPr sz="2000" dirty="0">
                <a:latin typeface="Museo 300" pitchFamily="50" charset="0"/>
                <a:cs typeface="Arial"/>
              </a:rPr>
              <a:t>unit </a:t>
            </a:r>
            <a:r>
              <a:rPr sz="2000" spc="-5" dirty="0">
                <a:latin typeface="Museo 300" pitchFamily="50" charset="0"/>
                <a:cs typeface="Arial"/>
              </a:rPr>
              <a:t>is  </a:t>
            </a:r>
            <a:r>
              <a:rPr sz="2000" dirty="0">
                <a:latin typeface="Museo 300" pitchFamily="50" charset="0"/>
                <a:cs typeface="Arial"/>
              </a:rPr>
              <a:t>responsible for implementing the </a:t>
            </a:r>
            <a:r>
              <a:rPr sz="2000" spc="5" dirty="0">
                <a:latin typeface="Museo 300" pitchFamily="50" charset="0"/>
                <a:cs typeface="Arial"/>
              </a:rPr>
              <a:t>actions</a:t>
            </a:r>
            <a:r>
              <a:rPr sz="2000" spc="-70" dirty="0">
                <a:latin typeface="Museo 300" pitchFamily="50" charset="0"/>
                <a:cs typeface="Arial"/>
              </a:rPr>
              <a:t> </a:t>
            </a:r>
            <a:r>
              <a:rPr sz="2000" dirty="0">
                <a:latin typeface="Museo 300" pitchFamily="50" charset="0"/>
                <a:cs typeface="Arial"/>
              </a:rPr>
              <a:t>specified  by </a:t>
            </a:r>
            <a:r>
              <a:rPr sz="2000" spc="-5" dirty="0">
                <a:latin typeface="Museo 300" pitchFamily="50" charset="0"/>
                <a:cs typeface="Arial"/>
              </a:rPr>
              <a:t>the </a:t>
            </a:r>
            <a:r>
              <a:rPr sz="2000" dirty="0">
                <a:latin typeface="Museo 300" pitchFamily="50" charset="0"/>
                <a:cs typeface="Arial"/>
              </a:rPr>
              <a:t>instruction loaded in </a:t>
            </a:r>
            <a:r>
              <a:rPr sz="2000" spc="-5" dirty="0">
                <a:latin typeface="Museo 300" pitchFamily="50" charset="0"/>
                <a:cs typeface="Arial"/>
              </a:rPr>
              <a:t>the IR</a:t>
            </a:r>
            <a:r>
              <a:rPr sz="2000" spc="5" dirty="0">
                <a:latin typeface="Museo 300" pitchFamily="50" charset="0"/>
                <a:cs typeface="Arial"/>
              </a:rPr>
              <a:t> </a:t>
            </a:r>
            <a:r>
              <a:rPr sz="2000" spc="-15" dirty="0">
                <a:latin typeface="Museo 300" pitchFamily="50" charset="0"/>
                <a:cs typeface="Arial"/>
              </a:rPr>
              <a:t>register.</a:t>
            </a:r>
            <a:endParaRPr sz="2000">
              <a:latin typeface="Museo 300" pitchFamily="50" charset="0"/>
              <a:cs typeface="Arial"/>
            </a:endParaRPr>
          </a:p>
          <a:p>
            <a:pPr marL="355600" marR="276860" indent="-343535" algn="just">
              <a:lnSpc>
                <a:spcPct val="150000"/>
              </a:lnSpc>
              <a:spcBef>
                <a:spcPts val="625"/>
              </a:spcBef>
              <a:buClr>
                <a:srgbClr val="330066"/>
              </a:buClr>
              <a:buSzPct val="69230"/>
              <a:buFont typeface="Wingdings"/>
              <a:buChar char="⚫"/>
              <a:tabLst>
                <a:tab pos="355600" algn="l"/>
                <a:tab pos="356235" algn="l"/>
              </a:tabLst>
            </a:pPr>
            <a:r>
              <a:rPr sz="2000" dirty="0">
                <a:latin typeface="Museo 300" pitchFamily="50" charset="0"/>
                <a:cs typeface="Arial"/>
              </a:rPr>
              <a:t>The decoder generates the control signals needed</a:t>
            </a:r>
            <a:r>
              <a:rPr sz="2000" spc="-175" dirty="0">
                <a:latin typeface="Museo 300" pitchFamily="50" charset="0"/>
                <a:cs typeface="Arial"/>
              </a:rPr>
              <a:t>  </a:t>
            </a:r>
            <a:r>
              <a:rPr sz="2000" dirty="0">
                <a:latin typeface="Museo 300" pitchFamily="50" charset="0"/>
                <a:cs typeface="Arial"/>
              </a:rPr>
              <a:t>to select the registers involved and direct the  transfer of data.</a:t>
            </a:r>
            <a:endParaRPr sz="2000">
              <a:latin typeface="Museo 300" pitchFamily="50" charset="0"/>
              <a:cs typeface="Arial"/>
            </a:endParaRPr>
          </a:p>
          <a:p>
            <a:pPr marL="355600" marR="112395" indent="-343535" algn="just">
              <a:lnSpc>
                <a:spcPct val="150000"/>
              </a:lnSpc>
              <a:spcBef>
                <a:spcPts val="625"/>
              </a:spcBef>
              <a:buClr>
                <a:srgbClr val="330066"/>
              </a:buClr>
              <a:buSzPct val="69230"/>
              <a:buFont typeface="Wingdings"/>
              <a:buChar char="⚫"/>
              <a:tabLst>
                <a:tab pos="355600" algn="l"/>
                <a:tab pos="356235" algn="l"/>
              </a:tabLst>
            </a:pPr>
            <a:r>
              <a:rPr sz="2000" dirty="0">
                <a:latin typeface="Museo 300" pitchFamily="50" charset="0"/>
                <a:cs typeface="Arial"/>
              </a:rPr>
              <a:t>The registers, the ALU, and the interconnecting bus </a:t>
            </a:r>
            <a:r>
              <a:rPr sz="2000" spc="-350" dirty="0">
                <a:latin typeface="Museo 300" pitchFamily="50" charset="0"/>
                <a:cs typeface="Arial"/>
              </a:rPr>
              <a:t> </a:t>
            </a:r>
            <a:r>
              <a:rPr sz="2000" dirty="0">
                <a:latin typeface="Museo 300" pitchFamily="50" charset="0"/>
                <a:cs typeface="Arial"/>
              </a:rPr>
              <a:t>are collectively referred to as the</a:t>
            </a:r>
            <a:r>
              <a:rPr sz="2000" spc="-20" dirty="0">
                <a:latin typeface="Museo 300" pitchFamily="50" charset="0"/>
                <a:cs typeface="Arial"/>
              </a:rPr>
              <a:t> </a:t>
            </a:r>
            <a:r>
              <a:rPr sz="2000" i="1" dirty="0">
                <a:latin typeface="Museo 300" pitchFamily="50" charset="0"/>
                <a:cs typeface="Arial"/>
              </a:rPr>
              <a:t>datapath</a:t>
            </a:r>
            <a:r>
              <a:rPr sz="2000" dirty="0">
                <a:latin typeface="Museo 300" pitchFamily="50" charset="0"/>
                <a:cs typeface="Arial"/>
              </a:rPr>
              <a:t>.</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57098"/>
            <a:ext cx="8991599" cy="1090042"/>
          </a:xfrm>
          <a:prstGeom prst="rect">
            <a:avLst/>
          </a:prstGeom>
        </p:spPr>
        <p:txBody>
          <a:bodyPr vert="horz" wrap="square" lIns="0" tIns="12700" rIns="0" bIns="0" rtlCol="0">
            <a:spAutoFit/>
          </a:bodyPr>
          <a:lstStyle/>
          <a:p>
            <a:pPr marL="12700" marR="5080">
              <a:lnSpc>
                <a:spcPct val="100000"/>
              </a:lnSpc>
              <a:spcBef>
                <a:spcPts val="100"/>
              </a:spcBef>
            </a:pPr>
            <a:r>
              <a:rPr dirty="0"/>
              <a:t>Sequence of Steps in  Executing an</a:t>
            </a:r>
            <a:r>
              <a:rPr spc="-55" dirty="0"/>
              <a:t> </a:t>
            </a:r>
            <a:r>
              <a:rPr dirty="0"/>
              <a:t>Instruction</a:t>
            </a:r>
          </a:p>
        </p:txBody>
      </p:sp>
      <p:sp>
        <p:nvSpPr>
          <p:cNvPr id="3" name="object 3"/>
          <p:cNvSpPr txBox="1"/>
          <p:nvPr/>
        </p:nvSpPr>
        <p:spPr>
          <a:xfrm>
            <a:off x="714587" y="1696035"/>
            <a:ext cx="10236200" cy="3055964"/>
          </a:xfrm>
          <a:prstGeom prst="rect">
            <a:avLst/>
          </a:prstGeom>
        </p:spPr>
        <p:txBody>
          <a:bodyPr vert="horz" wrap="square" lIns="0" tIns="64769" rIns="0" bIns="0" rtlCol="0">
            <a:spAutoFit/>
          </a:bodyPr>
          <a:lstStyle/>
          <a:p>
            <a:pPr marL="355600" marR="5080" indent="-343535" algn="just">
              <a:lnSpc>
                <a:spcPct val="150000"/>
              </a:lnSpc>
              <a:spcBef>
                <a:spcPts val="509"/>
              </a:spcBef>
              <a:buClr>
                <a:srgbClr val="330066"/>
              </a:buClr>
              <a:buSzPct val="70000"/>
              <a:buFont typeface="Wingdings"/>
              <a:buChar char="⚫"/>
              <a:tabLst>
                <a:tab pos="355600" algn="l"/>
                <a:tab pos="356235" algn="l"/>
              </a:tabLst>
            </a:pPr>
            <a:r>
              <a:rPr sz="2000" spc="-15" dirty="0">
                <a:latin typeface="Museo 300" pitchFamily="50" charset="0"/>
                <a:cs typeface="Arial"/>
              </a:rPr>
              <a:t>Transfer </a:t>
            </a:r>
            <a:r>
              <a:rPr sz="2000" dirty="0">
                <a:latin typeface="Museo 300" pitchFamily="50" charset="0"/>
                <a:cs typeface="Arial"/>
              </a:rPr>
              <a:t>a word of </a:t>
            </a:r>
            <a:r>
              <a:rPr sz="2000" spc="-5" dirty="0">
                <a:latin typeface="Museo 300" pitchFamily="50" charset="0"/>
                <a:cs typeface="Arial"/>
              </a:rPr>
              <a:t>data from </a:t>
            </a:r>
            <a:r>
              <a:rPr sz="2000" dirty="0">
                <a:latin typeface="Museo 300" pitchFamily="50" charset="0"/>
                <a:cs typeface="Arial"/>
              </a:rPr>
              <a:t>one processor</a:t>
            </a:r>
            <a:r>
              <a:rPr sz="2000" spc="-185" dirty="0">
                <a:latin typeface="Museo 300" pitchFamily="50" charset="0"/>
                <a:cs typeface="Arial"/>
              </a:rPr>
              <a:t>  </a:t>
            </a:r>
            <a:r>
              <a:rPr sz="2000" spc="-5" dirty="0">
                <a:latin typeface="Museo 300" pitchFamily="50" charset="0"/>
                <a:cs typeface="Arial"/>
              </a:rPr>
              <a:t>register </a:t>
            </a:r>
            <a:r>
              <a:rPr sz="2000" dirty="0">
                <a:latin typeface="Museo 300" pitchFamily="50" charset="0"/>
                <a:cs typeface="Arial"/>
              </a:rPr>
              <a:t>to </a:t>
            </a:r>
            <a:r>
              <a:rPr sz="2000" spc="-5" dirty="0">
                <a:latin typeface="Museo 300" pitchFamily="50" charset="0"/>
                <a:cs typeface="Arial"/>
              </a:rPr>
              <a:t>another or </a:t>
            </a:r>
            <a:r>
              <a:rPr sz="2000" dirty="0">
                <a:latin typeface="Museo 300" pitchFamily="50" charset="0"/>
                <a:cs typeface="Arial"/>
              </a:rPr>
              <a:t>to the</a:t>
            </a:r>
            <a:r>
              <a:rPr sz="2000" spc="-190" dirty="0">
                <a:latin typeface="Museo 300" pitchFamily="50" charset="0"/>
                <a:cs typeface="Arial"/>
              </a:rPr>
              <a:t> </a:t>
            </a:r>
            <a:r>
              <a:rPr sz="2000" dirty="0">
                <a:latin typeface="Museo 300" pitchFamily="50" charset="0"/>
                <a:cs typeface="Arial"/>
              </a:rPr>
              <a:t>ALU.</a:t>
            </a:r>
            <a:endParaRPr sz="2000">
              <a:latin typeface="Museo 300" pitchFamily="50" charset="0"/>
              <a:cs typeface="Arial"/>
            </a:endParaRPr>
          </a:p>
          <a:p>
            <a:pPr marL="355600" marR="98425" indent="-343535" algn="just">
              <a:lnSpc>
                <a:spcPct val="150000"/>
              </a:lnSpc>
              <a:spcBef>
                <a:spcPts val="720"/>
              </a:spcBef>
              <a:buClr>
                <a:srgbClr val="330066"/>
              </a:buClr>
              <a:buSzPct val="70000"/>
              <a:buFont typeface="Wingdings"/>
              <a:buChar char="⚫"/>
              <a:tabLst>
                <a:tab pos="355600" algn="l"/>
                <a:tab pos="356235" algn="l"/>
              </a:tabLst>
            </a:pPr>
            <a:r>
              <a:rPr sz="2000" dirty="0">
                <a:latin typeface="Museo 300" pitchFamily="50" charset="0"/>
                <a:cs typeface="Arial"/>
              </a:rPr>
              <a:t>Perform </a:t>
            </a:r>
            <a:r>
              <a:rPr sz="2000" spc="-5" dirty="0">
                <a:latin typeface="Museo 300" pitchFamily="50" charset="0"/>
                <a:cs typeface="Arial"/>
              </a:rPr>
              <a:t>an arithmetic or a logic operation  </a:t>
            </a:r>
            <a:r>
              <a:rPr sz="2000" dirty="0">
                <a:latin typeface="Museo 300" pitchFamily="50" charset="0"/>
                <a:cs typeface="Arial"/>
              </a:rPr>
              <a:t>and </a:t>
            </a:r>
            <a:r>
              <a:rPr sz="2000" spc="-5" dirty="0">
                <a:latin typeface="Museo 300" pitchFamily="50" charset="0"/>
                <a:cs typeface="Arial"/>
              </a:rPr>
              <a:t>store </a:t>
            </a:r>
            <a:r>
              <a:rPr sz="2000" dirty="0">
                <a:latin typeface="Museo 300" pitchFamily="50" charset="0"/>
                <a:cs typeface="Arial"/>
              </a:rPr>
              <a:t>the result in a </a:t>
            </a:r>
            <a:r>
              <a:rPr sz="2000" spc="-5" dirty="0">
                <a:latin typeface="Museo 300" pitchFamily="50" charset="0"/>
                <a:cs typeface="Arial"/>
              </a:rPr>
              <a:t>processor</a:t>
            </a:r>
            <a:r>
              <a:rPr sz="2000" spc="-95" dirty="0">
                <a:latin typeface="Museo 300" pitchFamily="50" charset="0"/>
                <a:cs typeface="Arial"/>
              </a:rPr>
              <a:t> </a:t>
            </a:r>
            <a:r>
              <a:rPr sz="2000" spc="-20" dirty="0">
                <a:latin typeface="Museo 300" pitchFamily="50" charset="0"/>
                <a:cs typeface="Arial"/>
              </a:rPr>
              <a:t>register.</a:t>
            </a:r>
            <a:endParaRPr sz="2000">
              <a:latin typeface="Museo 300" pitchFamily="50" charset="0"/>
              <a:cs typeface="Arial"/>
            </a:endParaRPr>
          </a:p>
          <a:p>
            <a:pPr marL="355600" marR="673735" indent="-343535" algn="just">
              <a:lnSpc>
                <a:spcPct val="150000"/>
              </a:lnSpc>
              <a:spcBef>
                <a:spcPts val="725"/>
              </a:spcBef>
              <a:buClr>
                <a:srgbClr val="330066"/>
              </a:buClr>
              <a:buSzPct val="70000"/>
              <a:buFont typeface="Wingdings"/>
              <a:buChar char="⚫"/>
              <a:tabLst>
                <a:tab pos="355600" algn="l"/>
                <a:tab pos="356235" algn="l"/>
              </a:tabLst>
            </a:pPr>
            <a:r>
              <a:rPr sz="2000" dirty="0">
                <a:latin typeface="Museo 300" pitchFamily="50" charset="0"/>
                <a:cs typeface="Arial"/>
              </a:rPr>
              <a:t>Fetch the </a:t>
            </a:r>
            <a:r>
              <a:rPr sz="2000" spc="-5" dirty="0">
                <a:latin typeface="Museo 300" pitchFamily="50" charset="0"/>
                <a:cs typeface="Arial"/>
              </a:rPr>
              <a:t>contents </a:t>
            </a:r>
            <a:r>
              <a:rPr sz="2000" dirty="0">
                <a:latin typeface="Museo 300" pitchFamily="50" charset="0"/>
                <a:cs typeface="Arial"/>
              </a:rPr>
              <a:t>of </a:t>
            </a:r>
            <a:r>
              <a:rPr sz="2000" spc="-5" dirty="0">
                <a:latin typeface="Museo 300" pitchFamily="50" charset="0"/>
                <a:cs typeface="Arial"/>
              </a:rPr>
              <a:t>a given </a:t>
            </a:r>
            <a:r>
              <a:rPr sz="2000" dirty="0">
                <a:latin typeface="Museo 300" pitchFamily="50" charset="0"/>
                <a:cs typeface="Arial"/>
              </a:rPr>
              <a:t>memory  </a:t>
            </a:r>
            <a:r>
              <a:rPr sz="2000" spc="-5" dirty="0">
                <a:latin typeface="Museo 300" pitchFamily="50" charset="0"/>
                <a:cs typeface="Arial"/>
              </a:rPr>
              <a:t>location and load </a:t>
            </a:r>
            <a:r>
              <a:rPr sz="2000" dirty="0">
                <a:latin typeface="Museo 300" pitchFamily="50" charset="0"/>
                <a:cs typeface="Arial"/>
              </a:rPr>
              <a:t>them into </a:t>
            </a:r>
            <a:r>
              <a:rPr sz="2000" spc="-5" dirty="0">
                <a:latin typeface="Museo 300" pitchFamily="50" charset="0"/>
                <a:cs typeface="Arial"/>
              </a:rPr>
              <a:t>a</a:t>
            </a:r>
            <a:r>
              <a:rPr sz="2000" spc="-55" dirty="0">
                <a:latin typeface="Museo 300" pitchFamily="50" charset="0"/>
                <a:cs typeface="Arial"/>
              </a:rPr>
              <a:t> </a:t>
            </a:r>
            <a:r>
              <a:rPr sz="2000" spc="-5" dirty="0">
                <a:latin typeface="Museo 300" pitchFamily="50" charset="0"/>
                <a:cs typeface="Arial"/>
              </a:rPr>
              <a:t>processor  </a:t>
            </a:r>
            <a:r>
              <a:rPr sz="2000" spc="-20" dirty="0">
                <a:latin typeface="Museo 300" pitchFamily="50" charset="0"/>
                <a:cs typeface="Arial"/>
              </a:rPr>
              <a:t>register.</a:t>
            </a:r>
            <a:endParaRPr sz="2000">
              <a:latin typeface="Museo 300" pitchFamily="50" charset="0"/>
              <a:cs typeface="Arial"/>
            </a:endParaRPr>
          </a:p>
          <a:p>
            <a:pPr marL="355600" marR="921385" indent="-343535" algn="just">
              <a:lnSpc>
                <a:spcPct val="150000"/>
              </a:lnSpc>
              <a:spcBef>
                <a:spcPts val="720"/>
              </a:spcBef>
              <a:buClr>
                <a:srgbClr val="330066"/>
              </a:buClr>
              <a:buSzPct val="70000"/>
              <a:buFont typeface="Wingdings"/>
              <a:buChar char="⚫"/>
              <a:tabLst>
                <a:tab pos="355600" algn="l"/>
                <a:tab pos="356235" algn="l"/>
              </a:tabLst>
            </a:pPr>
            <a:r>
              <a:rPr sz="2000" dirty="0">
                <a:latin typeface="Museo 300" pitchFamily="50" charset="0"/>
                <a:cs typeface="Arial"/>
              </a:rPr>
              <a:t>Store </a:t>
            </a:r>
            <a:r>
              <a:rPr sz="2000" spc="-5" dirty="0">
                <a:latin typeface="Museo 300" pitchFamily="50" charset="0"/>
                <a:cs typeface="Arial"/>
              </a:rPr>
              <a:t>a word </a:t>
            </a:r>
            <a:r>
              <a:rPr sz="2000" dirty="0">
                <a:latin typeface="Museo 300" pitchFamily="50" charset="0"/>
                <a:cs typeface="Arial"/>
              </a:rPr>
              <a:t>of </a:t>
            </a:r>
            <a:r>
              <a:rPr sz="2000" spc="-5" dirty="0">
                <a:latin typeface="Museo 300" pitchFamily="50" charset="0"/>
                <a:cs typeface="Arial"/>
              </a:rPr>
              <a:t>data from a </a:t>
            </a:r>
            <a:r>
              <a:rPr sz="2000" dirty="0">
                <a:latin typeface="Museo 300" pitchFamily="50" charset="0"/>
                <a:cs typeface="Arial"/>
              </a:rPr>
              <a:t>processor</a:t>
            </a:r>
            <a:r>
              <a:rPr sz="2000" spc="-185" dirty="0">
                <a:latin typeface="Museo 300" pitchFamily="50" charset="0"/>
                <a:cs typeface="Arial"/>
              </a:rPr>
              <a:t>  </a:t>
            </a:r>
            <a:r>
              <a:rPr sz="2000" spc="-5" dirty="0">
                <a:latin typeface="Museo 300" pitchFamily="50" charset="0"/>
                <a:cs typeface="Arial"/>
              </a:rPr>
              <a:t>register into a given </a:t>
            </a:r>
            <a:r>
              <a:rPr sz="2000" dirty="0">
                <a:latin typeface="Museo 300" pitchFamily="50" charset="0"/>
                <a:cs typeface="Arial"/>
              </a:rPr>
              <a:t>memory</a:t>
            </a:r>
            <a:r>
              <a:rPr sz="2000" spc="-5" dirty="0">
                <a:latin typeface="Museo 300" pitchFamily="50" charset="0"/>
                <a:cs typeface="Arial"/>
              </a:rPr>
              <a:t> location.</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304800"/>
            <a:ext cx="5838613" cy="551433"/>
          </a:xfrm>
          <a:prstGeom prst="rect">
            <a:avLst/>
          </a:prstGeom>
        </p:spPr>
        <p:txBody>
          <a:bodyPr vert="horz" wrap="square" lIns="0" tIns="12700" rIns="0" bIns="0" rtlCol="0">
            <a:spAutoFit/>
          </a:bodyPr>
          <a:lstStyle/>
          <a:p>
            <a:pPr marL="12700">
              <a:lnSpc>
                <a:spcPct val="100000"/>
              </a:lnSpc>
              <a:spcBef>
                <a:spcPts val="100"/>
              </a:spcBef>
            </a:pPr>
            <a:r>
              <a:rPr dirty="0"/>
              <a:t>Register</a:t>
            </a:r>
            <a:r>
              <a:rPr spc="-65" dirty="0"/>
              <a:t> </a:t>
            </a:r>
            <a:r>
              <a:rPr spc="-25" dirty="0"/>
              <a:t>Transfers</a:t>
            </a:r>
          </a:p>
        </p:txBody>
      </p:sp>
      <p:sp>
        <p:nvSpPr>
          <p:cNvPr id="3" name="object 3"/>
          <p:cNvSpPr txBox="1"/>
          <p:nvPr/>
        </p:nvSpPr>
        <p:spPr>
          <a:xfrm>
            <a:off x="609600" y="1066800"/>
            <a:ext cx="10829712" cy="3504806"/>
          </a:xfrm>
          <a:prstGeom prst="rect">
            <a:avLst/>
          </a:prstGeom>
        </p:spPr>
        <p:txBody>
          <a:bodyPr vert="horz" wrap="square" lIns="0" tIns="54610" rIns="0" bIns="0" rtlCol="0">
            <a:spAutoFit/>
          </a:bodyPr>
          <a:lstStyle/>
          <a:p>
            <a:pPr marL="393700" marR="735330" indent="-343535" algn="just">
              <a:lnSpc>
                <a:spcPct val="150000"/>
              </a:lnSpc>
              <a:spcBef>
                <a:spcPts val="430"/>
              </a:spcBef>
              <a:buClr>
                <a:srgbClr val="330066"/>
              </a:buClr>
              <a:buSzPct val="69642"/>
              <a:buFont typeface="Wingdings"/>
              <a:buChar char="⚫"/>
              <a:tabLst>
                <a:tab pos="394335" algn="l"/>
              </a:tabLst>
            </a:pPr>
            <a:r>
              <a:rPr sz="2000" dirty="0">
                <a:latin typeface="Museo 300" pitchFamily="50" charset="0"/>
                <a:cs typeface="Arial"/>
              </a:rPr>
              <a:t>Instruction execution </a:t>
            </a:r>
            <a:r>
              <a:rPr sz="2000" spc="-5" dirty="0">
                <a:latin typeface="Museo 300" pitchFamily="50" charset="0"/>
                <a:cs typeface="Arial"/>
              </a:rPr>
              <a:t>involves a </a:t>
            </a:r>
            <a:r>
              <a:rPr sz="2000">
                <a:latin typeface="Museo 300" pitchFamily="50" charset="0"/>
                <a:cs typeface="Arial"/>
              </a:rPr>
              <a:t>sequence of</a:t>
            </a:r>
            <a:r>
              <a:rPr lang="en-US" sz="2000" dirty="0">
                <a:latin typeface="Museo 300" pitchFamily="50" charset="0"/>
                <a:cs typeface="Arial"/>
              </a:rPr>
              <a:t> </a:t>
            </a:r>
            <a:r>
              <a:rPr sz="2000">
                <a:latin typeface="Museo 300" pitchFamily="50" charset="0"/>
                <a:cs typeface="Arial"/>
              </a:rPr>
              <a:t>steps </a:t>
            </a:r>
            <a:r>
              <a:rPr sz="2000" spc="-5" dirty="0">
                <a:latin typeface="Museo 300" pitchFamily="50" charset="0"/>
                <a:cs typeface="Arial"/>
              </a:rPr>
              <a:t>in which </a:t>
            </a:r>
            <a:r>
              <a:rPr sz="2000" dirty="0">
                <a:latin typeface="Museo 300" pitchFamily="50" charset="0"/>
                <a:cs typeface="Arial"/>
              </a:rPr>
              <a:t>data are transferred from </a:t>
            </a:r>
            <a:r>
              <a:rPr sz="2000" spc="-5" dirty="0">
                <a:latin typeface="Museo 300" pitchFamily="50" charset="0"/>
                <a:cs typeface="Arial"/>
              </a:rPr>
              <a:t>one  </a:t>
            </a:r>
            <a:r>
              <a:rPr sz="2000" dirty="0">
                <a:latin typeface="Museo 300" pitchFamily="50" charset="0"/>
                <a:cs typeface="Arial"/>
              </a:rPr>
              <a:t>register </a:t>
            </a:r>
            <a:r>
              <a:rPr sz="2000" spc="-5" dirty="0">
                <a:latin typeface="Museo 300" pitchFamily="50" charset="0"/>
                <a:cs typeface="Arial"/>
              </a:rPr>
              <a:t>to </a:t>
            </a:r>
            <a:r>
              <a:rPr sz="2000" spc="-20" dirty="0">
                <a:latin typeface="Museo 300" pitchFamily="50" charset="0"/>
                <a:cs typeface="Arial"/>
              </a:rPr>
              <a:t>another.</a:t>
            </a:r>
            <a:endParaRPr sz="2000">
              <a:latin typeface="Museo 300" pitchFamily="50" charset="0"/>
              <a:cs typeface="Arial"/>
            </a:endParaRPr>
          </a:p>
          <a:p>
            <a:pPr marL="393700" marR="43180" indent="-343535" algn="just">
              <a:lnSpc>
                <a:spcPct val="150000"/>
              </a:lnSpc>
              <a:spcBef>
                <a:spcPts val="670"/>
              </a:spcBef>
              <a:buClr>
                <a:srgbClr val="330066"/>
              </a:buClr>
              <a:buSzPct val="69642"/>
              <a:buFont typeface="Wingdings"/>
              <a:buChar char="⚫"/>
              <a:tabLst>
                <a:tab pos="393700" algn="l"/>
                <a:tab pos="394335" algn="l"/>
              </a:tabLst>
            </a:pPr>
            <a:r>
              <a:rPr sz="2000" spc="-5" dirty="0">
                <a:latin typeface="Museo 300" pitchFamily="50" charset="0"/>
                <a:cs typeface="Arial"/>
              </a:rPr>
              <a:t>For each </a:t>
            </a:r>
            <a:r>
              <a:rPr sz="2000" spc="-20" dirty="0">
                <a:latin typeface="Museo 300" pitchFamily="50" charset="0"/>
                <a:cs typeface="Arial"/>
              </a:rPr>
              <a:t>register, </a:t>
            </a:r>
            <a:r>
              <a:rPr sz="2000" spc="-5" dirty="0">
                <a:latin typeface="Museo 300" pitchFamily="50" charset="0"/>
                <a:cs typeface="Arial"/>
              </a:rPr>
              <a:t>two </a:t>
            </a:r>
            <a:r>
              <a:rPr sz="2000" dirty="0">
                <a:latin typeface="Museo 300" pitchFamily="50" charset="0"/>
                <a:cs typeface="Arial"/>
              </a:rPr>
              <a:t>control signals are </a:t>
            </a:r>
            <a:r>
              <a:rPr sz="2000">
                <a:latin typeface="Museo 300" pitchFamily="50" charset="0"/>
                <a:cs typeface="Arial"/>
              </a:rPr>
              <a:t>used </a:t>
            </a:r>
            <a:r>
              <a:rPr lang="en-US" sz="2000" dirty="0">
                <a:latin typeface="Museo 300" pitchFamily="50" charset="0"/>
                <a:cs typeface="Arial"/>
              </a:rPr>
              <a:t>to p</a:t>
            </a:r>
            <a:r>
              <a:rPr sz="2000">
                <a:latin typeface="Museo 300" pitchFamily="50" charset="0"/>
                <a:cs typeface="Arial"/>
              </a:rPr>
              <a:t>lace </a:t>
            </a:r>
            <a:r>
              <a:rPr sz="2000" spc="-5" dirty="0">
                <a:latin typeface="Museo 300" pitchFamily="50" charset="0"/>
                <a:cs typeface="Arial"/>
              </a:rPr>
              <a:t>the </a:t>
            </a:r>
            <a:r>
              <a:rPr sz="2000" dirty="0">
                <a:latin typeface="Museo 300" pitchFamily="50" charset="0"/>
                <a:cs typeface="Arial"/>
              </a:rPr>
              <a:t>contents </a:t>
            </a:r>
            <a:r>
              <a:rPr sz="2000" spc="-5" dirty="0">
                <a:latin typeface="Museo 300" pitchFamily="50" charset="0"/>
                <a:cs typeface="Arial"/>
              </a:rPr>
              <a:t>of </a:t>
            </a:r>
            <a:r>
              <a:rPr sz="2000" dirty="0">
                <a:latin typeface="Museo 300" pitchFamily="50" charset="0"/>
                <a:cs typeface="Arial"/>
              </a:rPr>
              <a:t>that register </a:t>
            </a:r>
            <a:r>
              <a:rPr sz="2000" spc="-5" dirty="0">
                <a:latin typeface="Museo 300" pitchFamily="50" charset="0"/>
                <a:cs typeface="Arial"/>
              </a:rPr>
              <a:t>on the bus or  to </a:t>
            </a:r>
            <a:r>
              <a:rPr sz="2000" dirty="0">
                <a:latin typeface="Museo 300" pitchFamily="50" charset="0"/>
                <a:cs typeface="Arial"/>
              </a:rPr>
              <a:t>load </a:t>
            </a:r>
            <a:r>
              <a:rPr sz="2000" spc="-5" dirty="0">
                <a:latin typeface="Museo 300" pitchFamily="50" charset="0"/>
                <a:cs typeface="Arial"/>
              </a:rPr>
              <a:t>the data on the </a:t>
            </a:r>
            <a:r>
              <a:rPr sz="2000" dirty="0">
                <a:latin typeface="Museo 300" pitchFamily="50" charset="0"/>
                <a:cs typeface="Arial"/>
              </a:rPr>
              <a:t>bus </a:t>
            </a:r>
            <a:r>
              <a:rPr sz="2000" spc="-5" dirty="0">
                <a:latin typeface="Museo 300" pitchFamily="50" charset="0"/>
                <a:cs typeface="Arial"/>
              </a:rPr>
              <a:t>into the</a:t>
            </a:r>
            <a:r>
              <a:rPr sz="2000" spc="60" dirty="0">
                <a:latin typeface="Museo 300" pitchFamily="50" charset="0"/>
                <a:cs typeface="Arial"/>
              </a:rPr>
              <a:t> </a:t>
            </a:r>
            <a:r>
              <a:rPr sz="2000" spc="-20" dirty="0">
                <a:latin typeface="Museo 300" pitchFamily="50" charset="0"/>
                <a:cs typeface="Arial"/>
              </a:rPr>
              <a:t>register.</a:t>
            </a:r>
            <a:endParaRPr sz="2000">
              <a:latin typeface="Museo 300" pitchFamily="50" charset="0"/>
              <a:cs typeface="Arial"/>
            </a:endParaRPr>
          </a:p>
          <a:p>
            <a:pPr marL="393700" indent="-343535" algn="just">
              <a:lnSpc>
                <a:spcPct val="150000"/>
              </a:lnSpc>
              <a:spcBef>
                <a:spcPts val="340"/>
              </a:spcBef>
              <a:buClr>
                <a:srgbClr val="330066"/>
              </a:buClr>
              <a:buSzPct val="69642"/>
              <a:buFont typeface="Wingdings"/>
              <a:buChar char="⚫"/>
              <a:tabLst>
                <a:tab pos="393700" algn="l"/>
                <a:tab pos="394335" algn="l"/>
              </a:tabLst>
            </a:pPr>
            <a:r>
              <a:rPr sz="2000" spc="-5" dirty="0">
                <a:latin typeface="Museo 300" pitchFamily="50" charset="0"/>
                <a:cs typeface="Arial"/>
              </a:rPr>
              <a:t>This is </a:t>
            </a:r>
            <a:r>
              <a:rPr sz="2000" dirty="0">
                <a:latin typeface="Museo 300" pitchFamily="50" charset="0"/>
                <a:cs typeface="Arial"/>
              </a:rPr>
              <a:t>represented symbolically </a:t>
            </a:r>
            <a:r>
              <a:rPr sz="2000" spc="-5">
                <a:latin typeface="Museo 300" pitchFamily="50" charset="0"/>
                <a:cs typeface="Arial"/>
              </a:rPr>
              <a:t>in Figure</a:t>
            </a:r>
            <a:r>
              <a:rPr sz="2000">
                <a:latin typeface="Museo 300" pitchFamily="50" charset="0"/>
                <a:cs typeface="Arial"/>
              </a:rPr>
              <a:t>.</a:t>
            </a:r>
          </a:p>
          <a:p>
            <a:pPr marL="393700" marR="281940" indent="-343535" algn="just">
              <a:lnSpc>
                <a:spcPct val="150000"/>
              </a:lnSpc>
              <a:spcBef>
                <a:spcPts val="670"/>
              </a:spcBef>
              <a:buClr>
                <a:srgbClr val="330066"/>
              </a:buClr>
              <a:buSzPct val="69642"/>
              <a:buFont typeface="Wingdings"/>
              <a:buChar char="⚫"/>
              <a:tabLst>
                <a:tab pos="393700" algn="l"/>
                <a:tab pos="394335" algn="l"/>
              </a:tabLst>
            </a:pPr>
            <a:r>
              <a:rPr sz="2000" spc="-5" dirty="0">
                <a:latin typeface="Museo 300" pitchFamily="50" charset="0"/>
                <a:cs typeface="Arial"/>
              </a:rPr>
              <a:t>The </a:t>
            </a:r>
            <a:r>
              <a:rPr sz="2000" dirty="0">
                <a:latin typeface="Museo 300" pitchFamily="50" charset="0"/>
                <a:cs typeface="Arial"/>
              </a:rPr>
              <a:t>input and output </a:t>
            </a:r>
            <a:r>
              <a:rPr sz="2000" spc="-5" dirty="0">
                <a:latin typeface="Museo 300" pitchFamily="50" charset="0"/>
                <a:cs typeface="Arial"/>
              </a:rPr>
              <a:t>of </a:t>
            </a:r>
            <a:r>
              <a:rPr sz="2000" dirty="0">
                <a:latin typeface="Museo 300" pitchFamily="50" charset="0"/>
                <a:cs typeface="Arial"/>
              </a:rPr>
              <a:t>register </a:t>
            </a:r>
            <a:r>
              <a:rPr sz="2000" spc="10" dirty="0">
                <a:latin typeface="Museo 300" pitchFamily="50" charset="0"/>
                <a:cs typeface="Arial"/>
              </a:rPr>
              <a:t>R</a:t>
            </a:r>
            <a:r>
              <a:rPr sz="2000" i="1" spc="10" dirty="0">
                <a:latin typeface="Museo 300" pitchFamily="50" charset="0"/>
                <a:cs typeface="Arial"/>
              </a:rPr>
              <a:t>i </a:t>
            </a:r>
            <a:r>
              <a:rPr sz="2000" dirty="0">
                <a:latin typeface="Museo 300" pitchFamily="50" charset="0"/>
                <a:cs typeface="Arial"/>
              </a:rPr>
              <a:t>are  </a:t>
            </a:r>
            <a:r>
              <a:rPr sz="2000" spc="-5" dirty="0">
                <a:latin typeface="Museo 300" pitchFamily="50" charset="0"/>
                <a:cs typeface="Arial"/>
              </a:rPr>
              <a:t>connected to the </a:t>
            </a:r>
            <a:r>
              <a:rPr sz="2000" dirty="0">
                <a:latin typeface="Museo 300" pitchFamily="50" charset="0"/>
                <a:cs typeface="Arial"/>
              </a:rPr>
              <a:t>bus </a:t>
            </a:r>
            <a:r>
              <a:rPr sz="2000" spc="-5" dirty="0">
                <a:latin typeface="Museo 300" pitchFamily="50" charset="0"/>
                <a:cs typeface="Arial"/>
              </a:rPr>
              <a:t>via switches </a:t>
            </a:r>
            <a:r>
              <a:rPr sz="2000" dirty="0">
                <a:latin typeface="Museo 300" pitchFamily="50" charset="0"/>
                <a:cs typeface="Arial"/>
              </a:rPr>
              <a:t>controlled </a:t>
            </a:r>
            <a:r>
              <a:rPr sz="2000" spc="-5" dirty="0">
                <a:latin typeface="Museo 300" pitchFamily="50" charset="0"/>
                <a:cs typeface="Arial"/>
              </a:rPr>
              <a:t>by  the </a:t>
            </a:r>
            <a:r>
              <a:rPr sz="2000" dirty="0">
                <a:latin typeface="Museo 300" pitchFamily="50" charset="0"/>
                <a:cs typeface="Arial"/>
              </a:rPr>
              <a:t>signals R</a:t>
            </a:r>
            <a:r>
              <a:rPr sz="2000" i="1" dirty="0">
                <a:latin typeface="Museo 300" pitchFamily="50" charset="0"/>
                <a:cs typeface="Arial"/>
              </a:rPr>
              <a:t>i</a:t>
            </a:r>
            <a:r>
              <a:rPr sz="2000" i="1" baseline="-21021" dirty="0">
                <a:latin typeface="Museo 300" pitchFamily="50" charset="0"/>
                <a:cs typeface="Arial"/>
              </a:rPr>
              <a:t>in </a:t>
            </a:r>
            <a:r>
              <a:rPr sz="2000" dirty="0">
                <a:latin typeface="Museo 300" pitchFamily="50" charset="0"/>
                <a:cs typeface="Arial"/>
              </a:rPr>
              <a:t>and R</a:t>
            </a:r>
            <a:r>
              <a:rPr sz="2000" i="1" dirty="0">
                <a:latin typeface="Museo 300" pitchFamily="50" charset="0"/>
                <a:cs typeface="Arial"/>
              </a:rPr>
              <a:t>i</a:t>
            </a:r>
            <a:r>
              <a:rPr sz="2000" i="1" baseline="-21021" dirty="0">
                <a:latin typeface="Museo 300" pitchFamily="50" charset="0"/>
                <a:cs typeface="Arial"/>
              </a:rPr>
              <a:t>out</a:t>
            </a:r>
            <a:r>
              <a:rPr sz="2000" i="1" spc="52" baseline="-21021" dirty="0">
                <a:latin typeface="Museo 300" pitchFamily="50" charset="0"/>
                <a:cs typeface="Arial"/>
              </a:rPr>
              <a:t> </a:t>
            </a:r>
            <a:r>
              <a:rPr sz="2000" spc="-20" dirty="0">
                <a:latin typeface="Museo 300" pitchFamily="50" charset="0"/>
                <a:cs typeface="Arial"/>
              </a:rPr>
              <a:t>respectively.</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304800"/>
            <a:ext cx="6206067" cy="551433"/>
          </a:xfrm>
          <a:prstGeom prst="rect">
            <a:avLst/>
          </a:prstGeom>
        </p:spPr>
        <p:txBody>
          <a:bodyPr vert="horz" wrap="square" lIns="0" tIns="12700" rIns="0" bIns="0" rtlCol="0">
            <a:spAutoFit/>
          </a:bodyPr>
          <a:lstStyle/>
          <a:p>
            <a:pPr marL="12700">
              <a:lnSpc>
                <a:spcPct val="100000"/>
              </a:lnSpc>
              <a:spcBef>
                <a:spcPts val="100"/>
              </a:spcBef>
            </a:pPr>
            <a:r>
              <a:t>Register</a:t>
            </a:r>
            <a:r>
              <a:rPr spc="-65"/>
              <a:t> </a:t>
            </a:r>
            <a:r>
              <a:rPr spc="-20"/>
              <a:t>Transfers</a:t>
            </a:r>
            <a:r>
              <a:rPr lang="en-US" spc="-20" dirty="0"/>
              <a:t> continue</a:t>
            </a:r>
            <a:r>
              <a:rPr spc="-20"/>
              <a:t>..</a:t>
            </a:r>
            <a:endParaRPr spc="-20" dirty="0"/>
          </a:p>
        </p:txBody>
      </p:sp>
      <p:sp>
        <p:nvSpPr>
          <p:cNvPr id="3" name="object 3"/>
          <p:cNvSpPr txBox="1"/>
          <p:nvPr/>
        </p:nvSpPr>
        <p:spPr>
          <a:xfrm>
            <a:off x="663787" y="1700912"/>
            <a:ext cx="10766212" cy="1626086"/>
          </a:xfrm>
          <a:prstGeom prst="rect">
            <a:avLst/>
          </a:prstGeom>
        </p:spPr>
        <p:txBody>
          <a:bodyPr vert="horz" wrap="square" lIns="0" tIns="60960" rIns="0" bIns="0" rtlCol="0">
            <a:spAutoFit/>
          </a:bodyPr>
          <a:lstStyle/>
          <a:p>
            <a:pPr marL="393700" marR="610235" indent="-343535" algn="just">
              <a:lnSpc>
                <a:spcPct val="150000"/>
              </a:lnSpc>
              <a:spcBef>
                <a:spcPts val="480"/>
              </a:spcBef>
              <a:buClr>
                <a:srgbClr val="330066"/>
              </a:buClr>
              <a:buSzPct val="69642"/>
              <a:buFont typeface="Wingdings"/>
              <a:buChar char="⚫"/>
              <a:tabLst>
                <a:tab pos="393700" algn="l"/>
                <a:tab pos="394335" algn="l"/>
                <a:tab pos="2073275" algn="l"/>
              </a:tabLst>
            </a:pPr>
            <a:r>
              <a:rPr sz="2000" spc="-5">
                <a:latin typeface="Museo 300" pitchFamily="50" charset="0"/>
                <a:cs typeface="Arial"/>
              </a:rPr>
              <a:t>When</a:t>
            </a:r>
            <a:r>
              <a:rPr sz="2000" spc="20">
                <a:latin typeface="Museo 300" pitchFamily="50" charset="0"/>
                <a:cs typeface="Arial"/>
              </a:rPr>
              <a:t> </a:t>
            </a:r>
            <a:r>
              <a:rPr sz="2000">
                <a:latin typeface="Museo 300" pitchFamily="50" charset="0"/>
                <a:cs typeface="Arial"/>
              </a:rPr>
              <a:t>R</a:t>
            </a:r>
            <a:r>
              <a:rPr sz="2000" i="1">
                <a:latin typeface="Museo 300" pitchFamily="50" charset="0"/>
                <a:cs typeface="Arial"/>
              </a:rPr>
              <a:t>i</a:t>
            </a:r>
            <a:r>
              <a:rPr sz="2000" i="1" baseline="-21021">
                <a:latin typeface="Museo 300" pitchFamily="50" charset="0"/>
                <a:cs typeface="Arial"/>
              </a:rPr>
              <a:t>in</a:t>
            </a:r>
            <a:r>
              <a:rPr lang="en-US" sz="2000" i="1" dirty="0">
                <a:latin typeface="Museo 300" pitchFamily="50" charset="0"/>
                <a:cs typeface="Arial"/>
              </a:rPr>
              <a:t> </a:t>
            </a:r>
            <a:r>
              <a:rPr sz="2000" spc="-5">
                <a:latin typeface="Museo 300" pitchFamily="50" charset="0"/>
                <a:cs typeface="Arial"/>
              </a:rPr>
              <a:t>is </a:t>
            </a:r>
            <a:r>
              <a:rPr sz="2000" spc="-5" dirty="0">
                <a:latin typeface="Museo 300" pitchFamily="50" charset="0"/>
                <a:cs typeface="Arial"/>
              </a:rPr>
              <a:t>set to </a:t>
            </a:r>
            <a:r>
              <a:rPr sz="2000" dirty="0">
                <a:latin typeface="Museo 300" pitchFamily="50" charset="0"/>
                <a:cs typeface="Arial"/>
              </a:rPr>
              <a:t>1, </a:t>
            </a:r>
            <a:r>
              <a:rPr sz="2000" spc="-5" dirty="0">
                <a:latin typeface="Museo 300" pitchFamily="50" charset="0"/>
                <a:cs typeface="Arial"/>
              </a:rPr>
              <a:t>the </a:t>
            </a:r>
            <a:r>
              <a:rPr sz="2000" dirty="0">
                <a:latin typeface="Museo 300" pitchFamily="50" charset="0"/>
                <a:cs typeface="Arial"/>
              </a:rPr>
              <a:t>data </a:t>
            </a:r>
            <a:r>
              <a:rPr sz="2000" spc="-5" dirty="0">
                <a:latin typeface="Museo 300" pitchFamily="50" charset="0"/>
                <a:cs typeface="Arial"/>
              </a:rPr>
              <a:t>on </a:t>
            </a:r>
            <a:r>
              <a:rPr sz="2000" dirty="0">
                <a:latin typeface="Museo 300" pitchFamily="50" charset="0"/>
                <a:cs typeface="Arial"/>
              </a:rPr>
              <a:t>the bus </a:t>
            </a:r>
            <a:r>
              <a:rPr sz="2000" spc="-5" dirty="0">
                <a:latin typeface="Museo 300" pitchFamily="50" charset="0"/>
                <a:cs typeface="Arial"/>
              </a:rPr>
              <a:t>are  loaded </a:t>
            </a:r>
            <a:r>
              <a:rPr sz="2000" dirty="0">
                <a:latin typeface="Museo 300" pitchFamily="50" charset="0"/>
                <a:cs typeface="Arial"/>
              </a:rPr>
              <a:t>into</a:t>
            </a:r>
            <a:r>
              <a:rPr sz="2000" spc="15" dirty="0">
                <a:latin typeface="Museo 300" pitchFamily="50" charset="0"/>
                <a:cs typeface="Arial"/>
              </a:rPr>
              <a:t> </a:t>
            </a:r>
            <a:r>
              <a:rPr sz="2000" spc="-10" dirty="0">
                <a:latin typeface="Museo 300" pitchFamily="50" charset="0"/>
                <a:cs typeface="Arial"/>
              </a:rPr>
              <a:t>Ri.</a:t>
            </a:r>
            <a:endParaRPr sz="2000">
              <a:latin typeface="Museo 300" pitchFamily="50" charset="0"/>
              <a:cs typeface="Arial"/>
            </a:endParaRPr>
          </a:p>
          <a:p>
            <a:pPr marL="393700" marR="357505" indent="-343535" algn="just">
              <a:lnSpc>
                <a:spcPct val="150000"/>
              </a:lnSpc>
              <a:spcBef>
                <a:spcPts val="680"/>
              </a:spcBef>
              <a:buClr>
                <a:srgbClr val="330066"/>
              </a:buClr>
              <a:buSzPct val="69642"/>
              <a:buFont typeface="Wingdings"/>
              <a:buChar char="⚫"/>
              <a:tabLst>
                <a:tab pos="393700" algn="l"/>
                <a:tab pos="394335" algn="l"/>
                <a:tab pos="3656965" algn="l"/>
              </a:tabLst>
            </a:pPr>
            <a:r>
              <a:rPr sz="2000" spc="-25" dirty="0">
                <a:latin typeface="Museo 300" pitchFamily="50" charset="0"/>
                <a:cs typeface="Arial"/>
              </a:rPr>
              <a:t>Similarly,</a:t>
            </a:r>
            <a:r>
              <a:rPr sz="2000" spc="25" dirty="0">
                <a:latin typeface="Museo 300" pitchFamily="50" charset="0"/>
                <a:cs typeface="Arial"/>
              </a:rPr>
              <a:t> </a:t>
            </a:r>
            <a:r>
              <a:rPr sz="2000" spc="-5">
                <a:latin typeface="Museo 300" pitchFamily="50" charset="0"/>
                <a:cs typeface="Arial"/>
              </a:rPr>
              <a:t>when</a:t>
            </a:r>
            <a:r>
              <a:rPr sz="2000" spc="60">
                <a:latin typeface="Museo 300" pitchFamily="50" charset="0"/>
                <a:cs typeface="Arial"/>
              </a:rPr>
              <a:t> </a:t>
            </a:r>
            <a:r>
              <a:rPr sz="2000">
                <a:latin typeface="Museo 300" pitchFamily="50" charset="0"/>
                <a:cs typeface="Arial"/>
              </a:rPr>
              <a:t>R</a:t>
            </a:r>
            <a:r>
              <a:rPr sz="2000" i="1">
                <a:latin typeface="Museo 300" pitchFamily="50" charset="0"/>
                <a:cs typeface="Arial"/>
              </a:rPr>
              <a:t>i</a:t>
            </a:r>
            <a:r>
              <a:rPr sz="2000" i="1" baseline="-21021">
                <a:latin typeface="Museo 300" pitchFamily="50" charset="0"/>
                <a:cs typeface="Arial"/>
              </a:rPr>
              <a:t>ou</a:t>
            </a:r>
            <a:r>
              <a:rPr lang="en-US" sz="2000" i="1" baseline="-21021" dirty="0">
                <a:latin typeface="Museo 300" pitchFamily="50" charset="0"/>
                <a:cs typeface="Arial"/>
              </a:rPr>
              <a:t>t</a:t>
            </a:r>
            <a:r>
              <a:rPr lang="en-US" sz="2000" i="1" dirty="0">
                <a:latin typeface="Museo 300" pitchFamily="50" charset="0"/>
                <a:cs typeface="Arial"/>
              </a:rPr>
              <a:t> </a:t>
            </a:r>
            <a:r>
              <a:rPr sz="2000" spc="-5">
                <a:latin typeface="Museo 300" pitchFamily="50" charset="0"/>
                <a:cs typeface="Arial"/>
              </a:rPr>
              <a:t>is </a:t>
            </a:r>
            <a:r>
              <a:rPr sz="2000" spc="-5" dirty="0">
                <a:latin typeface="Museo 300" pitchFamily="50" charset="0"/>
                <a:cs typeface="Arial"/>
              </a:rPr>
              <a:t>set to </a:t>
            </a:r>
            <a:r>
              <a:rPr sz="2000" dirty="0">
                <a:latin typeface="Museo 300" pitchFamily="50" charset="0"/>
                <a:cs typeface="Arial"/>
              </a:rPr>
              <a:t>1, </a:t>
            </a:r>
            <a:r>
              <a:rPr sz="2000" spc="-5" dirty="0">
                <a:latin typeface="Museo 300" pitchFamily="50" charset="0"/>
                <a:cs typeface="Arial"/>
              </a:rPr>
              <a:t>the contents of  </a:t>
            </a:r>
            <a:r>
              <a:rPr sz="2000" dirty="0">
                <a:latin typeface="Museo 300" pitchFamily="50" charset="0"/>
                <a:cs typeface="Arial"/>
              </a:rPr>
              <a:t>register </a:t>
            </a:r>
            <a:r>
              <a:rPr sz="2000" spc="-5" dirty="0">
                <a:latin typeface="Museo 300" pitchFamily="50" charset="0"/>
                <a:cs typeface="Arial"/>
              </a:rPr>
              <a:t>Ri are placed on the</a:t>
            </a:r>
            <a:r>
              <a:rPr sz="2000" spc="30" dirty="0">
                <a:latin typeface="Museo 300" pitchFamily="50" charset="0"/>
                <a:cs typeface="Arial"/>
              </a:rPr>
              <a:t> </a:t>
            </a:r>
            <a:r>
              <a:rPr sz="2000" dirty="0">
                <a:latin typeface="Museo 300" pitchFamily="50" charset="0"/>
                <a:cs typeface="Arial"/>
              </a:rPr>
              <a:t>bus.</a:t>
            </a:r>
            <a:endParaRPr sz="2000">
              <a:latin typeface="Museo 300" pitchFamily="50" charset="0"/>
              <a:cs typeface="Arial"/>
            </a:endParaRPr>
          </a:p>
          <a:p>
            <a:pPr marL="393700" marR="43180" indent="-343535" algn="just">
              <a:lnSpc>
                <a:spcPct val="150000"/>
              </a:lnSpc>
              <a:spcBef>
                <a:spcPts val="670"/>
              </a:spcBef>
              <a:buClr>
                <a:srgbClr val="330066"/>
              </a:buClr>
              <a:buSzPct val="69642"/>
              <a:buFont typeface="Wingdings"/>
              <a:buChar char="⚫"/>
              <a:tabLst>
                <a:tab pos="393700" algn="l"/>
                <a:tab pos="394335" algn="l"/>
                <a:tab pos="2178050" algn="l"/>
              </a:tabLst>
            </a:pPr>
            <a:r>
              <a:rPr sz="2000" spc="-5">
                <a:latin typeface="Museo 300" pitchFamily="50" charset="0"/>
                <a:cs typeface="Arial"/>
              </a:rPr>
              <a:t>While</a:t>
            </a:r>
            <a:r>
              <a:rPr sz="2000" spc="45">
                <a:latin typeface="Museo 300" pitchFamily="50" charset="0"/>
                <a:cs typeface="Arial"/>
              </a:rPr>
              <a:t> </a:t>
            </a:r>
            <a:r>
              <a:rPr sz="2000">
                <a:latin typeface="Museo 300" pitchFamily="50" charset="0"/>
                <a:cs typeface="Arial"/>
              </a:rPr>
              <a:t>R</a:t>
            </a:r>
            <a:r>
              <a:rPr sz="2000" i="1">
                <a:latin typeface="Museo 300" pitchFamily="50" charset="0"/>
                <a:cs typeface="Arial"/>
              </a:rPr>
              <a:t>i</a:t>
            </a:r>
            <a:r>
              <a:rPr sz="2000" i="1" baseline="-21021">
                <a:latin typeface="Museo 300" pitchFamily="50" charset="0"/>
                <a:cs typeface="Arial"/>
              </a:rPr>
              <a:t>out</a:t>
            </a:r>
            <a:r>
              <a:rPr lang="en-US" sz="2000" i="1" dirty="0">
                <a:latin typeface="Museo 300" pitchFamily="50" charset="0"/>
                <a:cs typeface="Arial"/>
              </a:rPr>
              <a:t> </a:t>
            </a:r>
            <a:r>
              <a:rPr sz="2000" spc="-5">
                <a:latin typeface="Museo 300" pitchFamily="50" charset="0"/>
                <a:cs typeface="Arial"/>
              </a:rPr>
              <a:t>is </a:t>
            </a:r>
            <a:r>
              <a:rPr sz="2000" spc="-5" dirty="0">
                <a:latin typeface="Museo 300" pitchFamily="50" charset="0"/>
                <a:cs typeface="Arial"/>
              </a:rPr>
              <a:t>equal to 0, the </a:t>
            </a:r>
            <a:r>
              <a:rPr sz="2000" dirty="0">
                <a:latin typeface="Museo 300" pitchFamily="50" charset="0"/>
                <a:cs typeface="Arial"/>
              </a:rPr>
              <a:t>bus can </a:t>
            </a:r>
            <a:r>
              <a:rPr sz="2000" spc="-5" dirty="0">
                <a:latin typeface="Museo 300" pitchFamily="50" charset="0"/>
                <a:cs typeface="Arial"/>
              </a:rPr>
              <a:t>be </a:t>
            </a:r>
            <a:r>
              <a:rPr sz="2000" dirty="0">
                <a:latin typeface="Museo 300" pitchFamily="50" charset="0"/>
                <a:cs typeface="Arial"/>
              </a:rPr>
              <a:t>used for  transferring data </a:t>
            </a:r>
            <a:r>
              <a:rPr sz="2000" spc="-5" dirty="0">
                <a:latin typeface="Museo 300" pitchFamily="50" charset="0"/>
                <a:cs typeface="Arial"/>
              </a:rPr>
              <a:t>from </a:t>
            </a:r>
            <a:r>
              <a:rPr sz="2000" dirty="0">
                <a:latin typeface="Museo 300" pitchFamily="50" charset="0"/>
                <a:cs typeface="Arial"/>
              </a:rPr>
              <a:t>other</a:t>
            </a:r>
            <a:r>
              <a:rPr sz="2000" spc="-15" dirty="0">
                <a:latin typeface="Museo 300" pitchFamily="50" charset="0"/>
                <a:cs typeface="Arial"/>
              </a:rPr>
              <a:t> </a:t>
            </a:r>
            <a:r>
              <a:rPr sz="2000" dirty="0">
                <a:latin typeface="Museo 300" pitchFamily="50" charset="0"/>
                <a:cs typeface="Arial"/>
              </a:rPr>
              <a:t>registers.</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0"/>
            <a:ext cx="10515600" cy="551433"/>
          </a:xfrm>
          <a:prstGeom prst="rect">
            <a:avLst/>
          </a:prstGeom>
        </p:spPr>
        <p:txBody>
          <a:bodyPr vert="horz" wrap="square" lIns="0" tIns="12700" rIns="0" bIns="0" rtlCol="0">
            <a:spAutoFit/>
          </a:bodyPr>
          <a:lstStyle/>
          <a:p>
            <a:pPr marL="12700">
              <a:lnSpc>
                <a:spcPct val="100000"/>
              </a:lnSpc>
              <a:spcBef>
                <a:spcPts val="100"/>
              </a:spcBef>
            </a:pPr>
            <a:r>
              <a:rPr dirty="0"/>
              <a:t>Register</a:t>
            </a:r>
            <a:r>
              <a:rPr spc="-65" dirty="0"/>
              <a:t> </a:t>
            </a:r>
            <a:r>
              <a:rPr spc="-20" dirty="0"/>
              <a:t>Transfers..</a:t>
            </a:r>
          </a:p>
        </p:txBody>
      </p:sp>
      <p:grpSp>
        <p:nvGrpSpPr>
          <p:cNvPr id="3" name="object 3"/>
          <p:cNvGrpSpPr/>
          <p:nvPr/>
        </p:nvGrpSpPr>
        <p:grpSpPr>
          <a:xfrm>
            <a:off x="5480314" y="1153668"/>
            <a:ext cx="2538307" cy="4593590"/>
            <a:chOff x="4177284" y="1429385"/>
            <a:chExt cx="1903730" cy="4593590"/>
          </a:xfrm>
        </p:grpSpPr>
        <p:sp>
          <p:nvSpPr>
            <p:cNvPr id="4" name="object 4"/>
            <p:cNvSpPr/>
            <p:nvPr/>
          </p:nvSpPr>
          <p:spPr>
            <a:xfrm>
              <a:off x="5947410" y="5761481"/>
              <a:ext cx="88900" cy="20320"/>
            </a:xfrm>
            <a:custGeom>
              <a:avLst/>
              <a:gdLst/>
              <a:ahLst/>
              <a:cxnLst/>
              <a:rect l="l" t="t" r="r" b="b"/>
              <a:pathLst>
                <a:path w="88900" h="20320">
                  <a:moveTo>
                    <a:pt x="0" y="19812"/>
                  </a:moveTo>
                  <a:lnTo>
                    <a:pt x="88391" y="9906"/>
                  </a:lnTo>
                  <a:lnTo>
                    <a:pt x="0" y="0"/>
                  </a:lnTo>
                  <a:lnTo>
                    <a:pt x="0" y="9906"/>
                  </a:lnTo>
                  <a:lnTo>
                    <a:pt x="0" y="19812"/>
                  </a:lnTo>
                </a:path>
              </a:pathLst>
            </a:custGeom>
            <a:ln w="13716">
              <a:solidFill>
                <a:srgbClr val="000000"/>
              </a:solidFill>
            </a:ln>
          </p:spPr>
          <p:txBody>
            <a:bodyPr wrap="square" lIns="0" tIns="0" rIns="0" bIns="0" rtlCol="0"/>
            <a:lstStyle/>
            <a:p>
              <a:endParaRPr>
                <a:latin typeface="Museo 300" pitchFamily="50" charset="0"/>
              </a:endParaRPr>
            </a:p>
          </p:txBody>
        </p:sp>
        <p:sp>
          <p:nvSpPr>
            <p:cNvPr id="5" name="object 5"/>
            <p:cNvSpPr/>
            <p:nvPr/>
          </p:nvSpPr>
          <p:spPr>
            <a:xfrm>
              <a:off x="5947410" y="5761481"/>
              <a:ext cx="88900" cy="20320"/>
            </a:xfrm>
            <a:custGeom>
              <a:avLst/>
              <a:gdLst/>
              <a:ahLst/>
              <a:cxnLst/>
              <a:rect l="l" t="t" r="r" b="b"/>
              <a:pathLst>
                <a:path w="88900" h="20320">
                  <a:moveTo>
                    <a:pt x="0" y="0"/>
                  </a:moveTo>
                  <a:lnTo>
                    <a:pt x="0" y="19812"/>
                  </a:lnTo>
                  <a:lnTo>
                    <a:pt x="88391" y="9906"/>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6" name="object 6"/>
            <p:cNvSpPr/>
            <p:nvPr/>
          </p:nvSpPr>
          <p:spPr>
            <a:xfrm>
              <a:off x="5947410" y="5761481"/>
              <a:ext cx="88900" cy="20320"/>
            </a:xfrm>
            <a:custGeom>
              <a:avLst/>
              <a:gdLst/>
              <a:ahLst/>
              <a:cxnLst/>
              <a:rect l="l" t="t" r="r" b="b"/>
              <a:pathLst>
                <a:path w="88900" h="20320">
                  <a:moveTo>
                    <a:pt x="0" y="19812"/>
                  </a:moveTo>
                  <a:lnTo>
                    <a:pt x="88391" y="9906"/>
                  </a:lnTo>
                  <a:lnTo>
                    <a:pt x="0" y="0"/>
                  </a:lnTo>
                  <a:lnTo>
                    <a:pt x="0" y="9906"/>
                  </a:lnTo>
                  <a:lnTo>
                    <a:pt x="0" y="19812"/>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7" name="object 7"/>
            <p:cNvSpPr/>
            <p:nvPr/>
          </p:nvSpPr>
          <p:spPr>
            <a:xfrm>
              <a:off x="5638038" y="5772912"/>
              <a:ext cx="316230" cy="0"/>
            </a:xfrm>
            <a:custGeom>
              <a:avLst/>
              <a:gdLst/>
              <a:ahLst/>
              <a:cxnLst/>
              <a:rect l="l" t="t" r="r" b="b"/>
              <a:pathLst>
                <a:path w="316229">
                  <a:moveTo>
                    <a:pt x="0" y="0"/>
                  </a:moveTo>
                  <a:lnTo>
                    <a:pt x="316230" y="0"/>
                  </a:lnTo>
                </a:path>
              </a:pathLst>
            </a:custGeom>
            <a:ln w="15240">
              <a:solidFill>
                <a:srgbClr val="000000"/>
              </a:solidFill>
            </a:ln>
          </p:spPr>
          <p:txBody>
            <a:bodyPr wrap="square" lIns="0" tIns="0" rIns="0" bIns="0" rtlCol="0"/>
            <a:lstStyle/>
            <a:p>
              <a:endParaRPr>
                <a:latin typeface="Museo 300" pitchFamily="50" charset="0"/>
              </a:endParaRPr>
            </a:p>
          </p:txBody>
        </p:sp>
        <p:sp>
          <p:nvSpPr>
            <p:cNvPr id="8" name="object 8"/>
            <p:cNvSpPr/>
            <p:nvPr/>
          </p:nvSpPr>
          <p:spPr>
            <a:xfrm>
              <a:off x="4575810" y="5622798"/>
              <a:ext cx="928369" cy="393700"/>
            </a:xfrm>
            <a:custGeom>
              <a:avLst/>
              <a:gdLst/>
              <a:ahLst/>
              <a:cxnLst/>
              <a:rect l="l" t="t" r="r" b="b"/>
              <a:pathLst>
                <a:path w="928370" h="393700">
                  <a:moveTo>
                    <a:pt x="487679" y="393191"/>
                  </a:moveTo>
                  <a:lnTo>
                    <a:pt x="928115" y="393191"/>
                  </a:lnTo>
                  <a:lnTo>
                    <a:pt x="928115" y="245363"/>
                  </a:lnTo>
                </a:path>
                <a:path w="928370" h="393700">
                  <a:moveTo>
                    <a:pt x="810767" y="149351"/>
                  </a:moveTo>
                  <a:lnTo>
                    <a:pt x="0" y="149351"/>
                  </a:lnTo>
                  <a:lnTo>
                    <a:pt x="0" y="0"/>
                  </a:lnTo>
                </a:path>
              </a:pathLst>
            </a:custGeom>
            <a:ln w="13716">
              <a:solidFill>
                <a:srgbClr val="000000"/>
              </a:solidFill>
            </a:ln>
          </p:spPr>
          <p:txBody>
            <a:bodyPr wrap="square" lIns="0" tIns="0" rIns="0" bIns="0" rtlCol="0"/>
            <a:lstStyle/>
            <a:p>
              <a:endParaRPr>
                <a:latin typeface="Museo 300" pitchFamily="50" charset="0"/>
              </a:endParaRPr>
            </a:p>
          </p:txBody>
        </p:sp>
        <p:sp>
          <p:nvSpPr>
            <p:cNvPr id="9" name="object 9"/>
            <p:cNvSpPr/>
            <p:nvPr/>
          </p:nvSpPr>
          <p:spPr>
            <a:xfrm>
              <a:off x="5385689" y="5675249"/>
              <a:ext cx="253237" cy="193801"/>
            </a:xfrm>
            <a:prstGeom prst="rect">
              <a:avLst/>
            </a:prstGeom>
            <a:blipFill>
              <a:blip r:embed="rId2" cstate="print"/>
              <a:stretch>
                <a:fillRect/>
              </a:stretch>
            </a:blipFill>
          </p:spPr>
          <p:txBody>
            <a:bodyPr wrap="square" lIns="0" tIns="0" rIns="0" bIns="0" rtlCol="0"/>
            <a:lstStyle/>
            <a:p>
              <a:endParaRPr>
                <a:latin typeface="Museo 300" pitchFamily="50" charset="0"/>
              </a:endParaRPr>
            </a:p>
          </p:txBody>
        </p:sp>
        <p:sp>
          <p:nvSpPr>
            <p:cNvPr id="10" name="object 10"/>
            <p:cNvSpPr/>
            <p:nvPr/>
          </p:nvSpPr>
          <p:spPr>
            <a:xfrm>
              <a:off x="5386578" y="5676138"/>
              <a:ext cx="251460" cy="192405"/>
            </a:xfrm>
            <a:custGeom>
              <a:avLst/>
              <a:gdLst/>
              <a:ahLst/>
              <a:cxnLst/>
              <a:rect l="l" t="t" r="r" b="b"/>
              <a:pathLst>
                <a:path w="251460" h="192404">
                  <a:moveTo>
                    <a:pt x="0" y="192024"/>
                  </a:moveTo>
                  <a:lnTo>
                    <a:pt x="251460" y="192024"/>
                  </a:lnTo>
                  <a:lnTo>
                    <a:pt x="251460" y="0"/>
                  </a:lnTo>
                  <a:lnTo>
                    <a:pt x="0" y="0"/>
                  </a:lnTo>
                  <a:lnTo>
                    <a:pt x="0" y="192024"/>
                  </a:lnTo>
                  <a:close/>
                </a:path>
              </a:pathLst>
            </a:custGeom>
            <a:ln w="13716">
              <a:solidFill>
                <a:srgbClr val="000000"/>
              </a:solidFill>
            </a:ln>
          </p:spPr>
          <p:txBody>
            <a:bodyPr wrap="square" lIns="0" tIns="0" rIns="0" bIns="0" rtlCol="0"/>
            <a:lstStyle/>
            <a:p>
              <a:endParaRPr>
                <a:latin typeface="Museo 300" pitchFamily="50" charset="0"/>
              </a:endParaRPr>
            </a:p>
          </p:txBody>
        </p:sp>
        <p:sp>
          <p:nvSpPr>
            <p:cNvPr id="11" name="object 11"/>
            <p:cNvSpPr/>
            <p:nvPr/>
          </p:nvSpPr>
          <p:spPr>
            <a:xfrm>
              <a:off x="5476494" y="5740145"/>
              <a:ext cx="73660" cy="129539"/>
            </a:xfrm>
            <a:custGeom>
              <a:avLst/>
              <a:gdLst/>
              <a:ahLst/>
              <a:cxnLst/>
              <a:rect l="l" t="t" r="r" b="b"/>
              <a:pathLst>
                <a:path w="73660" h="129539">
                  <a:moveTo>
                    <a:pt x="73151" y="64007"/>
                  </a:moveTo>
                  <a:lnTo>
                    <a:pt x="0" y="0"/>
                  </a:lnTo>
                </a:path>
                <a:path w="73660" h="129539">
                  <a:moveTo>
                    <a:pt x="73151" y="0"/>
                  </a:moveTo>
                  <a:lnTo>
                    <a:pt x="0" y="64007"/>
                  </a:lnTo>
                </a:path>
                <a:path w="73660" h="129539">
                  <a:moveTo>
                    <a:pt x="27431" y="128015"/>
                  </a:moveTo>
                  <a:lnTo>
                    <a:pt x="30479" y="129539"/>
                  </a:lnTo>
                </a:path>
              </a:pathLst>
            </a:custGeom>
            <a:ln w="13716">
              <a:solidFill>
                <a:srgbClr val="000000"/>
              </a:solidFill>
            </a:ln>
          </p:spPr>
          <p:txBody>
            <a:bodyPr wrap="square" lIns="0" tIns="0" rIns="0" bIns="0" rtlCol="0"/>
            <a:lstStyle/>
            <a:p>
              <a:endParaRPr>
                <a:latin typeface="Museo 300" pitchFamily="50" charset="0"/>
              </a:endParaRPr>
            </a:p>
          </p:txBody>
        </p:sp>
        <p:sp>
          <p:nvSpPr>
            <p:cNvPr id="12" name="object 12"/>
            <p:cNvSpPr/>
            <p:nvPr/>
          </p:nvSpPr>
          <p:spPr>
            <a:xfrm>
              <a:off x="4915662" y="4298442"/>
              <a:ext cx="29209" cy="74930"/>
            </a:xfrm>
            <a:custGeom>
              <a:avLst/>
              <a:gdLst/>
              <a:ahLst/>
              <a:cxnLst/>
              <a:rect l="l" t="t" r="r" b="b"/>
              <a:pathLst>
                <a:path w="29210" h="74929">
                  <a:moveTo>
                    <a:pt x="0" y="0"/>
                  </a:moveTo>
                  <a:lnTo>
                    <a:pt x="14477" y="74675"/>
                  </a:lnTo>
                  <a:lnTo>
                    <a:pt x="28955" y="0"/>
                  </a:lnTo>
                  <a:lnTo>
                    <a:pt x="14477" y="0"/>
                  </a:lnTo>
                  <a:lnTo>
                    <a:pt x="0" y="0"/>
                  </a:lnTo>
                </a:path>
              </a:pathLst>
            </a:custGeom>
            <a:ln w="13715">
              <a:solidFill>
                <a:srgbClr val="000000"/>
              </a:solidFill>
            </a:ln>
          </p:spPr>
          <p:txBody>
            <a:bodyPr wrap="square" lIns="0" tIns="0" rIns="0" bIns="0" rtlCol="0"/>
            <a:lstStyle/>
            <a:p>
              <a:endParaRPr>
                <a:latin typeface="Museo 300" pitchFamily="50" charset="0"/>
              </a:endParaRPr>
            </a:p>
          </p:txBody>
        </p:sp>
        <p:sp>
          <p:nvSpPr>
            <p:cNvPr id="13" name="object 13"/>
            <p:cNvSpPr/>
            <p:nvPr/>
          </p:nvSpPr>
          <p:spPr>
            <a:xfrm>
              <a:off x="4915662" y="4298442"/>
              <a:ext cx="29209" cy="74930"/>
            </a:xfrm>
            <a:custGeom>
              <a:avLst/>
              <a:gdLst/>
              <a:ahLst/>
              <a:cxnLst/>
              <a:rect l="l" t="t" r="r" b="b"/>
              <a:pathLst>
                <a:path w="29210" h="74929">
                  <a:moveTo>
                    <a:pt x="28955" y="0"/>
                  </a:moveTo>
                  <a:lnTo>
                    <a:pt x="0" y="0"/>
                  </a:lnTo>
                  <a:lnTo>
                    <a:pt x="14477" y="74675"/>
                  </a:lnTo>
                  <a:lnTo>
                    <a:pt x="28955" y="0"/>
                  </a:lnTo>
                  <a:close/>
                </a:path>
              </a:pathLst>
            </a:custGeom>
            <a:solidFill>
              <a:srgbClr val="000000"/>
            </a:solidFill>
          </p:spPr>
          <p:txBody>
            <a:bodyPr wrap="square" lIns="0" tIns="0" rIns="0" bIns="0" rtlCol="0"/>
            <a:lstStyle/>
            <a:p>
              <a:endParaRPr>
                <a:latin typeface="Museo 300" pitchFamily="50" charset="0"/>
              </a:endParaRPr>
            </a:p>
          </p:txBody>
        </p:sp>
        <p:sp>
          <p:nvSpPr>
            <p:cNvPr id="14" name="object 14"/>
            <p:cNvSpPr/>
            <p:nvPr/>
          </p:nvSpPr>
          <p:spPr>
            <a:xfrm>
              <a:off x="4915662" y="4298442"/>
              <a:ext cx="29209" cy="74930"/>
            </a:xfrm>
            <a:custGeom>
              <a:avLst/>
              <a:gdLst/>
              <a:ahLst/>
              <a:cxnLst/>
              <a:rect l="l" t="t" r="r" b="b"/>
              <a:pathLst>
                <a:path w="29210" h="74929">
                  <a:moveTo>
                    <a:pt x="0" y="0"/>
                  </a:moveTo>
                  <a:lnTo>
                    <a:pt x="14477" y="74675"/>
                  </a:lnTo>
                  <a:lnTo>
                    <a:pt x="28955" y="0"/>
                  </a:lnTo>
                  <a:lnTo>
                    <a:pt x="14477"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5" name="object 15"/>
            <p:cNvSpPr/>
            <p:nvPr/>
          </p:nvSpPr>
          <p:spPr>
            <a:xfrm>
              <a:off x="4562094" y="3121914"/>
              <a:ext cx="1504315" cy="1176655"/>
            </a:xfrm>
            <a:custGeom>
              <a:avLst/>
              <a:gdLst/>
              <a:ahLst/>
              <a:cxnLst/>
              <a:rect l="l" t="t" r="r" b="b"/>
              <a:pathLst>
                <a:path w="1504314" h="1176654">
                  <a:moveTo>
                    <a:pt x="367283" y="1176528"/>
                  </a:moveTo>
                  <a:lnTo>
                    <a:pt x="367283" y="1091184"/>
                  </a:lnTo>
                  <a:lnTo>
                    <a:pt x="1504188" y="1091184"/>
                  </a:lnTo>
                </a:path>
                <a:path w="1504314" h="1176654">
                  <a:moveTo>
                    <a:pt x="0" y="0"/>
                  </a:moveTo>
                  <a:lnTo>
                    <a:pt x="13715" y="64008"/>
                  </a:lnTo>
                  <a:lnTo>
                    <a:pt x="27431" y="0"/>
                  </a:lnTo>
                  <a:lnTo>
                    <a:pt x="13715" y="0"/>
                  </a:lnTo>
                  <a:lnTo>
                    <a:pt x="0" y="0"/>
                  </a:lnTo>
                </a:path>
              </a:pathLst>
            </a:custGeom>
            <a:ln w="13716">
              <a:solidFill>
                <a:srgbClr val="000000"/>
              </a:solidFill>
            </a:ln>
          </p:spPr>
          <p:txBody>
            <a:bodyPr wrap="square" lIns="0" tIns="0" rIns="0" bIns="0" rtlCol="0"/>
            <a:lstStyle/>
            <a:p>
              <a:endParaRPr>
                <a:latin typeface="Museo 300" pitchFamily="50" charset="0"/>
              </a:endParaRPr>
            </a:p>
          </p:txBody>
        </p:sp>
        <p:sp>
          <p:nvSpPr>
            <p:cNvPr id="16" name="object 16"/>
            <p:cNvSpPr/>
            <p:nvPr/>
          </p:nvSpPr>
          <p:spPr>
            <a:xfrm>
              <a:off x="4562094" y="3121914"/>
              <a:ext cx="27940" cy="64135"/>
            </a:xfrm>
            <a:custGeom>
              <a:avLst/>
              <a:gdLst/>
              <a:ahLst/>
              <a:cxnLst/>
              <a:rect l="l" t="t" r="r" b="b"/>
              <a:pathLst>
                <a:path w="27939" h="64135">
                  <a:moveTo>
                    <a:pt x="27431" y="0"/>
                  </a:moveTo>
                  <a:lnTo>
                    <a:pt x="0" y="0"/>
                  </a:lnTo>
                  <a:lnTo>
                    <a:pt x="13715" y="64008"/>
                  </a:lnTo>
                  <a:lnTo>
                    <a:pt x="27431" y="0"/>
                  </a:lnTo>
                  <a:close/>
                </a:path>
              </a:pathLst>
            </a:custGeom>
            <a:solidFill>
              <a:srgbClr val="000000"/>
            </a:solidFill>
          </p:spPr>
          <p:txBody>
            <a:bodyPr wrap="square" lIns="0" tIns="0" rIns="0" bIns="0" rtlCol="0"/>
            <a:lstStyle/>
            <a:p>
              <a:endParaRPr>
                <a:latin typeface="Museo 300" pitchFamily="50" charset="0"/>
              </a:endParaRPr>
            </a:p>
          </p:txBody>
        </p:sp>
        <p:sp>
          <p:nvSpPr>
            <p:cNvPr id="17" name="object 17"/>
            <p:cNvSpPr/>
            <p:nvPr/>
          </p:nvSpPr>
          <p:spPr>
            <a:xfrm>
              <a:off x="4562094" y="3121914"/>
              <a:ext cx="27940" cy="64135"/>
            </a:xfrm>
            <a:custGeom>
              <a:avLst/>
              <a:gdLst/>
              <a:ahLst/>
              <a:cxnLst/>
              <a:rect l="l" t="t" r="r" b="b"/>
              <a:pathLst>
                <a:path w="27939" h="64135">
                  <a:moveTo>
                    <a:pt x="0" y="0"/>
                  </a:moveTo>
                  <a:lnTo>
                    <a:pt x="13715" y="64008"/>
                  </a:lnTo>
                  <a:lnTo>
                    <a:pt x="27431" y="0"/>
                  </a:lnTo>
                  <a:lnTo>
                    <a:pt x="13715"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18" name="object 18"/>
            <p:cNvSpPr/>
            <p:nvPr/>
          </p:nvSpPr>
          <p:spPr>
            <a:xfrm>
              <a:off x="4575810" y="2984754"/>
              <a:ext cx="810895" cy="137160"/>
            </a:xfrm>
            <a:custGeom>
              <a:avLst/>
              <a:gdLst/>
              <a:ahLst/>
              <a:cxnLst/>
              <a:rect l="l" t="t" r="r" b="b"/>
              <a:pathLst>
                <a:path w="810895" h="137160">
                  <a:moveTo>
                    <a:pt x="0" y="137160"/>
                  </a:moveTo>
                  <a:lnTo>
                    <a:pt x="0" y="0"/>
                  </a:lnTo>
                  <a:lnTo>
                    <a:pt x="810767" y="0"/>
                  </a:lnTo>
                </a:path>
              </a:pathLst>
            </a:custGeom>
            <a:ln w="13716">
              <a:solidFill>
                <a:srgbClr val="000000"/>
              </a:solidFill>
            </a:ln>
          </p:spPr>
          <p:txBody>
            <a:bodyPr wrap="square" lIns="0" tIns="0" rIns="0" bIns="0" rtlCol="0"/>
            <a:lstStyle/>
            <a:p>
              <a:endParaRPr>
                <a:latin typeface="Museo 300" pitchFamily="50" charset="0"/>
              </a:endParaRPr>
            </a:p>
          </p:txBody>
        </p:sp>
        <p:sp>
          <p:nvSpPr>
            <p:cNvPr id="19" name="object 19"/>
            <p:cNvSpPr/>
            <p:nvPr/>
          </p:nvSpPr>
          <p:spPr>
            <a:xfrm>
              <a:off x="5638038" y="2985516"/>
              <a:ext cx="435609" cy="0"/>
            </a:xfrm>
            <a:custGeom>
              <a:avLst/>
              <a:gdLst/>
              <a:ahLst/>
              <a:cxnLst/>
              <a:rect l="l" t="t" r="r" b="b"/>
              <a:pathLst>
                <a:path w="435610">
                  <a:moveTo>
                    <a:pt x="0" y="0"/>
                  </a:moveTo>
                  <a:lnTo>
                    <a:pt x="435102" y="0"/>
                  </a:lnTo>
                </a:path>
              </a:pathLst>
            </a:custGeom>
            <a:ln w="15240">
              <a:solidFill>
                <a:srgbClr val="000000"/>
              </a:solidFill>
            </a:ln>
          </p:spPr>
          <p:txBody>
            <a:bodyPr wrap="square" lIns="0" tIns="0" rIns="0" bIns="0" rtlCol="0"/>
            <a:lstStyle/>
            <a:p>
              <a:endParaRPr>
                <a:latin typeface="Museo 300" pitchFamily="50" charset="0"/>
              </a:endParaRPr>
            </a:p>
          </p:txBody>
        </p:sp>
        <p:sp>
          <p:nvSpPr>
            <p:cNvPr id="20" name="object 20"/>
            <p:cNvSpPr/>
            <p:nvPr/>
          </p:nvSpPr>
          <p:spPr>
            <a:xfrm>
              <a:off x="5063490" y="2210562"/>
              <a:ext cx="972819" cy="688975"/>
            </a:xfrm>
            <a:custGeom>
              <a:avLst/>
              <a:gdLst/>
              <a:ahLst/>
              <a:cxnLst/>
              <a:rect l="l" t="t" r="r" b="b"/>
              <a:pathLst>
                <a:path w="972820" h="688975">
                  <a:moveTo>
                    <a:pt x="0" y="530351"/>
                  </a:moveTo>
                  <a:lnTo>
                    <a:pt x="440436" y="530351"/>
                  </a:lnTo>
                  <a:lnTo>
                    <a:pt x="440436" y="688848"/>
                  </a:lnTo>
                </a:path>
                <a:path w="972820" h="688975">
                  <a:moveTo>
                    <a:pt x="883920" y="30479"/>
                  </a:moveTo>
                  <a:lnTo>
                    <a:pt x="972312" y="10160"/>
                  </a:lnTo>
                  <a:lnTo>
                    <a:pt x="883920" y="0"/>
                  </a:lnTo>
                  <a:lnTo>
                    <a:pt x="883920" y="10160"/>
                  </a:lnTo>
                  <a:lnTo>
                    <a:pt x="883920" y="30479"/>
                  </a:lnTo>
                </a:path>
              </a:pathLst>
            </a:custGeom>
            <a:ln w="13716">
              <a:solidFill>
                <a:srgbClr val="000000"/>
              </a:solidFill>
            </a:ln>
          </p:spPr>
          <p:txBody>
            <a:bodyPr wrap="square" lIns="0" tIns="0" rIns="0" bIns="0" rtlCol="0"/>
            <a:lstStyle/>
            <a:p>
              <a:endParaRPr>
                <a:latin typeface="Museo 300" pitchFamily="50" charset="0"/>
              </a:endParaRPr>
            </a:p>
          </p:txBody>
        </p:sp>
        <p:sp>
          <p:nvSpPr>
            <p:cNvPr id="21" name="object 21"/>
            <p:cNvSpPr/>
            <p:nvPr/>
          </p:nvSpPr>
          <p:spPr>
            <a:xfrm>
              <a:off x="5947410" y="2210562"/>
              <a:ext cx="88900" cy="30480"/>
            </a:xfrm>
            <a:custGeom>
              <a:avLst/>
              <a:gdLst/>
              <a:ahLst/>
              <a:cxnLst/>
              <a:rect l="l" t="t" r="r" b="b"/>
              <a:pathLst>
                <a:path w="88900" h="30480">
                  <a:moveTo>
                    <a:pt x="0" y="0"/>
                  </a:moveTo>
                  <a:lnTo>
                    <a:pt x="0" y="30479"/>
                  </a:lnTo>
                  <a:lnTo>
                    <a:pt x="88391" y="10922"/>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22" name="object 22"/>
            <p:cNvSpPr/>
            <p:nvPr/>
          </p:nvSpPr>
          <p:spPr>
            <a:xfrm>
              <a:off x="5947410" y="2210562"/>
              <a:ext cx="88900" cy="30480"/>
            </a:xfrm>
            <a:custGeom>
              <a:avLst/>
              <a:gdLst/>
              <a:ahLst/>
              <a:cxnLst/>
              <a:rect l="l" t="t" r="r" b="b"/>
              <a:pathLst>
                <a:path w="88900" h="30480">
                  <a:moveTo>
                    <a:pt x="0" y="30479"/>
                  </a:moveTo>
                  <a:lnTo>
                    <a:pt x="88391" y="10922"/>
                  </a:lnTo>
                  <a:lnTo>
                    <a:pt x="0" y="0"/>
                  </a:lnTo>
                  <a:lnTo>
                    <a:pt x="0" y="10922"/>
                  </a:lnTo>
                  <a:lnTo>
                    <a:pt x="0" y="30479"/>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23" name="object 23"/>
            <p:cNvSpPr/>
            <p:nvPr/>
          </p:nvSpPr>
          <p:spPr>
            <a:xfrm>
              <a:off x="5638038" y="2221992"/>
              <a:ext cx="316230" cy="0"/>
            </a:xfrm>
            <a:custGeom>
              <a:avLst/>
              <a:gdLst/>
              <a:ahLst/>
              <a:cxnLst/>
              <a:rect l="l" t="t" r="r" b="b"/>
              <a:pathLst>
                <a:path w="316229">
                  <a:moveTo>
                    <a:pt x="0" y="0"/>
                  </a:moveTo>
                  <a:lnTo>
                    <a:pt x="316230" y="0"/>
                  </a:lnTo>
                </a:path>
              </a:pathLst>
            </a:custGeom>
            <a:ln w="15240">
              <a:solidFill>
                <a:srgbClr val="000000"/>
              </a:solidFill>
            </a:ln>
          </p:spPr>
          <p:txBody>
            <a:bodyPr wrap="square" lIns="0" tIns="0" rIns="0" bIns="0" rtlCol="0"/>
            <a:lstStyle/>
            <a:p>
              <a:endParaRPr>
                <a:latin typeface="Museo 300" pitchFamily="50" charset="0"/>
              </a:endParaRPr>
            </a:p>
          </p:txBody>
        </p:sp>
        <p:sp>
          <p:nvSpPr>
            <p:cNvPr id="24" name="object 24"/>
            <p:cNvSpPr/>
            <p:nvPr/>
          </p:nvSpPr>
          <p:spPr>
            <a:xfrm>
              <a:off x="4575810" y="2041398"/>
              <a:ext cx="928369" cy="422275"/>
            </a:xfrm>
            <a:custGeom>
              <a:avLst/>
              <a:gdLst/>
              <a:ahLst/>
              <a:cxnLst/>
              <a:rect l="l" t="t" r="r" b="b"/>
              <a:pathLst>
                <a:path w="928370" h="422275">
                  <a:moveTo>
                    <a:pt x="487679" y="422148"/>
                  </a:moveTo>
                  <a:lnTo>
                    <a:pt x="928115" y="422148"/>
                  </a:lnTo>
                  <a:lnTo>
                    <a:pt x="928115" y="274319"/>
                  </a:lnTo>
                </a:path>
                <a:path w="928370" h="422275">
                  <a:moveTo>
                    <a:pt x="810767" y="179831"/>
                  </a:moveTo>
                  <a:lnTo>
                    <a:pt x="0" y="179831"/>
                  </a:lnTo>
                  <a:lnTo>
                    <a:pt x="0" y="0"/>
                  </a:lnTo>
                </a:path>
              </a:pathLst>
            </a:custGeom>
            <a:ln w="13716">
              <a:solidFill>
                <a:srgbClr val="000000"/>
              </a:solidFill>
            </a:ln>
          </p:spPr>
          <p:txBody>
            <a:bodyPr wrap="square" lIns="0" tIns="0" rIns="0" bIns="0" rtlCol="0"/>
            <a:lstStyle/>
            <a:p>
              <a:endParaRPr>
                <a:latin typeface="Museo 300" pitchFamily="50" charset="0"/>
              </a:endParaRPr>
            </a:p>
          </p:txBody>
        </p:sp>
        <p:sp>
          <p:nvSpPr>
            <p:cNvPr id="25" name="object 25"/>
            <p:cNvSpPr/>
            <p:nvPr/>
          </p:nvSpPr>
          <p:spPr>
            <a:xfrm>
              <a:off x="5385689" y="2134997"/>
              <a:ext cx="253237" cy="181610"/>
            </a:xfrm>
            <a:prstGeom prst="rect">
              <a:avLst/>
            </a:prstGeom>
            <a:blipFill>
              <a:blip r:embed="rId3" cstate="print"/>
              <a:stretch>
                <a:fillRect/>
              </a:stretch>
            </a:blipFill>
          </p:spPr>
          <p:txBody>
            <a:bodyPr wrap="square" lIns="0" tIns="0" rIns="0" bIns="0" rtlCol="0"/>
            <a:lstStyle/>
            <a:p>
              <a:endParaRPr>
                <a:latin typeface="Museo 300" pitchFamily="50" charset="0"/>
              </a:endParaRPr>
            </a:p>
          </p:txBody>
        </p:sp>
        <p:sp>
          <p:nvSpPr>
            <p:cNvPr id="26" name="object 26"/>
            <p:cNvSpPr/>
            <p:nvPr/>
          </p:nvSpPr>
          <p:spPr>
            <a:xfrm>
              <a:off x="5386578" y="2135886"/>
              <a:ext cx="251460" cy="180340"/>
            </a:xfrm>
            <a:custGeom>
              <a:avLst/>
              <a:gdLst/>
              <a:ahLst/>
              <a:cxnLst/>
              <a:rect l="l" t="t" r="r" b="b"/>
              <a:pathLst>
                <a:path w="251460" h="180339">
                  <a:moveTo>
                    <a:pt x="0" y="179832"/>
                  </a:moveTo>
                  <a:lnTo>
                    <a:pt x="251460" y="179832"/>
                  </a:lnTo>
                  <a:lnTo>
                    <a:pt x="251460" y="0"/>
                  </a:lnTo>
                  <a:lnTo>
                    <a:pt x="0" y="0"/>
                  </a:lnTo>
                  <a:lnTo>
                    <a:pt x="0" y="179832"/>
                  </a:lnTo>
                  <a:close/>
                </a:path>
              </a:pathLst>
            </a:custGeom>
            <a:ln w="13716">
              <a:solidFill>
                <a:srgbClr val="000000"/>
              </a:solidFill>
            </a:ln>
          </p:spPr>
          <p:txBody>
            <a:bodyPr wrap="square" lIns="0" tIns="0" rIns="0" bIns="0" rtlCol="0"/>
            <a:lstStyle/>
            <a:p>
              <a:endParaRPr>
                <a:latin typeface="Museo 300" pitchFamily="50" charset="0"/>
              </a:endParaRPr>
            </a:p>
          </p:txBody>
        </p:sp>
        <p:sp>
          <p:nvSpPr>
            <p:cNvPr id="27" name="object 27"/>
            <p:cNvSpPr/>
            <p:nvPr/>
          </p:nvSpPr>
          <p:spPr>
            <a:xfrm>
              <a:off x="5476494" y="2199894"/>
              <a:ext cx="73660" cy="53340"/>
            </a:xfrm>
            <a:custGeom>
              <a:avLst/>
              <a:gdLst/>
              <a:ahLst/>
              <a:cxnLst/>
              <a:rect l="l" t="t" r="r" b="b"/>
              <a:pathLst>
                <a:path w="73660" h="53339">
                  <a:moveTo>
                    <a:pt x="73151" y="53339"/>
                  </a:moveTo>
                  <a:lnTo>
                    <a:pt x="0" y="0"/>
                  </a:lnTo>
                </a:path>
                <a:path w="73660" h="53339">
                  <a:moveTo>
                    <a:pt x="73151" y="0"/>
                  </a:moveTo>
                  <a:lnTo>
                    <a:pt x="0" y="53339"/>
                  </a:lnTo>
                </a:path>
              </a:pathLst>
            </a:custGeom>
            <a:ln w="13716">
              <a:solidFill>
                <a:srgbClr val="000000"/>
              </a:solidFill>
            </a:ln>
          </p:spPr>
          <p:txBody>
            <a:bodyPr wrap="square" lIns="0" tIns="0" rIns="0" bIns="0" rtlCol="0"/>
            <a:lstStyle/>
            <a:p>
              <a:endParaRPr>
                <a:latin typeface="Museo 300" pitchFamily="50" charset="0"/>
              </a:endParaRPr>
            </a:p>
          </p:txBody>
        </p:sp>
        <p:sp>
          <p:nvSpPr>
            <p:cNvPr id="28" name="object 28"/>
            <p:cNvSpPr/>
            <p:nvPr/>
          </p:nvSpPr>
          <p:spPr>
            <a:xfrm>
              <a:off x="4562094" y="1774698"/>
              <a:ext cx="27940" cy="64135"/>
            </a:xfrm>
            <a:custGeom>
              <a:avLst/>
              <a:gdLst/>
              <a:ahLst/>
              <a:cxnLst/>
              <a:rect l="l" t="t" r="r" b="b"/>
              <a:pathLst>
                <a:path w="27939" h="64135">
                  <a:moveTo>
                    <a:pt x="0" y="0"/>
                  </a:moveTo>
                  <a:lnTo>
                    <a:pt x="13715" y="64007"/>
                  </a:lnTo>
                  <a:lnTo>
                    <a:pt x="27431" y="0"/>
                  </a:lnTo>
                  <a:lnTo>
                    <a:pt x="13715" y="0"/>
                  </a:lnTo>
                  <a:lnTo>
                    <a:pt x="0" y="0"/>
                  </a:lnTo>
                </a:path>
              </a:pathLst>
            </a:custGeom>
            <a:ln w="13716">
              <a:solidFill>
                <a:srgbClr val="000000"/>
              </a:solidFill>
            </a:ln>
          </p:spPr>
          <p:txBody>
            <a:bodyPr wrap="square" lIns="0" tIns="0" rIns="0" bIns="0" rtlCol="0"/>
            <a:lstStyle/>
            <a:p>
              <a:endParaRPr>
                <a:latin typeface="Museo 300" pitchFamily="50" charset="0"/>
              </a:endParaRPr>
            </a:p>
          </p:txBody>
        </p:sp>
        <p:sp>
          <p:nvSpPr>
            <p:cNvPr id="29" name="object 29"/>
            <p:cNvSpPr/>
            <p:nvPr/>
          </p:nvSpPr>
          <p:spPr>
            <a:xfrm>
              <a:off x="4562094" y="1774698"/>
              <a:ext cx="27940" cy="64135"/>
            </a:xfrm>
            <a:custGeom>
              <a:avLst/>
              <a:gdLst/>
              <a:ahLst/>
              <a:cxnLst/>
              <a:rect l="l" t="t" r="r" b="b"/>
              <a:pathLst>
                <a:path w="27939" h="64135">
                  <a:moveTo>
                    <a:pt x="27431" y="0"/>
                  </a:moveTo>
                  <a:lnTo>
                    <a:pt x="0" y="0"/>
                  </a:lnTo>
                  <a:lnTo>
                    <a:pt x="13715" y="64007"/>
                  </a:lnTo>
                  <a:lnTo>
                    <a:pt x="27431" y="0"/>
                  </a:lnTo>
                  <a:close/>
                </a:path>
              </a:pathLst>
            </a:custGeom>
            <a:solidFill>
              <a:srgbClr val="000000"/>
            </a:solidFill>
          </p:spPr>
          <p:txBody>
            <a:bodyPr wrap="square" lIns="0" tIns="0" rIns="0" bIns="0" rtlCol="0"/>
            <a:lstStyle/>
            <a:p>
              <a:endParaRPr>
                <a:latin typeface="Museo 300" pitchFamily="50" charset="0"/>
              </a:endParaRPr>
            </a:p>
          </p:txBody>
        </p:sp>
        <p:sp>
          <p:nvSpPr>
            <p:cNvPr id="30" name="object 30"/>
            <p:cNvSpPr/>
            <p:nvPr/>
          </p:nvSpPr>
          <p:spPr>
            <a:xfrm>
              <a:off x="4562094" y="1774698"/>
              <a:ext cx="27940" cy="64135"/>
            </a:xfrm>
            <a:custGeom>
              <a:avLst/>
              <a:gdLst/>
              <a:ahLst/>
              <a:cxnLst/>
              <a:rect l="l" t="t" r="r" b="b"/>
              <a:pathLst>
                <a:path w="27939" h="64135">
                  <a:moveTo>
                    <a:pt x="0" y="0"/>
                  </a:moveTo>
                  <a:lnTo>
                    <a:pt x="13715" y="64007"/>
                  </a:lnTo>
                  <a:lnTo>
                    <a:pt x="27431" y="0"/>
                  </a:lnTo>
                  <a:lnTo>
                    <a:pt x="13715"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31" name="object 31"/>
            <p:cNvSpPr/>
            <p:nvPr/>
          </p:nvSpPr>
          <p:spPr>
            <a:xfrm>
              <a:off x="4575810" y="1436370"/>
              <a:ext cx="928369" cy="338455"/>
            </a:xfrm>
            <a:custGeom>
              <a:avLst/>
              <a:gdLst/>
              <a:ahLst/>
              <a:cxnLst/>
              <a:rect l="l" t="t" r="r" b="b"/>
              <a:pathLst>
                <a:path w="928370" h="338455">
                  <a:moveTo>
                    <a:pt x="0" y="338327"/>
                  </a:moveTo>
                  <a:lnTo>
                    <a:pt x="0" y="275843"/>
                  </a:lnTo>
                  <a:lnTo>
                    <a:pt x="810767" y="275843"/>
                  </a:lnTo>
                </a:path>
                <a:path w="928370" h="338455">
                  <a:moveTo>
                    <a:pt x="487679" y="0"/>
                  </a:moveTo>
                  <a:lnTo>
                    <a:pt x="928115" y="0"/>
                  </a:lnTo>
                  <a:lnTo>
                    <a:pt x="928115" y="179831"/>
                  </a:lnTo>
                </a:path>
              </a:pathLst>
            </a:custGeom>
            <a:ln w="13716">
              <a:solidFill>
                <a:srgbClr val="000000"/>
              </a:solidFill>
            </a:ln>
          </p:spPr>
          <p:txBody>
            <a:bodyPr wrap="square" lIns="0" tIns="0" rIns="0" bIns="0" rtlCol="0"/>
            <a:lstStyle/>
            <a:p>
              <a:endParaRPr>
                <a:latin typeface="Museo 300" pitchFamily="50" charset="0"/>
              </a:endParaRPr>
            </a:p>
          </p:txBody>
        </p:sp>
        <p:sp>
          <p:nvSpPr>
            <p:cNvPr id="32" name="object 32"/>
            <p:cNvSpPr/>
            <p:nvPr/>
          </p:nvSpPr>
          <p:spPr>
            <a:xfrm>
              <a:off x="5503926" y="1584198"/>
              <a:ext cx="3175" cy="1905"/>
            </a:xfrm>
            <a:custGeom>
              <a:avLst/>
              <a:gdLst/>
              <a:ahLst/>
              <a:cxnLst/>
              <a:rect l="l" t="t" r="r" b="b"/>
              <a:pathLst>
                <a:path w="3175" h="1905">
                  <a:moveTo>
                    <a:pt x="0" y="0"/>
                  </a:moveTo>
                  <a:lnTo>
                    <a:pt x="3048" y="1524"/>
                  </a:lnTo>
                </a:path>
              </a:pathLst>
            </a:custGeom>
            <a:ln w="13716">
              <a:solidFill>
                <a:srgbClr val="000000"/>
              </a:solidFill>
            </a:ln>
          </p:spPr>
          <p:txBody>
            <a:bodyPr wrap="square" lIns="0" tIns="0" rIns="0" bIns="0" rtlCol="0"/>
            <a:lstStyle/>
            <a:p>
              <a:endParaRPr>
                <a:latin typeface="Museo 300" pitchFamily="50" charset="0"/>
              </a:endParaRPr>
            </a:p>
          </p:txBody>
        </p:sp>
        <p:sp>
          <p:nvSpPr>
            <p:cNvPr id="33" name="object 33"/>
            <p:cNvSpPr/>
            <p:nvPr/>
          </p:nvSpPr>
          <p:spPr>
            <a:xfrm>
              <a:off x="5638038" y="1712976"/>
              <a:ext cx="435609" cy="0"/>
            </a:xfrm>
            <a:custGeom>
              <a:avLst/>
              <a:gdLst/>
              <a:ahLst/>
              <a:cxnLst/>
              <a:rect l="l" t="t" r="r" b="b"/>
              <a:pathLst>
                <a:path w="435610">
                  <a:moveTo>
                    <a:pt x="0" y="0"/>
                  </a:moveTo>
                  <a:lnTo>
                    <a:pt x="435102" y="0"/>
                  </a:lnTo>
                </a:path>
              </a:pathLst>
            </a:custGeom>
            <a:ln w="15240">
              <a:solidFill>
                <a:srgbClr val="000000"/>
              </a:solidFill>
            </a:ln>
          </p:spPr>
          <p:txBody>
            <a:bodyPr wrap="square" lIns="0" tIns="0" rIns="0" bIns="0" rtlCol="0"/>
            <a:lstStyle/>
            <a:p>
              <a:endParaRPr>
                <a:latin typeface="Museo 300" pitchFamily="50" charset="0"/>
              </a:endParaRPr>
            </a:p>
          </p:txBody>
        </p:sp>
        <p:sp>
          <p:nvSpPr>
            <p:cNvPr id="34" name="object 34"/>
            <p:cNvSpPr/>
            <p:nvPr/>
          </p:nvSpPr>
          <p:spPr>
            <a:xfrm>
              <a:off x="4562094" y="5359145"/>
              <a:ext cx="27940" cy="62865"/>
            </a:xfrm>
            <a:custGeom>
              <a:avLst/>
              <a:gdLst/>
              <a:ahLst/>
              <a:cxnLst/>
              <a:rect l="l" t="t" r="r" b="b"/>
              <a:pathLst>
                <a:path w="27939" h="62864">
                  <a:moveTo>
                    <a:pt x="0" y="0"/>
                  </a:moveTo>
                  <a:lnTo>
                    <a:pt x="13715" y="62483"/>
                  </a:lnTo>
                  <a:lnTo>
                    <a:pt x="27431" y="0"/>
                  </a:lnTo>
                  <a:lnTo>
                    <a:pt x="13715" y="0"/>
                  </a:lnTo>
                  <a:lnTo>
                    <a:pt x="0" y="0"/>
                  </a:lnTo>
                </a:path>
              </a:pathLst>
            </a:custGeom>
            <a:ln w="13716">
              <a:solidFill>
                <a:srgbClr val="000000"/>
              </a:solidFill>
            </a:ln>
          </p:spPr>
          <p:txBody>
            <a:bodyPr wrap="square" lIns="0" tIns="0" rIns="0" bIns="0" rtlCol="0"/>
            <a:lstStyle/>
            <a:p>
              <a:endParaRPr>
                <a:latin typeface="Museo 300" pitchFamily="50" charset="0"/>
              </a:endParaRPr>
            </a:p>
          </p:txBody>
        </p:sp>
        <p:sp>
          <p:nvSpPr>
            <p:cNvPr id="35" name="object 35"/>
            <p:cNvSpPr/>
            <p:nvPr/>
          </p:nvSpPr>
          <p:spPr>
            <a:xfrm>
              <a:off x="4562094" y="5359145"/>
              <a:ext cx="27940" cy="62865"/>
            </a:xfrm>
            <a:custGeom>
              <a:avLst/>
              <a:gdLst/>
              <a:ahLst/>
              <a:cxnLst/>
              <a:rect l="l" t="t" r="r" b="b"/>
              <a:pathLst>
                <a:path w="27939" h="62864">
                  <a:moveTo>
                    <a:pt x="27431" y="0"/>
                  </a:moveTo>
                  <a:lnTo>
                    <a:pt x="0" y="0"/>
                  </a:lnTo>
                  <a:lnTo>
                    <a:pt x="13715" y="62483"/>
                  </a:lnTo>
                  <a:lnTo>
                    <a:pt x="27431" y="0"/>
                  </a:lnTo>
                  <a:close/>
                </a:path>
              </a:pathLst>
            </a:custGeom>
            <a:solidFill>
              <a:srgbClr val="000000"/>
            </a:solidFill>
          </p:spPr>
          <p:txBody>
            <a:bodyPr wrap="square" lIns="0" tIns="0" rIns="0" bIns="0" rtlCol="0"/>
            <a:lstStyle/>
            <a:p>
              <a:endParaRPr>
                <a:latin typeface="Museo 300" pitchFamily="50" charset="0"/>
              </a:endParaRPr>
            </a:p>
          </p:txBody>
        </p:sp>
        <p:sp>
          <p:nvSpPr>
            <p:cNvPr id="36" name="object 36"/>
            <p:cNvSpPr/>
            <p:nvPr/>
          </p:nvSpPr>
          <p:spPr>
            <a:xfrm>
              <a:off x="4562094" y="5359145"/>
              <a:ext cx="27940" cy="62865"/>
            </a:xfrm>
            <a:custGeom>
              <a:avLst/>
              <a:gdLst/>
              <a:ahLst/>
              <a:cxnLst/>
              <a:rect l="l" t="t" r="r" b="b"/>
              <a:pathLst>
                <a:path w="27939" h="62864">
                  <a:moveTo>
                    <a:pt x="0" y="0"/>
                  </a:moveTo>
                  <a:lnTo>
                    <a:pt x="13715" y="62483"/>
                  </a:lnTo>
                  <a:lnTo>
                    <a:pt x="27431" y="0"/>
                  </a:lnTo>
                  <a:lnTo>
                    <a:pt x="13715"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37" name="object 37"/>
            <p:cNvSpPr/>
            <p:nvPr/>
          </p:nvSpPr>
          <p:spPr>
            <a:xfrm>
              <a:off x="4576572" y="5252466"/>
              <a:ext cx="0" cy="101600"/>
            </a:xfrm>
            <a:custGeom>
              <a:avLst/>
              <a:gdLst/>
              <a:ahLst/>
              <a:cxnLst/>
              <a:rect l="l" t="t" r="r" b="b"/>
              <a:pathLst>
                <a:path h="101600">
                  <a:moveTo>
                    <a:pt x="0" y="0"/>
                  </a:moveTo>
                  <a:lnTo>
                    <a:pt x="0" y="101346"/>
                  </a:lnTo>
                </a:path>
              </a:pathLst>
            </a:custGeom>
            <a:ln w="15240">
              <a:solidFill>
                <a:srgbClr val="000000"/>
              </a:solidFill>
            </a:ln>
          </p:spPr>
          <p:txBody>
            <a:bodyPr wrap="square" lIns="0" tIns="0" rIns="0" bIns="0" rtlCol="0"/>
            <a:lstStyle/>
            <a:p>
              <a:endParaRPr>
                <a:latin typeface="Museo 300" pitchFamily="50" charset="0"/>
              </a:endParaRPr>
            </a:p>
          </p:txBody>
        </p:sp>
        <p:sp>
          <p:nvSpPr>
            <p:cNvPr id="38" name="object 38"/>
            <p:cNvSpPr/>
            <p:nvPr/>
          </p:nvSpPr>
          <p:spPr>
            <a:xfrm>
              <a:off x="4184904" y="5157216"/>
              <a:ext cx="258445" cy="0"/>
            </a:xfrm>
            <a:custGeom>
              <a:avLst/>
              <a:gdLst/>
              <a:ahLst/>
              <a:cxnLst/>
              <a:rect l="l" t="t" r="r" b="b"/>
              <a:pathLst>
                <a:path w="258445">
                  <a:moveTo>
                    <a:pt x="0" y="0"/>
                  </a:moveTo>
                  <a:lnTo>
                    <a:pt x="258318" y="0"/>
                  </a:lnTo>
                </a:path>
              </a:pathLst>
            </a:custGeom>
            <a:ln w="15239">
              <a:solidFill>
                <a:srgbClr val="000000"/>
              </a:solidFill>
            </a:ln>
          </p:spPr>
          <p:txBody>
            <a:bodyPr wrap="square" lIns="0" tIns="0" rIns="0" bIns="0" rtlCol="0"/>
            <a:lstStyle/>
            <a:p>
              <a:endParaRPr>
                <a:latin typeface="Museo 300" pitchFamily="50" charset="0"/>
              </a:endParaRPr>
            </a:p>
          </p:txBody>
        </p:sp>
        <p:sp>
          <p:nvSpPr>
            <p:cNvPr id="39" name="object 39"/>
            <p:cNvSpPr/>
            <p:nvPr/>
          </p:nvSpPr>
          <p:spPr>
            <a:xfrm>
              <a:off x="4576572" y="4853939"/>
              <a:ext cx="0" cy="219075"/>
            </a:xfrm>
            <a:custGeom>
              <a:avLst/>
              <a:gdLst/>
              <a:ahLst/>
              <a:cxnLst/>
              <a:rect l="l" t="t" r="r" b="b"/>
              <a:pathLst>
                <a:path h="219075">
                  <a:moveTo>
                    <a:pt x="0" y="0"/>
                  </a:moveTo>
                  <a:lnTo>
                    <a:pt x="0" y="218693"/>
                  </a:lnTo>
                </a:path>
              </a:pathLst>
            </a:custGeom>
            <a:ln w="15240">
              <a:solidFill>
                <a:srgbClr val="000000"/>
              </a:solidFill>
            </a:ln>
          </p:spPr>
          <p:txBody>
            <a:bodyPr wrap="square" lIns="0" tIns="0" rIns="0" bIns="0" rtlCol="0"/>
            <a:lstStyle/>
            <a:p>
              <a:endParaRPr>
                <a:latin typeface="Museo 300" pitchFamily="50" charset="0"/>
              </a:endParaRPr>
            </a:p>
          </p:txBody>
        </p:sp>
        <p:sp>
          <p:nvSpPr>
            <p:cNvPr id="40" name="object 40"/>
            <p:cNvSpPr/>
            <p:nvPr/>
          </p:nvSpPr>
          <p:spPr>
            <a:xfrm>
              <a:off x="4562094" y="3821430"/>
              <a:ext cx="27940" cy="74930"/>
            </a:xfrm>
            <a:custGeom>
              <a:avLst/>
              <a:gdLst/>
              <a:ahLst/>
              <a:cxnLst/>
              <a:rect l="l" t="t" r="r" b="b"/>
              <a:pathLst>
                <a:path w="27939" h="74929">
                  <a:moveTo>
                    <a:pt x="0" y="0"/>
                  </a:moveTo>
                  <a:lnTo>
                    <a:pt x="13715" y="74676"/>
                  </a:lnTo>
                  <a:lnTo>
                    <a:pt x="27431" y="0"/>
                  </a:lnTo>
                  <a:lnTo>
                    <a:pt x="13715" y="0"/>
                  </a:lnTo>
                  <a:lnTo>
                    <a:pt x="0" y="0"/>
                  </a:lnTo>
                </a:path>
              </a:pathLst>
            </a:custGeom>
            <a:ln w="13716">
              <a:solidFill>
                <a:srgbClr val="000000"/>
              </a:solidFill>
            </a:ln>
          </p:spPr>
          <p:txBody>
            <a:bodyPr wrap="square" lIns="0" tIns="0" rIns="0" bIns="0" rtlCol="0"/>
            <a:lstStyle/>
            <a:p>
              <a:endParaRPr>
                <a:latin typeface="Museo 300" pitchFamily="50" charset="0"/>
              </a:endParaRPr>
            </a:p>
          </p:txBody>
        </p:sp>
        <p:sp>
          <p:nvSpPr>
            <p:cNvPr id="41" name="object 41"/>
            <p:cNvSpPr/>
            <p:nvPr/>
          </p:nvSpPr>
          <p:spPr>
            <a:xfrm>
              <a:off x="4562094" y="3821430"/>
              <a:ext cx="27940" cy="74930"/>
            </a:xfrm>
            <a:custGeom>
              <a:avLst/>
              <a:gdLst/>
              <a:ahLst/>
              <a:cxnLst/>
              <a:rect l="l" t="t" r="r" b="b"/>
              <a:pathLst>
                <a:path w="27939" h="74929">
                  <a:moveTo>
                    <a:pt x="27431" y="0"/>
                  </a:moveTo>
                  <a:lnTo>
                    <a:pt x="0" y="0"/>
                  </a:lnTo>
                  <a:lnTo>
                    <a:pt x="13715" y="74676"/>
                  </a:lnTo>
                  <a:lnTo>
                    <a:pt x="27431" y="0"/>
                  </a:lnTo>
                  <a:close/>
                </a:path>
              </a:pathLst>
            </a:custGeom>
            <a:solidFill>
              <a:srgbClr val="000000"/>
            </a:solidFill>
          </p:spPr>
          <p:txBody>
            <a:bodyPr wrap="square" lIns="0" tIns="0" rIns="0" bIns="0" rtlCol="0"/>
            <a:lstStyle/>
            <a:p>
              <a:endParaRPr>
                <a:latin typeface="Museo 300" pitchFamily="50" charset="0"/>
              </a:endParaRPr>
            </a:p>
          </p:txBody>
        </p:sp>
        <p:sp>
          <p:nvSpPr>
            <p:cNvPr id="42" name="object 42"/>
            <p:cNvSpPr/>
            <p:nvPr/>
          </p:nvSpPr>
          <p:spPr>
            <a:xfrm>
              <a:off x="4562094" y="3821430"/>
              <a:ext cx="27940" cy="74930"/>
            </a:xfrm>
            <a:custGeom>
              <a:avLst/>
              <a:gdLst/>
              <a:ahLst/>
              <a:cxnLst/>
              <a:rect l="l" t="t" r="r" b="b"/>
              <a:pathLst>
                <a:path w="27939" h="74929">
                  <a:moveTo>
                    <a:pt x="0" y="0"/>
                  </a:moveTo>
                  <a:lnTo>
                    <a:pt x="13715" y="74676"/>
                  </a:lnTo>
                  <a:lnTo>
                    <a:pt x="27431" y="0"/>
                  </a:lnTo>
                  <a:lnTo>
                    <a:pt x="13715"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43" name="object 43"/>
            <p:cNvSpPr/>
            <p:nvPr/>
          </p:nvSpPr>
          <p:spPr>
            <a:xfrm>
              <a:off x="4575810" y="3387089"/>
              <a:ext cx="1905" cy="434340"/>
            </a:xfrm>
            <a:custGeom>
              <a:avLst/>
              <a:gdLst/>
              <a:ahLst/>
              <a:cxnLst/>
              <a:rect l="l" t="t" r="r" b="b"/>
              <a:pathLst>
                <a:path w="1904" h="434339">
                  <a:moveTo>
                    <a:pt x="0" y="434340"/>
                  </a:moveTo>
                  <a:lnTo>
                    <a:pt x="1524" y="0"/>
                  </a:lnTo>
                </a:path>
              </a:pathLst>
            </a:custGeom>
            <a:ln w="13715">
              <a:solidFill>
                <a:srgbClr val="000000"/>
              </a:solidFill>
            </a:ln>
          </p:spPr>
          <p:txBody>
            <a:bodyPr wrap="square" lIns="0" tIns="0" rIns="0" bIns="0" rtlCol="0"/>
            <a:lstStyle/>
            <a:p>
              <a:endParaRPr>
                <a:latin typeface="Museo 300" pitchFamily="50" charset="0"/>
              </a:endParaRPr>
            </a:p>
          </p:txBody>
        </p:sp>
      </p:grpSp>
      <p:sp>
        <p:nvSpPr>
          <p:cNvPr id="44" name="object 44"/>
          <p:cNvSpPr txBox="1"/>
          <p:nvPr/>
        </p:nvSpPr>
        <p:spPr>
          <a:xfrm>
            <a:off x="6426888" y="4107688"/>
            <a:ext cx="136313" cy="182101"/>
          </a:xfrm>
          <a:prstGeom prst="rect">
            <a:avLst/>
          </a:prstGeom>
        </p:spPr>
        <p:txBody>
          <a:bodyPr vert="horz" wrap="square" lIns="0" tIns="12700" rIns="0" bIns="0" rtlCol="0">
            <a:spAutoFit/>
          </a:bodyPr>
          <a:lstStyle/>
          <a:p>
            <a:pPr marL="12700">
              <a:lnSpc>
                <a:spcPct val="100000"/>
              </a:lnSpc>
              <a:spcBef>
                <a:spcPts val="100"/>
              </a:spcBef>
            </a:pPr>
            <a:r>
              <a:rPr sz="1100" dirty="0">
                <a:latin typeface="Museo 300" pitchFamily="50" charset="0"/>
                <a:cs typeface="Carlito"/>
              </a:rPr>
              <a:t>B</a:t>
            </a:r>
            <a:endParaRPr sz="1100">
              <a:latin typeface="Museo 300" pitchFamily="50" charset="0"/>
              <a:cs typeface="Carlito"/>
            </a:endParaRPr>
          </a:p>
        </p:txBody>
      </p:sp>
      <p:sp>
        <p:nvSpPr>
          <p:cNvPr id="45" name="object 45"/>
          <p:cNvSpPr txBox="1"/>
          <p:nvPr/>
        </p:nvSpPr>
        <p:spPr>
          <a:xfrm>
            <a:off x="5444246" y="4107688"/>
            <a:ext cx="142240" cy="182101"/>
          </a:xfrm>
          <a:prstGeom prst="rect">
            <a:avLst/>
          </a:prstGeom>
        </p:spPr>
        <p:txBody>
          <a:bodyPr vert="horz" wrap="square" lIns="0" tIns="12700" rIns="0" bIns="0" rtlCol="0">
            <a:spAutoFit/>
          </a:bodyPr>
          <a:lstStyle/>
          <a:p>
            <a:pPr marL="12700">
              <a:lnSpc>
                <a:spcPct val="100000"/>
              </a:lnSpc>
              <a:spcBef>
                <a:spcPts val="100"/>
              </a:spcBef>
            </a:pPr>
            <a:r>
              <a:rPr sz="1100" dirty="0">
                <a:latin typeface="Museo 300" pitchFamily="50" charset="0"/>
                <a:cs typeface="Carlito"/>
              </a:rPr>
              <a:t>A</a:t>
            </a:r>
            <a:endParaRPr sz="1100">
              <a:latin typeface="Museo 300" pitchFamily="50" charset="0"/>
              <a:cs typeface="Carlito"/>
            </a:endParaRPr>
          </a:p>
        </p:txBody>
      </p:sp>
      <p:sp>
        <p:nvSpPr>
          <p:cNvPr id="46" name="object 46"/>
          <p:cNvSpPr txBox="1"/>
          <p:nvPr/>
        </p:nvSpPr>
        <p:spPr>
          <a:xfrm>
            <a:off x="5383794" y="5156580"/>
            <a:ext cx="1256453" cy="182101"/>
          </a:xfrm>
          <a:prstGeom prst="rect">
            <a:avLst/>
          </a:prstGeom>
          <a:ln w="13716">
            <a:solidFill>
              <a:srgbClr val="000000"/>
            </a:solidFill>
          </a:ln>
        </p:spPr>
        <p:txBody>
          <a:bodyPr vert="horz" wrap="square" lIns="0" tIns="12700" rIns="0" bIns="0" rtlCol="0">
            <a:spAutoFit/>
          </a:bodyPr>
          <a:lstStyle/>
          <a:p>
            <a:pPr marR="14604" algn="ctr">
              <a:lnSpc>
                <a:spcPct val="100000"/>
              </a:lnSpc>
              <a:spcBef>
                <a:spcPts val="100"/>
              </a:spcBef>
            </a:pPr>
            <a:r>
              <a:rPr sz="1100" dirty="0">
                <a:latin typeface="Museo 300" pitchFamily="50" charset="0"/>
                <a:cs typeface="Carlito"/>
              </a:rPr>
              <a:t>Z</a:t>
            </a:r>
            <a:endParaRPr sz="1100">
              <a:latin typeface="Museo 300" pitchFamily="50" charset="0"/>
              <a:cs typeface="Carlito"/>
            </a:endParaRPr>
          </a:p>
        </p:txBody>
      </p:sp>
      <p:grpSp>
        <p:nvGrpSpPr>
          <p:cNvPr id="47" name="object 47"/>
          <p:cNvGrpSpPr/>
          <p:nvPr/>
        </p:nvGrpSpPr>
        <p:grpSpPr>
          <a:xfrm>
            <a:off x="5825583" y="1333499"/>
            <a:ext cx="1612053" cy="3650615"/>
            <a:chOff x="4436236" y="1609216"/>
            <a:chExt cx="1209040" cy="3650615"/>
          </a:xfrm>
        </p:grpSpPr>
        <p:sp>
          <p:nvSpPr>
            <p:cNvPr id="48" name="object 48"/>
            <p:cNvSpPr/>
            <p:nvPr/>
          </p:nvSpPr>
          <p:spPr>
            <a:xfrm>
              <a:off x="5503925" y="2940558"/>
              <a:ext cx="3175" cy="1905"/>
            </a:xfrm>
            <a:custGeom>
              <a:avLst/>
              <a:gdLst/>
              <a:ahLst/>
              <a:cxnLst/>
              <a:rect l="l" t="t" r="r" b="b"/>
              <a:pathLst>
                <a:path w="3175" h="1905">
                  <a:moveTo>
                    <a:pt x="0" y="0"/>
                  </a:moveTo>
                  <a:lnTo>
                    <a:pt x="3048" y="1524"/>
                  </a:lnTo>
                </a:path>
              </a:pathLst>
            </a:custGeom>
            <a:ln w="13716">
              <a:solidFill>
                <a:srgbClr val="000000"/>
              </a:solidFill>
            </a:ln>
          </p:spPr>
          <p:txBody>
            <a:bodyPr wrap="square" lIns="0" tIns="0" rIns="0" bIns="0" rtlCol="0"/>
            <a:lstStyle/>
            <a:p>
              <a:endParaRPr>
                <a:latin typeface="Museo 300" pitchFamily="50" charset="0"/>
              </a:endParaRPr>
            </a:p>
          </p:txBody>
        </p:sp>
        <p:sp>
          <p:nvSpPr>
            <p:cNvPr id="49" name="object 49"/>
            <p:cNvSpPr/>
            <p:nvPr/>
          </p:nvSpPr>
          <p:spPr>
            <a:xfrm>
              <a:off x="5385688" y="2898520"/>
              <a:ext cx="253237" cy="181610"/>
            </a:xfrm>
            <a:prstGeom prst="rect">
              <a:avLst/>
            </a:prstGeom>
            <a:blipFill>
              <a:blip r:embed="rId3" cstate="print"/>
              <a:stretch>
                <a:fillRect/>
              </a:stretch>
            </a:blipFill>
          </p:spPr>
          <p:txBody>
            <a:bodyPr wrap="square" lIns="0" tIns="0" rIns="0" bIns="0" rtlCol="0"/>
            <a:lstStyle/>
            <a:p>
              <a:endParaRPr>
                <a:latin typeface="Museo 300" pitchFamily="50" charset="0"/>
              </a:endParaRPr>
            </a:p>
          </p:txBody>
        </p:sp>
        <p:sp>
          <p:nvSpPr>
            <p:cNvPr id="50" name="object 50"/>
            <p:cNvSpPr/>
            <p:nvPr/>
          </p:nvSpPr>
          <p:spPr>
            <a:xfrm>
              <a:off x="5386577" y="2899409"/>
              <a:ext cx="251460" cy="180340"/>
            </a:xfrm>
            <a:custGeom>
              <a:avLst/>
              <a:gdLst/>
              <a:ahLst/>
              <a:cxnLst/>
              <a:rect l="l" t="t" r="r" b="b"/>
              <a:pathLst>
                <a:path w="251460" h="180339">
                  <a:moveTo>
                    <a:pt x="0" y="179832"/>
                  </a:moveTo>
                  <a:lnTo>
                    <a:pt x="251460" y="179832"/>
                  </a:lnTo>
                  <a:lnTo>
                    <a:pt x="251460" y="0"/>
                  </a:lnTo>
                  <a:lnTo>
                    <a:pt x="0" y="0"/>
                  </a:lnTo>
                  <a:lnTo>
                    <a:pt x="0" y="179832"/>
                  </a:lnTo>
                  <a:close/>
                </a:path>
              </a:pathLst>
            </a:custGeom>
            <a:ln w="13716">
              <a:solidFill>
                <a:srgbClr val="000000"/>
              </a:solidFill>
            </a:ln>
          </p:spPr>
          <p:txBody>
            <a:bodyPr wrap="square" lIns="0" tIns="0" rIns="0" bIns="0" rtlCol="0"/>
            <a:lstStyle/>
            <a:p>
              <a:endParaRPr>
                <a:latin typeface="Museo 300" pitchFamily="50" charset="0"/>
              </a:endParaRPr>
            </a:p>
          </p:txBody>
        </p:sp>
        <p:sp>
          <p:nvSpPr>
            <p:cNvPr id="51" name="object 51"/>
            <p:cNvSpPr/>
            <p:nvPr/>
          </p:nvSpPr>
          <p:spPr>
            <a:xfrm>
              <a:off x="5476494" y="2963417"/>
              <a:ext cx="73660" cy="52069"/>
            </a:xfrm>
            <a:custGeom>
              <a:avLst/>
              <a:gdLst/>
              <a:ahLst/>
              <a:cxnLst/>
              <a:rect l="l" t="t" r="r" b="b"/>
              <a:pathLst>
                <a:path w="73660" h="52069">
                  <a:moveTo>
                    <a:pt x="73151" y="51816"/>
                  </a:moveTo>
                  <a:lnTo>
                    <a:pt x="0" y="0"/>
                  </a:lnTo>
                </a:path>
                <a:path w="73660" h="52069">
                  <a:moveTo>
                    <a:pt x="73151" y="0"/>
                  </a:moveTo>
                  <a:lnTo>
                    <a:pt x="0" y="51816"/>
                  </a:lnTo>
                </a:path>
              </a:pathLst>
            </a:custGeom>
            <a:ln w="13716">
              <a:solidFill>
                <a:srgbClr val="000000"/>
              </a:solidFill>
            </a:ln>
          </p:spPr>
          <p:txBody>
            <a:bodyPr wrap="square" lIns="0" tIns="0" rIns="0" bIns="0" rtlCol="0"/>
            <a:lstStyle/>
            <a:p>
              <a:endParaRPr>
                <a:latin typeface="Museo 300" pitchFamily="50" charset="0"/>
              </a:endParaRPr>
            </a:p>
          </p:txBody>
        </p:sp>
        <p:sp>
          <p:nvSpPr>
            <p:cNvPr id="52" name="object 52"/>
            <p:cNvSpPr/>
            <p:nvPr/>
          </p:nvSpPr>
          <p:spPr>
            <a:xfrm>
              <a:off x="5385688" y="1615312"/>
              <a:ext cx="253237" cy="192277"/>
            </a:xfrm>
            <a:prstGeom prst="rect">
              <a:avLst/>
            </a:prstGeom>
            <a:blipFill>
              <a:blip r:embed="rId4" cstate="print"/>
              <a:stretch>
                <a:fillRect/>
              </a:stretch>
            </a:blipFill>
          </p:spPr>
          <p:txBody>
            <a:bodyPr wrap="square" lIns="0" tIns="0" rIns="0" bIns="0" rtlCol="0"/>
            <a:lstStyle/>
            <a:p>
              <a:endParaRPr>
                <a:latin typeface="Museo 300" pitchFamily="50" charset="0"/>
              </a:endParaRPr>
            </a:p>
          </p:txBody>
        </p:sp>
        <p:sp>
          <p:nvSpPr>
            <p:cNvPr id="53" name="object 53"/>
            <p:cNvSpPr/>
            <p:nvPr/>
          </p:nvSpPr>
          <p:spPr>
            <a:xfrm>
              <a:off x="5386577" y="1616201"/>
              <a:ext cx="251460" cy="190500"/>
            </a:xfrm>
            <a:custGeom>
              <a:avLst/>
              <a:gdLst/>
              <a:ahLst/>
              <a:cxnLst/>
              <a:rect l="l" t="t" r="r" b="b"/>
              <a:pathLst>
                <a:path w="251460" h="190500">
                  <a:moveTo>
                    <a:pt x="0" y="190500"/>
                  </a:moveTo>
                  <a:lnTo>
                    <a:pt x="251460" y="190500"/>
                  </a:lnTo>
                  <a:lnTo>
                    <a:pt x="251460" y="0"/>
                  </a:lnTo>
                  <a:lnTo>
                    <a:pt x="0" y="0"/>
                  </a:lnTo>
                  <a:lnTo>
                    <a:pt x="0" y="190500"/>
                  </a:lnTo>
                  <a:close/>
                </a:path>
              </a:pathLst>
            </a:custGeom>
            <a:ln w="13716">
              <a:solidFill>
                <a:srgbClr val="000000"/>
              </a:solidFill>
            </a:ln>
          </p:spPr>
          <p:txBody>
            <a:bodyPr wrap="square" lIns="0" tIns="0" rIns="0" bIns="0" rtlCol="0"/>
            <a:lstStyle/>
            <a:p>
              <a:endParaRPr>
                <a:latin typeface="Museo 300" pitchFamily="50" charset="0"/>
              </a:endParaRPr>
            </a:p>
          </p:txBody>
        </p:sp>
        <p:sp>
          <p:nvSpPr>
            <p:cNvPr id="54" name="object 54"/>
            <p:cNvSpPr/>
            <p:nvPr/>
          </p:nvSpPr>
          <p:spPr>
            <a:xfrm>
              <a:off x="4531613" y="1680209"/>
              <a:ext cx="1018540" cy="3508375"/>
            </a:xfrm>
            <a:custGeom>
              <a:avLst/>
              <a:gdLst/>
              <a:ahLst/>
              <a:cxnLst/>
              <a:rect l="l" t="t" r="r" b="b"/>
              <a:pathLst>
                <a:path w="1018539" h="3508375">
                  <a:moveTo>
                    <a:pt x="1018032" y="64007"/>
                  </a:moveTo>
                  <a:lnTo>
                    <a:pt x="944880" y="0"/>
                  </a:lnTo>
                </a:path>
                <a:path w="1018539" h="3508375">
                  <a:moveTo>
                    <a:pt x="1018032" y="0"/>
                  </a:moveTo>
                  <a:lnTo>
                    <a:pt x="944880" y="64007"/>
                  </a:lnTo>
                </a:path>
                <a:path w="1018539" h="3508375">
                  <a:moveTo>
                    <a:pt x="88391" y="3456431"/>
                  </a:moveTo>
                  <a:lnTo>
                    <a:pt x="0" y="3508248"/>
                  </a:lnTo>
                </a:path>
                <a:path w="1018539" h="3508375">
                  <a:moveTo>
                    <a:pt x="88391" y="3508248"/>
                  </a:moveTo>
                  <a:lnTo>
                    <a:pt x="0" y="3456431"/>
                  </a:lnTo>
                </a:path>
              </a:pathLst>
            </a:custGeom>
            <a:ln w="13716">
              <a:solidFill>
                <a:srgbClr val="000000"/>
              </a:solidFill>
            </a:ln>
          </p:spPr>
          <p:txBody>
            <a:bodyPr wrap="square" lIns="0" tIns="0" rIns="0" bIns="0" rtlCol="0"/>
            <a:lstStyle/>
            <a:p>
              <a:endParaRPr>
                <a:latin typeface="Museo 300" pitchFamily="50" charset="0"/>
              </a:endParaRPr>
            </a:p>
          </p:txBody>
        </p:sp>
        <p:sp>
          <p:nvSpPr>
            <p:cNvPr id="55" name="object 55"/>
            <p:cNvSpPr/>
            <p:nvPr/>
          </p:nvSpPr>
          <p:spPr>
            <a:xfrm>
              <a:off x="4443221" y="5072633"/>
              <a:ext cx="266700" cy="180340"/>
            </a:xfrm>
            <a:custGeom>
              <a:avLst/>
              <a:gdLst/>
              <a:ahLst/>
              <a:cxnLst/>
              <a:rect l="l" t="t" r="r" b="b"/>
              <a:pathLst>
                <a:path w="266700" h="180339">
                  <a:moveTo>
                    <a:pt x="266700" y="0"/>
                  </a:moveTo>
                  <a:lnTo>
                    <a:pt x="0" y="0"/>
                  </a:lnTo>
                  <a:lnTo>
                    <a:pt x="0" y="179832"/>
                  </a:lnTo>
                  <a:lnTo>
                    <a:pt x="266700" y="179832"/>
                  </a:lnTo>
                  <a:lnTo>
                    <a:pt x="266700" y="0"/>
                  </a:lnTo>
                  <a:close/>
                </a:path>
              </a:pathLst>
            </a:custGeom>
            <a:solidFill>
              <a:srgbClr val="B1FFFF"/>
            </a:solidFill>
          </p:spPr>
          <p:txBody>
            <a:bodyPr wrap="square" lIns="0" tIns="0" rIns="0" bIns="0" rtlCol="0"/>
            <a:lstStyle/>
            <a:p>
              <a:endParaRPr>
                <a:latin typeface="Museo 300" pitchFamily="50" charset="0"/>
              </a:endParaRPr>
            </a:p>
          </p:txBody>
        </p:sp>
        <p:sp>
          <p:nvSpPr>
            <p:cNvPr id="56" name="object 56"/>
            <p:cNvSpPr/>
            <p:nvPr/>
          </p:nvSpPr>
          <p:spPr>
            <a:xfrm>
              <a:off x="4443221" y="5072633"/>
              <a:ext cx="266700" cy="180340"/>
            </a:xfrm>
            <a:custGeom>
              <a:avLst/>
              <a:gdLst/>
              <a:ahLst/>
              <a:cxnLst/>
              <a:rect l="l" t="t" r="r" b="b"/>
              <a:pathLst>
                <a:path w="266700" h="180339">
                  <a:moveTo>
                    <a:pt x="0" y="179832"/>
                  </a:moveTo>
                  <a:lnTo>
                    <a:pt x="266700" y="179832"/>
                  </a:lnTo>
                  <a:lnTo>
                    <a:pt x="266700" y="0"/>
                  </a:lnTo>
                  <a:lnTo>
                    <a:pt x="0" y="0"/>
                  </a:lnTo>
                  <a:lnTo>
                    <a:pt x="0" y="179832"/>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57" name="object 57"/>
            <p:cNvSpPr/>
            <p:nvPr/>
          </p:nvSpPr>
          <p:spPr>
            <a:xfrm>
              <a:off x="4443221" y="5072633"/>
              <a:ext cx="266700" cy="180340"/>
            </a:xfrm>
            <a:custGeom>
              <a:avLst/>
              <a:gdLst/>
              <a:ahLst/>
              <a:cxnLst/>
              <a:rect l="l" t="t" r="r" b="b"/>
              <a:pathLst>
                <a:path w="266700" h="180339">
                  <a:moveTo>
                    <a:pt x="0" y="179832"/>
                  </a:moveTo>
                  <a:lnTo>
                    <a:pt x="266700" y="179832"/>
                  </a:lnTo>
                  <a:lnTo>
                    <a:pt x="266700" y="0"/>
                  </a:lnTo>
                  <a:lnTo>
                    <a:pt x="0" y="0"/>
                  </a:lnTo>
                  <a:lnTo>
                    <a:pt x="0" y="179832"/>
                  </a:lnTo>
                  <a:close/>
                </a:path>
              </a:pathLst>
            </a:custGeom>
            <a:ln w="13716">
              <a:solidFill>
                <a:srgbClr val="000000"/>
              </a:solidFill>
            </a:ln>
          </p:spPr>
          <p:txBody>
            <a:bodyPr wrap="square" lIns="0" tIns="0" rIns="0" bIns="0" rtlCol="0"/>
            <a:lstStyle/>
            <a:p>
              <a:endParaRPr>
                <a:latin typeface="Museo 300" pitchFamily="50" charset="0"/>
              </a:endParaRPr>
            </a:p>
          </p:txBody>
        </p:sp>
        <p:sp>
          <p:nvSpPr>
            <p:cNvPr id="58" name="object 58"/>
            <p:cNvSpPr/>
            <p:nvPr/>
          </p:nvSpPr>
          <p:spPr>
            <a:xfrm>
              <a:off x="4531613" y="5136641"/>
              <a:ext cx="88900" cy="52069"/>
            </a:xfrm>
            <a:custGeom>
              <a:avLst/>
              <a:gdLst/>
              <a:ahLst/>
              <a:cxnLst/>
              <a:rect l="l" t="t" r="r" b="b"/>
              <a:pathLst>
                <a:path w="88900" h="52070">
                  <a:moveTo>
                    <a:pt x="88391" y="51815"/>
                  </a:moveTo>
                  <a:lnTo>
                    <a:pt x="0" y="0"/>
                  </a:lnTo>
                </a:path>
                <a:path w="88900" h="52070">
                  <a:moveTo>
                    <a:pt x="88391" y="0"/>
                  </a:moveTo>
                  <a:lnTo>
                    <a:pt x="0" y="51815"/>
                  </a:lnTo>
                </a:path>
              </a:pathLst>
            </a:custGeom>
            <a:ln w="13716">
              <a:solidFill>
                <a:srgbClr val="000000"/>
              </a:solidFill>
            </a:ln>
          </p:spPr>
          <p:txBody>
            <a:bodyPr wrap="square" lIns="0" tIns="0" rIns="0" bIns="0" rtlCol="0"/>
            <a:lstStyle/>
            <a:p>
              <a:endParaRPr>
                <a:latin typeface="Museo 300" pitchFamily="50" charset="0"/>
              </a:endParaRPr>
            </a:p>
          </p:txBody>
        </p:sp>
      </p:grpSp>
      <p:sp>
        <p:nvSpPr>
          <p:cNvPr id="59" name="object 59"/>
          <p:cNvSpPr txBox="1"/>
          <p:nvPr/>
        </p:nvSpPr>
        <p:spPr>
          <a:xfrm>
            <a:off x="5383794" y="2931540"/>
            <a:ext cx="1256453" cy="180340"/>
          </a:xfrm>
          <a:prstGeom prst="rect">
            <a:avLst/>
          </a:prstGeom>
          <a:ln w="13716">
            <a:solidFill>
              <a:srgbClr val="000000"/>
            </a:solidFill>
          </a:ln>
        </p:spPr>
        <p:txBody>
          <a:bodyPr vert="horz" wrap="square" lIns="0" tIns="12700" rIns="0" bIns="0" rtlCol="0">
            <a:spAutoFit/>
          </a:bodyPr>
          <a:lstStyle/>
          <a:p>
            <a:pPr marR="12700" algn="ctr">
              <a:lnSpc>
                <a:spcPts val="1315"/>
              </a:lnSpc>
              <a:spcBef>
                <a:spcPts val="100"/>
              </a:spcBef>
            </a:pPr>
            <a:r>
              <a:rPr sz="1100" dirty="0">
                <a:latin typeface="Museo 300" pitchFamily="50" charset="0"/>
                <a:cs typeface="Carlito"/>
              </a:rPr>
              <a:t>Y</a:t>
            </a:r>
            <a:endParaRPr sz="1100">
              <a:latin typeface="Museo 300" pitchFamily="50" charset="0"/>
              <a:cs typeface="Carlito"/>
            </a:endParaRPr>
          </a:p>
        </p:txBody>
      </p:sp>
      <p:sp>
        <p:nvSpPr>
          <p:cNvPr id="60" name="object 60"/>
          <p:cNvSpPr txBox="1"/>
          <p:nvPr/>
        </p:nvSpPr>
        <p:spPr>
          <a:xfrm>
            <a:off x="5169079" y="4318635"/>
            <a:ext cx="988907" cy="679450"/>
          </a:xfrm>
          <a:prstGeom prst="rect">
            <a:avLst/>
          </a:prstGeom>
        </p:spPr>
        <p:txBody>
          <a:bodyPr vert="horz" wrap="square" lIns="0" tIns="12700" rIns="0" bIns="0" rtlCol="0">
            <a:spAutoFit/>
          </a:bodyPr>
          <a:lstStyle/>
          <a:p>
            <a:pPr marR="5080" algn="r">
              <a:lnSpc>
                <a:spcPct val="100000"/>
              </a:lnSpc>
              <a:spcBef>
                <a:spcPts val="100"/>
              </a:spcBef>
            </a:pPr>
            <a:r>
              <a:rPr sz="1100" dirty="0">
                <a:latin typeface="Museo 300" pitchFamily="50" charset="0"/>
                <a:cs typeface="Carlito"/>
              </a:rPr>
              <a:t>ALU</a:t>
            </a:r>
            <a:endParaRPr sz="1100">
              <a:latin typeface="Museo 300" pitchFamily="50" charset="0"/>
              <a:cs typeface="Carlito"/>
            </a:endParaRPr>
          </a:p>
          <a:p>
            <a:pPr>
              <a:lnSpc>
                <a:spcPct val="100000"/>
              </a:lnSpc>
            </a:pPr>
            <a:endParaRPr sz="1100">
              <a:latin typeface="Museo 300" pitchFamily="50" charset="0"/>
              <a:cs typeface="Carlito"/>
            </a:endParaRPr>
          </a:p>
          <a:p>
            <a:pPr>
              <a:lnSpc>
                <a:spcPct val="100000"/>
              </a:lnSpc>
            </a:pPr>
            <a:endParaRPr sz="950">
              <a:latin typeface="Museo 300" pitchFamily="50" charset="0"/>
              <a:cs typeface="Carlito"/>
            </a:endParaRPr>
          </a:p>
          <a:p>
            <a:pPr marL="12700">
              <a:lnSpc>
                <a:spcPct val="100000"/>
              </a:lnSpc>
              <a:spcBef>
                <a:spcPts val="5"/>
              </a:spcBef>
            </a:pPr>
            <a:r>
              <a:rPr sz="1650" baseline="2525" dirty="0">
                <a:latin typeface="Museo 300" pitchFamily="50" charset="0"/>
                <a:cs typeface="Carlito"/>
              </a:rPr>
              <a:t>Z</a:t>
            </a:r>
            <a:r>
              <a:rPr sz="1650" spc="-127" baseline="2525" dirty="0">
                <a:latin typeface="Museo 300" pitchFamily="50" charset="0"/>
                <a:cs typeface="Carlito"/>
              </a:rPr>
              <a:t> </a:t>
            </a:r>
            <a:r>
              <a:rPr sz="800" i="1" spc="-5" dirty="0">
                <a:latin typeface="Museo 300" pitchFamily="50" charset="0"/>
                <a:cs typeface="Carlito"/>
              </a:rPr>
              <a:t>in</a:t>
            </a:r>
            <a:endParaRPr sz="800">
              <a:latin typeface="Museo 300" pitchFamily="50" charset="0"/>
              <a:cs typeface="Carlito"/>
            </a:endParaRPr>
          </a:p>
        </p:txBody>
      </p:sp>
      <p:sp>
        <p:nvSpPr>
          <p:cNvPr id="61" name="object 61"/>
          <p:cNvSpPr txBox="1"/>
          <p:nvPr/>
        </p:nvSpPr>
        <p:spPr>
          <a:xfrm>
            <a:off x="6217082" y="1051128"/>
            <a:ext cx="358987" cy="182742"/>
          </a:xfrm>
          <a:prstGeom prst="rect">
            <a:avLst/>
          </a:prstGeom>
        </p:spPr>
        <p:txBody>
          <a:bodyPr vert="horz" wrap="square" lIns="0" tIns="13335" rIns="0" bIns="0" rtlCol="0">
            <a:spAutoFit/>
          </a:bodyPr>
          <a:lstStyle/>
          <a:p>
            <a:pPr marL="38100">
              <a:lnSpc>
                <a:spcPct val="100000"/>
              </a:lnSpc>
              <a:spcBef>
                <a:spcPts val="105"/>
              </a:spcBef>
            </a:pPr>
            <a:r>
              <a:rPr sz="1100" dirty="0">
                <a:latin typeface="Museo 300" pitchFamily="50" charset="0"/>
                <a:cs typeface="Carlito"/>
              </a:rPr>
              <a:t>R</a:t>
            </a:r>
            <a:r>
              <a:rPr sz="1100" spc="-175" dirty="0">
                <a:latin typeface="Museo 300" pitchFamily="50" charset="0"/>
                <a:cs typeface="Carlito"/>
              </a:rPr>
              <a:t> </a:t>
            </a:r>
            <a:r>
              <a:rPr sz="1100" i="1" spc="-15" dirty="0">
                <a:latin typeface="Museo 300" pitchFamily="50" charset="0"/>
                <a:cs typeface="Carlito"/>
              </a:rPr>
              <a:t>i</a:t>
            </a:r>
            <a:r>
              <a:rPr sz="1200" i="1" spc="-22" baseline="-10416" dirty="0">
                <a:latin typeface="Museo 300" pitchFamily="50" charset="0"/>
                <a:cs typeface="Carlito"/>
              </a:rPr>
              <a:t>in</a:t>
            </a:r>
            <a:endParaRPr sz="1200" baseline="-10416">
              <a:latin typeface="Museo 300" pitchFamily="50" charset="0"/>
              <a:cs typeface="Carlito"/>
            </a:endParaRPr>
          </a:p>
        </p:txBody>
      </p:sp>
      <p:sp>
        <p:nvSpPr>
          <p:cNvPr id="62" name="object 62"/>
          <p:cNvSpPr txBox="1"/>
          <p:nvPr/>
        </p:nvSpPr>
        <p:spPr>
          <a:xfrm>
            <a:off x="5383794" y="1584325"/>
            <a:ext cx="1256453" cy="189154"/>
          </a:xfrm>
          <a:prstGeom prst="rect">
            <a:avLst/>
          </a:prstGeom>
          <a:ln w="13716">
            <a:solidFill>
              <a:srgbClr val="000000"/>
            </a:solidFill>
          </a:ln>
        </p:spPr>
        <p:txBody>
          <a:bodyPr vert="horz" wrap="square" lIns="0" tIns="22225" rIns="0" bIns="0" rtlCol="0">
            <a:spAutoFit/>
          </a:bodyPr>
          <a:lstStyle/>
          <a:p>
            <a:pPr marL="3810" algn="ctr">
              <a:lnSpc>
                <a:spcPts val="1250"/>
              </a:lnSpc>
              <a:spcBef>
                <a:spcPts val="175"/>
              </a:spcBef>
            </a:pPr>
            <a:r>
              <a:rPr sz="1100" dirty="0">
                <a:latin typeface="Museo 300" pitchFamily="50" charset="0"/>
                <a:cs typeface="Carlito"/>
              </a:rPr>
              <a:t>R</a:t>
            </a:r>
            <a:r>
              <a:rPr sz="1100" spc="-155" dirty="0">
                <a:latin typeface="Museo 300" pitchFamily="50" charset="0"/>
                <a:cs typeface="Carlito"/>
              </a:rPr>
              <a:t> </a:t>
            </a:r>
            <a:r>
              <a:rPr sz="1100" i="1" dirty="0">
                <a:latin typeface="Museo 300" pitchFamily="50" charset="0"/>
                <a:cs typeface="Carlito"/>
              </a:rPr>
              <a:t>i</a:t>
            </a:r>
            <a:endParaRPr sz="1100">
              <a:latin typeface="Museo 300" pitchFamily="50" charset="0"/>
              <a:cs typeface="Carlito"/>
            </a:endParaRPr>
          </a:p>
        </p:txBody>
      </p:sp>
      <p:sp>
        <p:nvSpPr>
          <p:cNvPr id="63" name="object 63"/>
          <p:cNvSpPr txBox="1"/>
          <p:nvPr/>
        </p:nvSpPr>
        <p:spPr>
          <a:xfrm>
            <a:off x="6172547" y="2099438"/>
            <a:ext cx="374227" cy="480695"/>
          </a:xfrm>
          <a:prstGeom prst="rect">
            <a:avLst/>
          </a:prstGeom>
        </p:spPr>
        <p:txBody>
          <a:bodyPr vert="horz" wrap="square" lIns="0" tIns="13335" rIns="0" bIns="0" rtlCol="0">
            <a:spAutoFit/>
          </a:bodyPr>
          <a:lstStyle/>
          <a:p>
            <a:pPr marL="12700">
              <a:lnSpc>
                <a:spcPct val="100000"/>
              </a:lnSpc>
              <a:spcBef>
                <a:spcPts val="105"/>
              </a:spcBef>
            </a:pPr>
            <a:r>
              <a:rPr sz="1650" spc="127" baseline="2525" dirty="0">
                <a:latin typeface="Museo 300" pitchFamily="50" charset="0"/>
                <a:cs typeface="Carlito"/>
              </a:rPr>
              <a:t>R</a:t>
            </a:r>
            <a:r>
              <a:rPr sz="1650" i="1" spc="-30" baseline="2525" dirty="0">
                <a:latin typeface="Museo 300" pitchFamily="50" charset="0"/>
                <a:cs typeface="Carlito"/>
              </a:rPr>
              <a:t>i</a:t>
            </a:r>
            <a:r>
              <a:rPr sz="800" i="1" spc="-5" dirty="0">
                <a:latin typeface="Museo 300" pitchFamily="50" charset="0"/>
                <a:cs typeface="Carlito"/>
              </a:rPr>
              <a:t>out</a:t>
            </a:r>
            <a:endParaRPr sz="800">
              <a:latin typeface="Museo 300" pitchFamily="50" charset="0"/>
              <a:cs typeface="Carlito"/>
            </a:endParaRPr>
          </a:p>
          <a:p>
            <a:pPr marL="99695">
              <a:lnSpc>
                <a:spcPct val="100000"/>
              </a:lnSpc>
              <a:spcBef>
                <a:spcPts val="935"/>
              </a:spcBef>
            </a:pPr>
            <a:r>
              <a:rPr sz="1650" baseline="2525" dirty="0">
                <a:latin typeface="Museo 300" pitchFamily="50" charset="0"/>
                <a:cs typeface="Carlito"/>
              </a:rPr>
              <a:t>Y</a:t>
            </a:r>
            <a:r>
              <a:rPr sz="1650" spc="-284" baseline="2525" dirty="0">
                <a:latin typeface="Museo 300" pitchFamily="50" charset="0"/>
                <a:cs typeface="Carlito"/>
              </a:rPr>
              <a:t> </a:t>
            </a:r>
            <a:r>
              <a:rPr sz="800" i="1" spc="-5" dirty="0">
                <a:latin typeface="Museo 300" pitchFamily="50" charset="0"/>
                <a:cs typeface="Carlito"/>
              </a:rPr>
              <a:t>in</a:t>
            </a:r>
            <a:endParaRPr sz="800">
              <a:latin typeface="Museo 300" pitchFamily="50" charset="0"/>
              <a:cs typeface="Carlito"/>
            </a:endParaRPr>
          </a:p>
        </p:txBody>
      </p:sp>
      <p:sp>
        <p:nvSpPr>
          <p:cNvPr id="64" name="object 64"/>
          <p:cNvSpPr/>
          <p:nvPr/>
        </p:nvSpPr>
        <p:spPr>
          <a:xfrm>
            <a:off x="5127762" y="1034160"/>
            <a:ext cx="3068320" cy="4768850"/>
          </a:xfrm>
          <a:custGeom>
            <a:avLst/>
            <a:gdLst/>
            <a:ahLst/>
            <a:cxnLst/>
            <a:rect l="l" t="t" r="r" b="b"/>
            <a:pathLst>
              <a:path w="2301240" h="4768850">
                <a:moveTo>
                  <a:pt x="2242184" y="105156"/>
                </a:moveTo>
                <a:lnTo>
                  <a:pt x="2301240" y="105156"/>
                </a:lnTo>
                <a:lnTo>
                  <a:pt x="2197862" y="0"/>
                </a:lnTo>
                <a:lnTo>
                  <a:pt x="2109216" y="105156"/>
                </a:lnTo>
                <a:lnTo>
                  <a:pt x="2153539" y="105156"/>
                </a:lnTo>
              </a:path>
              <a:path w="2301240" h="4768850">
                <a:moveTo>
                  <a:pt x="2153412" y="4674108"/>
                </a:moveTo>
                <a:lnTo>
                  <a:pt x="2154935" y="105156"/>
                </a:lnTo>
              </a:path>
              <a:path w="2301240" h="4768850">
                <a:moveTo>
                  <a:pt x="2257043" y="4674108"/>
                </a:moveTo>
                <a:lnTo>
                  <a:pt x="2258567" y="105156"/>
                </a:lnTo>
              </a:path>
              <a:path w="2301240" h="4768850">
                <a:moveTo>
                  <a:pt x="2242184" y="4674108"/>
                </a:moveTo>
                <a:lnTo>
                  <a:pt x="2301240" y="4674108"/>
                </a:lnTo>
                <a:lnTo>
                  <a:pt x="2197862" y="4768596"/>
                </a:lnTo>
                <a:lnTo>
                  <a:pt x="2109216" y="4674108"/>
                </a:lnTo>
                <a:lnTo>
                  <a:pt x="2153539" y="4674108"/>
                </a:lnTo>
              </a:path>
              <a:path w="2301240" h="4768850">
                <a:moveTo>
                  <a:pt x="663701" y="3126867"/>
                </a:moveTo>
                <a:lnTo>
                  <a:pt x="589914" y="3073908"/>
                </a:lnTo>
                <a:lnTo>
                  <a:pt x="0" y="3073908"/>
                </a:lnTo>
                <a:lnTo>
                  <a:pt x="221233" y="3550920"/>
                </a:lnTo>
                <a:lnTo>
                  <a:pt x="1106169" y="3550920"/>
                </a:lnTo>
                <a:lnTo>
                  <a:pt x="1327403" y="3073908"/>
                </a:lnTo>
                <a:lnTo>
                  <a:pt x="737488" y="3073908"/>
                </a:lnTo>
                <a:lnTo>
                  <a:pt x="663701" y="3126867"/>
                </a:lnTo>
              </a:path>
            </a:pathLst>
          </a:custGeom>
          <a:ln w="13716">
            <a:solidFill>
              <a:srgbClr val="000000"/>
            </a:solidFill>
          </a:ln>
        </p:spPr>
        <p:txBody>
          <a:bodyPr wrap="square" lIns="0" tIns="0" rIns="0" bIns="0" rtlCol="0"/>
          <a:lstStyle/>
          <a:p>
            <a:endParaRPr>
              <a:latin typeface="Museo 300" pitchFamily="50" charset="0"/>
            </a:endParaRPr>
          </a:p>
        </p:txBody>
      </p:sp>
      <p:sp>
        <p:nvSpPr>
          <p:cNvPr id="65" name="object 65"/>
          <p:cNvSpPr txBox="1"/>
          <p:nvPr/>
        </p:nvSpPr>
        <p:spPr>
          <a:xfrm>
            <a:off x="7411222" y="693293"/>
            <a:ext cx="1413933" cy="301749"/>
          </a:xfrm>
          <a:prstGeom prst="rect">
            <a:avLst/>
          </a:prstGeom>
        </p:spPr>
        <p:txBody>
          <a:bodyPr vert="horz" wrap="square" lIns="0" tIns="64135" rIns="0" bIns="0" rtlCol="0">
            <a:spAutoFit/>
          </a:bodyPr>
          <a:lstStyle/>
          <a:p>
            <a:pPr marL="410845" marR="5080" indent="-398780">
              <a:lnSpc>
                <a:spcPct val="69500"/>
              </a:lnSpc>
              <a:spcBef>
                <a:spcPts val="505"/>
              </a:spcBef>
            </a:pPr>
            <a:r>
              <a:rPr sz="1100" spc="-5" dirty="0">
                <a:latin typeface="Museo 300" pitchFamily="50" charset="0"/>
                <a:cs typeface="Carlito"/>
              </a:rPr>
              <a:t>Internal</a:t>
            </a:r>
            <a:r>
              <a:rPr sz="1100" spc="-70" dirty="0">
                <a:latin typeface="Museo 300" pitchFamily="50" charset="0"/>
                <a:cs typeface="Carlito"/>
              </a:rPr>
              <a:t> </a:t>
            </a:r>
            <a:r>
              <a:rPr sz="1100" dirty="0">
                <a:latin typeface="Museo 300" pitchFamily="50" charset="0"/>
                <a:cs typeface="Carlito"/>
              </a:rPr>
              <a:t>processor  </a:t>
            </a:r>
            <a:r>
              <a:rPr sz="1100" spc="-45" dirty="0">
                <a:latin typeface="Museo 300" pitchFamily="50" charset="0"/>
                <a:cs typeface="Carlito"/>
              </a:rPr>
              <a:t>bus</a:t>
            </a:r>
            <a:endParaRPr sz="1100">
              <a:latin typeface="Museo 300" pitchFamily="50" charset="0"/>
              <a:cs typeface="Carlito"/>
            </a:endParaRPr>
          </a:p>
        </p:txBody>
      </p:sp>
      <p:sp>
        <p:nvSpPr>
          <p:cNvPr id="66" name="object 66"/>
          <p:cNvSpPr txBox="1"/>
          <p:nvPr/>
        </p:nvSpPr>
        <p:spPr>
          <a:xfrm>
            <a:off x="4697316" y="3225674"/>
            <a:ext cx="845820" cy="182742"/>
          </a:xfrm>
          <a:prstGeom prst="rect">
            <a:avLst/>
          </a:prstGeom>
        </p:spPr>
        <p:txBody>
          <a:bodyPr vert="horz" wrap="square" lIns="0" tIns="13335" rIns="0" bIns="0" rtlCol="0">
            <a:spAutoFit/>
          </a:bodyPr>
          <a:lstStyle/>
          <a:p>
            <a:pPr marL="12700">
              <a:lnSpc>
                <a:spcPct val="100000"/>
              </a:lnSpc>
              <a:spcBef>
                <a:spcPts val="105"/>
              </a:spcBef>
            </a:pPr>
            <a:r>
              <a:rPr sz="1100" spc="-5" dirty="0">
                <a:latin typeface="Museo 300" pitchFamily="50" charset="0"/>
                <a:cs typeface="Carlito"/>
              </a:rPr>
              <a:t>Constant</a:t>
            </a:r>
            <a:r>
              <a:rPr sz="1100" spc="-90" dirty="0">
                <a:latin typeface="Museo 300" pitchFamily="50" charset="0"/>
                <a:cs typeface="Carlito"/>
              </a:rPr>
              <a:t> </a:t>
            </a:r>
            <a:r>
              <a:rPr sz="1100" dirty="0">
                <a:latin typeface="Museo 300" pitchFamily="50" charset="0"/>
                <a:cs typeface="Carlito"/>
              </a:rPr>
              <a:t>4</a:t>
            </a:r>
            <a:endParaRPr sz="1100">
              <a:latin typeface="Museo 300" pitchFamily="50" charset="0"/>
              <a:cs typeface="Carlito"/>
            </a:endParaRPr>
          </a:p>
        </p:txBody>
      </p:sp>
      <p:sp>
        <p:nvSpPr>
          <p:cNvPr id="67" name="object 67"/>
          <p:cNvSpPr txBox="1"/>
          <p:nvPr/>
        </p:nvSpPr>
        <p:spPr>
          <a:xfrm>
            <a:off x="5326051" y="3640404"/>
            <a:ext cx="412327" cy="182742"/>
          </a:xfrm>
          <a:prstGeom prst="rect">
            <a:avLst/>
          </a:prstGeom>
        </p:spPr>
        <p:txBody>
          <a:bodyPr vert="horz" wrap="square" lIns="0" tIns="13335" rIns="0" bIns="0" rtlCol="0">
            <a:spAutoFit/>
          </a:bodyPr>
          <a:lstStyle/>
          <a:p>
            <a:pPr marL="12700">
              <a:lnSpc>
                <a:spcPct val="100000"/>
              </a:lnSpc>
              <a:spcBef>
                <a:spcPts val="105"/>
              </a:spcBef>
            </a:pPr>
            <a:r>
              <a:rPr sz="1100" dirty="0">
                <a:latin typeface="Museo 300" pitchFamily="50" charset="0"/>
                <a:cs typeface="Carlito"/>
              </a:rPr>
              <a:t>MUX</a:t>
            </a:r>
            <a:endParaRPr sz="1100">
              <a:latin typeface="Museo 300" pitchFamily="50" charset="0"/>
              <a:cs typeface="Carlito"/>
            </a:endParaRPr>
          </a:p>
        </p:txBody>
      </p:sp>
      <p:sp>
        <p:nvSpPr>
          <p:cNvPr id="68" name="object 68"/>
          <p:cNvSpPr txBox="1"/>
          <p:nvPr/>
        </p:nvSpPr>
        <p:spPr>
          <a:xfrm>
            <a:off x="3636783" y="5660975"/>
            <a:ext cx="5434753" cy="594995"/>
          </a:xfrm>
          <a:prstGeom prst="rect">
            <a:avLst/>
          </a:prstGeom>
        </p:spPr>
        <p:txBody>
          <a:bodyPr vert="horz" wrap="square" lIns="0" tIns="12700" rIns="0" bIns="0" rtlCol="0">
            <a:spAutoFit/>
          </a:bodyPr>
          <a:lstStyle/>
          <a:p>
            <a:pPr marL="65405" algn="ctr">
              <a:lnSpc>
                <a:spcPct val="100000"/>
              </a:lnSpc>
              <a:spcBef>
                <a:spcPts val="100"/>
              </a:spcBef>
            </a:pPr>
            <a:r>
              <a:rPr sz="1650" baseline="7575" dirty="0">
                <a:latin typeface="Museo 300" pitchFamily="50" charset="0"/>
                <a:cs typeface="Carlito"/>
              </a:rPr>
              <a:t>Z</a:t>
            </a:r>
            <a:r>
              <a:rPr sz="1650" spc="-104" baseline="7575" dirty="0">
                <a:latin typeface="Museo 300" pitchFamily="50" charset="0"/>
                <a:cs typeface="Carlito"/>
              </a:rPr>
              <a:t> </a:t>
            </a:r>
            <a:r>
              <a:rPr sz="800" i="1" spc="-5" dirty="0">
                <a:latin typeface="Museo 300" pitchFamily="50" charset="0"/>
                <a:cs typeface="Carlito"/>
              </a:rPr>
              <a:t>out</a:t>
            </a:r>
            <a:endParaRPr sz="800">
              <a:latin typeface="Museo 300" pitchFamily="50" charset="0"/>
              <a:cs typeface="Carlito"/>
            </a:endParaRPr>
          </a:p>
          <a:p>
            <a:pPr>
              <a:lnSpc>
                <a:spcPct val="100000"/>
              </a:lnSpc>
              <a:spcBef>
                <a:spcPts val="10"/>
              </a:spcBef>
            </a:pPr>
            <a:endParaRPr sz="1400">
              <a:latin typeface="Museo 300" pitchFamily="50" charset="0"/>
              <a:cs typeface="Carlito"/>
            </a:endParaRPr>
          </a:p>
          <a:p>
            <a:pPr marL="25400">
              <a:lnSpc>
                <a:spcPct val="100000"/>
              </a:lnSpc>
              <a:spcBef>
                <a:spcPts val="5"/>
              </a:spcBef>
            </a:pPr>
            <a:r>
              <a:rPr sz="1200" spc="-5" dirty="0">
                <a:latin typeface="Museo 300" pitchFamily="50" charset="0"/>
                <a:cs typeface="Carlito"/>
              </a:rPr>
              <a:t>Figure </a:t>
            </a:r>
            <a:r>
              <a:rPr sz="1200" dirty="0">
                <a:latin typeface="Museo 300" pitchFamily="50" charset="0"/>
                <a:cs typeface="Carlito"/>
              </a:rPr>
              <a:t>7.2. Input and output </a:t>
            </a:r>
            <a:r>
              <a:rPr sz="1200" spc="-10" dirty="0">
                <a:latin typeface="Museo 300" pitchFamily="50" charset="0"/>
                <a:cs typeface="Carlito"/>
              </a:rPr>
              <a:t>gating for </a:t>
            </a:r>
            <a:r>
              <a:rPr sz="1200" dirty="0">
                <a:latin typeface="Museo 300" pitchFamily="50" charset="0"/>
                <a:cs typeface="Carlito"/>
              </a:rPr>
              <a:t>the </a:t>
            </a:r>
            <a:r>
              <a:rPr sz="1200" spc="-10" dirty="0">
                <a:latin typeface="Museo 300" pitchFamily="50" charset="0"/>
                <a:cs typeface="Carlito"/>
              </a:rPr>
              <a:t>registers </a:t>
            </a:r>
            <a:r>
              <a:rPr sz="1200" dirty="0">
                <a:latin typeface="Museo 300" pitchFamily="50" charset="0"/>
                <a:cs typeface="Carlito"/>
              </a:rPr>
              <a:t>in </a:t>
            </a:r>
            <a:r>
              <a:rPr sz="1200" spc="-5" dirty="0">
                <a:latin typeface="Museo 300" pitchFamily="50" charset="0"/>
                <a:cs typeface="Carlito"/>
              </a:rPr>
              <a:t>Figure</a:t>
            </a:r>
            <a:r>
              <a:rPr sz="1200" spc="-195" dirty="0">
                <a:latin typeface="Museo 300" pitchFamily="50" charset="0"/>
                <a:cs typeface="Carlito"/>
              </a:rPr>
              <a:t> </a:t>
            </a:r>
            <a:r>
              <a:rPr sz="1200" dirty="0">
                <a:latin typeface="Museo 300" pitchFamily="50" charset="0"/>
                <a:cs typeface="Carlito"/>
              </a:rPr>
              <a:t>7.1.</a:t>
            </a:r>
            <a:endParaRPr sz="1200">
              <a:latin typeface="Museo 300" pitchFamily="50" charset="0"/>
              <a:cs typeface="Carlito"/>
            </a:endParaRPr>
          </a:p>
        </p:txBody>
      </p:sp>
      <p:grpSp>
        <p:nvGrpSpPr>
          <p:cNvPr id="69" name="object 69"/>
          <p:cNvGrpSpPr/>
          <p:nvPr/>
        </p:nvGrpSpPr>
        <p:grpSpPr>
          <a:xfrm>
            <a:off x="4468378" y="3433698"/>
            <a:ext cx="1788160" cy="670560"/>
            <a:chOff x="3418332" y="3709415"/>
            <a:chExt cx="1341120" cy="670560"/>
          </a:xfrm>
        </p:grpSpPr>
        <p:sp>
          <p:nvSpPr>
            <p:cNvPr id="70" name="object 70"/>
            <p:cNvSpPr/>
            <p:nvPr/>
          </p:nvSpPr>
          <p:spPr>
            <a:xfrm>
              <a:off x="4207002" y="4298441"/>
              <a:ext cx="29209" cy="74930"/>
            </a:xfrm>
            <a:custGeom>
              <a:avLst/>
              <a:gdLst/>
              <a:ahLst/>
              <a:cxnLst/>
              <a:rect l="l" t="t" r="r" b="b"/>
              <a:pathLst>
                <a:path w="29210" h="74929">
                  <a:moveTo>
                    <a:pt x="0" y="0"/>
                  </a:moveTo>
                  <a:lnTo>
                    <a:pt x="14477" y="74675"/>
                  </a:lnTo>
                  <a:lnTo>
                    <a:pt x="28956" y="0"/>
                  </a:lnTo>
                  <a:lnTo>
                    <a:pt x="14477" y="0"/>
                  </a:lnTo>
                  <a:lnTo>
                    <a:pt x="0" y="0"/>
                  </a:lnTo>
                </a:path>
              </a:pathLst>
            </a:custGeom>
            <a:ln w="13716">
              <a:solidFill>
                <a:srgbClr val="000000"/>
              </a:solidFill>
            </a:ln>
          </p:spPr>
          <p:txBody>
            <a:bodyPr wrap="square" lIns="0" tIns="0" rIns="0" bIns="0" rtlCol="0"/>
            <a:lstStyle/>
            <a:p>
              <a:endParaRPr>
                <a:latin typeface="Museo 300" pitchFamily="50" charset="0"/>
              </a:endParaRPr>
            </a:p>
          </p:txBody>
        </p:sp>
        <p:sp>
          <p:nvSpPr>
            <p:cNvPr id="71" name="object 71"/>
            <p:cNvSpPr/>
            <p:nvPr/>
          </p:nvSpPr>
          <p:spPr>
            <a:xfrm>
              <a:off x="4207002" y="4298441"/>
              <a:ext cx="29209" cy="74930"/>
            </a:xfrm>
            <a:custGeom>
              <a:avLst/>
              <a:gdLst/>
              <a:ahLst/>
              <a:cxnLst/>
              <a:rect l="l" t="t" r="r" b="b"/>
              <a:pathLst>
                <a:path w="29210" h="74929">
                  <a:moveTo>
                    <a:pt x="28956" y="0"/>
                  </a:moveTo>
                  <a:lnTo>
                    <a:pt x="0" y="0"/>
                  </a:lnTo>
                  <a:lnTo>
                    <a:pt x="14477" y="74675"/>
                  </a:lnTo>
                  <a:lnTo>
                    <a:pt x="28956" y="0"/>
                  </a:lnTo>
                  <a:close/>
                </a:path>
              </a:pathLst>
            </a:custGeom>
            <a:solidFill>
              <a:srgbClr val="000000"/>
            </a:solidFill>
          </p:spPr>
          <p:txBody>
            <a:bodyPr wrap="square" lIns="0" tIns="0" rIns="0" bIns="0" rtlCol="0"/>
            <a:lstStyle/>
            <a:p>
              <a:endParaRPr>
                <a:latin typeface="Museo 300" pitchFamily="50" charset="0"/>
              </a:endParaRPr>
            </a:p>
          </p:txBody>
        </p:sp>
        <p:sp>
          <p:nvSpPr>
            <p:cNvPr id="72" name="object 72"/>
            <p:cNvSpPr/>
            <p:nvPr/>
          </p:nvSpPr>
          <p:spPr>
            <a:xfrm>
              <a:off x="4207002" y="4298441"/>
              <a:ext cx="29209" cy="74930"/>
            </a:xfrm>
            <a:custGeom>
              <a:avLst/>
              <a:gdLst/>
              <a:ahLst/>
              <a:cxnLst/>
              <a:rect l="l" t="t" r="r" b="b"/>
              <a:pathLst>
                <a:path w="29210" h="74929">
                  <a:moveTo>
                    <a:pt x="0" y="0"/>
                  </a:moveTo>
                  <a:lnTo>
                    <a:pt x="14477" y="74675"/>
                  </a:lnTo>
                  <a:lnTo>
                    <a:pt x="28956" y="0"/>
                  </a:lnTo>
                  <a:lnTo>
                    <a:pt x="14477"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73" name="object 73"/>
            <p:cNvSpPr/>
            <p:nvPr/>
          </p:nvSpPr>
          <p:spPr>
            <a:xfrm>
              <a:off x="3425190" y="3821429"/>
              <a:ext cx="1327785" cy="477520"/>
            </a:xfrm>
            <a:custGeom>
              <a:avLst/>
              <a:gdLst/>
              <a:ahLst/>
              <a:cxnLst/>
              <a:rect l="l" t="t" r="r" b="b"/>
              <a:pathLst>
                <a:path w="1327785" h="477520">
                  <a:moveTo>
                    <a:pt x="797051" y="477012"/>
                  </a:moveTo>
                  <a:lnTo>
                    <a:pt x="798576" y="275844"/>
                  </a:lnTo>
                </a:path>
                <a:path w="1327785" h="477520">
                  <a:moveTo>
                    <a:pt x="0" y="179832"/>
                  </a:moveTo>
                  <a:lnTo>
                    <a:pt x="339851" y="181356"/>
                  </a:lnTo>
                </a:path>
                <a:path w="1327785" h="477520">
                  <a:moveTo>
                    <a:pt x="397890" y="275844"/>
                  </a:moveTo>
                  <a:lnTo>
                    <a:pt x="1194562" y="275844"/>
                  </a:lnTo>
                  <a:lnTo>
                    <a:pt x="1327404" y="85344"/>
                  </a:lnTo>
                  <a:lnTo>
                    <a:pt x="265175" y="85344"/>
                  </a:lnTo>
                  <a:lnTo>
                    <a:pt x="397890" y="275844"/>
                  </a:lnTo>
                </a:path>
                <a:path w="1327785" h="477520">
                  <a:moveTo>
                    <a:pt x="443484" y="0"/>
                  </a:moveTo>
                  <a:lnTo>
                    <a:pt x="457200" y="74676"/>
                  </a:lnTo>
                  <a:lnTo>
                    <a:pt x="470915" y="0"/>
                  </a:lnTo>
                  <a:lnTo>
                    <a:pt x="457200" y="0"/>
                  </a:lnTo>
                  <a:lnTo>
                    <a:pt x="443484" y="0"/>
                  </a:lnTo>
                </a:path>
              </a:pathLst>
            </a:custGeom>
            <a:ln w="13716">
              <a:solidFill>
                <a:srgbClr val="000000"/>
              </a:solidFill>
            </a:ln>
          </p:spPr>
          <p:txBody>
            <a:bodyPr wrap="square" lIns="0" tIns="0" rIns="0" bIns="0" rtlCol="0"/>
            <a:lstStyle/>
            <a:p>
              <a:endParaRPr>
                <a:latin typeface="Museo 300" pitchFamily="50" charset="0"/>
              </a:endParaRPr>
            </a:p>
          </p:txBody>
        </p:sp>
        <p:sp>
          <p:nvSpPr>
            <p:cNvPr id="74" name="object 74"/>
            <p:cNvSpPr/>
            <p:nvPr/>
          </p:nvSpPr>
          <p:spPr>
            <a:xfrm>
              <a:off x="3868674" y="3821429"/>
              <a:ext cx="27940" cy="74930"/>
            </a:xfrm>
            <a:custGeom>
              <a:avLst/>
              <a:gdLst/>
              <a:ahLst/>
              <a:cxnLst/>
              <a:rect l="l" t="t" r="r" b="b"/>
              <a:pathLst>
                <a:path w="27939" h="74929">
                  <a:moveTo>
                    <a:pt x="27431" y="0"/>
                  </a:moveTo>
                  <a:lnTo>
                    <a:pt x="0" y="0"/>
                  </a:lnTo>
                  <a:lnTo>
                    <a:pt x="13715" y="74676"/>
                  </a:lnTo>
                  <a:lnTo>
                    <a:pt x="27431" y="0"/>
                  </a:lnTo>
                  <a:close/>
                </a:path>
              </a:pathLst>
            </a:custGeom>
            <a:solidFill>
              <a:srgbClr val="000000"/>
            </a:solidFill>
          </p:spPr>
          <p:txBody>
            <a:bodyPr wrap="square" lIns="0" tIns="0" rIns="0" bIns="0" rtlCol="0"/>
            <a:lstStyle/>
            <a:p>
              <a:endParaRPr>
                <a:latin typeface="Museo 300" pitchFamily="50" charset="0"/>
              </a:endParaRPr>
            </a:p>
          </p:txBody>
        </p:sp>
        <p:sp>
          <p:nvSpPr>
            <p:cNvPr id="75" name="object 75"/>
            <p:cNvSpPr/>
            <p:nvPr/>
          </p:nvSpPr>
          <p:spPr>
            <a:xfrm>
              <a:off x="3868674" y="3821429"/>
              <a:ext cx="27940" cy="74930"/>
            </a:xfrm>
            <a:custGeom>
              <a:avLst/>
              <a:gdLst/>
              <a:ahLst/>
              <a:cxnLst/>
              <a:rect l="l" t="t" r="r" b="b"/>
              <a:pathLst>
                <a:path w="27939" h="74929">
                  <a:moveTo>
                    <a:pt x="0" y="0"/>
                  </a:moveTo>
                  <a:lnTo>
                    <a:pt x="13715" y="74676"/>
                  </a:lnTo>
                  <a:lnTo>
                    <a:pt x="27431" y="0"/>
                  </a:lnTo>
                  <a:lnTo>
                    <a:pt x="13715" y="0"/>
                  </a:lnTo>
                  <a:lnTo>
                    <a:pt x="0"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76" name="object 76"/>
            <p:cNvSpPr/>
            <p:nvPr/>
          </p:nvSpPr>
          <p:spPr>
            <a:xfrm>
              <a:off x="3882390" y="3716273"/>
              <a:ext cx="1905" cy="105410"/>
            </a:xfrm>
            <a:custGeom>
              <a:avLst/>
              <a:gdLst/>
              <a:ahLst/>
              <a:cxnLst/>
              <a:rect l="l" t="t" r="r" b="b"/>
              <a:pathLst>
                <a:path w="1904" h="105410">
                  <a:moveTo>
                    <a:pt x="762" y="-6858"/>
                  </a:moveTo>
                  <a:lnTo>
                    <a:pt x="762" y="112013"/>
                  </a:lnTo>
                </a:path>
              </a:pathLst>
            </a:custGeom>
            <a:ln w="15240">
              <a:solidFill>
                <a:srgbClr val="000000"/>
              </a:solidFill>
            </a:ln>
          </p:spPr>
          <p:txBody>
            <a:bodyPr wrap="square" lIns="0" tIns="0" rIns="0" bIns="0" rtlCol="0"/>
            <a:lstStyle/>
            <a:p>
              <a:endParaRPr>
                <a:latin typeface="Museo 300" pitchFamily="50" charset="0"/>
              </a:endParaRPr>
            </a:p>
          </p:txBody>
        </p:sp>
      </p:grpSp>
      <p:sp>
        <p:nvSpPr>
          <p:cNvPr id="77" name="object 77"/>
          <p:cNvSpPr txBox="1"/>
          <p:nvPr/>
        </p:nvSpPr>
        <p:spPr>
          <a:xfrm>
            <a:off x="3947847" y="3629534"/>
            <a:ext cx="490220" cy="182101"/>
          </a:xfrm>
          <a:prstGeom prst="rect">
            <a:avLst/>
          </a:prstGeom>
        </p:spPr>
        <p:txBody>
          <a:bodyPr vert="horz" wrap="square" lIns="0" tIns="12700" rIns="0" bIns="0" rtlCol="0">
            <a:spAutoFit/>
          </a:bodyPr>
          <a:lstStyle/>
          <a:p>
            <a:pPr marL="12700">
              <a:lnSpc>
                <a:spcPct val="100000"/>
              </a:lnSpc>
              <a:spcBef>
                <a:spcPts val="100"/>
              </a:spcBef>
            </a:pPr>
            <a:r>
              <a:rPr sz="1100" spc="-5" dirty="0">
                <a:latin typeface="Museo 300" pitchFamily="50" charset="0"/>
                <a:cs typeface="Carlito"/>
              </a:rPr>
              <a:t>Select</a:t>
            </a:r>
            <a:endParaRPr sz="1100">
              <a:latin typeface="Museo 300" pitchFamily="50" charset="0"/>
              <a:cs typeface="Carlito"/>
            </a:endParaRPr>
          </a:p>
        </p:txBody>
      </p:sp>
      <p:sp>
        <p:nvSpPr>
          <p:cNvPr id="78" name="Slide Number Placeholder 77"/>
          <p:cNvSpPr>
            <a:spLocks noGrp="1"/>
          </p:cNvSpPr>
          <p:nvPr>
            <p:ph type="sldNum" sz="quarter" idx="12"/>
          </p:nvPr>
        </p:nvSpPr>
        <p:spPr/>
        <p:txBody>
          <a:bodyPr/>
          <a:lstStyle/>
          <a:p>
            <a:pPr>
              <a:defRPr/>
            </a:pPr>
            <a:fld id="{7567225B-3001-4770-81AD-EA67E82D7225}" type="slidenum">
              <a:rPr lang="en-US" smtClean="0"/>
              <a:pPr>
                <a:defRPr/>
              </a:pPr>
              <a:t>16</a:t>
            </a:fld>
            <a:endParaRPr lang="en-US" dirty="0"/>
          </a:p>
        </p:txBody>
      </p:sp>
      <p:sp>
        <p:nvSpPr>
          <p:cNvPr id="79" name="Rectangle 78"/>
          <p:cNvSpPr/>
          <p:nvPr/>
        </p:nvSpPr>
        <p:spPr>
          <a:xfrm>
            <a:off x="7010400" y="6172200"/>
            <a:ext cx="5029200" cy="430887"/>
          </a:xfrm>
          <a:prstGeom prst="rect">
            <a:avLst/>
          </a:prstGeom>
        </p:spPr>
        <p:txBody>
          <a:bodyPr wrap="square">
            <a:spAutoFit/>
          </a:bodyPr>
          <a:lstStyle/>
          <a:p>
            <a:r>
              <a:rPr lang="en-US" sz="1100" dirty="0">
                <a:solidFill>
                  <a:schemeClr val="accent1"/>
                </a:solidFill>
                <a:latin typeface="Museo 300" panose="02000000000000000000" pitchFamily="50" charset="0"/>
              </a:rPr>
              <a:t>Carl </a:t>
            </a:r>
            <a:r>
              <a:rPr lang="en-US" sz="1100" dirty="0" err="1">
                <a:solidFill>
                  <a:schemeClr val="accent1"/>
                </a:solidFill>
                <a:latin typeface="Museo 300" panose="02000000000000000000" pitchFamily="50" charset="0"/>
              </a:rPr>
              <a:t>Hamacher</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ZvonkoVranesic</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SafwatZaky</a:t>
            </a:r>
            <a:r>
              <a:rPr lang="en-US" sz="1100" dirty="0">
                <a:solidFill>
                  <a:schemeClr val="accent1"/>
                </a:solidFill>
                <a:latin typeface="Museo 300" panose="02000000000000000000" pitchFamily="50" charset="0"/>
              </a:rPr>
              <a:t>: Computer Organization, 5th Edition, 2000. </a:t>
            </a:r>
            <a:endParaRPr lang="en-US" sz="1100" dirty="0">
              <a:solidFill>
                <a:schemeClr val="accen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228600"/>
            <a:ext cx="6206067" cy="551433"/>
          </a:xfrm>
          <a:prstGeom prst="rect">
            <a:avLst/>
          </a:prstGeom>
        </p:spPr>
        <p:txBody>
          <a:bodyPr vert="horz" wrap="square" lIns="0" tIns="12700" rIns="0" bIns="0" rtlCol="0">
            <a:spAutoFit/>
          </a:bodyPr>
          <a:lstStyle/>
          <a:p>
            <a:pPr marL="12700">
              <a:lnSpc>
                <a:spcPct val="100000"/>
              </a:lnSpc>
              <a:spcBef>
                <a:spcPts val="100"/>
              </a:spcBef>
            </a:pPr>
            <a:r>
              <a:t>Register</a:t>
            </a:r>
            <a:r>
              <a:rPr spc="-65"/>
              <a:t> </a:t>
            </a:r>
            <a:r>
              <a:rPr spc="-20"/>
              <a:t>Transfers</a:t>
            </a:r>
            <a:r>
              <a:rPr lang="en-US" spc="-20" dirty="0"/>
              <a:t> Continue</a:t>
            </a:r>
            <a:r>
              <a:rPr spc="-20"/>
              <a:t>..</a:t>
            </a:r>
            <a:endParaRPr spc="-20" dirty="0"/>
          </a:p>
        </p:txBody>
      </p:sp>
      <p:sp>
        <p:nvSpPr>
          <p:cNvPr id="3" name="object 3"/>
          <p:cNvSpPr txBox="1"/>
          <p:nvPr/>
        </p:nvSpPr>
        <p:spPr>
          <a:xfrm>
            <a:off x="914400" y="1143000"/>
            <a:ext cx="10699327" cy="3988271"/>
          </a:xfrm>
          <a:prstGeom prst="rect">
            <a:avLst/>
          </a:prstGeom>
        </p:spPr>
        <p:txBody>
          <a:bodyPr vert="horz" wrap="square" lIns="0" tIns="60960" rIns="0" bIns="0" rtlCol="0">
            <a:spAutoFit/>
          </a:bodyPr>
          <a:lstStyle/>
          <a:p>
            <a:pPr marL="381000" marR="40640" indent="-343535" algn="just">
              <a:lnSpc>
                <a:spcPct val="150000"/>
              </a:lnSpc>
              <a:spcBef>
                <a:spcPts val="480"/>
              </a:spcBef>
              <a:buClr>
                <a:srgbClr val="330066"/>
              </a:buClr>
              <a:buSzPct val="69642"/>
              <a:buFont typeface="Wingdings"/>
              <a:buChar char="⚫"/>
              <a:tabLst>
                <a:tab pos="381000" algn="l"/>
                <a:tab pos="381635" algn="l"/>
              </a:tabLst>
            </a:pPr>
            <a:r>
              <a:rPr sz="2000" spc="-5" dirty="0">
                <a:latin typeface="Museo 300" pitchFamily="50" charset="0"/>
                <a:cs typeface="Arial"/>
              </a:rPr>
              <a:t>Suppose </a:t>
            </a:r>
            <a:r>
              <a:rPr sz="2000" dirty="0">
                <a:latin typeface="Museo 300" pitchFamily="50" charset="0"/>
                <a:cs typeface="Arial"/>
              </a:rPr>
              <a:t>that </a:t>
            </a:r>
            <a:r>
              <a:rPr sz="2000" spc="-5" dirty="0">
                <a:latin typeface="Museo 300" pitchFamily="50" charset="0"/>
                <a:cs typeface="Arial"/>
              </a:rPr>
              <a:t>we wish to transfer the </a:t>
            </a:r>
            <a:r>
              <a:rPr sz="2000" dirty="0">
                <a:latin typeface="Museo 300" pitchFamily="50" charset="0"/>
                <a:cs typeface="Arial"/>
              </a:rPr>
              <a:t>contents of  register </a:t>
            </a:r>
            <a:r>
              <a:rPr sz="2000" spc="-5" dirty="0">
                <a:latin typeface="Museo 300" pitchFamily="50" charset="0"/>
                <a:cs typeface="Arial"/>
              </a:rPr>
              <a:t>R1 to </a:t>
            </a:r>
            <a:r>
              <a:rPr sz="2000" dirty="0">
                <a:latin typeface="Museo 300" pitchFamily="50" charset="0"/>
                <a:cs typeface="Arial"/>
              </a:rPr>
              <a:t>register</a:t>
            </a:r>
            <a:r>
              <a:rPr sz="2000" spc="15" dirty="0">
                <a:latin typeface="Museo 300" pitchFamily="50" charset="0"/>
                <a:cs typeface="Arial"/>
              </a:rPr>
              <a:t> </a:t>
            </a:r>
            <a:r>
              <a:rPr sz="2000" spc="-5" dirty="0">
                <a:latin typeface="Museo 300" pitchFamily="50" charset="0"/>
                <a:cs typeface="Arial"/>
              </a:rPr>
              <a:t>R4.</a:t>
            </a:r>
            <a:endParaRPr sz="2000">
              <a:latin typeface="Museo 300" pitchFamily="50" charset="0"/>
              <a:cs typeface="Arial"/>
            </a:endParaRPr>
          </a:p>
          <a:p>
            <a:pPr marL="381000" indent="-343535" algn="just">
              <a:lnSpc>
                <a:spcPct val="150000"/>
              </a:lnSpc>
              <a:spcBef>
                <a:spcPts val="295"/>
              </a:spcBef>
              <a:buClr>
                <a:srgbClr val="330066"/>
              </a:buClr>
              <a:buSzPct val="69642"/>
              <a:buFont typeface="Wingdings"/>
              <a:buChar char="⚫"/>
              <a:tabLst>
                <a:tab pos="381000" algn="l"/>
                <a:tab pos="381635" algn="l"/>
              </a:tabLst>
            </a:pPr>
            <a:r>
              <a:rPr sz="2000" spc="-5" dirty="0">
                <a:latin typeface="Museo 300" pitchFamily="50" charset="0"/>
                <a:cs typeface="Arial"/>
              </a:rPr>
              <a:t>This can be accomplished as</a:t>
            </a:r>
            <a:r>
              <a:rPr sz="2000" spc="55" dirty="0">
                <a:latin typeface="Museo 300" pitchFamily="50" charset="0"/>
                <a:cs typeface="Arial"/>
              </a:rPr>
              <a:t> </a:t>
            </a:r>
            <a:r>
              <a:rPr sz="2000" spc="-5" dirty="0">
                <a:latin typeface="Museo 300" pitchFamily="50" charset="0"/>
                <a:cs typeface="Arial"/>
              </a:rPr>
              <a:t>follows:</a:t>
            </a:r>
            <a:endParaRPr sz="2000">
              <a:latin typeface="Museo 300" pitchFamily="50" charset="0"/>
              <a:cs typeface="Arial"/>
            </a:endParaRPr>
          </a:p>
          <a:p>
            <a:pPr marL="730250" marR="170180" lvl="1" indent="-347980" algn="just">
              <a:lnSpc>
                <a:spcPct val="150000"/>
              </a:lnSpc>
              <a:spcBef>
                <a:spcPts val="595"/>
              </a:spcBef>
              <a:buClr>
                <a:srgbClr val="669999"/>
              </a:buClr>
              <a:buSzPct val="68750"/>
              <a:buFont typeface="Wingdings"/>
              <a:buChar char="⚫"/>
              <a:tabLst>
                <a:tab pos="729615" algn="l"/>
                <a:tab pos="730885" algn="l"/>
              </a:tabLst>
            </a:pPr>
            <a:r>
              <a:rPr sz="2000" spc="-5" dirty="0">
                <a:latin typeface="Museo 300" pitchFamily="50" charset="0"/>
                <a:cs typeface="Arial"/>
              </a:rPr>
              <a:t>Enable </a:t>
            </a:r>
            <a:r>
              <a:rPr sz="2000" dirty="0">
                <a:latin typeface="Museo 300" pitchFamily="50" charset="0"/>
                <a:cs typeface="Arial"/>
              </a:rPr>
              <a:t>the </a:t>
            </a:r>
            <a:r>
              <a:rPr sz="2000" spc="-5" dirty="0">
                <a:latin typeface="Museo 300" pitchFamily="50" charset="0"/>
                <a:cs typeface="Arial"/>
              </a:rPr>
              <a:t>output of register R1 by setting R</a:t>
            </a:r>
            <a:r>
              <a:rPr sz="2000" i="1" spc="-5" dirty="0">
                <a:latin typeface="Museo 300" pitchFamily="50" charset="0"/>
                <a:cs typeface="Arial"/>
              </a:rPr>
              <a:t>1</a:t>
            </a:r>
            <a:r>
              <a:rPr sz="2000" i="1" spc="-7" baseline="-20833" dirty="0">
                <a:latin typeface="Museo 300" pitchFamily="50" charset="0"/>
                <a:cs typeface="Arial"/>
              </a:rPr>
              <a:t>out </a:t>
            </a:r>
            <a:r>
              <a:rPr sz="2000" dirty="0">
                <a:latin typeface="Museo 300" pitchFamily="50" charset="0"/>
                <a:cs typeface="Arial"/>
              </a:rPr>
              <a:t>to </a:t>
            </a:r>
            <a:r>
              <a:rPr sz="2000" spc="-305" dirty="0">
                <a:latin typeface="Museo 300" pitchFamily="50" charset="0"/>
                <a:cs typeface="Arial"/>
              </a:rPr>
              <a:t>1.  </a:t>
            </a:r>
            <a:r>
              <a:rPr sz="2000" spc="-5" dirty="0">
                <a:latin typeface="Museo 300" pitchFamily="50" charset="0"/>
                <a:cs typeface="Arial"/>
              </a:rPr>
              <a:t>This places </a:t>
            </a:r>
            <a:r>
              <a:rPr sz="2000" dirty="0">
                <a:latin typeface="Museo 300" pitchFamily="50" charset="0"/>
                <a:cs typeface="Arial"/>
              </a:rPr>
              <a:t>the </a:t>
            </a:r>
            <a:r>
              <a:rPr sz="2000" spc="-5" dirty="0">
                <a:latin typeface="Museo 300" pitchFamily="50" charset="0"/>
                <a:cs typeface="Arial"/>
              </a:rPr>
              <a:t>contents </a:t>
            </a:r>
            <a:r>
              <a:rPr sz="2000" dirty="0">
                <a:latin typeface="Museo 300" pitchFamily="50" charset="0"/>
                <a:cs typeface="Arial"/>
              </a:rPr>
              <a:t>of R1 on the </a:t>
            </a:r>
            <a:r>
              <a:rPr sz="2000" spc="-5" dirty="0">
                <a:latin typeface="Museo 300" pitchFamily="50" charset="0"/>
                <a:cs typeface="Arial"/>
              </a:rPr>
              <a:t>processor</a:t>
            </a:r>
            <a:r>
              <a:rPr sz="2000" spc="25" dirty="0">
                <a:latin typeface="Museo 300" pitchFamily="50" charset="0"/>
                <a:cs typeface="Arial"/>
              </a:rPr>
              <a:t> </a:t>
            </a:r>
            <a:r>
              <a:rPr sz="2000" spc="-5" dirty="0">
                <a:latin typeface="Museo 300" pitchFamily="50" charset="0"/>
                <a:cs typeface="Arial"/>
              </a:rPr>
              <a:t>bus.</a:t>
            </a:r>
            <a:endParaRPr sz="2000">
              <a:latin typeface="Museo 300" pitchFamily="50" charset="0"/>
              <a:cs typeface="Arial"/>
            </a:endParaRPr>
          </a:p>
          <a:p>
            <a:pPr marL="730250" lvl="1" indent="-348615" algn="just">
              <a:lnSpc>
                <a:spcPct val="150000"/>
              </a:lnSpc>
              <a:spcBef>
                <a:spcPts val="575"/>
              </a:spcBef>
              <a:buClr>
                <a:srgbClr val="669999"/>
              </a:buClr>
              <a:buSzPct val="68750"/>
              <a:buFont typeface="Wingdings"/>
              <a:buChar char="⚫"/>
              <a:tabLst>
                <a:tab pos="729615" algn="l"/>
                <a:tab pos="730885" algn="l"/>
              </a:tabLst>
            </a:pPr>
            <a:r>
              <a:rPr sz="2000" spc="-5" dirty="0">
                <a:latin typeface="Museo 300" pitchFamily="50" charset="0"/>
                <a:cs typeface="Arial"/>
              </a:rPr>
              <a:t>Enable </a:t>
            </a:r>
            <a:r>
              <a:rPr sz="2000" dirty="0">
                <a:latin typeface="Museo 300" pitchFamily="50" charset="0"/>
                <a:cs typeface="Arial"/>
              </a:rPr>
              <a:t>the </a:t>
            </a:r>
            <a:r>
              <a:rPr sz="2000" spc="-10" dirty="0">
                <a:latin typeface="Museo 300" pitchFamily="50" charset="0"/>
                <a:cs typeface="Arial"/>
              </a:rPr>
              <a:t>input </a:t>
            </a:r>
            <a:r>
              <a:rPr sz="2000" dirty="0">
                <a:latin typeface="Museo 300" pitchFamily="50" charset="0"/>
                <a:cs typeface="Arial"/>
              </a:rPr>
              <a:t>of </a:t>
            </a:r>
            <a:r>
              <a:rPr sz="2000" spc="-5" dirty="0">
                <a:latin typeface="Museo 300" pitchFamily="50" charset="0"/>
                <a:cs typeface="Arial"/>
              </a:rPr>
              <a:t>register R4 by setting R</a:t>
            </a:r>
            <a:r>
              <a:rPr sz="2000" i="1" spc="-5" dirty="0">
                <a:latin typeface="Museo 300" pitchFamily="50" charset="0"/>
                <a:cs typeface="Arial"/>
              </a:rPr>
              <a:t>4</a:t>
            </a:r>
            <a:r>
              <a:rPr sz="2000" i="1" spc="-7" baseline="-20833" dirty="0">
                <a:latin typeface="Museo 300" pitchFamily="50" charset="0"/>
                <a:cs typeface="Arial"/>
              </a:rPr>
              <a:t>in </a:t>
            </a:r>
            <a:r>
              <a:rPr sz="2000" dirty="0">
                <a:latin typeface="Museo 300" pitchFamily="50" charset="0"/>
                <a:cs typeface="Arial"/>
              </a:rPr>
              <a:t>to</a:t>
            </a:r>
            <a:r>
              <a:rPr sz="2000" spc="114" dirty="0">
                <a:latin typeface="Museo 300" pitchFamily="50" charset="0"/>
                <a:cs typeface="Arial"/>
              </a:rPr>
              <a:t> </a:t>
            </a:r>
            <a:r>
              <a:rPr sz="2000" spc="-5" dirty="0">
                <a:latin typeface="Museo 300" pitchFamily="50" charset="0"/>
                <a:cs typeface="Arial"/>
              </a:rPr>
              <a:t>1.</a:t>
            </a:r>
            <a:endParaRPr sz="2000">
              <a:latin typeface="Museo 300" pitchFamily="50" charset="0"/>
              <a:cs typeface="Arial"/>
            </a:endParaRPr>
          </a:p>
          <a:p>
            <a:pPr marL="730250" marR="340360" algn="just">
              <a:lnSpc>
                <a:spcPct val="150000"/>
              </a:lnSpc>
            </a:pPr>
            <a:r>
              <a:rPr sz="2000" spc="-5" dirty="0">
                <a:latin typeface="Museo 300" pitchFamily="50" charset="0"/>
                <a:cs typeface="Arial"/>
              </a:rPr>
              <a:t>This loads data </a:t>
            </a:r>
            <a:r>
              <a:rPr sz="2000" dirty="0">
                <a:latin typeface="Museo 300" pitchFamily="50" charset="0"/>
                <a:cs typeface="Arial"/>
              </a:rPr>
              <a:t>from the </a:t>
            </a:r>
            <a:r>
              <a:rPr sz="2000" spc="-5" dirty="0">
                <a:latin typeface="Museo 300" pitchFamily="50" charset="0"/>
                <a:cs typeface="Arial"/>
              </a:rPr>
              <a:t>processor bus into register  R4.</a:t>
            </a:r>
            <a:endParaRPr sz="2000">
              <a:latin typeface="Museo 300" pitchFamily="50" charset="0"/>
              <a:cs typeface="Arial"/>
            </a:endParaRPr>
          </a:p>
          <a:p>
            <a:pPr marL="381000" marR="30480" indent="-343535" algn="just">
              <a:lnSpc>
                <a:spcPct val="150000"/>
              </a:lnSpc>
              <a:spcBef>
                <a:spcPts val="710"/>
              </a:spcBef>
              <a:buClr>
                <a:srgbClr val="330066"/>
              </a:buClr>
              <a:buSzPct val="69642"/>
              <a:buFont typeface="Wingdings"/>
              <a:buChar char="⚫"/>
              <a:tabLst>
                <a:tab pos="381000" algn="l"/>
                <a:tab pos="381635" algn="l"/>
              </a:tabLst>
            </a:pPr>
            <a:r>
              <a:rPr sz="2000" spc="-5" dirty="0">
                <a:latin typeface="Museo 300" pitchFamily="50" charset="0"/>
                <a:cs typeface="Arial"/>
              </a:rPr>
              <a:t>All operations </a:t>
            </a:r>
            <a:r>
              <a:rPr sz="2000" dirty="0">
                <a:latin typeface="Museo 300" pitchFamily="50" charset="0"/>
                <a:cs typeface="Arial"/>
              </a:rPr>
              <a:t>and data transfers </a:t>
            </a:r>
            <a:r>
              <a:rPr sz="2000" spc="-5" dirty="0">
                <a:latin typeface="Museo 300" pitchFamily="50" charset="0"/>
                <a:cs typeface="Arial"/>
              </a:rPr>
              <a:t>within the  </a:t>
            </a:r>
            <a:r>
              <a:rPr sz="2000" dirty="0">
                <a:latin typeface="Museo 300" pitchFamily="50" charset="0"/>
                <a:cs typeface="Arial"/>
              </a:rPr>
              <a:t>processor take place </a:t>
            </a:r>
            <a:r>
              <a:rPr sz="2000" spc="-5" dirty="0">
                <a:latin typeface="Museo 300" pitchFamily="50" charset="0"/>
                <a:cs typeface="Arial"/>
              </a:rPr>
              <a:t>within time </a:t>
            </a:r>
            <a:r>
              <a:rPr sz="2000" dirty="0">
                <a:latin typeface="Museo 300" pitchFamily="50" charset="0"/>
                <a:cs typeface="Arial"/>
              </a:rPr>
              <a:t>periods defined  </a:t>
            </a:r>
            <a:r>
              <a:rPr sz="2000" spc="-5" dirty="0">
                <a:latin typeface="Museo 300" pitchFamily="50" charset="0"/>
                <a:cs typeface="Arial"/>
              </a:rPr>
              <a:t>by the </a:t>
            </a:r>
            <a:r>
              <a:rPr sz="2000" i="1" dirty="0">
                <a:latin typeface="Museo 300" pitchFamily="50" charset="0"/>
                <a:cs typeface="Arial"/>
              </a:rPr>
              <a:t>processor</a:t>
            </a:r>
            <a:r>
              <a:rPr sz="2000" i="1" spc="25" dirty="0">
                <a:latin typeface="Museo 300" pitchFamily="50" charset="0"/>
                <a:cs typeface="Arial"/>
              </a:rPr>
              <a:t> </a:t>
            </a:r>
            <a:r>
              <a:rPr sz="2000" i="1" dirty="0">
                <a:latin typeface="Museo 300" pitchFamily="50" charset="0"/>
                <a:cs typeface="Arial"/>
              </a:rPr>
              <a:t>clock</a:t>
            </a:r>
            <a:r>
              <a:rPr sz="2000" dirty="0">
                <a:latin typeface="Museo 300" pitchFamily="50" charset="0"/>
                <a:cs typeface="Arial"/>
              </a:rPr>
              <a:t>.</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228600"/>
            <a:ext cx="6206067" cy="551433"/>
          </a:xfrm>
          <a:prstGeom prst="rect">
            <a:avLst/>
          </a:prstGeom>
        </p:spPr>
        <p:txBody>
          <a:bodyPr vert="horz" wrap="square" lIns="0" tIns="12700" rIns="0" bIns="0" rtlCol="0">
            <a:spAutoFit/>
          </a:bodyPr>
          <a:lstStyle/>
          <a:p>
            <a:pPr marL="12700">
              <a:lnSpc>
                <a:spcPct val="100000"/>
              </a:lnSpc>
              <a:spcBef>
                <a:spcPts val="100"/>
              </a:spcBef>
            </a:pPr>
            <a:r>
              <a:rPr dirty="0"/>
              <a:t>Register</a:t>
            </a:r>
            <a:r>
              <a:rPr spc="-65" dirty="0"/>
              <a:t> </a:t>
            </a:r>
            <a:r>
              <a:rPr spc="-20" dirty="0"/>
              <a:t>Transfers..</a:t>
            </a:r>
          </a:p>
        </p:txBody>
      </p:sp>
      <p:sp>
        <p:nvSpPr>
          <p:cNvPr id="3" name="object 3"/>
          <p:cNvSpPr txBox="1"/>
          <p:nvPr/>
        </p:nvSpPr>
        <p:spPr>
          <a:xfrm>
            <a:off x="685800" y="1219200"/>
            <a:ext cx="10710333" cy="4003019"/>
          </a:xfrm>
          <a:prstGeom prst="rect">
            <a:avLst/>
          </a:prstGeom>
        </p:spPr>
        <p:txBody>
          <a:bodyPr vert="horz" wrap="square" lIns="0" tIns="12065" rIns="0" bIns="0" rtlCol="0">
            <a:spAutoFit/>
          </a:bodyPr>
          <a:lstStyle/>
          <a:p>
            <a:pPr marL="381000" marR="541655" indent="-343535" algn="just">
              <a:lnSpc>
                <a:spcPct val="150000"/>
              </a:lnSpc>
              <a:spcBef>
                <a:spcPts val="95"/>
              </a:spcBef>
              <a:buClr>
                <a:srgbClr val="330066"/>
              </a:buClr>
              <a:buSzPct val="69642"/>
              <a:buFont typeface="Wingdings"/>
              <a:buChar char="⚫"/>
              <a:tabLst>
                <a:tab pos="381000" algn="l"/>
                <a:tab pos="381635" algn="l"/>
              </a:tabLst>
            </a:pPr>
            <a:r>
              <a:rPr sz="2000" spc="-5" dirty="0">
                <a:latin typeface="Museo 300" pitchFamily="50" charset="0"/>
                <a:cs typeface="Arial"/>
              </a:rPr>
              <a:t>An implementation for </a:t>
            </a:r>
            <a:r>
              <a:rPr sz="2000" dirty="0">
                <a:latin typeface="Museo 300" pitchFamily="50" charset="0"/>
                <a:cs typeface="Arial"/>
              </a:rPr>
              <a:t>one bit </a:t>
            </a:r>
            <a:r>
              <a:rPr sz="2000" spc="-5" dirty="0">
                <a:latin typeface="Museo 300" pitchFamily="50" charset="0"/>
                <a:cs typeface="Arial"/>
              </a:rPr>
              <a:t>of </a:t>
            </a:r>
            <a:r>
              <a:rPr sz="2000" dirty="0">
                <a:latin typeface="Museo 300" pitchFamily="50" charset="0"/>
                <a:cs typeface="Arial"/>
              </a:rPr>
              <a:t>register </a:t>
            </a:r>
            <a:r>
              <a:rPr sz="2000" spc="-5">
                <a:latin typeface="Museo 300" pitchFamily="50" charset="0"/>
                <a:cs typeface="Arial"/>
              </a:rPr>
              <a:t>Ri </a:t>
            </a:r>
            <a:r>
              <a:rPr lang="en-US" sz="2000" dirty="0">
                <a:latin typeface="Museo 300" pitchFamily="50" charset="0"/>
                <a:cs typeface="Arial"/>
              </a:rPr>
              <a:t>is shown </a:t>
            </a:r>
            <a:r>
              <a:rPr sz="2000" spc="-5">
                <a:latin typeface="Museo 300" pitchFamily="50" charset="0"/>
                <a:cs typeface="Arial"/>
              </a:rPr>
              <a:t>in Figure as </a:t>
            </a:r>
            <a:r>
              <a:rPr sz="2000" spc="-5" dirty="0">
                <a:latin typeface="Museo 300" pitchFamily="50" charset="0"/>
                <a:cs typeface="Arial"/>
              </a:rPr>
              <a:t>an</a:t>
            </a:r>
            <a:r>
              <a:rPr sz="2000" spc="70" dirty="0">
                <a:latin typeface="Museo 300" pitchFamily="50" charset="0"/>
                <a:cs typeface="Arial"/>
              </a:rPr>
              <a:t> </a:t>
            </a:r>
            <a:r>
              <a:rPr sz="2000" dirty="0">
                <a:latin typeface="Museo 300" pitchFamily="50" charset="0"/>
                <a:cs typeface="Arial"/>
              </a:rPr>
              <a:t>example.</a:t>
            </a:r>
            <a:endParaRPr sz="2000">
              <a:latin typeface="Museo 300" pitchFamily="50" charset="0"/>
              <a:cs typeface="Arial"/>
            </a:endParaRPr>
          </a:p>
          <a:p>
            <a:pPr marL="381000" marR="30480" indent="-343535" algn="just">
              <a:lnSpc>
                <a:spcPct val="150000"/>
              </a:lnSpc>
              <a:spcBef>
                <a:spcPts val="675"/>
              </a:spcBef>
              <a:buClr>
                <a:srgbClr val="330066"/>
              </a:buClr>
              <a:buSzPct val="69642"/>
              <a:buFont typeface="Wingdings"/>
              <a:buChar char="⚫"/>
              <a:tabLst>
                <a:tab pos="381000" algn="l"/>
                <a:tab pos="381635" algn="l"/>
              </a:tabLst>
            </a:pPr>
            <a:r>
              <a:rPr sz="2000" spc="-5" dirty="0">
                <a:latin typeface="Museo 300" pitchFamily="50" charset="0"/>
                <a:cs typeface="Arial"/>
              </a:rPr>
              <a:t>A two-input multiplexer is </a:t>
            </a:r>
            <a:r>
              <a:rPr sz="2000" dirty="0">
                <a:latin typeface="Museo 300" pitchFamily="50" charset="0"/>
                <a:cs typeface="Arial"/>
              </a:rPr>
              <a:t>used </a:t>
            </a:r>
            <a:r>
              <a:rPr sz="2000" spc="-5" dirty="0">
                <a:latin typeface="Museo 300" pitchFamily="50" charset="0"/>
                <a:cs typeface="Arial"/>
              </a:rPr>
              <a:t>to select the </a:t>
            </a:r>
            <a:r>
              <a:rPr sz="2000" dirty="0">
                <a:latin typeface="Museo 300" pitchFamily="50" charset="0"/>
                <a:cs typeface="Arial"/>
              </a:rPr>
              <a:t>data </a:t>
            </a:r>
            <a:r>
              <a:rPr sz="2000" spc="-330" dirty="0">
                <a:latin typeface="Museo 300" pitchFamily="50" charset="0"/>
                <a:cs typeface="Arial"/>
              </a:rPr>
              <a:t> </a:t>
            </a:r>
            <a:r>
              <a:rPr sz="2000" spc="-5" dirty="0">
                <a:latin typeface="Museo 300" pitchFamily="50" charset="0"/>
                <a:cs typeface="Arial"/>
              </a:rPr>
              <a:t>applied to the </a:t>
            </a:r>
            <a:r>
              <a:rPr sz="2000" dirty="0">
                <a:latin typeface="Museo 300" pitchFamily="50" charset="0"/>
                <a:cs typeface="Arial"/>
              </a:rPr>
              <a:t>input of </a:t>
            </a:r>
            <a:r>
              <a:rPr sz="2000" spc="-5" dirty="0">
                <a:latin typeface="Museo 300" pitchFamily="50" charset="0"/>
                <a:cs typeface="Arial"/>
              </a:rPr>
              <a:t>an </a:t>
            </a:r>
            <a:r>
              <a:rPr sz="2000" dirty="0">
                <a:latin typeface="Museo 300" pitchFamily="50" charset="0"/>
                <a:cs typeface="Arial"/>
              </a:rPr>
              <a:t>edge-triggered </a:t>
            </a:r>
            <a:r>
              <a:rPr sz="2000" spc="-5" dirty="0">
                <a:latin typeface="Museo 300" pitchFamily="50" charset="0"/>
                <a:cs typeface="Arial"/>
              </a:rPr>
              <a:t>D </a:t>
            </a:r>
            <a:r>
              <a:rPr sz="2000" dirty="0">
                <a:latin typeface="Museo 300" pitchFamily="50" charset="0"/>
                <a:cs typeface="Arial"/>
              </a:rPr>
              <a:t>flip-  </a:t>
            </a:r>
            <a:r>
              <a:rPr sz="2000" spc="-5" dirty="0">
                <a:latin typeface="Museo 300" pitchFamily="50" charset="0"/>
                <a:cs typeface="Arial"/>
              </a:rPr>
              <a:t>flop.</a:t>
            </a:r>
            <a:endParaRPr sz="2000">
              <a:latin typeface="Museo 300" pitchFamily="50" charset="0"/>
              <a:cs typeface="Arial"/>
            </a:endParaRPr>
          </a:p>
          <a:p>
            <a:pPr marL="381000" marR="750570" indent="-343535" algn="just">
              <a:lnSpc>
                <a:spcPct val="150000"/>
              </a:lnSpc>
              <a:spcBef>
                <a:spcPts val="675"/>
              </a:spcBef>
              <a:buClr>
                <a:srgbClr val="330066"/>
              </a:buClr>
              <a:buSzPct val="69642"/>
              <a:buFont typeface="Wingdings"/>
              <a:buChar char="⚫"/>
              <a:tabLst>
                <a:tab pos="381000" algn="l"/>
                <a:tab pos="381635" algn="l"/>
              </a:tabLst>
            </a:pPr>
            <a:r>
              <a:rPr sz="2000" spc="-5" dirty="0">
                <a:latin typeface="Museo 300" pitchFamily="50" charset="0"/>
                <a:cs typeface="Arial"/>
              </a:rPr>
              <a:t>When the </a:t>
            </a:r>
            <a:r>
              <a:rPr sz="2000" dirty="0">
                <a:latin typeface="Museo 300" pitchFamily="50" charset="0"/>
                <a:cs typeface="Arial"/>
              </a:rPr>
              <a:t>control input R</a:t>
            </a:r>
            <a:r>
              <a:rPr sz="2000" i="1" dirty="0">
                <a:latin typeface="Museo 300" pitchFamily="50" charset="0"/>
                <a:cs typeface="Arial"/>
              </a:rPr>
              <a:t>i</a:t>
            </a:r>
            <a:r>
              <a:rPr sz="2000" i="1" baseline="-21021" dirty="0">
                <a:latin typeface="Museo 300" pitchFamily="50" charset="0"/>
                <a:cs typeface="Arial"/>
              </a:rPr>
              <a:t>in </a:t>
            </a:r>
            <a:r>
              <a:rPr sz="2000" spc="-5" dirty="0">
                <a:latin typeface="Museo 300" pitchFamily="50" charset="0"/>
                <a:cs typeface="Arial"/>
              </a:rPr>
              <a:t>is </a:t>
            </a:r>
            <a:r>
              <a:rPr sz="2000" dirty="0">
                <a:latin typeface="Museo 300" pitchFamily="50" charset="0"/>
                <a:cs typeface="Arial"/>
              </a:rPr>
              <a:t>equal to 1, the  multiplexer selects </a:t>
            </a:r>
            <a:r>
              <a:rPr sz="2000" spc="-5" dirty="0">
                <a:latin typeface="Museo 300" pitchFamily="50" charset="0"/>
                <a:cs typeface="Arial"/>
              </a:rPr>
              <a:t>the data on the</a:t>
            </a:r>
            <a:r>
              <a:rPr sz="2000" spc="10" dirty="0">
                <a:latin typeface="Museo 300" pitchFamily="50" charset="0"/>
                <a:cs typeface="Arial"/>
              </a:rPr>
              <a:t> </a:t>
            </a:r>
            <a:r>
              <a:rPr sz="2000" dirty="0">
                <a:latin typeface="Museo 300" pitchFamily="50" charset="0"/>
                <a:cs typeface="Arial"/>
              </a:rPr>
              <a:t>bus.</a:t>
            </a:r>
            <a:endParaRPr sz="2000">
              <a:latin typeface="Museo 300" pitchFamily="50" charset="0"/>
              <a:cs typeface="Arial"/>
            </a:endParaRPr>
          </a:p>
          <a:p>
            <a:pPr marL="730250" marR="293370" indent="-347980" algn="just">
              <a:lnSpc>
                <a:spcPct val="150000"/>
              </a:lnSpc>
              <a:spcBef>
                <a:spcPts val="590"/>
              </a:spcBef>
              <a:tabLst>
                <a:tab pos="729615" algn="l"/>
              </a:tabLst>
            </a:pPr>
            <a:r>
              <a:rPr sz="2000" spc="1780" dirty="0">
                <a:solidFill>
                  <a:srgbClr val="669999"/>
                </a:solidFill>
                <a:latin typeface="Museo 300" pitchFamily="50" charset="0"/>
                <a:cs typeface="Wingdings"/>
              </a:rPr>
              <a:t>⚫</a:t>
            </a:r>
            <a:r>
              <a:rPr sz="2000" spc="1780" dirty="0">
                <a:solidFill>
                  <a:srgbClr val="669999"/>
                </a:solidFill>
                <a:latin typeface="Museo 300" pitchFamily="50" charset="0"/>
                <a:cs typeface="Times New Roman"/>
              </a:rPr>
              <a:t>	</a:t>
            </a:r>
            <a:r>
              <a:rPr sz="2000" spc="-5" dirty="0">
                <a:latin typeface="Museo 300" pitchFamily="50" charset="0"/>
                <a:cs typeface="Arial"/>
              </a:rPr>
              <a:t>This data will be loaded into the flip-flop </a:t>
            </a:r>
            <a:r>
              <a:rPr sz="2000" dirty="0">
                <a:latin typeface="Museo 300" pitchFamily="50" charset="0"/>
                <a:cs typeface="Arial"/>
              </a:rPr>
              <a:t>at the </a:t>
            </a:r>
            <a:r>
              <a:rPr sz="2000" spc="-125" dirty="0">
                <a:latin typeface="Museo 300" pitchFamily="50" charset="0"/>
                <a:cs typeface="Arial"/>
              </a:rPr>
              <a:t>rising  </a:t>
            </a:r>
            <a:r>
              <a:rPr sz="2000" spc="-5" dirty="0">
                <a:latin typeface="Museo 300" pitchFamily="50" charset="0"/>
                <a:cs typeface="Arial"/>
              </a:rPr>
              <a:t>edge </a:t>
            </a:r>
            <a:r>
              <a:rPr sz="2000" dirty="0">
                <a:latin typeface="Museo 300" pitchFamily="50" charset="0"/>
                <a:cs typeface="Arial"/>
              </a:rPr>
              <a:t>of the</a:t>
            </a:r>
            <a:r>
              <a:rPr sz="2000" spc="-5" dirty="0">
                <a:latin typeface="Museo 300" pitchFamily="50" charset="0"/>
                <a:cs typeface="Arial"/>
              </a:rPr>
              <a:t> clock.</a:t>
            </a:r>
            <a:endParaRPr sz="2000">
              <a:latin typeface="Museo 300" pitchFamily="50" charset="0"/>
              <a:cs typeface="Arial"/>
            </a:endParaRPr>
          </a:p>
          <a:p>
            <a:pPr marL="381000" marR="476250" indent="-343535" algn="just">
              <a:lnSpc>
                <a:spcPct val="150000"/>
              </a:lnSpc>
              <a:spcBef>
                <a:spcPts val="660"/>
              </a:spcBef>
              <a:buClr>
                <a:srgbClr val="330066"/>
              </a:buClr>
              <a:buSzPct val="69642"/>
              <a:buFont typeface="Wingdings"/>
              <a:buChar char="⚫"/>
              <a:tabLst>
                <a:tab pos="381000" algn="l"/>
                <a:tab pos="381635" algn="l"/>
              </a:tabLst>
            </a:pPr>
            <a:r>
              <a:rPr sz="2000" spc="-5" dirty="0">
                <a:latin typeface="Museo 300" pitchFamily="50" charset="0"/>
                <a:cs typeface="Arial"/>
              </a:rPr>
              <a:t>When </a:t>
            </a:r>
            <a:r>
              <a:rPr sz="2000" dirty="0">
                <a:latin typeface="Museo 300" pitchFamily="50" charset="0"/>
                <a:cs typeface="Arial"/>
              </a:rPr>
              <a:t>R</a:t>
            </a:r>
            <a:r>
              <a:rPr sz="2000" i="1" dirty="0">
                <a:latin typeface="Museo 300" pitchFamily="50" charset="0"/>
                <a:cs typeface="Arial"/>
              </a:rPr>
              <a:t>i</a:t>
            </a:r>
            <a:r>
              <a:rPr sz="2000" i="1" baseline="-21021" dirty="0">
                <a:latin typeface="Museo 300" pitchFamily="50" charset="0"/>
                <a:cs typeface="Arial"/>
              </a:rPr>
              <a:t>in </a:t>
            </a:r>
            <a:r>
              <a:rPr sz="2000" spc="-5" dirty="0">
                <a:latin typeface="Museo 300" pitchFamily="50" charset="0"/>
                <a:cs typeface="Arial"/>
              </a:rPr>
              <a:t>is </a:t>
            </a:r>
            <a:r>
              <a:rPr sz="2000" dirty="0">
                <a:latin typeface="Museo 300" pitchFamily="50" charset="0"/>
                <a:cs typeface="Arial"/>
              </a:rPr>
              <a:t>equal to 0, </a:t>
            </a:r>
            <a:r>
              <a:rPr sz="2000" spc="-5" dirty="0">
                <a:latin typeface="Museo 300" pitchFamily="50" charset="0"/>
                <a:cs typeface="Arial"/>
              </a:rPr>
              <a:t>the multiplexer </a:t>
            </a:r>
            <a:r>
              <a:rPr sz="2000" spc="-20" dirty="0">
                <a:latin typeface="Museo 300" pitchFamily="50" charset="0"/>
                <a:cs typeface="Arial"/>
              </a:rPr>
              <a:t>feeds  </a:t>
            </a:r>
            <a:r>
              <a:rPr sz="2000" spc="-5" dirty="0">
                <a:latin typeface="Museo 300" pitchFamily="50" charset="0"/>
                <a:cs typeface="Arial"/>
              </a:rPr>
              <a:t>back the value </a:t>
            </a:r>
            <a:r>
              <a:rPr sz="2000" dirty="0">
                <a:latin typeface="Museo 300" pitchFamily="50" charset="0"/>
                <a:cs typeface="Arial"/>
              </a:rPr>
              <a:t>currently </a:t>
            </a:r>
            <a:r>
              <a:rPr sz="2000" spc="-5" dirty="0">
                <a:latin typeface="Museo 300" pitchFamily="50" charset="0"/>
                <a:cs typeface="Arial"/>
              </a:rPr>
              <a:t>stored </a:t>
            </a:r>
            <a:r>
              <a:rPr sz="2000" dirty="0">
                <a:latin typeface="Museo 300" pitchFamily="50" charset="0"/>
                <a:cs typeface="Arial"/>
              </a:rPr>
              <a:t>in </a:t>
            </a:r>
            <a:r>
              <a:rPr sz="2000" spc="-5" dirty="0">
                <a:latin typeface="Museo 300" pitchFamily="50" charset="0"/>
                <a:cs typeface="Arial"/>
              </a:rPr>
              <a:t>the</a:t>
            </a:r>
            <a:r>
              <a:rPr sz="2000" spc="45" dirty="0">
                <a:latin typeface="Museo 300" pitchFamily="50" charset="0"/>
                <a:cs typeface="Arial"/>
              </a:rPr>
              <a:t> </a:t>
            </a:r>
            <a:r>
              <a:rPr sz="2000" dirty="0">
                <a:latin typeface="Museo 300" pitchFamily="50" charset="0"/>
                <a:cs typeface="Arial"/>
              </a:rPr>
              <a:t>flip-flop.</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381000"/>
            <a:ext cx="6206067" cy="551433"/>
          </a:xfrm>
          <a:prstGeom prst="rect">
            <a:avLst/>
          </a:prstGeom>
        </p:spPr>
        <p:txBody>
          <a:bodyPr vert="horz" wrap="square" lIns="0" tIns="12700" rIns="0" bIns="0" rtlCol="0">
            <a:spAutoFit/>
          </a:bodyPr>
          <a:lstStyle/>
          <a:p>
            <a:pPr marL="12700">
              <a:lnSpc>
                <a:spcPct val="100000"/>
              </a:lnSpc>
              <a:spcBef>
                <a:spcPts val="100"/>
              </a:spcBef>
            </a:pPr>
            <a:r>
              <a:t>Register</a:t>
            </a:r>
            <a:r>
              <a:rPr spc="-65"/>
              <a:t> </a:t>
            </a:r>
            <a:r>
              <a:rPr spc="-20"/>
              <a:t>Transfers</a:t>
            </a:r>
            <a:r>
              <a:rPr lang="en-US" spc="-20" dirty="0"/>
              <a:t> continue</a:t>
            </a:r>
            <a:r>
              <a:rPr spc="-20"/>
              <a:t>..</a:t>
            </a:r>
            <a:endParaRPr spc="-20" dirty="0"/>
          </a:p>
        </p:txBody>
      </p:sp>
      <p:sp>
        <p:nvSpPr>
          <p:cNvPr id="3" name="object 3"/>
          <p:cNvSpPr txBox="1"/>
          <p:nvPr/>
        </p:nvSpPr>
        <p:spPr>
          <a:xfrm>
            <a:off x="680720" y="1743582"/>
            <a:ext cx="10651067" cy="2528256"/>
          </a:xfrm>
          <a:prstGeom prst="rect">
            <a:avLst/>
          </a:prstGeom>
        </p:spPr>
        <p:txBody>
          <a:bodyPr vert="horz" wrap="square" lIns="0" tIns="12065" rIns="0" bIns="0" rtlCol="0">
            <a:spAutoFit/>
          </a:bodyPr>
          <a:lstStyle/>
          <a:p>
            <a:pPr marL="381000" marR="193675" indent="-343535" algn="just">
              <a:lnSpc>
                <a:spcPct val="150000"/>
              </a:lnSpc>
              <a:spcBef>
                <a:spcPts val="95"/>
              </a:spcBef>
              <a:buClr>
                <a:srgbClr val="330066"/>
              </a:buClr>
              <a:buSzPct val="69642"/>
              <a:buFont typeface="Wingdings"/>
              <a:buChar char="⚫"/>
              <a:tabLst>
                <a:tab pos="381635" algn="l"/>
              </a:tabLst>
            </a:pPr>
            <a:r>
              <a:rPr sz="2000" spc="-5" dirty="0">
                <a:latin typeface="Museo 300" pitchFamily="50" charset="0"/>
                <a:cs typeface="Arial"/>
              </a:rPr>
              <a:t>The Q </a:t>
            </a:r>
            <a:r>
              <a:rPr sz="2000" dirty="0">
                <a:latin typeface="Museo 300" pitchFamily="50" charset="0"/>
                <a:cs typeface="Arial"/>
              </a:rPr>
              <a:t>output </a:t>
            </a:r>
            <a:r>
              <a:rPr sz="2000" spc="-5" dirty="0">
                <a:latin typeface="Museo 300" pitchFamily="50" charset="0"/>
                <a:cs typeface="Arial"/>
              </a:rPr>
              <a:t>of the </a:t>
            </a:r>
            <a:r>
              <a:rPr sz="2000" dirty="0">
                <a:latin typeface="Museo 300" pitchFamily="50" charset="0"/>
                <a:cs typeface="Arial"/>
              </a:rPr>
              <a:t>flip-flop is connected </a:t>
            </a:r>
            <a:r>
              <a:rPr sz="2000" spc="-5" dirty="0">
                <a:latin typeface="Museo 300" pitchFamily="50" charset="0"/>
                <a:cs typeface="Arial"/>
              </a:rPr>
              <a:t>to </a:t>
            </a:r>
            <a:r>
              <a:rPr sz="2000" dirty="0">
                <a:latin typeface="Museo 300" pitchFamily="50" charset="0"/>
                <a:cs typeface="Arial"/>
              </a:rPr>
              <a:t>the  b</a:t>
            </a:r>
            <a:r>
              <a:rPr sz="2000" spc="-5" dirty="0">
                <a:latin typeface="Museo 300" pitchFamily="50" charset="0"/>
                <a:cs typeface="Arial"/>
              </a:rPr>
              <a:t>us via a </a:t>
            </a:r>
            <a:r>
              <a:rPr sz="2000" dirty="0">
                <a:latin typeface="Museo 300" pitchFamily="50" charset="0"/>
                <a:cs typeface="Arial"/>
              </a:rPr>
              <a:t>tri-state</a:t>
            </a:r>
            <a:r>
              <a:rPr sz="2000" spc="5" dirty="0">
                <a:latin typeface="Museo 300" pitchFamily="50" charset="0"/>
                <a:cs typeface="Arial"/>
              </a:rPr>
              <a:t> </a:t>
            </a:r>
            <a:r>
              <a:rPr sz="2000" spc="-5" dirty="0">
                <a:latin typeface="Museo 300" pitchFamily="50" charset="0"/>
                <a:cs typeface="Arial"/>
              </a:rPr>
              <a:t>gate.</a:t>
            </a:r>
            <a:endParaRPr sz="2000">
              <a:latin typeface="Museo 300" pitchFamily="50" charset="0"/>
              <a:cs typeface="Arial"/>
            </a:endParaRPr>
          </a:p>
          <a:p>
            <a:pPr marL="381000" marR="274955" indent="-343535" algn="just">
              <a:lnSpc>
                <a:spcPct val="150000"/>
              </a:lnSpc>
              <a:spcBef>
                <a:spcPts val="675"/>
              </a:spcBef>
              <a:buClr>
                <a:srgbClr val="330066"/>
              </a:buClr>
              <a:buSzPct val="69642"/>
              <a:buFont typeface="Wingdings"/>
              <a:buChar char="⚫"/>
              <a:tabLst>
                <a:tab pos="381635" algn="l"/>
              </a:tabLst>
            </a:pPr>
            <a:r>
              <a:rPr sz="2000" spc="-5" dirty="0">
                <a:latin typeface="Museo 300" pitchFamily="50" charset="0"/>
                <a:cs typeface="Arial"/>
              </a:rPr>
              <a:t>When </a:t>
            </a:r>
            <a:r>
              <a:rPr sz="2000" dirty="0">
                <a:latin typeface="Museo 300" pitchFamily="50" charset="0"/>
                <a:cs typeface="Arial"/>
              </a:rPr>
              <a:t>R</a:t>
            </a:r>
            <a:r>
              <a:rPr sz="2000" i="1" dirty="0">
                <a:latin typeface="Museo 300" pitchFamily="50" charset="0"/>
                <a:cs typeface="Arial"/>
              </a:rPr>
              <a:t>i</a:t>
            </a:r>
            <a:r>
              <a:rPr sz="2000" i="1" baseline="-21021" dirty="0">
                <a:latin typeface="Museo 300" pitchFamily="50" charset="0"/>
                <a:cs typeface="Arial"/>
              </a:rPr>
              <a:t>out </a:t>
            </a:r>
            <a:r>
              <a:rPr sz="2000" spc="-5" dirty="0">
                <a:latin typeface="Museo 300" pitchFamily="50" charset="0"/>
                <a:cs typeface="Arial"/>
              </a:rPr>
              <a:t>is </a:t>
            </a:r>
            <a:r>
              <a:rPr sz="2000" dirty="0">
                <a:latin typeface="Museo 300" pitchFamily="50" charset="0"/>
                <a:cs typeface="Arial"/>
              </a:rPr>
              <a:t>equal </a:t>
            </a:r>
            <a:r>
              <a:rPr sz="2000" spc="-5" dirty="0">
                <a:latin typeface="Museo 300" pitchFamily="50" charset="0"/>
                <a:cs typeface="Arial"/>
              </a:rPr>
              <a:t>to 0, </a:t>
            </a:r>
            <a:r>
              <a:rPr sz="2000" dirty="0">
                <a:latin typeface="Museo 300" pitchFamily="50" charset="0"/>
                <a:cs typeface="Arial"/>
              </a:rPr>
              <a:t>the gate's output </a:t>
            </a:r>
            <a:r>
              <a:rPr sz="2000" spc="-5" dirty="0">
                <a:latin typeface="Museo 300" pitchFamily="50" charset="0"/>
                <a:cs typeface="Arial"/>
              </a:rPr>
              <a:t>is </a:t>
            </a:r>
            <a:r>
              <a:rPr sz="2000" spc="-760" dirty="0">
                <a:latin typeface="Museo 300" pitchFamily="50" charset="0"/>
                <a:cs typeface="Arial"/>
              </a:rPr>
              <a:t>in  </a:t>
            </a:r>
            <a:r>
              <a:rPr sz="2000" spc="-5" dirty="0">
                <a:latin typeface="Museo 300" pitchFamily="50" charset="0"/>
                <a:cs typeface="Arial"/>
              </a:rPr>
              <a:t>the </a:t>
            </a:r>
            <a:r>
              <a:rPr sz="2000" dirty="0">
                <a:latin typeface="Museo 300" pitchFamily="50" charset="0"/>
                <a:cs typeface="Arial"/>
              </a:rPr>
              <a:t>high-impedance (electrically disconnected)  state.</a:t>
            </a:r>
            <a:endParaRPr sz="2000">
              <a:latin typeface="Museo 300" pitchFamily="50" charset="0"/>
              <a:cs typeface="Arial"/>
            </a:endParaRPr>
          </a:p>
          <a:p>
            <a:pPr marL="382270" algn="just">
              <a:lnSpc>
                <a:spcPct val="150000"/>
              </a:lnSpc>
              <a:spcBef>
                <a:spcPts val="595"/>
              </a:spcBef>
              <a:tabLst>
                <a:tab pos="729615" algn="l"/>
              </a:tabLst>
            </a:pPr>
            <a:r>
              <a:rPr sz="2000" spc="1780" dirty="0">
                <a:solidFill>
                  <a:srgbClr val="669999"/>
                </a:solidFill>
                <a:latin typeface="Museo 300" pitchFamily="50" charset="0"/>
                <a:cs typeface="Wingdings"/>
              </a:rPr>
              <a:t>⚫</a:t>
            </a:r>
            <a:r>
              <a:rPr sz="2000" spc="1780" dirty="0">
                <a:solidFill>
                  <a:srgbClr val="669999"/>
                </a:solidFill>
                <a:latin typeface="Museo 300" pitchFamily="50" charset="0"/>
                <a:cs typeface="Times New Roman"/>
              </a:rPr>
              <a:t>	</a:t>
            </a:r>
            <a:r>
              <a:rPr sz="2000" spc="-5" dirty="0">
                <a:latin typeface="Museo 300" pitchFamily="50" charset="0"/>
                <a:cs typeface="Arial"/>
              </a:rPr>
              <a:t>This corresponds </a:t>
            </a:r>
            <a:r>
              <a:rPr sz="2000" dirty="0">
                <a:latin typeface="Museo 300" pitchFamily="50" charset="0"/>
                <a:cs typeface="Arial"/>
              </a:rPr>
              <a:t>to the </a:t>
            </a:r>
            <a:r>
              <a:rPr sz="2000" spc="-5" dirty="0">
                <a:latin typeface="Museo 300" pitchFamily="50" charset="0"/>
                <a:cs typeface="Arial"/>
              </a:rPr>
              <a:t>open-circuit </a:t>
            </a:r>
            <a:r>
              <a:rPr sz="2000" dirty="0">
                <a:latin typeface="Museo 300" pitchFamily="50" charset="0"/>
                <a:cs typeface="Arial"/>
              </a:rPr>
              <a:t>state of </a:t>
            </a:r>
            <a:r>
              <a:rPr sz="2000" spc="-5" dirty="0">
                <a:latin typeface="Museo 300" pitchFamily="50" charset="0"/>
                <a:cs typeface="Arial"/>
              </a:rPr>
              <a:t>a</a:t>
            </a:r>
            <a:r>
              <a:rPr sz="2000" spc="15" dirty="0">
                <a:latin typeface="Museo 300" pitchFamily="50" charset="0"/>
                <a:cs typeface="Arial"/>
              </a:rPr>
              <a:t> </a:t>
            </a:r>
            <a:r>
              <a:rPr sz="2000" dirty="0">
                <a:latin typeface="Museo 300" pitchFamily="50" charset="0"/>
                <a:cs typeface="Arial"/>
              </a:rPr>
              <a:t>switch.</a:t>
            </a:r>
            <a:endParaRPr sz="2000">
              <a:latin typeface="Museo 300" pitchFamily="50" charset="0"/>
              <a:cs typeface="Arial"/>
            </a:endParaRPr>
          </a:p>
          <a:p>
            <a:pPr marL="381000" marR="30480" indent="-343535" algn="just">
              <a:lnSpc>
                <a:spcPct val="150000"/>
              </a:lnSpc>
              <a:spcBef>
                <a:spcPts val="655"/>
              </a:spcBef>
              <a:buClr>
                <a:srgbClr val="330066"/>
              </a:buClr>
              <a:buSzPct val="69642"/>
              <a:buFont typeface="Wingdings"/>
              <a:buChar char="⚫"/>
              <a:tabLst>
                <a:tab pos="381635" algn="l"/>
              </a:tabLst>
            </a:pPr>
            <a:r>
              <a:rPr sz="2000" spc="-5" dirty="0">
                <a:latin typeface="Museo 300" pitchFamily="50" charset="0"/>
                <a:cs typeface="Arial"/>
              </a:rPr>
              <a:t>When </a:t>
            </a:r>
            <a:r>
              <a:rPr sz="2000" spc="5" dirty="0">
                <a:latin typeface="Museo 300" pitchFamily="50" charset="0"/>
                <a:cs typeface="Arial"/>
              </a:rPr>
              <a:t>R</a:t>
            </a:r>
            <a:r>
              <a:rPr sz="2000" i="1" spc="5" dirty="0">
                <a:latin typeface="Museo 300" pitchFamily="50" charset="0"/>
                <a:cs typeface="Arial"/>
              </a:rPr>
              <a:t>i</a:t>
            </a:r>
            <a:r>
              <a:rPr sz="2000" i="1" spc="7" baseline="-21021" dirty="0">
                <a:latin typeface="Museo 300" pitchFamily="50" charset="0"/>
                <a:cs typeface="Arial"/>
              </a:rPr>
              <a:t>out </a:t>
            </a:r>
            <a:r>
              <a:rPr sz="2000" spc="-5" dirty="0">
                <a:latin typeface="Museo 300" pitchFamily="50" charset="0"/>
                <a:cs typeface="Arial"/>
              </a:rPr>
              <a:t>= </a:t>
            </a:r>
            <a:r>
              <a:rPr sz="2000" dirty="0">
                <a:latin typeface="Museo 300" pitchFamily="50" charset="0"/>
                <a:cs typeface="Arial"/>
              </a:rPr>
              <a:t>1, the gate drives the bus </a:t>
            </a:r>
            <a:r>
              <a:rPr sz="2000" spc="-5" dirty="0">
                <a:latin typeface="Museo 300" pitchFamily="50" charset="0"/>
                <a:cs typeface="Arial"/>
              </a:rPr>
              <a:t>to 0 or </a:t>
            </a:r>
            <a:r>
              <a:rPr sz="2000" dirty="0">
                <a:latin typeface="Museo 300" pitchFamily="50" charset="0"/>
                <a:cs typeface="Arial"/>
              </a:rPr>
              <a:t>1</a:t>
            </a:r>
            <a:r>
              <a:rPr sz="2000">
                <a:latin typeface="Museo 300" pitchFamily="50" charset="0"/>
                <a:cs typeface="Arial"/>
              </a:rPr>
              <a:t>, d</a:t>
            </a:r>
            <a:r>
              <a:rPr sz="2000" spc="-5">
                <a:latin typeface="Museo 300" pitchFamily="50" charset="0"/>
                <a:cs typeface="Arial"/>
              </a:rPr>
              <a:t>epending </a:t>
            </a:r>
            <a:r>
              <a:rPr sz="2000" spc="-5" dirty="0">
                <a:latin typeface="Museo 300" pitchFamily="50" charset="0"/>
                <a:cs typeface="Arial"/>
              </a:rPr>
              <a:t>on the </a:t>
            </a:r>
            <a:r>
              <a:rPr sz="2000" dirty="0">
                <a:latin typeface="Museo 300" pitchFamily="50" charset="0"/>
                <a:cs typeface="Arial"/>
              </a:rPr>
              <a:t>value </a:t>
            </a:r>
            <a:r>
              <a:rPr sz="2000" spc="-5" dirty="0">
                <a:latin typeface="Museo 300" pitchFamily="50" charset="0"/>
                <a:cs typeface="Arial"/>
              </a:rPr>
              <a:t>of</a:t>
            </a:r>
            <a:r>
              <a:rPr sz="2000" spc="25" dirty="0">
                <a:latin typeface="Museo 300" pitchFamily="50" charset="0"/>
                <a:cs typeface="Arial"/>
              </a:rPr>
              <a:t> </a:t>
            </a:r>
            <a:r>
              <a:rPr sz="2000" spc="-5" dirty="0">
                <a:latin typeface="Museo 300" pitchFamily="50" charset="0"/>
                <a:cs typeface="Arial"/>
              </a:rPr>
              <a:t>Q.</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81000"/>
            <a:ext cx="10515600" cy="1325563"/>
          </a:xfrm>
        </p:spPr>
        <p:txBody>
          <a:bodyPr/>
          <a:lstStyle/>
          <a:p>
            <a:r>
              <a:rPr lang="en-US" dirty="0"/>
              <a:t>D- Flip flop</a:t>
            </a:r>
          </a:p>
        </p:txBody>
      </p:sp>
      <p:sp>
        <p:nvSpPr>
          <p:cNvPr id="3" name="Content Placeholder 2"/>
          <p:cNvSpPr>
            <a:spLocks noGrp="1"/>
          </p:cNvSpPr>
          <p:nvPr>
            <p:ph idx="1"/>
          </p:nvPr>
        </p:nvSpPr>
        <p:spPr>
          <a:xfrm>
            <a:off x="609600" y="762000"/>
            <a:ext cx="7066039" cy="5037138"/>
          </a:xfrm>
        </p:spPr>
        <p:txBody>
          <a:bodyPr>
            <a:normAutofit lnSpcReduction="10000"/>
          </a:bodyPr>
          <a:lstStyle/>
          <a:p>
            <a:pPr algn="just">
              <a:lnSpc>
                <a:spcPct val="150000"/>
              </a:lnSpc>
            </a:pPr>
            <a:r>
              <a:rPr lang="en-US" dirty="0"/>
              <a:t>The </a:t>
            </a:r>
            <a:r>
              <a:rPr lang="en-US" b="1" dirty="0"/>
              <a:t>D Flip Flop</a:t>
            </a:r>
            <a:r>
              <a:rPr lang="en-US" dirty="0"/>
              <a:t> is by far the most important of the clocked flip-flops as it ensures that ensures that inputs S and R are never equal to one at the same time. The D-type flip flop are constructed from a gated SR flip-flop with an inverter added between the S and the R inputs to allow for a single D (Data) input.</a:t>
            </a:r>
          </a:p>
          <a:p>
            <a:pPr algn="just">
              <a:lnSpc>
                <a:spcPct val="150000"/>
              </a:lnSpc>
            </a:pPr>
            <a:r>
              <a:rPr lang="en-US" dirty="0"/>
              <a:t>Then this single data input, labeled “D” and is used in place of the “Set” signal, and the inverter is used to generate the complementary “Reset” input thereby making a level-sensitive D-type flip-flop from a level-sensitive SR-latch as now S = D and R = not D as shown</a:t>
            </a:r>
          </a:p>
          <a:p>
            <a:pPr algn="just">
              <a:lnSpc>
                <a:spcPct val="150000"/>
              </a:lnSpc>
            </a:pPr>
            <a:endParaRPr lang="en-US"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20</a:t>
            </a:fld>
            <a:endParaRPr lang="en-US" dirty="0"/>
          </a:p>
        </p:txBody>
      </p:sp>
      <p:pic>
        <p:nvPicPr>
          <p:cNvPr id="3075" name="Picture 3"/>
          <p:cNvPicPr>
            <a:picLocks noChangeAspect="1" noChangeArrowheads="1"/>
          </p:cNvPicPr>
          <p:nvPr/>
        </p:nvPicPr>
        <p:blipFill>
          <a:blip r:embed="rId2"/>
          <a:srcRect/>
          <a:stretch>
            <a:fillRect/>
          </a:stretch>
        </p:blipFill>
        <p:spPr bwMode="auto">
          <a:xfrm>
            <a:off x="8305800" y="2667000"/>
            <a:ext cx="1800225" cy="1171575"/>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a:srcRect/>
          <a:stretch>
            <a:fillRect/>
          </a:stretch>
        </p:blipFill>
        <p:spPr bwMode="auto">
          <a:xfrm>
            <a:off x="8010525" y="533400"/>
            <a:ext cx="4181475" cy="1914525"/>
          </a:xfrm>
          <a:prstGeom prst="rect">
            <a:avLst/>
          </a:prstGeom>
          <a:noFill/>
          <a:ln w="9525">
            <a:noFill/>
            <a:miter lim="800000"/>
            <a:headEnd/>
            <a:tailEnd/>
          </a:ln>
          <a:effectLst/>
        </p:spPr>
      </p:pic>
      <p:pic>
        <p:nvPicPr>
          <p:cNvPr id="3077" name="Picture 5"/>
          <p:cNvPicPr>
            <a:picLocks noChangeAspect="1" noChangeArrowheads="1"/>
          </p:cNvPicPr>
          <p:nvPr/>
        </p:nvPicPr>
        <p:blipFill>
          <a:blip r:embed="rId4"/>
          <a:srcRect/>
          <a:stretch>
            <a:fillRect/>
          </a:stretch>
        </p:blipFill>
        <p:spPr bwMode="auto">
          <a:xfrm>
            <a:off x="8229600" y="3886200"/>
            <a:ext cx="3552825" cy="2181225"/>
          </a:xfrm>
          <a:prstGeom prst="rect">
            <a:avLst/>
          </a:prstGeom>
          <a:noFill/>
          <a:ln w="9525">
            <a:noFill/>
            <a:miter lim="800000"/>
            <a:headEnd/>
            <a:tailEnd/>
          </a:ln>
          <a:effectLst/>
        </p:spPr>
      </p:pic>
      <p:sp>
        <p:nvSpPr>
          <p:cNvPr id="9" name="Rectangle 8"/>
          <p:cNvSpPr/>
          <p:nvPr/>
        </p:nvSpPr>
        <p:spPr>
          <a:xfrm>
            <a:off x="6858000" y="6172200"/>
            <a:ext cx="3983783" cy="261610"/>
          </a:xfrm>
          <a:prstGeom prst="rect">
            <a:avLst/>
          </a:prstGeom>
        </p:spPr>
        <p:txBody>
          <a:bodyPr wrap="none">
            <a:spAutoFit/>
          </a:bodyPr>
          <a:lstStyle/>
          <a:p>
            <a:r>
              <a:rPr lang="en-US" sz="1100" dirty="0">
                <a:latin typeface="Museo 300" pitchFamily="50" charset="0"/>
                <a:hlinkClick r:id="rId5"/>
              </a:rPr>
              <a:t>https://www.electronics-tutorials.ws/sequential/seq_4.html</a:t>
            </a:r>
            <a:endParaRPr lang="en-US" sz="1100" dirty="0">
              <a:latin typeface="Museo 300" pitchFamily="50"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Multiplexer</a:t>
            </a:r>
          </a:p>
        </p:txBody>
      </p:sp>
      <p:sp>
        <p:nvSpPr>
          <p:cNvPr id="3" name="Content Placeholder 2"/>
          <p:cNvSpPr>
            <a:spLocks noGrp="1"/>
          </p:cNvSpPr>
          <p:nvPr>
            <p:ph idx="1"/>
          </p:nvPr>
        </p:nvSpPr>
        <p:spPr/>
        <p:txBody>
          <a:bodyPr/>
          <a:lstStyle/>
          <a:p>
            <a:pPr algn="just">
              <a:lnSpc>
                <a:spcPct val="150000"/>
              </a:lnSpc>
            </a:pPr>
            <a:r>
              <a:rPr lang="en-US" dirty="0"/>
              <a:t>In </a:t>
            </a:r>
            <a:r>
              <a:rPr lang="en-US" dirty="0">
                <a:hlinkClick r:id="rId2" tooltip="Electronics"/>
              </a:rPr>
              <a:t>electronics</a:t>
            </a:r>
            <a:r>
              <a:rPr lang="en-US" dirty="0"/>
              <a:t>, a </a:t>
            </a:r>
            <a:r>
              <a:rPr lang="en-US" b="1" dirty="0"/>
              <a:t>multiplexer</a:t>
            </a:r>
            <a:r>
              <a:rPr lang="en-US" dirty="0"/>
              <a:t> (or </a:t>
            </a:r>
            <a:r>
              <a:rPr lang="en-US" b="1" dirty="0" err="1"/>
              <a:t>mux</a:t>
            </a:r>
            <a:r>
              <a:rPr lang="en-US" dirty="0"/>
              <a:t>; spelled sometimes as </a:t>
            </a:r>
            <a:r>
              <a:rPr lang="en-US" b="1" dirty="0"/>
              <a:t>multiplexor</a:t>
            </a:r>
            <a:r>
              <a:rPr lang="en-US" dirty="0"/>
              <a:t>), also known as a </a:t>
            </a:r>
            <a:r>
              <a:rPr lang="en-US" b="1" dirty="0"/>
              <a:t>data selector</a:t>
            </a:r>
            <a:r>
              <a:rPr lang="en-US" dirty="0"/>
              <a:t>, is a device that selects between several </a:t>
            </a:r>
            <a:r>
              <a:rPr lang="en-US" dirty="0">
                <a:hlinkClick r:id="rId3" tooltip="Analog signal"/>
              </a:rPr>
              <a:t>analog</a:t>
            </a:r>
            <a:r>
              <a:rPr lang="en-US" dirty="0"/>
              <a:t> or </a:t>
            </a:r>
            <a:r>
              <a:rPr lang="en-US" dirty="0">
                <a:hlinkClick r:id="rId4" tooltip="Digital signal (electronics)"/>
              </a:rPr>
              <a:t>digital</a:t>
            </a:r>
            <a:r>
              <a:rPr lang="en-US" dirty="0"/>
              <a:t> input signals and forwards it to a single output line. A multiplexer of {\display style 2^{n}} inputs has {\display style n} select lines, which are used to select which input line to send to the output. Multiplexers are mainly used to increase the amount of data that can be sent over the </a:t>
            </a:r>
            <a:r>
              <a:rPr lang="en-US" dirty="0">
                <a:hlinkClick r:id="rId5" tooltip="Computer networks"/>
              </a:rPr>
              <a:t>network</a:t>
            </a:r>
            <a:r>
              <a:rPr lang="en-US" dirty="0"/>
              <a:t> within a certain amount of time and </a:t>
            </a:r>
            <a:r>
              <a:rPr lang="en-US" dirty="0">
                <a:hlinkClick r:id="rId6" tooltip="Bandwidth (signal processing)"/>
              </a:rPr>
              <a:t>bandwidth</a:t>
            </a:r>
            <a:r>
              <a:rPr lang="en-US" dirty="0"/>
              <a:t>. Multiplexers can also be used to implement </a:t>
            </a:r>
            <a:r>
              <a:rPr lang="en-US" dirty="0">
                <a:hlinkClick r:id="rId7" tooltip="Boolean algebra"/>
              </a:rPr>
              <a:t>Boolean functions</a:t>
            </a:r>
            <a:r>
              <a:rPr lang="en-US" dirty="0"/>
              <a:t> of multiple variables.</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21</a:t>
            </a:fld>
            <a:endParaRPr lang="en-US" dirty="0"/>
          </a:p>
        </p:txBody>
      </p:sp>
      <p:pic>
        <p:nvPicPr>
          <p:cNvPr id="2050" name="Picture 2" descr="2:1 MUX using Ternary operator(Quartus prime RTL view) – Welcome ..."/>
          <p:cNvPicPr>
            <a:picLocks noChangeAspect="1" noChangeArrowheads="1"/>
          </p:cNvPicPr>
          <p:nvPr/>
        </p:nvPicPr>
        <p:blipFill>
          <a:blip r:embed="rId8"/>
          <a:srcRect/>
          <a:stretch>
            <a:fillRect/>
          </a:stretch>
        </p:blipFill>
        <p:spPr bwMode="auto">
          <a:xfrm>
            <a:off x="1905000" y="4800600"/>
            <a:ext cx="2962275" cy="1543051"/>
          </a:xfrm>
          <a:prstGeom prst="rect">
            <a:avLst/>
          </a:prstGeom>
          <a:noFill/>
        </p:spPr>
      </p:pic>
      <p:sp>
        <p:nvSpPr>
          <p:cNvPr id="6" name="Rectangle 5"/>
          <p:cNvSpPr/>
          <p:nvPr/>
        </p:nvSpPr>
        <p:spPr>
          <a:xfrm>
            <a:off x="6019800" y="5943600"/>
            <a:ext cx="3236784" cy="261610"/>
          </a:xfrm>
          <a:prstGeom prst="rect">
            <a:avLst/>
          </a:prstGeom>
        </p:spPr>
        <p:txBody>
          <a:bodyPr wrap="none">
            <a:spAutoFit/>
          </a:bodyPr>
          <a:lstStyle/>
          <a:p>
            <a:r>
              <a:rPr lang="en-US" sz="1100" dirty="0">
                <a:solidFill>
                  <a:schemeClr val="accent1"/>
                </a:solidFill>
                <a:latin typeface="Museo 300" pitchFamily="50" charset="0"/>
              </a:rPr>
              <a:t>https://images.app.goo.gl/RsMPbZHdeFoz3tD57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 state Buffer</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22</a:t>
            </a:fld>
            <a:endParaRPr lang="en-US" dirty="0"/>
          </a:p>
        </p:txBody>
      </p:sp>
      <p:pic>
        <p:nvPicPr>
          <p:cNvPr id="1026" name="Picture 2" descr="Tristate Buffers - YouTube"/>
          <p:cNvPicPr>
            <a:picLocks noChangeAspect="1" noChangeArrowheads="1"/>
          </p:cNvPicPr>
          <p:nvPr/>
        </p:nvPicPr>
        <p:blipFill>
          <a:blip r:embed="rId2"/>
          <a:srcRect/>
          <a:stretch>
            <a:fillRect/>
          </a:stretch>
        </p:blipFill>
        <p:spPr bwMode="auto">
          <a:xfrm>
            <a:off x="2971800" y="1752600"/>
            <a:ext cx="5342465" cy="3005137"/>
          </a:xfrm>
          <a:prstGeom prst="rect">
            <a:avLst/>
          </a:prstGeom>
          <a:noFill/>
        </p:spPr>
      </p:pic>
      <p:sp>
        <p:nvSpPr>
          <p:cNvPr id="6" name="Rectangle 5"/>
          <p:cNvSpPr/>
          <p:nvPr/>
        </p:nvSpPr>
        <p:spPr>
          <a:xfrm>
            <a:off x="3581400" y="5029200"/>
            <a:ext cx="3310522" cy="261610"/>
          </a:xfrm>
          <a:prstGeom prst="rect">
            <a:avLst/>
          </a:prstGeom>
        </p:spPr>
        <p:txBody>
          <a:bodyPr wrap="none">
            <a:spAutoFit/>
          </a:bodyPr>
          <a:lstStyle/>
          <a:p>
            <a:r>
              <a:rPr lang="en-US" sz="1100" dirty="0">
                <a:solidFill>
                  <a:schemeClr val="accent1"/>
                </a:solidFill>
                <a:latin typeface="Museo 300" pitchFamily="50" charset="0"/>
              </a:rPr>
              <a:t>https://images.app.goo.gl/t2RZBuz5NUqmUELd6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304800"/>
            <a:ext cx="10029613" cy="551433"/>
          </a:xfrm>
          <a:prstGeom prst="rect">
            <a:avLst/>
          </a:prstGeom>
        </p:spPr>
        <p:txBody>
          <a:bodyPr vert="horz" wrap="square" lIns="0" tIns="12700" rIns="0" bIns="0" rtlCol="0">
            <a:spAutoFit/>
          </a:bodyPr>
          <a:lstStyle/>
          <a:p>
            <a:pPr marL="12700">
              <a:lnSpc>
                <a:spcPct val="100000"/>
              </a:lnSpc>
              <a:spcBef>
                <a:spcPts val="95"/>
              </a:spcBef>
            </a:pPr>
            <a:r>
              <a:rPr lang="en-US" spc="-5" dirty="0">
                <a:cs typeface="Times New Roman"/>
              </a:rPr>
              <a:t>Input And Output Gating For One Register</a:t>
            </a:r>
            <a:r>
              <a:rPr lang="en-US" spc="114" dirty="0">
                <a:cs typeface="Times New Roman"/>
              </a:rPr>
              <a:t> </a:t>
            </a:r>
            <a:r>
              <a:rPr lang="en-US" spc="-5" dirty="0">
                <a:cs typeface="Times New Roman"/>
              </a:rPr>
              <a:t>Bit.</a:t>
            </a:r>
            <a:endParaRPr lang="en-US" dirty="0">
              <a:cs typeface="Times New Roman"/>
            </a:endParaRPr>
          </a:p>
        </p:txBody>
      </p:sp>
      <p:sp>
        <p:nvSpPr>
          <p:cNvPr id="3" name="object 3"/>
          <p:cNvSpPr txBox="1"/>
          <p:nvPr/>
        </p:nvSpPr>
        <p:spPr>
          <a:xfrm>
            <a:off x="3134361" y="6019800"/>
            <a:ext cx="6039273" cy="258404"/>
          </a:xfrm>
          <a:prstGeom prst="rect">
            <a:avLst/>
          </a:prstGeom>
        </p:spPr>
        <p:txBody>
          <a:bodyPr vert="horz" wrap="square" lIns="0" tIns="12065" rIns="0" bIns="0" rtlCol="0">
            <a:spAutoFit/>
          </a:bodyPr>
          <a:lstStyle/>
          <a:p>
            <a:pPr marL="12700">
              <a:lnSpc>
                <a:spcPct val="100000"/>
              </a:lnSpc>
              <a:spcBef>
                <a:spcPts val="95"/>
              </a:spcBef>
            </a:pPr>
            <a:r>
              <a:rPr sz="1600" spc="-5" dirty="0">
                <a:latin typeface="Museo 300" pitchFamily="50" charset="0"/>
                <a:cs typeface="Times New Roman"/>
              </a:rPr>
              <a:t>Figure 7.3. Input and output gating for one register</a:t>
            </a:r>
            <a:r>
              <a:rPr sz="1600" spc="114" dirty="0">
                <a:latin typeface="Museo 300" pitchFamily="50" charset="0"/>
                <a:cs typeface="Times New Roman"/>
              </a:rPr>
              <a:t> </a:t>
            </a:r>
            <a:r>
              <a:rPr sz="1600" spc="-5" dirty="0">
                <a:latin typeface="Museo 300" pitchFamily="50" charset="0"/>
                <a:cs typeface="Times New Roman"/>
              </a:rPr>
              <a:t>bit.</a:t>
            </a:r>
            <a:endParaRPr sz="1600">
              <a:latin typeface="Museo 300" pitchFamily="50" charset="0"/>
              <a:cs typeface="Times New Roman"/>
            </a:endParaRPr>
          </a:p>
        </p:txBody>
      </p:sp>
      <p:grpSp>
        <p:nvGrpSpPr>
          <p:cNvPr id="4" name="object 4"/>
          <p:cNvGrpSpPr/>
          <p:nvPr/>
        </p:nvGrpSpPr>
        <p:grpSpPr>
          <a:xfrm>
            <a:off x="6164919" y="3867785"/>
            <a:ext cx="1581573" cy="1166495"/>
            <a:chOff x="4623689" y="3867784"/>
            <a:chExt cx="1186180" cy="1166495"/>
          </a:xfrm>
        </p:grpSpPr>
        <p:sp>
          <p:nvSpPr>
            <p:cNvPr id="5" name="object 5"/>
            <p:cNvSpPr/>
            <p:nvPr/>
          </p:nvSpPr>
          <p:spPr>
            <a:xfrm>
              <a:off x="5725668" y="4059935"/>
              <a:ext cx="83819" cy="85343"/>
            </a:xfrm>
            <a:prstGeom prst="rect">
              <a:avLst/>
            </a:prstGeom>
            <a:blipFill>
              <a:blip r:embed="rId2" cstate="print"/>
              <a:stretch>
                <a:fillRect/>
              </a:stretch>
            </a:blipFill>
          </p:spPr>
          <p:txBody>
            <a:bodyPr wrap="square" lIns="0" tIns="0" rIns="0" bIns="0" rtlCol="0"/>
            <a:lstStyle/>
            <a:p>
              <a:endParaRPr>
                <a:latin typeface="Museo 300" pitchFamily="50" charset="0"/>
              </a:endParaRPr>
            </a:p>
          </p:txBody>
        </p:sp>
        <p:sp>
          <p:nvSpPr>
            <p:cNvPr id="6" name="object 6"/>
            <p:cNvSpPr/>
            <p:nvPr/>
          </p:nvSpPr>
          <p:spPr>
            <a:xfrm>
              <a:off x="4634484" y="3878579"/>
              <a:ext cx="762000" cy="1144905"/>
            </a:xfrm>
            <a:custGeom>
              <a:avLst/>
              <a:gdLst/>
              <a:ahLst/>
              <a:cxnLst/>
              <a:rect l="l" t="t" r="r" b="b"/>
              <a:pathLst>
                <a:path w="762000" h="1144904">
                  <a:moveTo>
                    <a:pt x="0" y="1144524"/>
                  </a:moveTo>
                  <a:lnTo>
                    <a:pt x="762000" y="1144524"/>
                  </a:lnTo>
                  <a:lnTo>
                    <a:pt x="762000" y="0"/>
                  </a:lnTo>
                  <a:lnTo>
                    <a:pt x="0" y="0"/>
                  </a:lnTo>
                  <a:lnTo>
                    <a:pt x="0" y="1144524"/>
                  </a:lnTo>
                  <a:close/>
                </a:path>
              </a:pathLst>
            </a:custGeom>
            <a:ln w="21336">
              <a:solidFill>
                <a:srgbClr val="000000"/>
              </a:solidFill>
            </a:ln>
          </p:spPr>
          <p:txBody>
            <a:bodyPr wrap="square" lIns="0" tIns="0" rIns="0" bIns="0" rtlCol="0"/>
            <a:lstStyle/>
            <a:p>
              <a:endParaRPr>
                <a:latin typeface="Museo 300" pitchFamily="50" charset="0"/>
              </a:endParaRPr>
            </a:p>
          </p:txBody>
        </p:sp>
      </p:grpSp>
      <p:sp>
        <p:nvSpPr>
          <p:cNvPr id="7" name="object 7"/>
          <p:cNvSpPr txBox="1"/>
          <p:nvPr/>
        </p:nvSpPr>
        <p:spPr>
          <a:xfrm>
            <a:off x="6236546" y="3962145"/>
            <a:ext cx="173567" cy="243656"/>
          </a:xfrm>
          <a:prstGeom prst="rect">
            <a:avLst/>
          </a:prstGeom>
        </p:spPr>
        <p:txBody>
          <a:bodyPr vert="horz" wrap="square" lIns="0" tIns="12700" rIns="0" bIns="0" rtlCol="0">
            <a:spAutoFit/>
          </a:bodyPr>
          <a:lstStyle/>
          <a:p>
            <a:pPr>
              <a:lnSpc>
                <a:spcPct val="100000"/>
              </a:lnSpc>
              <a:spcBef>
                <a:spcPts val="100"/>
              </a:spcBef>
            </a:pPr>
            <a:r>
              <a:rPr sz="1500" dirty="0">
                <a:latin typeface="Museo 300" pitchFamily="50" charset="0"/>
                <a:cs typeface="Carlito"/>
              </a:rPr>
              <a:t>D</a:t>
            </a:r>
            <a:endParaRPr sz="1500">
              <a:latin typeface="Museo 300" pitchFamily="50" charset="0"/>
              <a:cs typeface="Carlito"/>
            </a:endParaRPr>
          </a:p>
        </p:txBody>
      </p:sp>
      <p:sp>
        <p:nvSpPr>
          <p:cNvPr id="8" name="object 8"/>
          <p:cNvSpPr txBox="1"/>
          <p:nvPr/>
        </p:nvSpPr>
        <p:spPr>
          <a:xfrm>
            <a:off x="6941651" y="3962145"/>
            <a:ext cx="187960" cy="243656"/>
          </a:xfrm>
          <a:prstGeom prst="rect">
            <a:avLst/>
          </a:prstGeom>
        </p:spPr>
        <p:txBody>
          <a:bodyPr vert="horz" wrap="square" lIns="0" tIns="12700" rIns="0" bIns="0" rtlCol="0">
            <a:spAutoFit/>
          </a:bodyPr>
          <a:lstStyle/>
          <a:p>
            <a:pPr>
              <a:lnSpc>
                <a:spcPct val="100000"/>
              </a:lnSpc>
              <a:spcBef>
                <a:spcPts val="100"/>
              </a:spcBef>
            </a:pPr>
            <a:r>
              <a:rPr sz="1500" dirty="0">
                <a:latin typeface="Museo 300" pitchFamily="50" charset="0"/>
                <a:cs typeface="Carlito"/>
              </a:rPr>
              <a:t>Q</a:t>
            </a:r>
            <a:endParaRPr sz="1500">
              <a:latin typeface="Museo 300" pitchFamily="50" charset="0"/>
              <a:cs typeface="Carlito"/>
            </a:endParaRPr>
          </a:p>
        </p:txBody>
      </p:sp>
      <p:sp>
        <p:nvSpPr>
          <p:cNvPr id="9" name="object 9"/>
          <p:cNvSpPr/>
          <p:nvPr/>
        </p:nvSpPr>
        <p:spPr>
          <a:xfrm>
            <a:off x="6941312" y="4661915"/>
            <a:ext cx="199813" cy="0"/>
          </a:xfrm>
          <a:custGeom>
            <a:avLst/>
            <a:gdLst/>
            <a:ahLst/>
            <a:cxnLst/>
            <a:rect l="l" t="t" r="r" b="b"/>
            <a:pathLst>
              <a:path w="149860">
                <a:moveTo>
                  <a:pt x="0" y="0"/>
                </a:moveTo>
                <a:lnTo>
                  <a:pt x="149351" y="0"/>
                </a:lnTo>
              </a:path>
            </a:pathLst>
          </a:custGeom>
          <a:ln w="21336">
            <a:solidFill>
              <a:srgbClr val="000000"/>
            </a:solidFill>
          </a:ln>
        </p:spPr>
        <p:txBody>
          <a:bodyPr wrap="square" lIns="0" tIns="0" rIns="0" bIns="0" rtlCol="0"/>
          <a:lstStyle/>
          <a:p>
            <a:endParaRPr>
              <a:latin typeface="Museo 300" pitchFamily="50" charset="0"/>
            </a:endParaRPr>
          </a:p>
        </p:txBody>
      </p:sp>
      <p:sp>
        <p:nvSpPr>
          <p:cNvPr id="10" name="object 10"/>
          <p:cNvSpPr txBox="1"/>
          <p:nvPr/>
        </p:nvSpPr>
        <p:spPr>
          <a:xfrm>
            <a:off x="6941651" y="4619625"/>
            <a:ext cx="187960" cy="243656"/>
          </a:xfrm>
          <a:prstGeom prst="rect">
            <a:avLst/>
          </a:prstGeom>
        </p:spPr>
        <p:txBody>
          <a:bodyPr vert="horz" wrap="square" lIns="0" tIns="12700" rIns="0" bIns="0" rtlCol="0">
            <a:spAutoFit/>
          </a:bodyPr>
          <a:lstStyle/>
          <a:p>
            <a:pPr>
              <a:lnSpc>
                <a:spcPct val="100000"/>
              </a:lnSpc>
              <a:spcBef>
                <a:spcPts val="100"/>
              </a:spcBef>
            </a:pPr>
            <a:r>
              <a:rPr sz="1500" dirty="0">
                <a:latin typeface="Museo 300" pitchFamily="50" charset="0"/>
                <a:cs typeface="Carlito"/>
              </a:rPr>
              <a:t>Q</a:t>
            </a:r>
            <a:endParaRPr sz="1500">
              <a:latin typeface="Museo 300" pitchFamily="50" charset="0"/>
              <a:cs typeface="Carlito"/>
            </a:endParaRPr>
          </a:p>
        </p:txBody>
      </p:sp>
      <p:grpSp>
        <p:nvGrpSpPr>
          <p:cNvPr id="11" name="object 11"/>
          <p:cNvGrpSpPr/>
          <p:nvPr/>
        </p:nvGrpSpPr>
        <p:grpSpPr>
          <a:xfrm>
            <a:off x="3622886" y="3148457"/>
            <a:ext cx="5113020" cy="2183130"/>
            <a:chOff x="2717164" y="3148457"/>
            <a:chExt cx="3834765" cy="2183130"/>
          </a:xfrm>
        </p:grpSpPr>
        <p:sp>
          <p:nvSpPr>
            <p:cNvPr id="12" name="object 12"/>
            <p:cNvSpPr/>
            <p:nvPr/>
          </p:nvSpPr>
          <p:spPr>
            <a:xfrm>
              <a:off x="2727959" y="3159252"/>
              <a:ext cx="3622675" cy="2161540"/>
            </a:xfrm>
            <a:custGeom>
              <a:avLst/>
              <a:gdLst/>
              <a:ahLst/>
              <a:cxnLst/>
              <a:rect l="l" t="t" r="r" b="b"/>
              <a:pathLst>
                <a:path w="3622675" h="2161540">
                  <a:moveTo>
                    <a:pt x="3051048" y="952500"/>
                  </a:moveTo>
                  <a:lnTo>
                    <a:pt x="3051048" y="0"/>
                  </a:lnTo>
                  <a:lnTo>
                    <a:pt x="0" y="0"/>
                  </a:lnTo>
                  <a:lnTo>
                    <a:pt x="0" y="571500"/>
                  </a:lnTo>
                  <a:lnTo>
                    <a:pt x="381381" y="571500"/>
                  </a:lnTo>
                </a:path>
                <a:path w="3622675" h="2161540">
                  <a:moveTo>
                    <a:pt x="3622548" y="952500"/>
                  </a:moveTo>
                  <a:lnTo>
                    <a:pt x="2668524" y="952500"/>
                  </a:lnTo>
                </a:path>
                <a:path w="3622675" h="2161540">
                  <a:moveTo>
                    <a:pt x="1906524" y="952500"/>
                  </a:moveTo>
                  <a:lnTo>
                    <a:pt x="762000" y="952500"/>
                  </a:lnTo>
                </a:path>
                <a:path w="3622675" h="2161540">
                  <a:moveTo>
                    <a:pt x="1906524" y="1652016"/>
                  </a:moveTo>
                  <a:lnTo>
                    <a:pt x="2075688" y="1588008"/>
                  </a:lnTo>
                  <a:lnTo>
                    <a:pt x="1906524" y="1502664"/>
                  </a:lnTo>
                </a:path>
                <a:path w="3622675" h="2161540">
                  <a:moveTo>
                    <a:pt x="1525524" y="2161032"/>
                  </a:moveTo>
                  <a:lnTo>
                    <a:pt x="1525524" y="1588008"/>
                  </a:lnTo>
                  <a:lnTo>
                    <a:pt x="1906524" y="1588008"/>
                  </a:lnTo>
                </a:path>
              </a:pathLst>
            </a:custGeom>
            <a:ln w="21336">
              <a:solidFill>
                <a:srgbClr val="000000"/>
              </a:solidFill>
            </a:ln>
          </p:spPr>
          <p:txBody>
            <a:bodyPr wrap="square" lIns="0" tIns="0" rIns="0" bIns="0" rtlCol="0"/>
            <a:lstStyle/>
            <a:p>
              <a:endParaRPr>
                <a:latin typeface="Museo 300" pitchFamily="50" charset="0"/>
              </a:endParaRPr>
            </a:p>
          </p:txBody>
        </p:sp>
        <p:sp>
          <p:nvSpPr>
            <p:cNvPr id="13" name="object 13"/>
            <p:cNvSpPr/>
            <p:nvPr/>
          </p:nvSpPr>
          <p:spPr>
            <a:xfrm>
              <a:off x="6541007" y="4218432"/>
              <a:ext cx="0" cy="593090"/>
            </a:xfrm>
            <a:custGeom>
              <a:avLst/>
              <a:gdLst/>
              <a:ahLst/>
              <a:cxnLst/>
              <a:rect l="l" t="t" r="r" b="b"/>
              <a:pathLst>
                <a:path h="593089">
                  <a:moveTo>
                    <a:pt x="0" y="592836"/>
                  </a:moveTo>
                  <a:lnTo>
                    <a:pt x="0" y="0"/>
                  </a:lnTo>
                </a:path>
              </a:pathLst>
            </a:custGeom>
            <a:ln w="21336">
              <a:solidFill>
                <a:srgbClr val="3399FF"/>
              </a:solidFill>
            </a:ln>
          </p:spPr>
          <p:txBody>
            <a:bodyPr wrap="square" lIns="0" tIns="0" rIns="0" bIns="0" rtlCol="0"/>
            <a:lstStyle/>
            <a:p>
              <a:endParaRPr>
                <a:latin typeface="Museo 300" pitchFamily="50" charset="0"/>
              </a:endParaRPr>
            </a:p>
          </p:txBody>
        </p:sp>
      </p:grpSp>
      <p:sp>
        <p:nvSpPr>
          <p:cNvPr id="14" name="object 14"/>
          <p:cNvSpPr txBox="1"/>
          <p:nvPr/>
        </p:nvSpPr>
        <p:spPr>
          <a:xfrm>
            <a:off x="5343482" y="5361178"/>
            <a:ext cx="586740" cy="243656"/>
          </a:xfrm>
          <a:prstGeom prst="rect">
            <a:avLst/>
          </a:prstGeom>
        </p:spPr>
        <p:txBody>
          <a:bodyPr vert="horz" wrap="square" lIns="0" tIns="12700" rIns="0" bIns="0" rtlCol="0">
            <a:spAutoFit/>
          </a:bodyPr>
          <a:lstStyle/>
          <a:p>
            <a:pPr marL="12700">
              <a:lnSpc>
                <a:spcPct val="100000"/>
              </a:lnSpc>
              <a:spcBef>
                <a:spcPts val="100"/>
              </a:spcBef>
            </a:pPr>
            <a:r>
              <a:rPr sz="1500" dirty="0">
                <a:latin typeface="Museo 300" pitchFamily="50" charset="0"/>
                <a:cs typeface="Carlito"/>
              </a:rPr>
              <a:t>Clo</a:t>
            </a:r>
            <a:r>
              <a:rPr sz="1500" spc="5" dirty="0">
                <a:latin typeface="Museo 300" pitchFamily="50" charset="0"/>
                <a:cs typeface="Carlito"/>
              </a:rPr>
              <a:t>c</a:t>
            </a:r>
            <a:r>
              <a:rPr sz="1500" dirty="0">
                <a:latin typeface="Museo 300" pitchFamily="50" charset="0"/>
                <a:cs typeface="Carlito"/>
              </a:rPr>
              <a:t>k</a:t>
            </a:r>
            <a:endParaRPr sz="1500">
              <a:latin typeface="Museo 300" pitchFamily="50" charset="0"/>
              <a:cs typeface="Carlito"/>
            </a:endParaRPr>
          </a:p>
        </p:txBody>
      </p:sp>
      <p:sp>
        <p:nvSpPr>
          <p:cNvPr id="15" name="object 15"/>
          <p:cNvSpPr txBox="1"/>
          <p:nvPr/>
        </p:nvSpPr>
        <p:spPr>
          <a:xfrm>
            <a:off x="4212843" y="4322826"/>
            <a:ext cx="163407" cy="243656"/>
          </a:xfrm>
          <a:prstGeom prst="rect">
            <a:avLst/>
          </a:prstGeom>
        </p:spPr>
        <p:txBody>
          <a:bodyPr vert="horz" wrap="square" lIns="0" tIns="12700" rIns="0" bIns="0" rtlCol="0">
            <a:spAutoFit/>
          </a:bodyPr>
          <a:lstStyle/>
          <a:p>
            <a:pPr marL="12700">
              <a:lnSpc>
                <a:spcPct val="100000"/>
              </a:lnSpc>
              <a:spcBef>
                <a:spcPts val="100"/>
              </a:spcBef>
            </a:pPr>
            <a:r>
              <a:rPr sz="1500" dirty="0">
                <a:latin typeface="Museo 300" pitchFamily="50" charset="0"/>
                <a:cs typeface="Carlito"/>
              </a:rPr>
              <a:t>1</a:t>
            </a:r>
            <a:endParaRPr sz="1500">
              <a:latin typeface="Museo 300" pitchFamily="50" charset="0"/>
              <a:cs typeface="Carlito"/>
            </a:endParaRPr>
          </a:p>
        </p:txBody>
      </p:sp>
      <p:sp>
        <p:nvSpPr>
          <p:cNvPr id="16" name="object 16"/>
          <p:cNvSpPr txBox="1"/>
          <p:nvPr/>
        </p:nvSpPr>
        <p:spPr>
          <a:xfrm>
            <a:off x="4212843" y="3560445"/>
            <a:ext cx="163407" cy="243656"/>
          </a:xfrm>
          <a:prstGeom prst="rect">
            <a:avLst/>
          </a:prstGeom>
        </p:spPr>
        <p:txBody>
          <a:bodyPr vert="horz" wrap="square" lIns="0" tIns="12700" rIns="0" bIns="0" rtlCol="0">
            <a:spAutoFit/>
          </a:bodyPr>
          <a:lstStyle/>
          <a:p>
            <a:pPr marL="12700">
              <a:lnSpc>
                <a:spcPct val="100000"/>
              </a:lnSpc>
              <a:spcBef>
                <a:spcPts val="100"/>
              </a:spcBef>
            </a:pPr>
            <a:r>
              <a:rPr sz="1500" dirty="0">
                <a:latin typeface="Museo 300" pitchFamily="50" charset="0"/>
                <a:cs typeface="Carlito"/>
              </a:rPr>
              <a:t>0</a:t>
            </a:r>
            <a:endParaRPr sz="1500">
              <a:latin typeface="Museo 300" pitchFamily="50" charset="0"/>
              <a:cs typeface="Carlito"/>
            </a:endParaRPr>
          </a:p>
        </p:txBody>
      </p:sp>
      <p:sp>
        <p:nvSpPr>
          <p:cNvPr id="17" name="object 17"/>
          <p:cNvSpPr/>
          <p:nvPr/>
        </p:nvSpPr>
        <p:spPr>
          <a:xfrm>
            <a:off x="4399279" y="4683253"/>
            <a:ext cx="0" cy="573405"/>
          </a:xfrm>
          <a:custGeom>
            <a:avLst/>
            <a:gdLst/>
            <a:ahLst/>
            <a:cxnLst/>
            <a:rect l="l" t="t" r="r" b="b"/>
            <a:pathLst>
              <a:path h="573404">
                <a:moveTo>
                  <a:pt x="0" y="573024"/>
                </a:moveTo>
                <a:lnTo>
                  <a:pt x="0" y="0"/>
                </a:lnTo>
              </a:path>
            </a:pathLst>
          </a:custGeom>
          <a:ln w="21336">
            <a:solidFill>
              <a:srgbClr val="3399FF"/>
            </a:solidFill>
          </a:ln>
        </p:spPr>
        <p:txBody>
          <a:bodyPr wrap="square" lIns="0" tIns="0" rIns="0" bIns="0" rtlCol="0"/>
          <a:lstStyle/>
          <a:p>
            <a:endParaRPr>
              <a:latin typeface="Museo 300" pitchFamily="50" charset="0"/>
            </a:endParaRPr>
          </a:p>
        </p:txBody>
      </p:sp>
      <p:sp>
        <p:nvSpPr>
          <p:cNvPr id="18" name="object 18"/>
          <p:cNvSpPr txBox="1"/>
          <p:nvPr/>
        </p:nvSpPr>
        <p:spPr>
          <a:xfrm>
            <a:off x="4151376" y="5240273"/>
            <a:ext cx="499533" cy="258404"/>
          </a:xfrm>
          <a:prstGeom prst="rect">
            <a:avLst/>
          </a:prstGeom>
        </p:spPr>
        <p:txBody>
          <a:bodyPr vert="horz" wrap="square" lIns="0" tIns="12065" rIns="0" bIns="0" rtlCol="0">
            <a:spAutoFit/>
          </a:bodyPr>
          <a:lstStyle/>
          <a:p>
            <a:pPr marL="38100">
              <a:lnSpc>
                <a:spcPct val="100000"/>
              </a:lnSpc>
              <a:spcBef>
                <a:spcPts val="95"/>
              </a:spcBef>
            </a:pPr>
            <a:r>
              <a:rPr sz="1600" dirty="0">
                <a:solidFill>
                  <a:srgbClr val="00AFEF"/>
                </a:solidFill>
                <a:latin typeface="Museo 300" pitchFamily="50" charset="0"/>
                <a:cs typeface="Arial"/>
              </a:rPr>
              <a:t>R</a:t>
            </a:r>
            <a:r>
              <a:rPr sz="1600" i="1" dirty="0">
                <a:solidFill>
                  <a:srgbClr val="00AFEF"/>
                </a:solidFill>
                <a:latin typeface="Museo 300" pitchFamily="50" charset="0"/>
                <a:cs typeface="Arial"/>
              </a:rPr>
              <a:t>i</a:t>
            </a:r>
            <a:r>
              <a:rPr sz="1575" i="1" baseline="-21164" dirty="0">
                <a:solidFill>
                  <a:srgbClr val="00AFEF"/>
                </a:solidFill>
                <a:latin typeface="Museo 300" pitchFamily="50" charset="0"/>
                <a:cs typeface="Arial"/>
              </a:rPr>
              <a:t>in</a:t>
            </a:r>
            <a:endParaRPr sz="1575" baseline="-21164">
              <a:latin typeface="Museo 300" pitchFamily="50" charset="0"/>
              <a:cs typeface="Arial"/>
            </a:endParaRPr>
          </a:p>
        </p:txBody>
      </p:sp>
      <p:grpSp>
        <p:nvGrpSpPr>
          <p:cNvPr id="19" name="object 19"/>
          <p:cNvGrpSpPr/>
          <p:nvPr/>
        </p:nvGrpSpPr>
        <p:grpSpPr>
          <a:xfrm>
            <a:off x="1857248" y="2385060"/>
            <a:ext cx="8390467" cy="2415540"/>
            <a:chOff x="1392936" y="2385060"/>
            <a:chExt cx="6292850" cy="2415540"/>
          </a:xfrm>
        </p:grpSpPr>
        <p:sp>
          <p:nvSpPr>
            <p:cNvPr id="20" name="object 20"/>
            <p:cNvSpPr/>
            <p:nvPr/>
          </p:nvSpPr>
          <p:spPr>
            <a:xfrm>
              <a:off x="3108959" y="3456432"/>
              <a:ext cx="381000" cy="1333500"/>
            </a:xfrm>
            <a:custGeom>
              <a:avLst/>
              <a:gdLst/>
              <a:ahLst/>
              <a:cxnLst/>
              <a:rect l="l" t="t" r="r" b="b"/>
              <a:pathLst>
                <a:path w="381000" h="1333500">
                  <a:moveTo>
                    <a:pt x="0" y="1333499"/>
                  </a:moveTo>
                  <a:lnTo>
                    <a:pt x="381000" y="1142999"/>
                  </a:lnTo>
                  <a:lnTo>
                    <a:pt x="381000" y="190499"/>
                  </a:lnTo>
                  <a:lnTo>
                    <a:pt x="0" y="0"/>
                  </a:lnTo>
                  <a:lnTo>
                    <a:pt x="0" y="1333499"/>
                  </a:lnTo>
                </a:path>
              </a:pathLst>
            </a:custGeom>
            <a:ln w="21336">
              <a:solidFill>
                <a:srgbClr val="3399FF"/>
              </a:solidFill>
            </a:ln>
          </p:spPr>
          <p:txBody>
            <a:bodyPr wrap="square" lIns="0" tIns="0" rIns="0" bIns="0" rtlCol="0"/>
            <a:lstStyle/>
            <a:p>
              <a:endParaRPr>
                <a:latin typeface="Museo 300" pitchFamily="50" charset="0"/>
              </a:endParaRPr>
            </a:p>
          </p:txBody>
        </p:sp>
        <p:sp>
          <p:nvSpPr>
            <p:cNvPr id="21" name="object 21"/>
            <p:cNvSpPr/>
            <p:nvPr/>
          </p:nvSpPr>
          <p:spPr>
            <a:xfrm>
              <a:off x="1392936" y="2395728"/>
              <a:ext cx="6292850" cy="2097405"/>
            </a:xfrm>
            <a:custGeom>
              <a:avLst/>
              <a:gdLst/>
              <a:ahLst/>
              <a:cxnLst/>
              <a:rect l="l" t="t" r="r" b="b"/>
              <a:pathLst>
                <a:path w="6292850" h="2097404">
                  <a:moveTo>
                    <a:pt x="6292595" y="0"/>
                  </a:moveTo>
                  <a:lnTo>
                    <a:pt x="0" y="0"/>
                  </a:lnTo>
                </a:path>
                <a:path w="6292850" h="2097404">
                  <a:moveTo>
                    <a:pt x="5910071" y="0"/>
                  </a:moveTo>
                  <a:lnTo>
                    <a:pt x="5910071" y="1716024"/>
                  </a:lnTo>
                  <a:lnTo>
                    <a:pt x="5338571" y="1716024"/>
                  </a:lnTo>
                </a:path>
                <a:path w="6292850" h="2097404">
                  <a:moveTo>
                    <a:pt x="763524" y="0"/>
                  </a:moveTo>
                  <a:lnTo>
                    <a:pt x="763524" y="2097024"/>
                  </a:lnTo>
                  <a:lnTo>
                    <a:pt x="1716024" y="2097024"/>
                  </a:lnTo>
                </a:path>
              </a:pathLst>
            </a:custGeom>
            <a:ln w="21336">
              <a:solidFill>
                <a:srgbClr val="000000"/>
              </a:solidFill>
            </a:ln>
          </p:spPr>
          <p:txBody>
            <a:bodyPr wrap="square" lIns="0" tIns="0" rIns="0" bIns="0" rtlCol="0"/>
            <a:lstStyle/>
            <a:p>
              <a:endParaRPr>
                <a:latin typeface="Museo 300" pitchFamily="50" charset="0"/>
              </a:endParaRPr>
            </a:p>
          </p:txBody>
        </p:sp>
        <p:sp>
          <p:nvSpPr>
            <p:cNvPr id="22" name="object 22"/>
            <p:cNvSpPr/>
            <p:nvPr/>
          </p:nvSpPr>
          <p:spPr>
            <a:xfrm>
              <a:off x="6350507" y="3921252"/>
              <a:ext cx="381000" cy="381000"/>
            </a:xfrm>
            <a:custGeom>
              <a:avLst/>
              <a:gdLst/>
              <a:ahLst/>
              <a:cxnLst/>
              <a:rect l="l" t="t" r="r" b="b"/>
              <a:pathLst>
                <a:path w="381000" h="381000">
                  <a:moveTo>
                    <a:pt x="380999" y="190500"/>
                  </a:moveTo>
                  <a:lnTo>
                    <a:pt x="0" y="381000"/>
                  </a:lnTo>
                  <a:lnTo>
                    <a:pt x="0" y="0"/>
                  </a:lnTo>
                  <a:lnTo>
                    <a:pt x="380999" y="190500"/>
                  </a:lnTo>
                </a:path>
              </a:pathLst>
            </a:custGeom>
            <a:ln w="21336">
              <a:solidFill>
                <a:srgbClr val="3399FF"/>
              </a:solidFill>
            </a:ln>
          </p:spPr>
          <p:txBody>
            <a:bodyPr wrap="square" lIns="0" tIns="0" rIns="0" bIns="0" rtlCol="0"/>
            <a:lstStyle/>
            <a:p>
              <a:endParaRPr>
                <a:latin typeface="Museo 300" pitchFamily="50" charset="0"/>
              </a:endParaRPr>
            </a:p>
          </p:txBody>
        </p:sp>
      </p:grpSp>
      <p:sp>
        <p:nvSpPr>
          <p:cNvPr id="23" name="object 23"/>
          <p:cNvSpPr txBox="1"/>
          <p:nvPr/>
        </p:nvSpPr>
        <p:spPr>
          <a:xfrm>
            <a:off x="5851482" y="2034666"/>
            <a:ext cx="405553" cy="243656"/>
          </a:xfrm>
          <a:prstGeom prst="rect">
            <a:avLst/>
          </a:prstGeom>
        </p:spPr>
        <p:txBody>
          <a:bodyPr vert="horz" wrap="square" lIns="0" tIns="12700" rIns="0" bIns="0" rtlCol="0">
            <a:spAutoFit/>
          </a:bodyPr>
          <a:lstStyle/>
          <a:p>
            <a:pPr marL="12700">
              <a:lnSpc>
                <a:spcPct val="100000"/>
              </a:lnSpc>
              <a:spcBef>
                <a:spcPts val="100"/>
              </a:spcBef>
            </a:pPr>
            <a:r>
              <a:rPr sz="1500" dirty="0">
                <a:latin typeface="Museo 300" pitchFamily="50" charset="0"/>
                <a:cs typeface="Carlito"/>
              </a:rPr>
              <a:t>Bus</a:t>
            </a:r>
            <a:endParaRPr sz="1500">
              <a:latin typeface="Museo 300" pitchFamily="50" charset="0"/>
              <a:cs typeface="Carlito"/>
            </a:endParaRPr>
          </a:p>
        </p:txBody>
      </p:sp>
      <p:sp>
        <p:nvSpPr>
          <p:cNvPr id="24" name="object 24"/>
          <p:cNvSpPr txBox="1"/>
          <p:nvPr/>
        </p:nvSpPr>
        <p:spPr>
          <a:xfrm>
            <a:off x="8422302" y="4890261"/>
            <a:ext cx="648545" cy="258404"/>
          </a:xfrm>
          <a:prstGeom prst="rect">
            <a:avLst/>
          </a:prstGeom>
        </p:spPr>
        <p:txBody>
          <a:bodyPr vert="horz" wrap="square" lIns="0" tIns="12065" rIns="0" bIns="0" rtlCol="0">
            <a:spAutoFit/>
          </a:bodyPr>
          <a:lstStyle/>
          <a:p>
            <a:pPr marL="38100">
              <a:lnSpc>
                <a:spcPct val="100000"/>
              </a:lnSpc>
              <a:spcBef>
                <a:spcPts val="95"/>
              </a:spcBef>
            </a:pPr>
            <a:r>
              <a:rPr sz="2400" baseline="13888" dirty="0">
                <a:solidFill>
                  <a:srgbClr val="00AFEF"/>
                </a:solidFill>
                <a:latin typeface="Museo 300" pitchFamily="50" charset="0"/>
                <a:cs typeface="Arial"/>
              </a:rPr>
              <a:t>R</a:t>
            </a:r>
            <a:r>
              <a:rPr sz="2400" i="1" baseline="13888" dirty="0">
                <a:solidFill>
                  <a:srgbClr val="00AFEF"/>
                </a:solidFill>
                <a:latin typeface="Museo 300" pitchFamily="50" charset="0"/>
                <a:cs typeface="Arial"/>
              </a:rPr>
              <a:t>i</a:t>
            </a:r>
            <a:r>
              <a:rPr sz="1050" i="1" dirty="0">
                <a:solidFill>
                  <a:srgbClr val="00AFEF"/>
                </a:solidFill>
                <a:latin typeface="Museo 300" pitchFamily="50" charset="0"/>
                <a:cs typeface="Arial"/>
              </a:rPr>
              <a:t>iout</a:t>
            </a:r>
            <a:endParaRPr sz="1050">
              <a:latin typeface="Museo 300" pitchFamily="50" charset="0"/>
              <a:cs typeface="Arial"/>
            </a:endParaRPr>
          </a:p>
        </p:txBody>
      </p:sp>
      <p:sp>
        <p:nvSpPr>
          <p:cNvPr id="25" name="Slide Number Placeholder 24"/>
          <p:cNvSpPr>
            <a:spLocks noGrp="1"/>
          </p:cNvSpPr>
          <p:nvPr>
            <p:ph type="sldNum" sz="quarter" idx="12"/>
          </p:nvPr>
        </p:nvSpPr>
        <p:spPr/>
        <p:txBody>
          <a:bodyPr/>
          <a:lstStyle/>
          <a:p>
            <a:pPr>
              <a:defRPr/>
            </a:pPr>
            <a:fld id="{7567225B-3001-4770-81AD-EA67E82D7225}" type="slidenum">
              <a:rPr lang="en-US" smtClean="0"/>
              <a:pPr>
                <a:defRPr/>
              </a:pPr>
              <a:t>23</a:t>
            </a:fld>
            <a:endParaRPr lang="en-US" dirty="0"/>
          </a:p>
        </p:txBody>
      </p:sp>
      <p:sp>
        <p:nvSpPr>
          <p:cNvPr id="26" name="Rectangle 25"/>
          <p:cNvSpPr/>
          <p:nvPr/>
        </p:nvSpPr>
        <p:spPr>
          <a:xfrm>
            <a:off x="5181600" y="1066800"/>
            <a:ext cx="6096000" cy="261610"/>
          </a:xfrm>
          <a:prstGeom prst="rect">
            <a:avLst/>
          </a:prstGeom>
        </p:spPr>
        <p:txBody>
          <a:bodyPr>
            <a:spAutoFit/>
          </a:bodyPr>
          <a:lstStyle/>
          <a:p>
            <a:r>
              <a:rPr lang="en-US" sz="1100" dirty="0">
                <a:solidFill>
                  <a:schemeClr val="accent1"/>
                </a:solidFill>
                <a:latin typeface="Museo 300" panose="02000000000000000000" pitchFamily="50" charset="0"/>
              </a:rPr>
              <a:t>Carl </a:t>
            </a:r>
            <a:r>
              <a:rPr lang="en-US" sz="1100" dirty="0" err="1">
                <a:solidFill>
                  <a:schemeClr val="accent1"/>
                </a:solidFill>
                <a:latin typeface="Museo 300" panose="02000000000000000000" pitchFamily="50" charset="0"/>
              </a:rPr>
              <a:t>Hamacher</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ZvonkoVranesic</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SafwatZaky</a:t>
            </a:r>
            <a:r>
              <a:rPr lang="en-US" sz="1100" dirty="0">
                <a:solidFill>
                  <a:schemeClr val="accent1"/>
                </a:solidFill>
                <a:latin typeface="Museo 300" panose="02000000000000000000" pitchFamily="50" charset="0"/>
              </a:rPr>
              <a:t>: Computer Organization, 5th Edition, 2000. </a:t>
            </a:r>
            <a:endParaRPr lang="en-US" sz="1100" dirty="0">
              <a:solidFill>
                <a:schemeClr val="accen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157098"/>
            <a:ext cx="9982200" cy="551433"/>
          </a:xfrm>
          <a:prstGeom prst="rect">
            <a:avLst/>
          </a:prstGeom>
        </p:spPr>
        <p:txBody>
          <a:bodyPr vert="horz" wrap="square" lIns="0" tIns="12700" rIns="0" bIns="0" rtlCol="0">
            <a:spAutoFit/>
          </a:bodyPr>
          <a:lstStyle/>
          <a:p>
            <a:pPr marL="12700" marR="5080">
              <a:lnSpc>
                <a:spcPct val="100000"/>
              </a:lnSpc>
              <a:spcBef>
                <a:spcPts val="100"/>
              </a:spcBef>
            </a:pPr>
            <a:r>
              <a:rPr dirty="0"/>
              <a:t>Performing an Arithmetic</a:t>
            </a:r>
            <a:r>
              <a:rPr spc="-195" dirty="0"/>
              <a:t> </a:t>
            </a:r>
            <a:r>
              <a:rPr dirty="0"/>
              <a:t>or  Logic</a:t>
            </a:r>
            <a:r>
              <a:rPr spc="5" dirty="0"/>
              <a:t> </a:t>
            </a:r>
            <a:r>
              <a:rPr dirty="0"/>
              <a:t>Operation</a:t>
            </a:r>
          </a:p>
        </p:txBody>
      </p:sp>
      <p:sp>
        <p:nvSpPr>
          <p:cNvPr id="3" name="object 3"/>
          <p:cNvSpPr txBox="1"/>
          <p:nvPr/>
        </p:nvSpPr>
        <p:spPr>
          <a:xfrm>
            <a:off x="714587" y="838200"/>
            <a:ext cx="10525760" cy="3463128"/>
          </a:xfrm>
          <a:prstGeom prst="rect">
            <a:avLst/>
          </a:prstGeom>
        </p:spPr>
        <p:txBody>
          <a:bodyPr vert="horz" wrap="square" lIns="0" tIns="13335" rIns="0" bIns="0" rtlCol="0">
            <a:spAutoFit/>
          </a:bodyPr>
          <a:lstStyle/>
          <a:p>
            <a:pPr marL="508000" marR="671830" indent="-495934" algn="just">
              <a:lnSpc>
                <a:spcPct val="150000"/>
              </a:lnSpc>
              <a:spcBef>
                <a:spcPts val="105"/>
              </a:spcBef>
              <a:buClr>
                <a:srgbClr val="330066"/>
              </a:buClr>
              <a:buSzPct val="69230"/>
              <a:buFont typeface="Wingdings"/>
              <a:buChar char="⚫"/>
              <a:tabLst>
                <a:tab pos="508000" algn="l"/>
                <a:tab pos="508634" algn="l"/>
              </a:tabLst>
            </a:pPr>
            <a:r>
              <a:rPr sz="2000" dirty="0">
                <a:latin typeface="Museo 300" pitchFamily="50" charset="0"/>
                <a:cs typeface="Arial"/>
              </a:rPr>
              <a:t>The ALU is a combinational circuit that has</a:t>
            </a:r>
            <a:r>
              <a:rPr sz="2000" spc="-215" dirty="0">
                <a:latin typeface="Museo 300" pitchFamily="50" charset="0"/>
                <a:cs typeface="Arial"/>
              </a:rPr>
              <a:t> </a:t>
            </a:r>
            <a:r>
              <a:rPr sz="2000" dirty="0">
                <a:latin typeface="Museo 300" pitchFamily="50" charset="0"/>
                <a:cs typeface="Arial"/>
              </a:rPr>
              <a:t>no  internal</a:t>
            </a:r>
            <a:r>
              <a:rPr sz="2000" spc="-5" dirty="0">
                <a:latin typeface="Museo 300" pitchFamily="50" charset="0"/>
                <a:cs typeface="Arial"/>
              </a:rPr>
              <a:t> </a:t>
            </a:r>
            <a:r>
              <a:rPr sz="2000" dirty="0">
                <a:latin typeface="Museo 300" pitchFamily="50" charset="0"/>
                <a:cs typeface="Arial"/>
              </a:rPr>
              <a:t>storage.</a:t>
            </a:r>
            <a:endParaRPr sz="2000">
              <a:latin typeface="Museo 300" pitchFamily="50" charset="0"/>
              <a:cs typeface="Arial"/>
            </a:endParaRPr>
          </a:p>
          <a:p>
            <a:pPr marL="857250" marR="456565" indent="-495300" algn="just">
              <a:lnSpc>
                <a:spcPct val="150000"/>
              </a:lnSpc>
              <a:spcBef>
                <a:spcPts val="530"/>
              </a:spcBef>
              <a:tabLst>
                <a:tab pos="856615" algn="l"/>
              </a:tabLst>
            </a:pPr>
            <a:r>
              <a:rPr sz="2000" spc="1635" dirty="0">
                <a:solidFill>
                  <a:srgbClr val="669999"/>
                </a:solidFill>
                <a:latin typeface="Museo 300" pitchFamily="50" charset="0"/>
                <a:cs typeface="Wingdings"/>
              </a:rPr>
              <a:t>⚫</a:t>
            </a:r>
            <a:r>
              <a:rPr sz="2000" spc="1635" dirty="0">
                <a:solidFill>
                  <a:srgbClr val="669999"/>
                </a:solidFill>
                <a:latin typeface="Museo 300" pitchFamily="50" charset="0"/>
                <a:cs typeface="Times New Roman"/>
              </a:rPr>
              <a:t>	</a:t>
            </a:r>
            <a:r>
              <a:rPr sz="2000" spc="-5" dirty="0">
                <a:latin typeface="Museo 300" pitchFamily="50" charset="0"/>
                <a:cs typeface="Arial"/>
              </a:rPr>
              <a:t>It performs arithmetic and logic operations on the two  operands applied to its A and B</a:t>
            </a:r>
            <a:r>
              <a:rPr sz="2000" spc="-210" dirty="0">
                <a:latin typeface="Museo 300" pitchFamily="50" charset="0"/>
                <a:cs typeface="Arial"/>
              </a:rPr>
              <a:t> </a:t>
            </a:r>
            <a:r>
              <a:rPr sz="2000" spc="-5" dirty="0">
                <a:latin typeface="Museo 300" pitchFamily="50" charset="0"/>
                <a:cs typeface="Arial"/>
              </a:rPr>
              <a:t>inputs.</a:t>
            </a:r>
            <a:endParaRPr sz="2000">
              <a:latin typeface="Museo 300" pitchFamily="50" charset="0"/>
              <a:cs typeface="Arial"/>
            </a:endParaRPr>
          </a:p>
          <a:p>
            <a:pPr marL="495300" marR="433705" indent="-495300" algn="just">
              <a:lnSpc>
                <a:spcPct val="150000"/>
              </a:lnSpc>
              <a:spcBef>
                <a:spcPts val="620"/>
              </a:spcBef>
              <a:buClr>
                <a:srgbClr val="330066"/>
              </a:buClr>
              <a:buSzPct val="69230"/>
              <a:buFont typeface="Wingdings"/>
              <a:buChar char="⚫"/>
              <a:tabLst>
                <a:tab pos="495300" algn="l"/>
                <a:tab pos="508634" algn="l"/>
              </a:tabLst>
            </a:pPr>
            <a:r>
              <a:rPr sz="2000" dirty="0">
                <a:latin typeface="Museo 300" pitchFamily="50" charset="0"/>
                <a:cs typeface="Arial"/>
              </a:rPr>
              <a:t>ALU gets the two operands from MUX and</a:t>
            </a:r>
            <a:r>
              <a:rPr sz="2000" spc="-30" dirty="0">
                <a:latin typeface="Museo 300" pitchFamily="50" charset="0"/>
                <a:cs typeface="Arial"/>
              </a:rPr>
              <a:t> </a:t>
            </a:r>
            <a:r>
              <a:rPr sz="2000">
                <a:latin typeface="Museo 300" pitchFamily="50" charset="0"/>
                <a:cs typeface="Arial"/>
              </a:rPr>
              <a:t>bus.</a:t>
            </a:r>
            <a:r>
              <a:rPr lang="en-US" sz="2000" dirty="0">
                <a:latin typeface="Museo 300" pitchFamily="50" charset="0"/>
                <a:cs typeface="Arial"/>
              </a:rPr>
              <a:t> </a:t>
            </a:r>
            <a:r>
              <a:rPr sz="2000">
                <a:latin typeface="Museo 300" pitchFamily="50" charset="0"/>
                <a:cs typeface="Arial"/>
              </a:rPr>
              <a:t>The </a:t>
            </a:r>
            <a:r>
              <a:rPr sz="2000" dirty="0">
                <a:latin typeface="Museo 300" pitchFamily="50" charset="0"/>
                <a:cs typeface="Arial"/>
              </a:rPr>
              <a:t>result is temporarily stored in register</a:t>
            </a:r>
            <a:r>
              <a:rPr sz="2000" spc="-80" dirty="0">
                <a:latin typeface="Museo 300" pitchFamily="50" charset="0"/>
                <a:cs typeface="Arial"/>
              </a:rPr>
              <a:t> </a:t>
            </a:r>
            <a:r>
              <a:rPr sz="2000" dirty="0">
                <a:latin typeface="Museo 300" pitchFamily="50" charset="0"/>
                <a:cs typeface="Arial"/>
              </a:rPr>
              <a:t>Z.</a:t>
            </a:r>
            <a:endParaRPr sz="2000">
              <a:latin typeface="Museo 300" pitchFamily="50" charset="0"/>
              <a:cs typeface="Arial"/>
            </a:endParaRPr>
          </a:p>
          <a:p>
            <a:pPr marL="508000" marR="5080" indent="-495934" algn="just">
              <a:lnSpc>
                <a:spcPct val="150000"/>
              </a:lnSpc>
              <a:spcBef>
                <a:spcPts val="625"/>
              </a:spcBef>
              <a:buClr>
                <a:srgbClr val="330066"/>
              </a:buClr>
              <a:buSzPct val="69230"/>
              <a:buFont typeface="Wingdings"/>
              <a:buChar char="⚫"/>
              <a:tabLst>
                <a:tab pos="508000" algn="l"/>
                <a:tab pos="508634" algn="l"/>
              </a:tabLst>
            </a:pPr>
            <a:r>
              <a:rPr sz="2000" dirty="0">
                <a:latin typeface="Museo 300" pitchFamily="50" charset="0"/>
                <a:cs typeface="Arial"/>
              </a:rPr>
              <a:t>The sequence of operations to add the contents</a:t>
            </a:r>
            <a:r>
              <a:rPr sz="2000" spc="-35" dirty="0">
                <a:latin typeface="Museo 300" pitchFamily="50" charset="0"/>
                <a:cs typeface="Arial"/>
              </a:rPr>
              <a:t> </a:t>
            </a:r>
            <a:r>
              <a:rPr sz="2000" dirty="0">
                <a:latin typeface="Museo 300" pitchFamily="50" charset="0"/>
                <a:cs typeface="Arial"/>
              </a:rPr>
              <a:t>of  register R1 to </a:t>
            </a:r>
            <a:r>
              <a:rPr sz="2000" spc="5" dirty="0">
                <a:latin typeface="Museo 300" pitchFamily="50" charset="0"/>
                <a:cs typeface="Arial"/>
              </a:rPr>
              <a:t>those </a:t>
            </a:r>
            <a:r>
              <a:rPr sz="2000" dirty="0">
                <a:latin typeface="Museo 300" pitchFamily="50" charset="0"/>
                <a:cs typeface="Arial"/>
              </a:rPr>
              <a:t>of </a:t>
            </a:r>
            <a:r>
              <a:rPr sz="2000" spc="5" dirty="0">
                <a:latin typeface="Museo 300" pitchFamily="50" charset="0"/>
                <a:cs typeface="Arial"/>
              </a:rPr>
              <a:t>R2 </a:t>
            </a:r>
            <a:r>
              <a:rPr sz="2000" dirty="0">
                <a:latin typeface="Museo 300" pitchFamily="50" charset="0"/>
                <a:cs typeface="Arial"/>
              </a:rPr>
              <a:t>and store </a:t>
            </a:r>
            <a:r>
              <a:rPr sz="2000" spc="-5" dirty="0">
                <a:latin typeface="Museo 300" pitchFamily="50" charset="0"/>
                <a:cs typeface="Arial"/>
              </a:rPr>
              <a:t>the </a:t>
            </a:r>
            <a:r>
              <a:rPr sz="2000" dirty="0">
                <a:latin typeface="Museo 300" pitchFamily="50" charset="0"/>
                <a:cs typeface="Arial"/>
              </a:rPr>
              <a:t>result in  R3.</a:t>
            </a:r>
            <a:endParaRPr sz="2000">
              <a:latin typeface="Museo 300" pitchFamily="50" charset="0"/>
              <a:cs typeface="Arial"/>
            </a:endParaRPr>
          </a:p>
        </p:txBody>
      </p:sp>
      <p:sp>
        <p:nvSpPr>
          <p:cNvPr id="4" name="object 4"/>
          <p:cNvSpPr txBox="1"/>
          <p:nvPr/>
        </p:nvSpPr>
        <p:spPr>
          <a:xfrm>
            <a:off x="1174225" y="4419601"/>
            <a:ext cx="197376" cy="248145"/>
          </a:xfrm>
          <a:prstGeom prst="rect">
            <a:avLst/>
          </a:prstGeom>
        </p:spPr>
        <p:txBody>
          <a:bodyPr vert="horz" wrap="square" lIns="0" tIns="17145" rIns="0" bIns="0" rtlCol="0">
            <a:spAutoFit/>
          </a:bodyPr>
          <a:lstStyle/>
          <a:p>
            <a:pPr marL="12700">
              <a:lnSpc>
                <a:spcPct val="100000"/>
              </a:lnSpc>
              <a:spcBef>
                <a:spcPts val="135"/>
              </a:spcBef>
            </a:pPr>
            <a:r>
              <a:rPr sz="1500" spc="10" dirty="0">
                <a:solidFill>
                  <a:srgbClr val="669999"/>
                </a:solidFill>
                <a:latin typeface="Arial"/>
                <a:cs typeface="Arial"/>
              </a:rPr>
              <a:t>1.</a:t>
            </a:r>
            <a:endParaRPr sz="1500">
              <a:latin typeface="Arial"/>
              <a:cs typeface="Arial"/>
            </a:endParaRPr>
          </a:p>
        </p:txBody>
      </p:sp>
      <p:sp>
        <p:nvSpPr>
          <p:cNvPr id="5" name="object 5"/>
          <p:cNvSpPr txBox="1"/>
          <p:nvPr/>
        </p:nvSpPr>
        <p:spPr>
          <a:xfrm>
            <a:off x="1699089" y="4419600"/>
            <a:ext cx="1564640" cy="319959"/>
          </a:xfrm>
          <a:prstGeom prst="rect">
            <a:avLst/>
          </a:prstGeom>
        </p:spPr>
        <p:txBody>
          <a:bodyPr vert="horz" wrap="square" lIns="0" tIns="12065" rIns="0" bIns="0" rtlCol="0">
            <a:spAutoFit/>
          </a:bodyPr>
          <a:lstStyle/>
          <a:p>
            <a:pPr marL="38100">
              <a:lnSpc>
                <a:spcPct val="100000"/>
              </a:lnSpc>
              <a:spcBef>
                <a:spcPts val="95"/>
              </a:spcBef>
            </a:pPr>
            <a:r>
              <a:rPr sz="2000" b="1" baseline="13888" dirty="0">
                <a:latin typeface="Museo 300" pitchFamily="50" charset="0"/>
                <a:cs typeface="Arial"/>
              </a:rPr>
              <a:t>R1</a:t>
            </a:r>
            <a:r>
              <a:rPr sz="1600" b="1" i="1" dirty="0">
                <a:latin typeface="Museo 300" pitchFamily="50" charset="0"/>
                <a:cs typeface="Arial"/>
              </a:rPr>
              <a:t>out</a:t>
            </a:r>
            <a:r>
              <a:rPr sz="1600" b="1" baseline="13888" dirty="0">
                <a:latin typeface="Museo 300" pitchFamily="50" charset="0"/>
                <a:cs typeface="Arial"/>
              </a:rPr>
              <a:t>,</a:t>
            </a:r>
            <a:r>
              <a:rPr sz="1600" b="1" spc="-135" baseline="13888" dirty="0">
                <a:latin typeface="Museo 300" pitchFamily="50" charset="0"/>
                <a:cs typeface="Arial"/>
              </a:rPr>
              <a:t> </a:t>
            </a:r>
            <a:r>
              <a:rPr sz="2000" b="1" spc="-7" baseline="13888" dirty="0">
                <a:latin typeface="Museo 300" pitchFamily="50" charset="0"/>
                <a:cs typeface="Arial"/>
              </a:rPr>
              <a:t>Y</a:t>
            </a:r>
            <a:r>
              <a:rPr sz="2000" b="1" i="1" spc="-5" dirty="0">
                <a:latin typeface="Museo 300" pitchFamily="50" charset="0"/>
                <a:cs typeface="Arial"/>
              </a:rPr>
              <a:t>in</a:t>
            </a:r>
            <a:endParaRPr sz="2000" b="1">
              <a:latin typeface="Museo 300" pitchFamily="50" charset="0"/>
              <a:cs typeface="Arial"/>
            </a:endParaRPr>
          </a:p>
        </p:txBody>
      </p:sp>
      <p:sp>
        <p:nvSpPr>
          <p:cNvPr id="6" name="object 6"/>
          <p:cNvSpPr txBox="1"/>
          <p:nvPr/>
        </p:nvSpPr>
        <p:spPr>
          <a:xfrm>
            <a:off x="1140358" y="4876800"/>
            <a:ext cx="4401820" cy="319959"/>
          </a:xfrm>
          <a:prstGeom prst="rect">
            <a:avLst/>
          </a:prstGeom>
        </p:spPr>
        <p:txBody>
          <a:bodyPr vert="horz" wrap="square" lIns="0" tIns="12065" rIns="0" bIns="0" rtlCol="0">
            <a:spAutoFit/>
          </a:bodyPr>
          <a:lstStyle/>
          <a:p>
            <a:pPr marL="38100">
              <a:lnSpc>
                <a:spcPct val="100000"/>
              </a:lnSpc>
              <a:spcBef>
                <a:spcPts val="95"/>
              </a:spcBef>
              <a:tabLst>
                <a:tab pos="456565" algn="l"/>
              </a:tabLst>
            </a:pPr>
            <a:r>
              <a:rPr sz="1600" b="1" spc="10" dirty="0">
                <a:solidFill>
                  <a:srgbClr val="669999"/>
                </a:solidFill>
                <a:latin typeface="Museo 300" pitchFamily="50" charset="0"/>
                <a:cs typeface="Arial"/>
              </a:rPr>
              <a:t>2</a:t>
            </a:r>
            <a:r>
              <a:rPr sz="2000" b="1" spc="10" dirty="0">
                <a:solidFill>
                  <a:srgbClr val="669999"/>
                </a:solidFill>
                <a:latin typeface="Museo 300" pitchFamily="50" charset="0"/>
                <a:cs typeface="Arial"/>
              </a:rPr>
              <a:t>.	</a:t>
            </a:r>
            <a:r>
              <a:rPr sz="2000" b="1" dirty="0">
                <a:latin typeface="Museo 300" pitchFamily="50" charset="0"/>
                <a:cs typeface="Arial"/>
              </a:rPr>
              <a:t>R2</a:t>
            </a:r>
            <a:r>
              <a:rPr sz="2000" b="1" i="1" baseline="-21072" dirty="0">
                <a:latin typeface="Museo 300" pitchFamily="50" charset="0"/>
                <a:cs typeface="Arial"/>
              </a:rPr>
              <a:t>out</a:t>
            </a:r>
            <a:r>
              <a:rPr sz="2000" b="1" dirty="0">
                <a:latin typeface="Museo 300" pitchFamily="50" charset="0"/>
                <a:cs typeface="Arial"/>
              </a:rPr>
              <a:t>, </a:t>
            </a:r>
            <a:r>
              <a:rPr sz="2000" b="1" spc="-40" dirty="0">
                <a:latin typeface="Museo 300" pitchFamily="50" charset="0"/>
                <a:cs typeface="Arial"/>
              </a:rPr>
              <a:t>SelectY, </a:t>
            </a:r>
            <a:r>
              <a:rPr sz="2000" b="1" spc="-5" dirty="0">
                <a:latin typeface="Museo 300" pitchFamily="50" charset="0"/>
                <a:cs typeface="Arial"/>
              </a:rPr>
              <a:t>Add,</a:t>
            </a:r>
            <a:r>
              <a:rPr sz="2000" b="1" spc="-120" dirty="0">
                <a:latin typeface="Museo 300" pitchFamily="50" charset="0"/>
                <a:cs typeface="Arial"/>
              </a:rPr>
              <a:t> </a:t>
            </a:r>
            <a:r>
              <a:rPr sz="2000" b="1" dirty="0">
                <a:latin typeface="Museo 300" pitchFamily="50" charset="0"/>
                <a:cs typeface="Arial"/>
              </a:rPr>
              <a:t>Z</a:t>
            </a:r>
            <a:r>
              <a:rPr sz="2000" b="1" i="1" baseline="-21072" dirty="0">
                <a:latin typeface="Museo 300" pitchFamily="50" charset="0"/>
                <a:cs typeface="Arial"/>
              </a:rPr>
              <a:t>in</a:t>
            </a:r>
            <a:endParaRPr sz="2000" b="1" baseline="-21072">
              <a:latin typeface="Museo 300" pitchFamily="50" charset="0"/>
              <a:cs typeface="Arial"/>
            </a:endParaRPr>
          </a:p>
        </p:txBody>
      </p:sp>
      <p:sp>
        <p:nvSpPr>
          <p:cNvPr id="7" name="object 7"/>
          <p:cNvSpPr txBox="1"/>
          <p:nvPr/>
        </p:nvSpPr>
        <p:spPr>
          <a:xfrm>
            <a:off x="1219200" y="5410200"/>
            <a:ext cx="250613" cy="248145"/>
          </a:xfrm>
          <a:prstGeom prst="rect">
            <a:avLst/>
          </a:prstGeom>
        </p:spPr>
        <p:txBody>
          <a:bodyPr vert="horz" wrap="square" lIns="0" tIns="17145" rIns="0" bIns="0" rtlCol="0">
            <a:spAutoFit/>
          </a:bodyPr>
          <a:lstStyle/>
          <a:p>
            <a:pPr marL="12700">
              <a:lnSpc>
                <a:spcPct val="100000"/>
              </a:lnSpc>
              <a:spcBef>
                <a:spcPts val="135"/>
              </a:spcBef>
            </a:pPr>
            <a:r>
              <a:rPr sz="1500" spc="10" dirty="0">
                <a:solidFill>
                  <a:srgbClr val="669999"/>
                </a:solidFill>
                <a:latin typeface="Arial"/>
                <a:cs typeface="Arial"/>
              </a:rPr>
              <a:t>3.</a:t>
            </a:r>
            <a:endParaRPr sz="1500">
              <a:latin typeface="Arial"/>
              <a:cs typeface="Arial"/>
            </a:endParaRPr>
          </a:p>
        </p:txBody>
      </p:sp>
      <p:sp>
        <p:nvSpPr>
          <p:cNvPr id="8" name="object 8"/>
          <p:cNvSpPr txBox="1"/>
          <p:nvPr/>
        </p:nvSpPr>
        <p:spPr>
          <a:xfrm>
            <a:off x="1699090" y="5334000"/>
            <a:ext cx="1550247" cy="319959"/>
          </a:xfrm>
          <a:prstGeom prst="rect">
            <a:avLst/>
          </a:prstGeom>
        </p:spPr>
        <p:txBody>
          <a:bodyPr vert="horz" wrap="square" lIns="0" tIns="12065" rIns="0" bIns="0" rtlCol="0">
            <a:spAutoFit/>
          </a:bodyPr>
          <a:lstStyle/>
          <a:p>
            <a:pPr marL="38100">
              <a:lnSpc>
                <a:spcPct val="100000"/>
              </a:lnSpc>
              <a:spcBef>
                <a:spcPts val="95"/>
              </a:spcBef>
            </a:pPr>
            <a:r>
              <a:rPr sz="2000" b="1" baseline="13888" dirty="0">
                <a:latin typeface="Museo 300" pitchFamily="50" charset="0"/>
                <a:cs typeface="Arial"/>
              </a:rPr>
              <a:t>Z</a:t>
            </a:r>
            <a:r>
              <a:rPr sz="1600" b="1" i="1" dirty="0">
                <a:latin typeface="Museo 300" pitchFamily="50" charset="0"/>
                <a:cs typeface="Arial"/>
              </a:rPr>
              <a:t>out</a:t>
            </a:r>
            <a:r>
              <a:rPr sz="2000" b="1" baseline="13888" dirty="0">
                <a:latin typeface="Museo 300" pitchFamily="50" charset="0"/>
                <a:cs typeface="Arial"/>
              </a:rPr>
              <a:t>,</a:t>
            </a:r>
            <a:r>
              <a:rPr sz="2000" b="1" spc="-75" baseline="13888" dirty="0">
                <a:latin typeface="Museo 300" pitchFamily="50" charset="0"/>
                <a:cs typeface="Arial"/>
              </a:rPr>
              <a:t> </a:t>
            </a:r>
            <a:r>
              <a:rPr sz="2000" b="1" spc="-7" baseline="13888" dirty="0">
                <a:latin typeface="Museo 300" pitchFamily="50" charset="0"/>
                <a:cs typeface="Arial"/>
              </a:rPr>
              <a:t>R3</a:t>
            </a:r>
            <a:r>
              <a:rPr sz="2000" b="1" i="1" spc="-5" dirty="0">
                <a:latin typeface="Museo 300" pitchFamily="50" charset="0"/>
                <a:cs typeface="Arial"/>
              </a:rPr>
              <a:t>in</a:t>
            </a:r>
            <a:endParaRPr sz="2000" b="1">
              <a:latin typeface="Museo 300" pitchFamily="50" charset="0"/>
              <a:cs typeface="Arial"/>
            </a:endParaRPr>
          </a:p>
        </p:txBody>
      </p:sp>
      <p:sp>
        <p:nvSpPr>
          <p:cNvPr id="9" name="Slide Number Placeholder 8"/>
          <p:cNvSpPr>
            <a:spLocks noGrp="1"/>
          </p:cNvSpPr>
          <p:nvPr>
            <p:ph type="sldNum" sz="quarter" idx="12"/>
          </p:nvPr>
        </p:nvSpPr>
        <p:spPr/>
        <p:txBody>
          <a:bodyPr/>
          <a:lstStyle/>
          <a:p>
            <a:pPr>
              <a:defRPr/>
            </a:pPr>
            <a:fld id="{7567225B-3001-4770-81AD-EA67E82D7225}"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157098"/>
            <a:ext cx="9601200" cy="1090042"/>
          </a:xfrm>
          <a:prstGeom prst="rect">
            <a:avLst/>
          </a:prstGeom>
        </p:spPr>
        <p:txBody>
          <a:bodyPr vert="horz" wrap="square" lIns="0" tIns="12700" rIns="0" bIns="0" rtlCol="0">
            <a:spAutoFit/>
          </a:bodyPr>
          <a:lstStyle/>
          <a:p>
            <a:pPr marL="12700" marR="5080">
              <a:lnSpc>
                <a:spcPct val="100000"/>
              </a:lnSpc>
              <a:spcBef>
                <a:spcPts val="100"/>
              </a:spcBef>
            </a:pPr>
            <a:r>
              <a:rPr dirty="0"/>
              <a:t>Performing an Arithmetic</a:t>
            </a:r>
            <a:r>
              <a:rPr spc="-195" dirty="0"/>
              <a:t> </a:t>
            </a:r>
            <a:r>
              <a:rPr dirty="0"/>
              <a:t>or  </a:t>
            </a:r>
            <a:r>
              <a:t>Logic</a:t>
            </a:r>
            <a:r>
              <a:rPr spc="5"/>
              <a:t> </a:t>
            </a:r>
            <a:r>
              <a:t>Operation</a:t>
            </a:r>
            <a:r>
              <a:rPr lang="en-US" dirty="0"/>
              <a:t> continue</a:t>
            </a:r>
            <a:r>
              <a:t>..</a:t>
            </a:r>
            <a:endParaRPr dirty="0"/>
          </a:p>
        </p:txBody>
      </p:sp>
      <p:sp>
        <p:nvSpPr>
          <p:cNvPr id="3" name="object 3"/>
          <p:cNvSpPr txBox="1"/>
          <p:nvPr/>
        </p:nvSpPr>
        <p:spPr>
          <a:xfrm>
            <a:off x="714587" y="1743582"/>
            <a:ext cx="10744200" cy="2438488"/>
          </a:xfrm>
          <a:prstGeom prst="rect">
            <a:avLst/>
          </a:prstGeom>
        </p:spPr>
        <p:txBody>
          <a:bodyPr vert="horz" wrap="square" lIns="0" tIns="12065" rIns="0" bIns="0" rtlCol="0">
            <a:spAutoFit/>
          </a:bodyPr>
          <a:lstStyle/>
          <a:p>
            <a:pPr marL="508000" marR="41910" indent="-495934" algn="just">
              <a:lnSpc>
                <a:spcPct val="150000"/>
              </a:lnSpc>
              <a:spcBef>
                <a:spcPts val="95"/>
              </a:spcBef>
              <a:buClr>
                <a:srgbClr val="330066"/>
              </a:buClr>
              <a:buSzPct val="69642"/>
              <a:buFont typeface="Wingdings"/>
              <a:buChar char="⚫"/>
              <a:tabLst>
                <a:tab pos="508000" algn="l"/>
                <a:tab pos="508634" algn="l"/>
              </a:tabLst>
            </a:pPr>
            <a:r>
              <a:rPr sz="2000" spc="-5" dirty="0">
                <a:latin typeface="Museo 300" pitchFamily="50" charset="0"/>
                <a:cs typeface="Arial"/>
              </a:rPr>
              <a:t>The </a:t>
            </a:r>
            <a:r>
              <a:rPr sz="2000" dirty="0">
                <a:latin typeface="Museo 300" pitchFamily="50" charset="0"/>
                <a:cs typeface="Arial"/>
              </a:rPr>
              <a:t>signals </a:t>
            </a:r>
            <a:r>
              <a:rPr sz="2000" spc="-5" dirty="0">
                <a:latin typeface="Museo 300" pitchFamily="50" charset="0"/>
                <a:cs typeface="Arial"/>
              </a:rPr>
              <a:t>whose names are </a:t>
            </a:r>
            <a:r>
              <a:rPr sz="2000" dirty="0">
                <a:latin typeface="Museo 300" pitchFamily="50" charset="0"/>
                <a:cs typeface="Arial"/>
              </a:rPr>
              <a:t>given </a:t>
            </a:r>
            <a:r>
              <a:rPr sz="2000" spc="-5" dirty="0">
                <a:latin typeface="Museo 300" pitchFamily="50" charset="0"/>
                <a:cs typeface="Arial"/>
              </a:rPr>
              <a:t>in </a:t>
            </a:r>
            <a:r>
              <a:rPr sz="2000" dirty="0">
                <a:latin typeface="Museo 300" pitchFamily="50" charset="0"/>
                <a:cs typeface="Arial"/>
              </a:rPr>
              <a:t>any </a:t>
            </a:r>
            <a:r>
              <a:rPr sz="2000" spc="-25" dirty="0">
                <a:latin typeface="Museo 300" pitchFamily="50" charset="0"/>
                <a:cs typeface="Arial"/>
              </a:rPr>
              <a:t>step  </a:t>
            </a:r>
            <a:r>
              <a:rPr sz="2000" spc="-5" dirty="0">
                <a:latin typeface="Museo 300" pitchFamily="50" charset="0"/>
                <a:cs typeface="Arial"/>
              </a:rPr>
              <a:t>are </a:t>
            </a:r>
            <a:r>
              <a:rPr sz="2000" dirty="0">
                <a:latin typeface="Museo 300" pitchFamily="50" charset="0"/>
                <a:cs typeface="Arial"/>
              </a:rPr>
              <a:t>activated </a:t>
            </a:r>
            <a:r>
              <a:rPr sz="2000" spc="-5" dirty="0">
                <a:latin typeface="Museo 300" pitchFamily="50" charset="0"/>
                <a:cs typeface="Arial"/>
              </a:rPr>
              <a:t>for the duration of the </a:t>
            </a:r>
            <a:r>
              <a:rPr sz="2000" dirty="0">
                <a:latin typeface="Museo 300" pitchFamily="50" charset="0"/>
                <a:cs typeface="Arial"/>
              </a:rPr>
              <a:t>clock cycle  corresponding </a:t>
            </a:r>
            <a:r>
              <a:rPr sz="2000" spc="-5" dirty="0">
                <a:latin typeface="Museo 300" pitchFamily="50" charset="0"/>
                <a:cs typeface="Arial"/>
              </a:rPr>
              <a:t>to that</a:t>
            </a:r>
            <a:r>
              <a:rPr sz="2000" dirty="0">
                <a:latin typeface="Museo 300" pitchFamily="50" charset="0"/>
                <a:cs typeface="Arial"/>
              </a:rPr>
              <a:t> step.</a:t>
            </a:r>
            <a:endParaRPr sz="2000">
              <a:latin typeface="Museo 300" pitchFamily="50" charset="0"/>
              <a:cs typeface="Arial"/>
            </a:endParaRPr>
          </a:p>
          <a:p>
            <a:pPr marL="361950" algn="just">
              <a:lnSpc>
                <a:spcPct val="150000"/>
              </a:lnSpc>
              <a:spcBef>
                <a:spcPts val="595"/>
              </a:spcBef>
              <a:tabLst>
                <a:tab pos="856615" algn="l"/>
              </a:tabLst>
            </a:pPr>
            <a:r>
              <a:rPr sz="2000" spc="1780" dirty="0">
                <a:solidFill>
                  <a:srgbClr val="669999"/>
                </a:solidFill>
                <a:latin typeface="Museo 300" pitchFamily="50" charset="0"/>
                <a:cs typeface="Wingdings"/>
              </a:rPr>
              <a:t>⚫</a:t>
            </a:r>
            <a:r>
              <a:rPr sz="2000" spc="1780" dirty="0">
                <a:solidFill>
                  <a:srgbClr val="669999"/>
                </a:solidFill>
                <a:latin typeface="Museo 300" pitchFamily="50" charset="0"/>
                <a:cs typeface="Times New Roman"/>
              </a:rPr>
              <a:t>	</a:t>
            </a:r>
            <a:r>
              <a:rPr sz="2000" spc="-5" dirty="0">
                <a:latin typeface="Museo 300" pitchFamily="50" charset="0"/>
                <a:cs typeface="Arial"/>
              </a:rPr>
              <a:t>All other signals are</a:t>
            </a:r>
            <a:r>
              <a:rPr sz="2000" spc="50" dirty="0">
                <a:latin typeface="Museo 300" pitchFamily="50" charset="0"/>
                <a:cs typeface="Arial"/>
              </a:rPr>
              <a:t> </a:t>
            </a:r>
            <a:r>
              <a:rPr sz="2000" spc="-5" dirty="0">
                <a:latin typeface="Museo 300" pitchFamily="50" charset="0"/>
                <a:cs typeface="Arial"/>
              </a:rPr>
              <a:t>inactive.</a:t>
            </a:r>
            <a:endParaRPr sz="2000">
              <a:latin typeface="Museo 300" pitchFamily="50" charset="0"/>
              <a:cs typeface="Arial"/>
            </a:endParaRPr>
          </a:p>
          <a:p>
            <a:pPr marL="508000" marR="5080" indent="-495934" algn="just">
              <a:lnSpc>
                <a:spcPct val="150000"/>
              </a:lnSpc>
              <a:spcBef>
                <a:spcPts val="660"/>
              </a:spcBef>
              <a:buClr>
                <a:srgbClr val="330066"/>
              </a:buClr>
              <a:buSzPct val="69642"/>
              <a:buFont typeface="Wingdings"/>
              <a:buChar char="⚫"/>
              <a:tabLst>
                <a:tab pos="508000" algn="l"/>
                <a:tab pos="508634" algn="l"/>
              </a:tabLst>
            </a:pPr>
            <a:r>
              <a:rPr sz="2000" spc="-5" dirty="0">
                <a:latin typeface="Museo 300" pitchFamily="50" charset="0"/>
                <a:cs typeface="Arial"/>
              </a:rPr>
              <a:t>In </a:t>
            </a:r>
            <a:r>
              <a:rPr sz="2000" dirty="0">
                <a:latin typeface="Museo 300" pitchFamily="50" charset="0"/>
                <a:cs typeface="Arial"/>
              </a:rPr>
              <a:t>step 1, </a:t>
            </a:r>
            <a:r>
              <a:rPr sz="2000" spc="-5" dirty="0">
                <a:latin typeface="Museo 300" pitchFamily="50" charset="0"/>
                <a:cs typeface="Arial"/>
              </a:rPr>
              <a:t>the </a:t>
            </a:r>
            <a:r>
              <a:rPr sz="2000" dirty="0">
                <a:latin typeface="Museo 300" pitchFamily="50" charset="0"/>
                <a:cs typeface="Arial"/>
              </a:rPr>
              <a:t>output </a:t>
            </a:r>
            <a:r>
              <a:rPr sz="2000" spc="-5" dirty="0">
                <a:latin typeface="Museo 300" pitchFamily="50" charset="0"/>
                <a:cs typeface="Arial"/>
              </a:rPr>
              <a:t>of </a:t>
            </a:r>
            <a:r>
              <a:rPr sz="2000" dirty="0">
                <a:latin typeface="Museo 300" pitchFamily="50" charset="0"/>
                <a:cs typeface="Arial"/>
              </a:rPr>
              <a:t>register </a:t>
            </a:r>
            <a:r>
              <a:rPr sz="2000" spc="-5" dirty="0">
                <a:latin typeface="Museo 300" pitchFamily="50" charset="0"/>
                <a:cs typeface="Arial"/>
              </a:rPr>
              <a:t>R1 and the </a:t>
            </a:r>
            <a:r>
              <a:rPr sz="2000" spc="-15" dirty="0">
                <a:latin typeface="Museo 300" pitchFamily="50" charset="0"/>
                <a:cs typeface="Arial"/>
              </a:rPr>
              <a:t>input  </a:t>
            </a:r>
            <a:r>
              <a:rPr sz="2000" spc="-5" dirty="0">
                <a:latin typeface="Museo 300" pitchFamily="50" charset="0"/>
                <a:cs typeface="Arial"/>
              </a:rPr>
              <a:t>of </a:t>
            </a:r>
            <a:r>
              <a:rPr sz="2000" dirty="0">
                <a:latin typeface="Museo 300" pitchFamily="50" charset="0"/>
                <a:cs typeface="Arial"/>
              </a:rPr>
              <a:t>register </a:t>
            </a:r>
            <a:r>
              <a:rPr sz="2000" spc="-5" dirty="0">
                <a:latin typeface="Museo 300" pitchFamily="50" charset="0"/>
                <a:cs typeface="Arial"/>
              </a:rPr>
              <a:t>Y </a:t>
            </a:r>
            <a:r>
              <a:rPr sz="2000" dirty="0">
                <a:latin typeface="Museo 300" pitchFamily="50" charset="0"/>
                <a:cs typeface="Arial"/>
              </a:rPr>
              <a:t>are enabled, </a:t>
            </a:r>
            <a:r>
              <a:rPr sz="2000" spc="-5" dirty="0">
                <a:latin typeface="Museo 300" pitchFamily="50" charset="0"/>
                <a:cs typeface="Arial"/>
              </a:rPr>
              <a:t>causing the </a:t>
            </a:r>
            <a:r>
              <a:rPr sz="2000" dirty="0">
                <a:latin typeface="Museo 300" pitchFamily="50" charset="0"/>
                <a:cs typeface="Arial"/>
              </a:rPr>
              <a:t>contents  </a:t>
            </a:r>
            <a:r>
              <a:rPr sz="2000" spc="-5" dirty="0">
                <a:latin typeface="Museo 300" pitchFamily="50" charset="0"/>
                <a:cs typeface="Arial"/>
              </a:rPr>
              <a:t>of RI to be </a:t>
            </a:r>
            <a:r>
              <a:rPr sz="2000" dirty="0">
                <a:latin typeface="Museo 300" pitchFamily="50" charset="0"/>
                <a:cs typeface="Arial"/>
              </a:rPr>
              <a:t>transferred over </a:t>
            </a:r>
            <a:r>
              <a:rPr sz="2000" spc="-5" dirty="0">
                <a:latin typeface="Museo 300" pitchFamily="50" charset="0"/>
                <a:cs typeface="Arial"/>
              </a:rPr>
              <a:t>the </a:t>
            </a:r>
            <a:r>
              <a:rPr sz="2000" dirty="0">
                <a:latin typeface="Museo 300" pitchFamily="50" charset="0"/>
                <a:cs typeface="Arial"/>
              </a:rPr>
              <a:t>bus </a:t>
            </a:r>
            <a:r>
              <a:rPr sz="2000" spc="-5" dirty="0">
                <a:latin typeface="Museo 300" pitchFamily="50" charset="0"/>
                <a:cs typeface="Arial"/>
              </a:rPr>
              <a:t>to</a:t>
            </a:r>
            <a:r>
              <a:rPr sz="2000" spc="-45" dirty="0">
                <a:latin typeface="Museo 300" pitchFamily="50" charset="0"/>
                <a:cs typeface="Arial"/>
              </a:rPr>
              <a:t> </a:t>
            </a:r>
            <a:r>
              <a:rPr sz="2000" spc="-190" dirty="0">
                <a:latin typeface="Museo 300" pitchFamily="50" charset="0"/>
                <a:cs typeface="Arial"/>
              </a:rPr>
              <a:t>Y.</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304800"/>
            <a:ext cx="7086600" cy="551433"/>
          </a:xfrm>
          <a:prstGeom prst="rect">
            <a:avLst/>
          </a:prstGeom>
        </p:spPr>
        <p:txBody>
          <a:bodyPr vert="horz" wrap="square" lIns="0" tIns="12700" rIns="0" bIns="0" rtlCol="0">
            <a:spAutoFit/>
          </a:bodyPr>
          <a:lstStyle/>
          <a:p>
            <a:pPr marL="12700" marR="5080">
              <a:lnSpc>
                <a:spcPct val="100000"/>
              </a:lnSpc>
              <a:spcBef>
                <a:spcPts val="100"/>
              </a:spcBef>
            </a:pPr>
            <a:r>
              <a:rPr dirty="0"/>
              <a:t>Fetching </a:t>
            </a:r>
            <a:r>
              <a:rPr spc="-5" dirty="0"/>
              <a:t>a </a:t>
            </a:r>
            <a:r>
              <a:rPr spc="-15" dirty="0"/>
              <a:t>Word</a:t>
            </a:r>
            <a:r>
              <a:rPr spc="-50" dirty="0"/>
              <a:t> </a:t>
            </a:r>
            <a:r>
              <a:rPr dirty="0"/>
              <a:t>from  Memory</a:t>
            </a:r>
          </a:p>
        </p:txBody>
      </p:sp>
      <p:sp>
        <p:nvSpPr>
          <p:cNvPr id="3" name="object 3"/>
          <p:cNvSpPr txBox="1"/>
          <p:nvPr/>
        </p:nvSpPr>
        <p:spPr>
          <a:xfrm>
            <a:off x="714587" y="1743582"/>
            <a:ext cx="10749279" cy="2912977"/>
          </a:xfrm>
          <a:prstGeom prst="rect">
            <a:avLst/>
          </a:prstGeom>
        </p:spPr>
        <p:txBody>
          <a:bodyPr vert="horz" wrap="square" lIns="0" tIns="12065" rIns="0" bIns="0" rtlCol="0">
            <a:spAutoFit/>
          </a:bodyPr>
          <a:lstStyle/>
          <a:p>
            <a:pPr marL="508000" marR="16510" indent="-495934" algn="just">
              <a:lnSpc>
                <a:spcPct val="150000"/>
              </a:lnSpc>
              <a:spcBef>
                <a:spcPts val="95"/>
              </a:spcBef>
              <a:buClr>
                <a:srgbClr val="330066"/>
              </a:buClr>
              <a:buSzPct val="69642"/>
              <a:buFont typeface="Wingdings"/>
              <a:buChar char="⚫"/>
              <a:tabLst>
                <a:tab pos="508000" algn="l"/>
                <a:tab pos="508634" algn="l"/>
              </a:tabLst>
            </a:pPr>
            <a:r>
              <a:rPr sz="2000" spc="-165" dirty="0">
                <a:latin typeface="Museo 300" pitchFamily="50" charset="0"/>
                <a:cs typeface="Arial"/>
              </a:rPr>
              <a:t>To </a:t>
            </a:r>
            <a:r>
              <a:rPr sz="2000" spc="-5" dirty="0">
                <a:latin typeface="Museo 300" pitchFamily="50" charset="0"/>
                <a:cs typeface="Arial"/>
              </a:rPr>
              <a:t>fetch a word of information from </a:t>
            </a:r>
            <a:r>
              <a:rPr sz="2000" spc="-30" dirty="0">
                <a:latin typeface="Museo 300" pitchFamily="50" charset="0"/>
                <a:cs typeface="Arial"/>
              </a:rPr>
              <a:t>memory, the  </a:t>
            </a:r>
            <a:r>
              <a:rPr sz="2000" dirty="0">
                <a:latin typeface="Museo 300" pitchFamily="50" charset="0"/>
                <a:cs typeface="Arial"/>
              </a:rPr>
              <a:t>processor has to specify the address of the  </a:t>
            </a:r>
            <a:r>
              <a:rPr sz="2000" spc="-5" dirty="0">
                <a:latin typeface="Museo 300" pitchFamily="50" charset="0"/>
                <a:cs typeface="Arial"/>
              </a:rPr>
              <a:t>memory location where this information is  stored </a:t>
            </a:r>
            <a:r>
              <a:rPr sz="2000" dirty="0">
                <a:latin typeface="Museo 300" pitchFamily="50" charset="0"/>
                <a:cs typeface="Arial"/>
              </a:rPr>
              <a:t>and request </a:t>
            </a:r>
            <a:r>
              <a:rPr sz="2000" spc="-5" dirty="0">
                <a:latin typeface="Museo 300" pitchFamily="50" charset="0"/>
                <a:cs typeface="Arial"/>
              </a:rPr>
              <a:t>a Read</a:t>
            </a:r>
            <a:r>
              <a:rPr sz="2000" spc="10" dirty="0">
                <a:latin typeface="Museo 300" pitchFamily="50" charset="0"/>
                <a:cs typeface="Arial"/>
              </a:rPr>
              <a:t> </a:t>
            </a:r>
            <a:r>
              <a:rPr sz="2000" dirty="0">
                <a:latin typeface="Museo 300" pitchFamily="50" charset="0"/>
                <a:cs typeface="Arial"/>
              </a:rPr>
              <a:t>operation.</a:t>
            </a:r>
            <a:endParaRPr sz="2000">
              <a:latin typeface="Museo 300" pitchFamily="50" charset="0"/>
              <a:cs typeface="Arial"/>
            </a:endParaRPr>
          </a:p>
          <a:p>
            <a:pPr marL="508000" marR="5080" indent="-495934" algn="just">
              <a:lnSpc>
                <a:spcPct val="150000"/>
              </a:lnSpc>
              <a:spcBef>
                <a:spcPts val="675"/>
              </a:spcBef>
              <a:buClr>
                <a:srgbClr val="330066"/>
              </a:buClr>
              <a:buSzPct val="69642"/>
              <a:buFont typeface="Wingdings"/>
              <a:buChar char="⚫"/>
              <a:tabLst>
                <a:tab pos="508000" algn="l"/>
                <a:tab pos="508634" algn="l"/>
              </a:tabLst>
            </a:pPr>
            <a:r>
              <a:rPr sz="2000" spc="-5" dirty="0">
                <a:latin typeface="Museo 300" pitchFamily="50" charset="0"/>
                <a:cs typeface="Arial"/>
              </a:rPr>
              <a:t>The information to be </a:t>
            </a:r>
            <a:r>
              <a:rPr sz="2000" dirty="0">
                <a:latin typeface="Museo 300" pitchFamily="50" charset="0"/>
                <a:cs typeface="Arial"/>
              </a:rPr>
              <a:t>fetched </a:t>
            </a:r>
            <a:r>
              <a:rPr sz="2000" spc="-5" dirty="0">
                <a:latin typeface="Museo 300" pitchFamily="50" charset="0"/>
                <a:cs typeface="Arial"/>
              </a:rPr>
              <a:t>may be an  </a:t>
            </a:r>
            <a:r>
              <a:rPr sz="2000" dirty="0">
                <a:latin typeface="Museo 300" pitchFamily="50" charset="0"/>
                <a:cs typeface="Arial"/>
              </a:rPr>
              <a:t>instruction </a:t>
            </a:r>
            <a:r>
              <a:rPr sz="2000" spc="-5" dirty="0">
                <a:latin typeface="Museo 300" pitchFamily="50" charset="0"/>
                <a:cs typeface="Arial"/>
              </a:rPr>
              <a:t>in a </a:t>
            </a:r>
            <a:r>
              <a:rPr sz="2000" dirty="0">
                <a:latin typeface="Museo 300" pitchFamily="50" charset="0"/>
                <a:cs typeface="Arial"/>
              </a:rPr>
              <a:t>program </a:t>
            </a:r>
            <a:r>
              <a:rPr sz="2000" spc="-5" dirty="0">
                <a:latin typeface="Museo 300" pitchFamily="50" charset="0"/>
                <a:cs typeface="Arial"/>
              </a:rPr>
              <a:t>or an </a:t>
            </a:r>
            <a:r>
              <a:rPr sz="2000" dirty="0">
                <a:latin typeface="Museo 300" pitchFamily="50" charset="0"/>
                <a:cs typeface="Arial"/>
              </a:rPr>
              <a:t>operand </a:t>
            </a:r>
            <a:r>
              <a:rPr sz="2000" spc="-5" dirty="0">
                <a:latin typeface="Museo 300" pitchFamily="50" charset="0"/>
                <a:cs typeface="Arial"/>
              </a:rPr>
              <a:t>specified  by an</a:t>
            </a:r>
            <a:r>
              <a:rPr sz="2000" dirty="0">
                <a:latin typeface="Museo 300" pitchFamily="50" charset="0"/>
                <a:cs typeface="Arial"/>
              </a:rPr>
              <a:t> instruction.</a:t>
            </a:r>
            <a:endParaRPr sz="2000">
              <a:latin typeface="Museo 300" pitchFamily="50" charset="0"/>
              <a:cs typeface="Arial"/>
            </a:endParaRPr>
          </a:p>
          <a:p>
            <a:pPr marL="508000" marR="24765" indent="-495934" algn="just">
              <a:lnSpc>
                <a:spcPct val="150000"/>
              </a:lnSpc>
              <a:spcBef>
                <a:spcPts val="675"/>
              </a:spcBef>
              <a:buClr>
                <a:srgbClr val="330066"/>
              </a:buClr>
              <a:buSzPct val="69642"/>
              <a:buFont typeface="Wingdings"/>
              <a:buChar char="⚫"/>
              <a:tabLst>
                <a:tab pos="508000" algn="l"/>
                <a:tab pos="508634" algn="l"/>
              </a:tabLst>
            </a:pPr>
            <a:r>
              <a:rPr sz="2000" spc="-5" dirty="0">
                <a:latin typeface="Museo 300" pitchFamily="50" charset="0"/>
                <a:cs typeface="Arial"/>
              </a:rPr>
              <a:t>The </a:t>
            </a:r>
            <a:r>
              <a:rPr sz="2000" dirty="0">
                <a:latin typeface="Museo 300" pitchFamily="50" charset="0"/>
                <a:cs typeface="Arial"/>
              </a:rPr>
              <a:t>processor transfers </a:t>
            </a:r>
            <a:r>
              <a:rPr sz="2000" spc="-5" dirty="0">
                <a:latin typeface="Museo 300" pitchFamily="50" charset="0"/>
                <a:cs typeface="Arial"/>
              </a:rPr>
              <a:t>the </a:t>
            </a:r>
            <a:r>
              <a:rPr sz="2000" dirty="0">
                <a:latin typeface="Museo 300" pitchFamily="50" charset="0"/>
                <a:cs typeface="Arial"/>
              </a:rPr>
              <a:t>required </a:t>
            </a:r>
            <a:r>
              <a:rPr sz="2000" spc="-5" dirty="0">
                <a:latin typeface="Museo 300" pitchFamily="50" charset="0"/>
                <a:cs typeface="Arial"/>
              </a:rPr>
              <a:t>address </a:t>
            </a:r>
            <a:r>
              <a:rPr sz="2000" spc="-45" dirty="0">
                <a:latin typeface="Museo 300" pitchFamily="50" charset="0"/>
                <a:cs typeface="Arial"/>
              </a:rPr>
              <a:t>to  </a:t>
            </a:r>
            <a:r>
              <a:rPr sz="2000" spc="-5" dirty="0">
                <a:latin typeface="Museo 300" pitchFamily="50" charset="0"/>
                <a:cs typeface="Arial"/>
              </a:rPr>
              <a:t>the MAR, whose </a:t>
            </a:r>
            <a:r>
              <a:rPr sz="2000" dirty="0">
                <a:latin typeface="Museo 300" pitchFamily="50" charset="0"/>
                <a:cs typeface="Arial"/>
              </a:rPr>
              <a:t>output </a:t>
            </a:r>
            <a:r>
              <a:rPr sz="2000" spc="-5" dirty="0">
                <a:latin typeface="Museo 300" pitchFamily="50" charset="0"/>
                <a:cs typeface="Arial"/>
              </a:rPr>
              <a:t>is connected to the  </a:t>
            </a:r>
            <a:r>
              <a:rPr sz="2000" dirty="0">
                <a:latin typeface="Museo 300" pitchFamily="50" charset="0"/>
                <a:cs typeface="Arial"/>
              </a:rPr>
              <a:t>address lines of the </a:t>
            </a:r>
            <a:r>
              <a:rPr sz="2000" spc="-5" dirty="0">
                <a:latin typeface="Museo 300" pitchFamily="50" charset="0"/>
                <a:cs typeface="Arial"/>
              </a:rPr>
              <a:t>memory</a:t>
            </a:r>
            <a:r>
              <a:rPr sz="2000" spc="10" dirty="0">
                <a:latin typeface="Museo 300" pitchFamily="50" charset="0"/>
                <a:cs typeface="Arial"/>
              </a:rPr>
              <a:t> </a:t>
            </a:r>
            <a:r>
              <a:rPr sz="2000" dirty="0">
                <a:latin typeface="Museo 300" pitchFamily="50" charset="0"/>
                <a:cs typeface="Arial"/>
              </a:rPr>
              <a:t>bus.</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157098"/>
            <a:ext cx="9677400" cy="551433"/>
          </a:xfrm>
          <a:prstGeom prst="rect">
            <a:avLst/>
          </a:prstGeom>
        </p:spPr>
        <p:txBody>
          <a:bodyPr vert="horz" wrap="square" lIns="0" tIns="12700" rIns="0" bIns="0" rtlCol="0">
            <a:spAutoFit/>
          </a:bodyPr>
          <a:lstStyle/>
          <a:p>
            <a:pPr marL="12700" marR="5080">
              <a:lnSpc>
                <a:spcPct val="100000"/>
              </a:lnSpc>
              <a:spcBef>
                <a:spcPts val="100"/>
              </a:spcBef>
            </a:pPr>
            <a:r>
              <a:rPr dirty="0"/>
              <a:t>Fetching </a:t>
            </a:r>
            <a:r>
              <a:rPr spc="-5" dirty="0"/>
              <a:t>a </a:t>
            </a:r>
            <a:r>
              <a:rPr spc="-15" dirty="0"/>
              <a:t>Word</a:t>
            </a:r>
            <a:r>
              <a:rPr spc="-50" dirty="0"/>
              <a:t> </a:t>
            </a:r>
            <a:r>
              <a:t>from  </a:t>
            </a:r>
            <a:r>
              <a:rPr spc="-40"/>
              <a:t>Memory</a:t>
            </a:r>
            <a:r>
              <a:rPr lang="en-US" spc="-40" dirty="0"/>
              <a:t> continue</a:t>
            </a:r>
            <a:r>
              <a:rPr spc="-40"/>
              <a:t>..</a:t>
            </a:r>
            <a:endParaRPr spc="-40" dirty="0"/>
          </a:p>
        </p:txBody>
      </p:sp>
      <p:sp>
        <p:nvSpPr>
          <p:cNvPr id="3" name="object 3"/>
          <p:cNvSpPr txBox="1"/>
          <p:nvPr/>
        </p:nvSpPr>
        <p:spPr>
          <a:xfrm>
            <a:off x="714588" y="1743583"/>
            <a:ext cx="10641753" cy="2451312"/>
          </a:xfrm>
          <a:prstGeom prst="rect">
            <a:avLst/>
          </a:prstGeom>
        </p:spPr>
        <p:txBody>
          <a:bodyPr vert="horz" wrap="square" lIns="0" tIns="12065" rIns="0" bIns="0" rtlCol="0">
            <a:spAutoFit/>
          </a:bodyPr>
          <a:lstStyle/>
          <a:p>
            <a:pPr marL="508000" marR="105410" indent="-495934" algn="just">
              <a:lnSpc>
                <a:spcPct val="150000"/>
              </a:lnSpc>
              <a:spcBef>
                <a:spcPts val="95"/>
              </a:spcBef>
              <a:buClr>
                <a:srgbClr val="330066"/>
              </a:buClr>
              <a:buSzPct val="69642"/>
              <a:buFont typeface="Wingdings"/>
              <a:buChar char="⚫"/>
              <a:tabLst>
                <a:tab pos="508000" algn="l"/>
                <a:tab pos="508634" algn="l"/>
              </a:tabLst>
            </a:pPr>
            <a:r>
              <a:rPr sz="2000" spc="-5" dirty="0">
                <a:latin typeface="Museo 300" pitchFamily="50" charset="0"/>
                <a:cs typeface="Arial"/>
              </a:rPr>
              <a:t>At the same time, the </a:t>
            </a:r>
            <a:r>
              <a:rPr sz="2000" dirty="0">
                <a:latin typeface="Museo 300" pitchFamily="50" charset="0"/>
                <a:cs typeface="Arial"/>
              </a:rPr>
              <a:t>processor uses </a:t>
            </a:r>
            <a:r>
              <a:rPr sz="2000" spc="-5" dirty="0">
                <a:latin typeface="Museo 300" pitchFamily="50" charset="0"/>
                <a:cs typeface="Arial"/>
              </a:rPr>
              <a:t>the  </a:t>
            </a:r>
            <a:r>
              <a:rPr sz="2000" dirty="0">
                <a:latin typeface="Museo 300" pitchFamily="50" charset="0"/>
                <a:cs typeface="Arial"/>
              </a:rPr>
              <a:t>control lines </a:t>
            </a:r>
            <a:r>
              <a:rPr sz="2000" spc="-5" dirty="0">
                <a:latin typeface="Museo 300" pitchFamily="50" charset="0"/>
                <a:cs typeface="Arial"/>
              </a:rPr>
              <a:t>of the memory bus to indicate that  a Read operation is</a:t>
            </a:r>
            <a:r>
              <a:rPr sz="2000" spc="30" dirty="0">
                <a:latin typeface="Museo 300" pitchFamily="50" charset="0"/>
                <a:cs typeface="Arial"/>
              </a:rPr>
              <a:t> </a:t>
            </a:r>
            <a:r>
              <a:rPr sz="2000" dirty="0">
                <a:latin typeface="Museo 300" pitchFamily="50" charset="0"/>
                <a:cs typeface="Arial"/>
              </a:rPr>
              <a:t>needed.</a:t>
            </a:r>
            <a:endParaRPr sz="2000">
              <a:latin typeface="Museo 300" pitchFamily="50" charset="0"/>
              <a:cs typeface="Arial"/>
            </a:endParaRPr>
          </a:p>
          <a:p>
            <a:pPr marL="508000" marR="5080" indent="-495934" algn="just">
              <a:lnSpc>
                <a:spcPct val="150000"/>
              </a:lnSpc>
              <a:spcBef>
                <a:spcPts val="675"/>
              </a:spcBef>
              <a:buClr>
                <a:srgbClr val="330066"/>
              </a:buClr>
              <a:buSzPct val="69642"/>
              <a:buFont typeface="Wingdings"/>
              <a:buChar char="⚫"/>
              <a:tabLst>
                <a:tab pos="508000" algn="l"/>
                <a:tab pos="508634" algn="l"/>
              </a:tabLst>
            </a:pPr>
            <a:r>
              <a:rPr sz="2000" spc="-5" dirty="0">
                <a:latin typeface="Museo 300" pitchFamily="50" charset="0"/>
                <a:cs typeface="Arial"/>
              </a:rPr>
              <a:t>When the </a:t>
            </a:r>
            <a:r>
              <a:rPr sz="2000" dirty="0">
                <a:latin typeface="Museo 300" pitchFamily="50" charset="0"/>
                <a:cs typeface="Arial"/>
              </a:rPr>
              <a:t>requested data </a:t>
            </a:r>
            <a:r>
              <a:rPr sz="2000" spc="-5" dirty="0">
                <a:latin typeface="Museo 300" pitchFamily="50" charset="0"/>
                <a:cs typeface="Arial"/>
              </a:rPr>
              <a:t>are </a:t>
            </a:r>
            <a:r>
              <a:rPr sz="2000" dirty="0">
                <a:latin typeface="Museo 300" pitchFamily="50" charset="0"/>
                <a:cs typeface="Arial"/>
              </a:rPr>
              <a:t>received from </a:t>
            </a:r>
            <a:r>
              <a:rPr sz="2000" spc="-30" dirty="0">
                <a:latin typeface="Museo 300" pitchFamily="50" charset="0"/>
                <a:cs typeface="Arial"/>
              </a:rPr>
              <a:t>the  </a:t>
            </a:r>
            <a:r>
              <a:rPr sz="2000" spc="-5" dirty="0">
                <a:latin typeface="Museo 300" pitchFamily="50" charset="0"/>
                <a:cs typeface="Arial"/>
              </a:rPr>
              <a:t>memory </a:t>
            </a:r>
            <a:r>
              <a:rPr sz="2000" dirty="0">
                <a:latin typeface="Museo 300" pitchFamily="50" charset="0"/>
                <a:cs typeface="Arial"/>
              </a:rPr>
              <a:t>they </a:t>
            </a:r>
            <a:r>
              <a:rPr sz="2000" spc="-5" dirty="0">
                <a:latin typeface="Museo 300" pitchFamily="50" charset="0"/>
                <a:cs typeface="Arial"/>
              </a:rPr>
              <a:t>are </a:t>
            </a:r>
            <a:r>
              <a:rPr sz="2000" dirty="0">
                <a:latin typeface="Museo 300" pitchFamily="50" charset="0"/>
                <a:cs typeface="Arial"/>
              </a:rPr>
              <a:t>stored </a:t>
            </a:r>
            <a:r>
              <a:rPr sz="2000" spc="-5" dirty="0">
                <a:latin typeface="Museo 300" pitchFamily="50" charset="0"/>
                <a:cs typeface="Arial"/>
              </a:rPr>
              <a:t>in </a:t>
            </a:r>
            <a:r>
              <a:rPr sz="2000" dirty="0">
                <a:latin typeface="Museo 300" pitchFamily="50" charset="0"/>
                <a:cs typeface="Arial"/>
              </a:rPr>
              <a:t>register</a:t>
            </a:r>
            <a:r>
              <a:rPr sz="2000" spc="20" dirty="0">
                <a:latin typeface="Museo 300" pitchFamily="50" charset="0"/>
                <a:cs typeface="Arial"/>
              </a:rPr>
              <a:t> </a:t>
            </a:r>
            <a:r>
              <a:rPr sz="2000" spc="-5" dirty="0">
                <a:latin typeface="Museo 300" pitchFamily="50" charset="0"/>
                <a:cs typeface="Arial"/>
              </a:rPr>
              <a:t>MDR,</a:t>
            </a:r>
            <a:endParaRPr sz="2000">
              <a:latin typeface="Museo 300" pitchFamily="50" charset="0"/>
              <a:cs typeface="Arial"/>
            </a:endParaRPr>
          </a:p>
          <a:p>
            <a:pPr marL="508000" marR="561340" indent="-495934" algn="just">
              <a:lnSpc>
                <a:spcPct val="150000"/>
              </a:lnSpc>
              <a:spcBef>
                <a:spcPts val="675"/>
              </a:spcBef>
              <a:buClr>
                <a:srgbClr val="330066"/>
              </a:buClr>
              <a:buSzPct val="69642"/>
              <a:buFont typeface="Wingdings"/>
              <a:buChar char="⚫"/>
              <a:tabLst>
                <a:tab pos="508000" algn="l"/>
                <a:tab pos="508634" algn="l"/>
              </a:tabLst>
            </a:pPr>
            <a:r>
              <a:rPr sz="2000" spc="-5" dirty="0">
                <a:latin typeface="Museo 300" pitchFamily="50" charset="0"/>
                <a:cs typeface="Arial"/>
              </a:rPr>
              <a:t>From MDR, </a:t>
            </a:r>
            <a:r>
              <a:rPr sz="2000" dirty="0">
                <a:latin typeface="Museo 300" pitchFamily="50" charset="0"/>
                <a:cs typeface="Arial"/>
              </a:rPr>
              <a:t>they </a:t>
            </a:r>
            <a:r>
              <a:rPr sz="2000" spc="-5" dirty="0">
                <a:latin typeface="Museo 300" pitchFamily="50" charset="0"/>
                <a:cs typeface="Arial"/>
              </a:rPr>
              <a:t>can be </a:t>
            </a:r>
            <a:r>
              <a:rPr sz="2000" dirty="0">
                <a:latin typeface="Museo 300" pitchFamily="50" charset="0"/>
                <a:cs typeface="Arial"/>
              </a:rPr>
              <a:t>transferred to </a:t>
            </a:r>
            <a:r>
              <a:rPr sz="2000" spc="-25" dirty="0">
                <a:latin typeface="Museo 300" pitchFamily="50" charset="0"/>
                <a:cs typeface="Arial"/>
              </a:rPr>
              <a:t>other  </a:t>
            </a:r>
            <a:r>
              <a:rPr sz="2000" dirty="0">
                <a:latin typeface="Museo 300" pitchFamily="50" charset="0"/>
                <a:cs typeface="Arial"/>
              </a:rPr>
              <a:t>registers </a:t>
            </a:r>
            <a:r>
              <a:rPr sz="2000" spc="-5" dirty="0">
                <a:latin typeface="Museo 300" pitchFamily="50" charset="0"/>
                <a:cs typeface="Arial"/>
              </a:rPr>
              <a:t>in the</a:t>
            </a:r>
            <a:r>
              <a:rPr sz="2000" spc="5" dirty="0">
                <a:latin typeface="Museo 300" pitchFamily="50" charset="0"/>
                <a:cs typeface="Arial"/>
              </a:rPr>
              <a:t> </a:t>
            </a:r>
            <a:r>
              <a:rPr sz="2000" spc="-15" dirty="0">
                <a:latin typeface="Museo 300" pitchFamily="50" charset="0"/>
                <a:cs typeface="Arial"/>
              </a:rPr>
              <a:t>processor.</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152400"/>
            <a:ext cx="6856307" cy="551433"/>
          </a:xfrm>
          <a:prstGeom prst="rect">
            <a:avLst/>
          </a:prstGeom>
        </p:spPr>
        <p:txBody>
          <a:bodyPr vert="horz" wrap="square" lIns="0" tIns="12700" rIns="0" bIns="0" rtlCol="0">
            <a:spAutoFit/>
          </a:bodyPr>
          <a:lstStyle/>
          <a:p>
            <a:pPr marL="12700" marR="5080">
              <a:lnSpc>
                <a:spcPct val="100000"/>
              </a:lnSpc>
              <a:spcBef>
                <a:spcPts val="100"/>
              </a:spcBef>
            </a:pPr>
            <a:r>
              <a:rPr lang="en-US" dirty="0"/>
              <a:t>MDR Connection</a:t>
            </a:r>
            <a:endParaRPr spc="-40" dirty="0"/>
          </a:p>
        </p:txBody>
      </p:sp>
      <p:sp>
        <p:nvSpPr>
          <p:cNvPr id="3" name="object 3"/>
          <p:cNvSpPr txBox="1"/>
          <p:nvPr/>
        </p:nvSpPr>
        <p:spPr>
          <a:xfrm>
            <a:off x="2971800" y="5257800"/>
            <a:ext cx="6753860" cy="258404"/>
          </a:xfrm>
          <a:prstGeom prst="rect">
            <a:avLst/>
          </a:prstGeom>
        </p:spPr>
        <p:txBody>
          <a:bodyPr vert="horz" wrap="square" lIns="0" tIns="12065" rIns="0" bIns="0" rtlCol="0">
            <a:spAutoFit/>
          </a:bodyPr>
          <a:lstStyle/>
          <a:p>
            <a:pPr marL="12700">
              <a:lnSpc>
                <a:spcPct val="100000"/>
              </a:lnSpc>
              <a:spcBef>
                <a:spcPts val="95"/>
              </a:spcBef>
            </a:pPr>
            <a:r>
              <a:rPr sz="1600">
                <a:latin typeface="Museo 300" pitchFamily="50" charset="0"/>
                <a:cs typeface="Times New Roman"/>
              </a:rPr>
              <a:t>Connection </a:t>
            </a:r>
            <a:r>
              <a:rPr sz="1600" spc="-5" dirty="0">
                <a:latin typeface="Museo 300" pitchFamily="50" charset="0"/>
                <a:cs typeface="Times New Roman"/>
              </a:rPr>
              <a:t>and control signals </a:t>
            </a:r>
            <a:r>
              <a:rPr sz="1600" dirty="0">
                <a:latin typeface="Museo 300" pitchFamily="50" charset="0"/>
                <a:cs typeface="Times New Roman"/>
              </a:rPr>
              <a:t>for </a:t>
            </a:r>
            <a:r>
              <a:rPr sz="1600" spc="-5" dirty="0">
                <a:latin typeface="Museo 300" pitchFamily="50" charset="0"/>
                <a:cs typeface="Times New Roman"/>
              </a:rPr>
              <a:t>register</a:t>
            </a:r>
            <a:r>
              <a:rPr sz="1600" spc="175" dirty="0">
                <a:latin typeface="Museo 300" pitchFamily="50" charset="0"/>
                <a:cs typeface="Times New Roman"/>
              </a:rPr>
              <a:t> </a:t>
            </a:r>
            <a:r>
              <a:rPr sz="1600" spc="-5" dirty="0">
                <a:latin typeface="Museo 300" pitchFamily="50" charset="0"/>
                <a:cs typeface="Times New Roman"/>
              </a:rPr>
              <a:t>MDR.</a:t>
            </a:r>
            <a:endParaRPr sz="1600">
              <a:latin typeface="Museo 300" pitchFamily="50" charset="0"/>
              <a:cs typeface="Times New Roman"/>
            </a:endParaRPr>
          </a:p>
        </p:txBody>
      </p:sp>
      <p:sp>
        <p:nvSpPr>
          <p:cNvPr id="4" name="object 4"/>
          <p:cNvSpPr txBox="1"/>
          <p:nvPr/>
        </p:nvSpPr>
        <p:spPr>
          <a:xfrm>
            <a:off x="4506975" y="3080003"/>
            <a:ext cx="2812627" cy="445635"/>
          </a:xfrm>
          <a:prstGeom prst="rect">
            <a:avLst/>
          </a:prstGeom>
          <a:ln w="21335">
            <a:solidFill>
              <a:srgbClr val="000000"/>
            </a:solidFill>
          </a:ln>
        </p:spPr>
        <p:txBody>
          <a:bodyPr vert="horz" wrap="square" lIns="0" tIns="136525" rIns="0" bIns="0" rtlCol="0">
            <a:spAutoFit/>
          </a:bodyPr>
          <a:lstStyle/>
          <a:p>
            <a:pPr marL="110489" algn="ctr">
              <a:lnSpc>
                <a:spcPct val="100000"/>
              </a:lnSpc>
              <a:spcBef>
                <a:spcPts val="1075"/>
              </a:spcBef>
            </a:pPr>
            <a:r>
              <a:rPr sz="2000" dirty="0">
                <a:latin typeface="Museo 300" pitchFamily="50" charset="0"/>
                <a:cs typeface="Carlito"/>
              </a:rPr>
              <a:t>MDR</a:t>
            </a:r>
            <a:endParaRPr sz="2000">
              <a:latin typeface="Museo 300" pitchFamily="50" charset="0"/>
              <a:cs typeface="Carlito"/>
            </a:endParaRPr>
          </a:p>
        </p:txBody>
      </p:sp>
      <p:sp>
        <p:nvSpPr>
          <p:cNvPr id="5" name="object 5"/>
          <p:cNvSpPr txBox="1"/>
          <p:nvPr/>
        </p:nvSpPr>
        <p:spPr>
          <a:xfrm>
            <a:off x="1647611" y="1458594"/>
            <a:ext cx="1377525" cy="466725"/>
          </a:xfrm>
          <a:prstGeom prst="rect">
            <a:avLst/>
          </a:prstGeom>
        </p:spPr>
        <p:txBody>
          <a:bodyPr vert="horz" wrap="square" lIns="0" tIns="32384" rIns="0" bIns="0" rtlCol="0">
            <a:spAutoFit/>
          </a:bodyPr>
          <a:lstStyle/>
          <a:p>
            <a:pPr marL="161290" marR="5080" indent="-149225">
              <a:lnSpc>
                <a:spcPts val="1680"/>
              </a:lnSpc>
              <a:spcBef>
                <a:spcPts val="254"/>
              </a:spcBef>
            </a:pPr>
            <a:r>
              <a:rPr sz="1500" dirty="0">
                <a:latin typeface="Museo 300" pitchFamily="50" charset="0"/>
                <a:cs typeface="Carlito"/>
              </a:rPr>
              <a:t>Memo</a:t>
            </a:r>
            <a:r>
              <a:rPr sz="1500" spc="15" dirty="0">
                <a:latin typeface="Museo 300" pitchFamily="50" charset="0"/>
                <a:cs typeface="Carlito"/>
              </a:rPr>
              <a:t>r</a:t>
            </a:r>
            <a:r>
              <a:rPr sz="1500" spc="5" dirty="0">
                <a:latin typeface="Museo 300" pitchFamily="50" charset="0"/>
                <a:cs typeface="Carlito"/>
              </a:rPr>
              <a:t>y</a:t>
            </a:r>
            <a:r>
              <a:rPr sz="1500" spc="-5" dirty="0">
                <a:latin typeface="Museo 300" pitchFamily="50" charset="0"/>
                <a:cs typeface="Carlito"/>
              </a:rPr>
              <a:t>-</a:t>
            </a:r>
            <a:r>
              <a:rPr sz="1500" spc="60" dirty="0">
                <a:latin typeface="Museo 300" pitchFamily="50" charset="0"/>
                <a:cs typeface="Carlito"/>
              </a:rPr>
              <a:t>b</a:t>
            </a:r>
            <a:r>
              <a:rPr sz="1500" dirty="0">
                <a:latin typeface="Museo 300" pitchFamily="50" charset="0"/>
                <a:cs typeface="Carlito"/>
              </a:rPr>
              <a:t>us  </a:t>
            </a:r>
            <a:r>
              <a:rPr sz="1500" spc="-10" dirty="0">
                <a:latin typeface="Museo 300" pitchFamily="50" charset="0"/>
                <a:cs typeface="Carlito"/>
              </a:rPr>
              <a:t>data</a:t>
            </a:r>
            <a:r>
              <a:rPr sz="1500" spc="-55" dirty="0">
                <a:latin typeface="Museo 300" pitchFamily="50" charset="0"/>
                <a:cs typeface="Carlito"/>
              </a:rPr>
              <a:t> </a:t>
            </a:r>
            <a:r>
              <a:rPr sz="1500" dirty="0">
                <a:latin typeface="Museo 300" pitchFamily="50" charset="0"/>
                <a:cs typeface="Carlito"/>
              </a:rPr>
              <a:t>lines</a:t>
            </a:r>
            <a:endParaRPr sz="1500">
              <a:latin typeface="Museo 300" pitchFamily="50" charset="0"/>
              <a:cs typeface="Carlito"/>
            </a:endParaRPr>
          </a:p>
        </p:txBody>
      </p:sp>
      <p:grpSp>
        <p:nvGrpSpPr>
          <p:cNvPr id="6" name="object 6"/>
          <p:cNvGrpSpPr/>
          <p:nvPr/>
        </p:nvGrpSpPr>
        <p:grpSpPr>
          <a:xfrm>
            <a:off x="6510528" y="2004059"/>
            <a:ext cx="3153833" cy="2749550"/>
            <a:chOff x="4930140" y="2732532"/>
            <a:chExt cx="2365375" cy="2749550"/>
          </a:xfrm>
        </p:grpSpPr>
        <p:sp>
          <p:nvSpPr>
            <p:cNvPr id="7" name="object 7"/>
            <p:cNvSpPr/>
            <p:nvPr/>
          </p:nvSpPr>
          <p:spPr>
            <a:xfrm>
              <a:off x="4930140" y="4415027"/>
              <a:ext cx="64007" cy="150876"/>
            </a:xfrm>
            <a:prstGeom prst="rect">
              <a:avLst/>
            </a:prstGeom>
            <a:blipFill>
              <a:blip r:embed="rId2" cstate="print"/>
              <a:stretch>
                <a:fillRect/>
              </a:stretch>
            </a:blipFill>
          </p:spPr>
          <p:txBody>
            <a:bodyPr wrap="square" lIns="0" tIns="0" rIns="0" bIns="0" rtlCol="0"/>
            <a:lstStyle/>
            <a:p>
              <a:endParaRPr>
                <a:latin typeface="Museo 300" pitchFamily="50" charset="0"/>
              </a:endParaRPr>
            </a:p>
          </p:txBody>
        </p:sp>
        <p:sp>
          <p:nvSpPr>
            <p:cNvPr id="8" name="object 8"/>
            <p:cNvSpPr/>
            <p:nvPr/>
          </p:nvSpPr>
          <p:spPr>
            <a:xfrm>
              <a:off x="4960620" y="4555236"/>
              <a:ext cx="2112645" cy="212090"/>
            </a:xfrm>
            <a:custGeom>
              <a:avLst/>
              <a:gdLst/>
              <a:ahLst/>
              <a:cxnLst/>
              <a:rect l="l" t="t" r="r" b="b"/>
              <a:pathLst>
                <a:path w="2112645" h="212089">
                  <a:moveTo>
                    <a:pt x="0" y="0"/>
                  </a:moveTo>
                  <a:lnTo>
                    <a:pt x="0" y="211836"/>
                  </a:lnTo>
                  <a:lnTo>
                    <a:pt x="2112263" y="211836"/>
                  </a:lnTo>
                </a:path>
              </a:pathLst>
            </a:custGeom>
            <a:ln w="21336">
              <a:solidFill>
                <a:srgbClr val="000000"/>
              </a:solidFill>
            </a:ln>
          </p:spPr>
          <p:txBody>
            <a:bodyPr wrap="square" lIns="0" tIns="0" rIns="0" bIns="0" rtlCol="0"/>
            <a:lstStyle/>
            <a:p>
              <a:endParaRPr>
                <a:latin typeface="Museo 300" pitchFamily="50" charset="0"/>
              </a:endParaRPr>
            </a:p>
          </p:txBody>
        </p:sp>
        <p:sp>
          <p:nvSpPr>
            <p:cNvPr id="9" name="object 9"/>
            <p:cNvSpPr/>
            <p:nvPr/>
          </p:nvSpPr>
          <p:spPr>
            <a:xfrm>
              <a:off x="6890004" y="3392424"/>
              <a:ext cx="170688" cy="85343"/>
            </a:xfrm>
            <a:prstGeom prst="rect">
              <a:avLst/>
            </a:prstGeom>
            <a:blipFill>
              <a:blip r:embed="rId3" cstate="print"/>
              <a:stretch>
                <a:fillRect/>
              </a:stretch>
            </a:blipFill>
          </p:spPr>
          <p:txBody>
            <a:bodyPr wrap="square" lIns="0" tIns="0" rIns="0" bIns="0" rtlCol="0"/>
            <a:lstStyle/>
            <a:p>
              <a:endParaRPr>
                <a:latin typeface="Museo 300" pitchFamily="50" charset="0"/>
              </a:endParaRPr>
            </a:p>
          </p:txBody>
        </p:sp>
        <p:sp>
          <p:nvSpPr>
            <p:cNvPr id="10" name="object 10"/>
            <p:cNvSpPr/>
            <p:nvPr/>
          </p:nvSpPr>
          <p:spPr>
            <a:xfrm>
              <a:off x="4960620" y="3381756"/>
              <a:ext cx="1940560" cy="426720"/>
            </a:xfrm>
            <a:custGeom>
              <a:avLst/>
              <a:gdLst/>
              <a:ahLst/>
              <a:cxnLst/>
              <a:rect l="l" t="t" r="r" b="b"/>
              <a:pathLst>
                <a:path w="1940559" h="426720">
                  <a:moveTo>
                    <a:pt x="0" y="426720"/>
                  </a:moveTo>
                  <a:lnTo>
                    <a:pt x="0" y="42672"/>
                  </a:lnTo>
                  <a:lnTo>
                    <a:pt x="1940052" y="42672"/>
                  </a:lnTo>
                </a:path>
                <a:path w="1940559" h="426720">
                  <a:moveTo>
                    <a:pt x="1109471" y="0"/>
                  </a:moveTo>
                  <a:lnTo>
                    <a:pt x="1002791" y="128016"/>
                  </a:lnTo>
                </a:path>
                <a:path w="1940559" h="426720">
                  <a:moveTo>
                    <a:pt x="1109471" y="128016"/>
                  </a:moveTo>
                  <a:lnTo>
                    <a:pt x="1002791" y="0"/>
                  </a:lnTo>
                </a:path>
              </a:pathLst>
            </a:custGeom>
            <a:ln w="21336">
              <a:solidFill>
                <a:srgbClr val="000000"/>
              </a:solidFill>
            </a:ln>
          </p:spPr>
          <p:txBody>
            <a:bodyPr wrap="square" lIns="0" tIns="0" rIns="0" bIns="0" rtlCol="0"/>
            <a:lstStyle/>
            <a:p>
              <a:endParaRPr>
                <a:latin typeface="Museo 300" pitchFamily="50" charset="0"/>
              </a:endParaRPr>
            </a:p>
          </p:txBody>
        </p:sp>
        <p:sp>
          <p:nvSpPr>
            <p:cNvPr id="11" name="object 11"/>
            <p:cNvSpPr/>
            <p:nvPr/>
          </p:nvSpPr>
          <p:spPr>
            <a:xfrm>
              <a:off x="6027420" y="2956560"/>
              <a:ext cx="0" cy="298450"/>
            </a:xfrm>
            <a:custGeom>
              <a:avLst/>
              <a:gdLst/>
              <a:ahLst/>
              <a:cxnLst/>
              <a:rect l="l" t="t" r="r" b="b"/>
              <a:pathLst>
                <a:path h="298450">
                  <a:moveTo>
                    <a:pt x="0" y="0"/>
                  </a:moveTo>
                  <a:lnTo>
                    <a:pt x="0" y="297941"/>
                  </a:lnTo>
                </a:path>
              </a:pathLst>
            </a:custGeom>
            <a:ln w="21335">
              <a:solidFill>
                <a:srgbClr val="00FFFF"/>
              </a:solidFill>
            </a:ln>
          </p:spPr>
          <p:txBody>
            <a:bodyPr wrap="square" lIns="0" tIns="0" rIns="0" bIns="0" rtlCol="0"/>
            <a:lstStyle/>
            <a:p>
              <a:endParaRPr>
                <a:latin typeface="Museo 300" pitchFamily="50" charset="0"/>
              </a:endParaRPr>
            </a:p>
          </p:txBody>
        </p:sp>
        <p:sp>
          <p:nvSpPr>
            <p:cNvPr id="12" name="object 12"/>
            <p:cNvSpPr/>
            <p:nvPr/>
          </p:nvSpPr>
          <p:spPr>
            <a:xfrm>
              <a:off x="5836158" y="3254502"/>
              <a:ext cx="363220" cy="363220"/>
            </a:xfrm>
            <a:custGeom>
              <a:avLst/>
              <a:gdLst/>
              <a:ahLst/>
              <a:cxnLst/>
              <a:rect l="l" t="t" r="r" b="b"/>
              <a:pathLst>
                <a:path w="363220" h="363220">
                  <a:moveTo>
                    <a:pt x="362712" y="0"/>
                  </a:moveTo>
                  <a:lnTo>
                    <a:pt x="0" y="0"/>
                  </a:lnTo>
                  <a:lnTo>
                    <a:pt x="0" y="362712"/>
                  </a:lnTo>
                  <a:lnTo>
                    <a:pt x="362712" y="362712"/>
                  </a:lnTo>
                  <a:lnTo>
                    <a:pt x="362712" y="0"/>
                  </a:lnTo>
                  <a:close/>
                </a:path>
              </a:pathLst>
            </a:custGeom>
            <a:solidFill>
              <a:srgbClr val="3399FF"/>
            </a:solidFill>
          </p:spPr>
          <p:txBody>
            <a:bodyPr wrap="square" lIns="0" tIns="0" rIns="0" bIns="0" rtlCol="0"/>
            <a:lstStyle/>
            <a:p>
              <a:endParaRPr>
                <a:latin typeface="Museo 300" pitchFamily="50" charset="0"/>
              </a:endParaRPr>
            </a:p>
          </p:txBody>
        </p:sp>
        <p:sp>
          <p:nvSpPr>
            <p:cNvPr id="13" name="object 13"/>
            <p:cNvSpPr/>
            <p:nvPr/>
          </p:nvSpPr>
          <p:spPr>
            <a:xfrm>
              <a:off x="5836158" y="3254502"/>
              <a:ext cx="363220" cy="363220"/>
            </a:xfrm>
            <a:custGeom>
              <a:avLst/>
              <a:gdLst/>
              <a:ahLst/>
              <a:cxnLst/>
              <a:rect l="l" t="t" r="r" b="b"/>
              <a:pathLst>
                <a:path w="363220" h="363220">
                  <a:moveTo>
                    <a:pt x="0" y="362712"/>
                  </a:moveTo>
                  <a:lnTo>
                    <a:pt x="362712" y="362712"/>
                  </a:lnTo>
                  <a:lnTo>
                    <a:pt x="362712" y="0"/>
                  </a:lnTo>
                  <a:lnTo>
                    <a:pt x="0" y="0"/>
                  </a:lnTo>
                  <a:lnTo>
                    <a:pt x="0" y="362712"/>
                  </a:lnTo>
                  <a:close/>
                </a:path>
              </a:pathLst>
            </a:custGeom>
            <a:ln w="3175">
              <a:solidFill>
                <a:srgbClr val="006FC0"/>
              </a:solidFill>
            </a:ln>
          </p:spPr>
          <p:txBody>
            <a:bodyPr wrap="square" lIns="0" tIns="0" rIns="0" bIns="0" rtlCol="0"/>
            <a:lstStyle/>
            <a:p>
              <a:endParaRPr>
                <a:latin typeface="Museo 300" pitchFamily="50" charset="0"/>
              </a:endParaRPr>
            </a:p>
          </p:txBody>
        </p:sp>
        <p:sp>
          <p:nvSpPr>
            <p:cNvPr id="14" name="object 14"/>
            <p:cNvSpPr/>
            <p:nvPr/>
          </p:nvSpPr>
          <p:spPr>
            <a:xfrm>
              <a:off x="5835396" y="3253740"/>
              <a:ext cx="363220" cy="363220"/>
            </a:xfrm>
            <a:custGeom>
              <a:avLst/>
              <a:gdLst/>
              <a:ahLst/>
              <a:cxnLst/>
              <a:rect l="l" t="t" r="r" b="b"/>
              <a:pathLst>
                <a:path w="363220" h="363220">
                  <a:moveTo>
                    <a:pt x="0" y="362712"/>
                  </a:moveTo>
                  <a:lnTo>
                    <a:pt x="362712" y="362712"/>
                  </a:lnTo>
                  <a:lnTo>
                    <a:pt x="362712" y="0"/>
                  </a:lnTo>
                  <a:lnTo>
                    <a:pt x="0" y="0"/>
                  </a:lnTo>
                  <a:lnTo>
                    <a:pt x="0" y="362712"/>
                  </a:lnTo>
                  <a:close/>
                </a:path>
              </a:pathLst>
            </a:custGeom>
            <a:ln w="21336">
              <a:solidFill>
                <a:srgbClr val="00FFFF"/>
              </a:solidFill>
            </a:ln>
          </p:spPr>
          <p:txBody>
            <a:bodyPr wrap="square" lIns="0" tIns="0" rIns="0" bIns="0" rtlCol="0"/>
            <a:lstStyle/>
            <a:p>
              <a:endParaRPr>
                <a:latin typeface="Museo 300" pitchFamily="50" charset="0"/>
              </a:endParaRPr>
            </a:p>
          </p:txBody>
        </p:sp>
        <p:sp>
          <p:nvSpPr>
            <p:cNvPr id="15" name="object 15"/>
            <p:cNvSpPr/>
            <p:nvPr/>
          </p:nvSpPr>
          <p:spPr>
            <a:xfrm>
              <a:off x="5963412" y="3381756"/>
              <a:ext cx="106680" cy="128270"/>
            </a:xfrm>
            <a:custGeom>
              <a:avLst/>
              <a:gdLst/>
              <a:ahLst/>
              <a:cxnLst/>
              <a:rect l="l" t="t" r="r" b="b"/>
              <a:pathLst>
                <a:path w="106679" h="128270">
                  <a:moveTo>
                    <a:pt x="106679" y="128016"/>
                  </a:moveTo>
                  <a:lnTo>
                    <a:pt x="0" y="0"/>
                  </a:lnTo>
                </a:path>
              </a:pathLst>
            </a:custGeom>
            <a:ln w="21336">
              <a:solidFill>
                <a:srgbClr val="B1B1B1"/>
              </a:solidFill>
            </a:ln>
          </p:spPr>
          <p:txBody>
            <a:bodyPr wrap="square" lIns="0" tIns="0" rIns="0" bIns="0" rtlCol="0"/>
            <a:lstStyle/>
            <a:p>
              <a:endParaRPr>
                <a:latin typeface="Museo 300" pitchFamily="50" charset="0"/>
              </a:endParaRPr>
            </a:p>
          </p:txBody>
        </p:sp>
        <p:sp>
          <p:nvSpPr>
            <p:cNvPr id="16" name="object 16"/>
            <p:cNvSpPr/>
            <p:nvPr/>
          </p:nvSpPr>
          <p:spPr>
            <a:xfrm>
              <a:off x="5963412" y="3381756"/>
              <a:ext cx="106680" cy="128270"/>
            </a:xfrm>
            <a:custGeom>
              <a:avLst/>
              <a:gdLst/>
              <a:ahLst/>
              <a:cxnLst/>
              <a:rect l="l" t="t" r="r" b="b"/>
              <a:pathLst>
                <a:path w="106679" h="128270">
                  <a:moveTo>
                    <a:pt x="106679" y="128016"/>
                  </a:moveTo>
                  <a:lnTo>
                    <a:pt x="0" y="0"/>
                  </a:lnTo>
                </a:path>
              </a:pathLst>
            </a:custGeom>
            <a:ln w="21336">
              <a:solidFill>
                <a:srgbClr val="000000"/>
              </a:solidFill>
            </a:ln>
          </p:spPr>
          <p:txBody>
            <a:bodyPr wrap="square" lIns="0" tIns="0" rIns="0" bIns="0" rtlCol="0"/>
            <a:lstStyle/>
            <a:p>
              <a:endParaRPr>
                <a:latin typeface="Museo 300" pitchFamily="50" charset="0"/>
              </a:endParaRPr>
            </a:p>
          </p:txBody>
        </p:sp>
        <p:sp>
          <p:nvSpPr>
            <p:cNvPr id="17" name="object 17"/>
            <p:cNvSpPr/>
            <p:nvPr/>
          </p:nvSpPr>
          <p:spPr>
            <a:xfrm>
              <a:off x="5963412" y="3381756"/>
              <a:ext cx="106680" cy="128270"/>
            </a:xfrm>
            <a:custGeom>
              <a:avLst/>
              <a:gdLst/>
              <a:ahLst/>
              <a:cxnLst/>
              <a:rect l="l" t="t" r="r" b="b"/>
              <a:pathLst>
                <a:path w="106679" h="128270">
                  <a:moveTo>
                    <a:pt x="106679" y="0"/>
                  </a:moveTo>
                  <a:lnTo>
                    <a:pt x="0" y="128016"/>
                  </a:lnTo>
                </a:path>
              </a:pathLst>
            </a:custGeom>
            <a:ln w="21336">
              <a:solidFill>
                <a:srgbClr val="B1B1B1"/>
              </a:solidFill>
            </a:ln>
          </p:spPr>
          <p:txBody>
            <a:bodyPr wrap="square" lIns="0" tIns="0" rIns="0" bIns="0" rtlCol="0"/>
            <a:lstStyle/>
            <a:p>
              <a:endParaRPr>
                <a:latin typeface="Museo 300" pitchFamily="50" charset="0"/>
              </a:endParaRPr>
            </a:p>
          </p:txBody>
        </p:sp>
        <p:sp>
          <p:nvSpPr>
            <p:cNvPr id="18" name="object 18"/>
            <p:cNvSpPr/>
            <p:nvPr/>
          </p:nvSpPr>
          <p:spPr>
            <a:xfrm>
              <a:off x="5963412" y="2743200"/>
              <a:ext cx="1321435" cy="2727960"/>
            </a:xfrm>
            <a:custGeom>
              <a:avLst/>
              <a:gdLst/>
              <a:ahLst/>
              <a:cxnLst/>
              <a:rect l="l" t="t" r="r" b="b"/>
              <a:pathLst>
                <a:path w="1321434" h="2727960">
                  <a:moveTo>
                    <a:pt x="106679" y="638555"/>
                  </a:moveTo>
                  <a:lnTo>
                    <a:pt x="0" y="766572"/>
                  </a:lnTo>
                </a:path>
                <a:path w="1321434" h="2727960">
                  <a:moveTo>
                    <a:pt x="1257299" y="213360"/>
                  </a:moveTo>
                  <a:lnTo>
                    <a:pt x="1321308" y="213360"/>
                  </a:lnTo>
                  <a:lnTo>
                    <a:pt x="1171956" y="0"/>
                  </a:lnTo>
                  <a:lnTo>
                    <a:pt x="1043939" y="213360"/>
                  </a:lnTo>
                  <a:lnTo>
                    <a:pt x="1107947" y="213360"/>
                  </a:lnTo>
                </a:path>
                <a:path w="1321434" h="2727960">
                  <a:moveTo>
                    <a:pt x="1109471" y="2514600"/>
                  </a:moveTo>
                  <a:lnTo>
                    <a:pt x="1109471" y="213360"/>
                  </a:lnTo>
                </a:path>
                <a:path w="1321434" h="2727960">
                  <a:moveTo>
                    <a:pt x="1258823" y="2514600"/>
                  </a:moveTo>
                  <a:lnTo>
                    <a:pt x="1258823" y="213360"/>
                  </a:lnTo>
                </a:path>
                <a:path w="1321434" h="2727960">
                  <a:moveTo>
                    <a:pt x="1257299" y="2514600"/>
                  </a:moveTo>
                  <a:lnTo>
                    <a:pt x="1299971" y="2514600"/>
                  </a:lnTo>
                  <a:lnTo>
                    <a:pt x="1171956" y="2727960"/>
                  </a:lnTo>
                  <a:lnTo>
                    <a:pt x="1043939" y="2514600"/>
                  </a:lnTo>
                  <a:lnTo>
                    <a:pt x="1107947" y="2514600"/>
                  </a:lnTo>
                </a:path>
              </a:pathLst>
            </a:custGeom>
            <a:ln w="21336">
              <a:solidFill>
                <a:srgbClr val="000000"/>
              </a:solidFill>
            </a:ln>
          </p:spPr>
          <p:txBody>
            <a:bodyPr wrap="square" lIns="0" tIns="0" rIns="0" bIns="0" rtlCol="0"/>
            <a:lstStyle/>
            <a:p>
              <a:endParaRPr>
                <a:latin typeface="Museo 300" pitchFamily="50" charset="0"/>
              </a:endParaRPr>
            </a:p>
          </p:txBody>
        </p:sp>
        <p:sp>
          <p:nvSpPr>
            <p:cNvPr id="19" name="object 19"/>
            <p:cNvSpPr/>
            <p:nvPr/>
          </p:nvSpPr>
          <p:spPr>
            <a:xfrm>
              <a:off x="6016752" y="4939283"/>
              <a:ext cx="21590" cy="297180"/>
            </a:xfrm>
            <a:custGeom>
              <a:avLst/>
              <a:gdLst/>
              <a:ahLst/>
              <a:cxnLst/>
              <a:rect l="l" t="t" r="r" b="b"/>
              <a:pathLst>
                <a:path w="21589" h="297179">
                  <a:moveTo>
                    <a:pt x="0" y="297180"/>
                  </a:moveTo>
                  <a:lnTo>
                    <a:pt x="21335" y="297180"/>
                  </a:lnTo>
                  <a:lnTo>
                    <a:pt x="21335" y="0"/>
                  </a:lnTo>
                  <a:lnTo>
                    <a:pt x="0" y="0"/>
                  </a:lnTo>
                  <a:lnTo>
                    <a:pt x="0" y="297180"/>
                  </a:lnTo>
                  <a:close/>
                </a:path>
              </a:pathLst>
            </a:custGeom>
            <a:solidFill>
              <a:srgbClr val="B1FFFF"/>
            </a:solidFill>
          </p:spPr>
          <p:txBody>
            <a:bodyPr wrap="square" lIns="0" tIns="0" rIns="0" bIns="0" rtlCol="0"/>
            <a:lstStyle/>
            <a:p>
              <a:endParaRPr>
                <a:latin typeface="Museo 300" pitchFamily="50" charset="0"/>
              </a:endParaRPr>
            </a:p>
          </p:txBody>
        </p:sp>
        <p:sp>
          <p:nvSpPr>
            <p:cNvPr id="20" name="object 20"/>
            <p:cNvSpPr/>
            <p:nvPr/>
          </p:nvSpPr>
          <p:spPr>
            <a:xfrm>
              <a:off x="6016752" y="4939283"/>
              <a:ext cx="21590" cy="297180"/>
            </a:xfrm>
            <a:custGeom>
              <a:avLst/>
              <a:gdLst/>
              <a:ahLst/>
              <a:cxnLst/>
              <a:rect l="l" t="t" r="r" b="b"/>
              <a:pathLst>
                <a:path w="21589" h="297179">
                  <a:moveTo>
                    <a:pt x="0" y="297180"/>
                  </a:moveTo>
                  <a:lnTo>
                    <a:pt x="21335" y="297180"/>
                  </a:lnTo>
                  <a:lnTo>
                    <a:pt x="21335" y="0"/>
                  </a:lnTo>
                  <a:lnTo>
                    <a:pt x="0" y="0"/>
                  </a:lnTo>
                  <a:lnTo>
                    <a:pt x="0" y="297180"/>
                  </a:lnTo>
                  <a:close/>
                </a:path>
              </a:pathLst>
            </a:custGeom>
            <a:solidFill>
              <a:srgbClr val="00FFFF"/>
            </a:solidFill>
          </p:spPr>
          <p:txBody>
            <a:bodyPr wrap="square" lIns="0" tIns="0" rIns="0" bIns="0" rtlCol="0"/>
            <a:lstStyle/>
            <a:p>
              <a:endParaRPr>
                <a:latin typeface="Museo 300" pitchFamily="50" charset="0"/>
              </a:endParaRPr>
            </a:p>
          </p:txBody>
        </p:sp>
        <p:sp>
          <p:nvSpPr>
            <p:cNvPr id="21" name="object 21"/>
            <p:cNvSpPr/>
            <p:nvPr/>
          </p:nvSpPr>
          <p:spPr>
            <a:xfrm>
              <a:off x="5963412" y="4683252"/>
              <a:ext cx="106680" cy="127000"/>
            </a:xfrm>
            <a:custGeom>
              <a:avLst/>
              <a:gdLst/>
              <a:ahLst/>
              <a:cxnLst/>
              <a:rect l="l" t="t" r="r" b="b"/>
              <a:pathLst>
                <a:path w="106679" h="127000">
                  <a:moveTo>
                    <a:pt x="106679" y="126492"/>
                  </a:moveTo>
                  <a:lnTo>
                    <a:pt x="0" y="0"/>
                  </a:lnTo>
                </a:path>
              </a:pathLst>
            </a:custGeom>
            <a:ln w="21336">
              <a:solidFill>
                <a:srgbClr val="B1B1B1"/>
              </a:solidFill>
            </a:ln>
          </p:spPr>
          <p:txBody>
            <a:bodyPr wrap="square" lIns="0" tIns="0" rIns="0" bIns="0" rtlCol="0"/>
            <a:lstStyle/>
            <a:p>
              <a:endParaRPr>
                <a:latin typeface="Museo 300" pitchFamily="50" charset="0"/>
              </a:endParaRPr>
            </a:p>
          </p:txBody>
        </p:sp>
        <p:sp>
          <p:nvSpPr>
            <p:cNvPr id="22" name="object 22"/>
            <p:cNvSpPr/>
            <p:nvPr/>
          </p:nvSpPr>
          <p:spPr>
            <a:xfrm>
              <a:off x="5963412" y="4683252"/>
              <a:ext cx="106680" cy="127000"/>
            </a:xfrm>
            <a:custGeom>
              <a:avLst/>
              <a:gdLst/>
              <a:ahLst/>
              <a:cxnLst/>
              <a:rect l="l" t="t" r="r" b="b"/>
              <a:pathLst>
                <a:path w="106679" h="127000">
                  <a:moveTo>
                    <a:pt x="106679" y="126492"/>
                  </a:moveTo>
                  <a:lnTo>
                    <a:pt x="0" y="0"/>
                  </a:lnTo>
                </a:path>
              </a:pathLst>
            </a:custGeom>
            <a:ln w="21336">
              <a:solidFill>
                <a:srgbClr val="000000"/>
              </a:solidFill>
            </a:ln>
          </p:spPr>
          <p:txBody>
            <a:bodyPr wrap="square" lIns="0" tIns="0" rIns="0" bIns="0" rtlCol="0"/>
            <a:lstStyle/>
            <a:p>
              <a:endParaRPr>
                <a:latin typeface="Museo 300" pitchFamily="50" charset="0"/>
              </a:endParaRPr>
            </a:p>
          </p:txBody>
        </p:sp>
        <p:sp>
          <p:nvSpPr>
            <p:cNvPr id="23" name="object 23"/>
            <p:cNvSpPr/>
            <p:nvPr/>
          </p:nvSpPr>
          <p:spPr>
            <a:xfrm>
              <a:off x="5963412" y="4683252"/>
              <a:ext cx="106680" cy="127000"/>
            </a:xfrm>
            <a:custGeom>
              <a:avLst/>
              <a:gdLst/>
              <a:ahLst/>
              <a:cxnLst/>
              <a:rect l="l" t="t" r="r" b="b"/>
              <a:pathLst>
                <a:path w="106679" h="127000">
                  <a:moveTo>
                    <a:pt x="106679" y="0"/>
                  </a:moveTo>
                  <a:lnTo>
                    <a:pt x="0" y="126492"/>
                  </a:lnTo>
                </a:path>
              </a:pathLst>
            </a:custGeom>
            <a:ln w="21336">
              <a:solidFill>
                <a:srgbClr val="B1B1B1"/>
              </a:solidFill>
            </a:ln>
          </p:spPr>
          <p:txBody>
            <a:bodyPr wrap="square" lIns="0" tIns="0" rIns="0" bIns="0" rtlCol="0"/>
            <a:lstStyle/>
            <a:p>
              <a:endParaRPr>
                <a:latin typeface="Museo 300" pitchFamily="50" charset="0"/>
              </a:endParaRPr>
            </a:p>
          </p:txBody>
        </p:sp>
        <p:sp>
          <p:nvSpPr>
            <p:cNvPr id="24" name="object 24"/>
            <p:cNvSpPr/>
            <p:nvPr/>
          </p:nvSpPr>
          <p:spPr>
            <a:xfrm>
              <a:off x="5963412" y="4683252"/>
              <a:ext cx="106680" cy="127000"/>
            </a:xfrm>
            <a:custGeom>
              <a:avLst/>
              <a:gdLst/>
              <a:ahLst/>
              <a:cxnLst/>
              <a:rect l="l" t="t" r="r" b="b"/>
              <a:pathLst>
                <a:path w="106679" h="127000">
                  <a:moveTo>
                    <a:pt x="106679" y="0"/>
                  </a:moveTo>
                  <a:lnTo>
                    <a:pt x="0" y="126492"/>
                  </a:lnTo>
                </a:path>
              </a:pathLst>
            </a:custGeom>
            <a:ln w="21336">
              <a:solidFill>
                <a:srgbClr val="000000"/>
              </a:solidFill>
            </a:ln>
          </p:spPr>
          <p:txBody>
            <a:bodyPr wrap="square" lIns="0" tIns="0" rIns="0" bIns="0" rtlCol="0"/>
            <a:lstStyle/>
            <a:p>
              <a:endParaRPr>
                <a:latin typeface="Museo 300" pitchFamily="50" charset="0"/>
              </a:endParaRPr>
            </a:p>
          </p:txBody>
        </p:sp>
        <p:sp>
          <p:nvSpPr>
            <p:cNvPr id="25" name="object 25"/>
            <p:cNvSpPr/>
            <p:nvPr/>
          </p:nvSpPr>
          <p:spPr>
            <a:xfrm>
              <a:off x="5836158" y="4575810"/>
              <a:ext cx="363220" cy="364490"/>
            </a:xfrm>
            <a:custGeom>
              <a:avLst/>
              <a:gdLst/>
              <a:ahLst/>
              <a:cxnLst/>
              <a:rect l="l" t="t" r="r" b="b"/>
              <a:pathLst>
                <a:path w="363220" h="364489">
                  <a:moveTo>
                    <a:pt x="0" y="364236"/>
                  </a:moveTo>
                  <a:lnTo>
                    <a:pt x="362712" y="364236"/>
                  </a:lnTo>
                  <a:lnTo>
                    <a:pt x="362712" y="0"/>
                  </a:lnTo>
                  <a:lnTo>
                    <a:pt x="0" y="0"/>
                  </a:lnTo>
                  <a:lnTo>
                    <a:pt x="0" y="364236"/>
                  </a:lnTo>
                  <a:close/>
                </a:path>
              </a:pathLst>
            </a:custGeom>
            <a:ln w="3175">
              <a:solidFill>
                <a:srgbClr val="B1FFFF"/>
              </a:solidFill>
            </a:ln>
          </p:spPr>
          <p:txBody>
            <a:bodyPr wrap="square" lIns="0" tIns="0" rIns="0" bIns="0" rtlCol="0"/>
            <a:lstStyle/>
            <a:p>
              <a:endParaRPr>
                <a:latin typeface="Museo 300" pitchFamily="50" charset="0"/>
              </a:endParaRPr>
            </a:p>
          </p:txBody>
        </p:sp>
        <p:sp>
          <p:nvSpPr>
            <p:cNvPr id="26" name="object 26"/>
            <p:cNvSpPr/>
            <p:nvPr/>
          </p:nvSpPr>
          <p:spPr>
            <a:xfrm>
              <a:off x="5835396" y="4575048"/>
              <a:ext cx="363220" cy="364490"/>
            </a:xfrm>
            <a:custGeom>
              <a:avLst/>
              <a:gdLst/>
              <a:ahLst/>
              <a:cxnLst/>
              <a:rect l="l" t="t" r="r" b="b"/>
              <a:pathLst>
                <a:path w="363220" h="364489">
                  <a:moveTo>
                    <a:pt x="362712" y="0"/>
                  </a:moveTo>
                  <a:lnTo>
                    <a:pt x="0" y="0"/>
                  </a:lnTo>
                  <a:lnTo>
                    <a:pt x="0" y="364235"/>
                  </a:lnTo>
                  <a:lnTo>
                    <a:pt x="362712" y="364235"/>
                  </a:lnTo>
                  <a:lnTo>
                    <a:pt x="362712" y="0"/>
                  </a:lnTo>
                  <a:close/>
                </a:path>
              </a:pathLst>
            </a:custGeom>
            <a:solidFill>
              <a:srgbClr val="3399FF"/>
            </a:solidFill>
          </p:spPr>
          <p:txBody>
            <a:bodyPr wrap="square" lIns="0" tIns="0" rIns="0" bIns="0" rtlCol="0"/>
            <a:lstStyle/>
            <a:p>
              <a:endParaRPr>
                <a:latin typeface="Museo 300" pitchFamily="50" charset="0"/>
              </a:endParaRPr>
            </a:p>
          </p:txBody>
        </p:sp>
        <p:sp>
          <p:nvSpPr>
            <p:cNvPr id="27" name="object 27"/>
            <p:cNvSpPr/>
            <p:nvPr/>
          </p:nvSpPr>
          <p:spPr>
            <a:xfrm>
              <a:off x="5835396" y="4575048"/>
              <a:ext cx="363220" cy="364490"/>
            </a:xfrm>
            <a:custGeom>
              <a:avLst/>
              <a:gdLst/>
              <a:ahLst/>
              <a:cxnLst/>
              <a:rect l="l" t="t" r="r" b="b"/>
              <a:pathLst>
                <a:path w="363220" h="364489">
                  <a:moveTo>
                    <a:pt x="0" y="364235"/>
                  </a:moveTo>
                  <a:lnTo>
                    <a:pt x="362712" y="364235"/>
                  </a:lnTo>
                  <a:lnTo>
                    <a:pt x="362712" y="0"/>
                  </a:lnTo>
                  <a:lnTo>
                    <a:pt x="0" y="0"/>
                  </a:lnTo>
                  <a:lnTo>
                    <a:pt x="0" y="364235"/>
                  </a:lnTo>
                  <a:close/>
                </a:path>
              </a:pathLst>
            </a:custGeom>
            <a:ln w="21336">
              <a:solidFill>
                <a:srgbClr val="006FC0"/>
              </a:solidFill>
            </a:ln>
          </p:spPr>
          <p:txBody>
            <a:bodyPr wrap="square" lIns="0" tIns="0" rIns="0" bIns="0" rtlCol="0"/>
            <a:lstStyle/>
            <a:p>
              <a:endParaRPr>
                <a:latin typeface="Museo 300" pitchFamily="50" charset="0"/>
              </a:endParaRPr>
            </a:p>
          </p:txBody>
        </p:sp>
        <p:sp>
          <p:nvSpPr>
            <p:cNvPr id="28" name="object 28"/>
            <p:cNvSpPr/>
            <p:nvPr/>
          </p:nvSpPr>
          <p:spPr>
            <a:xfrm>
              <a:off x="5963412" y="4683252"/>
              <a:ext cx="106680" cy="127000"/>
            </a:xfrm>
            <a:custGeom>
              <a:avLst/>
              <a:gdLst/>
              <a:ahLst/>
              <a:cxnLst/>
              <a:rect l="l" t="t" r="r" b="b"/>
              <a:pathLst>
                <a:path w="106679" h="127000">
                  <a:moveTo>
                    <a:pt x="106679" y="0"/>
                  </a:moveTo>
                  <a:lnTo>
                    <a:pt x="0" y="126492"/>
                  </a:lnTo>
                </a:path>
              </a:pathLst>
            </a:custGeom>
            <a:ln w="21336">
              <a:solidFill>
                <a:srgbClr val="B1B1B1"/>
              </a:solidFill>
            </a:ln>
          </p:spPr>
          <p:txBody>
            <a:bodyPr wrap="square" lIns="0" tIns="0" rIns="0" bIns="0" rtlCol="0"/>
            <a:lstStyle/>
            <a:p>
              <a:endParaRPr>
                <a:latin typeface="Museo 300" pitchFamily="50" charset="0"/>
              </a:endParaRPr>
            </a:p>
          </p:txBody>
        </p:sp>
        <p:sp>
          <p:nvSpPr>
            <p:cNvPr id="29" name="object 29"/>
            <p:cNvSpPr/>
            <p:nvPr/>
          </p:nvSpPr>
          <p:spPr>
            <a:xfrm>
              <a:off x="5963412" y="4683252"/>
              <a:ext cx="106680" cy="127000"/>
            </a:xfrm>
            <a:custGeom>
              <a:avLst/>
              <a:gdLst/>
              <a:ahLst/>
              <a:cxnLst/>
              <a:rect l="l" t="t" r="r" b="b"/>
              <a:pathLst>
                <a:path w="106679" h="127000">
                  <a:moveTo>
                    <a:pt x="106679" y="0"/>
                  </a:moveTo>
                  <a:lnTo>
                    <a:pt x="0" y="126492"/>
                  </a:lnTo>
                </a:path>
              </a:pathLst>
            </a:custGeom>
            <a:ln w="21336">
              <a:solidFill>
                <a:srgbClr val="000000"/>
              </a:solidFill>
            </a:ln>
          </p:spPr>
          <p:txBody>
            <a:bodyPr wrap="square" lIns="0" tIns="0" rIns="0" bIns="0" rtlCol="0"/>
            <a:lstStyle/>
            <a:p>
              <a:endParaRPr>
                <a:latin typeface="Museo 300" pitchFamily="50" charset="0"/>
              </a:endParaRPr>
            </a:p>
          </p:txBody>
        </p:sp>
        <p:sp>
          <p:nvSpPr>
            <p:cNvPr id="30" name="object 30"/>
            <p:cNvSpPr/>
            <p:nvPr/>
          </p:nvSpPr>
          <p:spPr>
            <a:xfrm>
              <a:off x="5963412" y="4683252"/>
              <a:ext cx="106680" cy="127000"/>
            </a:xfrm>
            <a:custGeom>
              <a:avLst/>
              <a:gdLst/>
              <a:ahLst/>
              <a:cxnLst/>
              <a:rect l="l" t="t" r="r" b="b"/>
              <a:pathLst>
                <a:path w="106679" h="127000">
                  <a:moveTo>
                    <a:pt x="106679" y="126492"/>
                  </a:moveTo>
                  <a:lnTo>
                    <a:pt x="0" y="0"/>
                  </a:lnTo>
                </a:path>
              </a:pathLst>
            </a:custGeom>
            <a:ln w="21336">
              <a:solidFill>
                <a:srgbClr val="B1B1B1"/>
              </a:solidFill>
            </a:ln>
          </p:spPr>
          <p:txBody>
            <a:bodyPr wrap="square" lIns="0" tIns="0" rIns="0" bIns="0" rtlCol="0"/>
            <a:lstStyle/>
            <a:p>
              <a:endParaRPr>
                <a:latin typeface="Museo 300" pitchFamily="50" charset="0"/>
              </a:endParaRPr>
            </a:p>
          </p:txBody>
        </p:sp>
        <p:sp>
          <p:nvSpPr>
            <p:cNvPr id="31" name="object 31"/>
            <p:cNvSpPr/>
            <p:nvPr/>
          </p:nvSpPr>
          <p:spPr>
            <a:xfrm>
              <a:off x="5963412" y="4683252"/>
              <a:ext cx="106680" cy="127000"/>
            </a:xfrm>
            <a:custGeom>
              <a:avLst/>
              <a:gdLst/>
              <a:ahLst/>
              <a:cxnLst/>
              <a:rect l="l" t="t" r="r" b="b"/>
              <a:pathLst>
                <a:path w="106679" h="127000">
                  <a:moveTo>
                    <a:pt x="106679" y="126492"/>
                  </a:moveTo>
                  <a:lnTo>
                    <a:pt x="0" y="0"/>
                  </a:lnTo>
                </a:path>
              </a:pathLst>
            </a:custGeom>
            <a:ln w="21336">
              <a:solidFill>
                <a:srgbClr val="000000"/>
              </a:solidFill>
            </a:ln>
          </p:spPr>
          <p:txBody>
            <a:bodyPr wrap="square" lIns="0" tIns="0" rIns="0" bIns="0" rtlCol="0"/>
            <a:lstStyle/>
            <a:p>
              <a:endParaRPr>
                <a:latin typeface="Museo 300" pitchFamily="50" charset="0"/>
              </a:endParaRPr>
            </a:p>
          </p:txBody>
        </p:sp>
      </p:grpSp>
      <p:grpSp>
        <p:nvGrpSpPr>
          <p:cNvPr id="32" name="object 32"/>
          <p:cNvGrpSpPr/>
          <p:nvPr/>
        </p:nvGrpSpPr>
        <p:grpSpPr>
          <a:xfrm>
            <a:off x="2133600" y="1981200"/>
            <a:ext cx="3184313" cy="2731135"/>
            <a:chOff x="1647444" y="2709672"/>
            <a:chExt cx="2388235" cy="2731135"/>
          </a:xfrm>
        </p:grpSpPr>
        <p:sp>
          <p:nvSpPr>
            <p:cNvPr id="33" name="object 33"/>
            <p:cNvSpPr/>
            <p:nvPr/>
          </p:nvSpPr>
          <p:spPr>
            <a:xfrm>
              <a:off x="3971544" y="4415027"/>
              <a:ext cx="64007" cy="150876"/>
            </a:xfrm>
            <a:prstGeom prst="rect">
              <a:avLst/>
            </a:prstGeom>
            <a:blipFill>
              <a:blip r:embed="rId4" cstate="print"/>
              <a:stretch>
                <a:fillRect/>
              </a:stretch>
            </a:blipFill>
          </p:spPr>
          <p:txBody>
            <a:bodyPr wrap="square" lIns="0" tIns="0" rIns="0" bIns="0" rtlCol="0"/>
            <a:lstStyle/>
            <a:p>
              <a:endParaRPr>
                <a:latin typeface="Museo 300" pitchFamily="50" charset="0"/>
              </a:endParaRPr>
            </a:p>
          </p:txBody>
        </p:sp>
        <p:sp>
          <p:nvSpPr>
            <p:cNvPr id="34" name="object 34"/>
            <p:cNvSpPr/>
            <p:nvPr/>
          </p:nvSpPr>
          <p:spPr>
            <a:xfrm>
              <a:off x="1892808" y="4555236"/>
              <a:ext cx="2109470" cy="277495"/>
            </a:xfrm>
            <a:custGeom>
              <a:avLst/>
              <a:gdLst/>
              <a:ahLst/>
              <a:cxnLst/>
              <a:rect l="l" t="t" r="r" b="b"/>
              <a:pathLst>
                <a:path w="2109470" h="277495">
                  <a:moveTo>
                    <a:pt x="2109216" y="0"/>
                  </a:moveTo>
                  <a:lnTo>
                    <a:pt x="2109216" y="277368"/>
                  </a:lnTo>
                  <a:lnTo>
                    <a:pt x="0" y="277368"/>
                  </a:lnTo>
                </a:path>
              </a:pathLst>
            </a:custGeom>
            <a:ln w="21336">
              <a:solidFill>
                <a:srgbClr val="000000"/>
              </a:solidFill>
            </a:ln>
          </p:spPr>
          <p:txBody>
            <a:bodyPr wrap="square" lIns="0" tIns="0" rIns="0" bIns="0" rtlCol="0"/>
            <a:lstStyle/>
            <a:p>
              <a:endParaRPr>
                <a:latin typeface="Museo 300" pitchFamily="50" charset="0"/>
              </a:endParaRPr>
            </a:p>
          </p:txBody>
        </p:sp>
        <p:sp>
          <p:nvSpPr>
            <p:cNvPr id="35" name="object 35"/>
            <p:cNvSpPr/>
            <p:nvPr/>
          </p:nvSpPr>
          <p:spPr>
            <a:xfrm>
              <a:off x="1882140" y="3392423"/>
              <a:ext cx="170688" cy="85343"/>
            </a:xfrm>
            <a:prstGeom prst="rect">
              <a:avLst/>
            </a:prstGeom>
            <a:blipFill>
              <a:blip r:embed="rId5" cstate="print"/>
              <a:stretch>
                <a:fillRect/>
              </a:stretch>
            </a:blipFill>
          </p:spPr>
          <p:txBody>
            <a:bodyPr wrap="square" lIns="0" tIns="0" rIns="0" bIns="0" rtlCol="0"/>
            <a:lstStyle/>
            <a:p>
              <a:endParaRPr>
                <a:latin typeface="Museo 300" pitchFamily="50" charset="0"/>
              </a:endParaRPr>
            </a:p>
          </p:txBody>
        </p:sp>
        <p:sp>
          <p:nvSpPr>
            <p:cNvPr id="36" name="object 36"/>
            <p:cNvSpPr/>
            <p:nvPr/>
          </p:nvSpPr>
          <p:spPr>
            <a:xfrm>
              <a:off x="1658112" y="2720340"/>
              <a:ext cx="2344420" cy="2710180"/>
            </a:xfrm>
            <a:custGeom>
              <a:avLst/>
              <a:gdLst/>
              <a:ahLst/>
              <a:cxnLst/>
              <a:rect l="l" t="t" r="r" b="b"/>
              <a:pathLst>
                <a:path w="2344420" h="2710179">
                  <a:moveTo>
                    <a:pt x="2343912" y="1088136"/>
                  </a:moveTo>
                  <a:lnTo>
                    <a:pt x="2343912" y="704088"/>
                  </a:lnTo>
                  <a:lnTo>
                    <a:pt x="384048" y="704088"/>
                  </a:lnTo>
                </a:path>
                <a:path w="2344420" h="2710179">
                  <a:moveTo>
                    <a:pt x="213360" y="192024"/>
                  </a:moveTo>
                  <a:lnTo>
                    <a:pt x="277368" y="192024"/>
                  </a:lnTo>
                  <a:lnTo>
                    <a:pt x="149351" y="0"/>
                  </a:lnTo>
                  <a:lnTo>
                    <a:pt x="0" y="192024"/>
                  </a:lnTo>
                  <a:lnTo>
                    <a:pt x="64007" y="192024"/>
                  </a:lnTo>
                </a:path>
                <a:path w="2344420" h="2710179">
                  <a:moveTo>
                    <a:pt x="64007" y="2494788"/>
                  </a:moveTo>
                  <a:lnTo>
                    <a:pt x="64007" y="192024"/>
                  </a:lnTo>
                </a:path>
                <a:path w="2344420" h="2710179">
                  <a:moveTo>
                    <a:pt x="213360" y="2494788"/>
                  </a:moveTo>
                  <a:lnTo>
                    <a:pt x="213360" y="192024"/>
                  </a:lnTo>
                </a:path>
                <a:path w="2344420" h="2710179">
                  <a:moveTo>
                    <a:pt x="213360" y="2516124"/>
                  </a:moveTo>
                  <a:lnTo>
                    <a:pt x="277368" y="2516124"/>
                  </a:lnTo>
                  <a:lnTo>
                    <a:pt x="128015" y="2709672"/>
                  </a:lnTo>
                  <a:lnTo>
                    <a:pt x="0" y="2516124"/>
                  </a:lnTo>
                  <a:lnTo>
                    <a:pt x="64007" y="2516124"/>
                  </a:lnTo>
                </a:path>
              </a:pathLst>
            </a:custGeom>
            <a:ln w="21336">
              <a:solidFill>
                <a:srgbClr val="000000"/>
              </a:solidFill>
            </a:ln>
          </p:spPr>
          <p:txBody>
            <a:bodyPr wrap="square" lIns="0" tIns="0" rIns="0" bIns="0" rtlCol="0"/>
            <a:lstStyle/>
            <a:p>
              <a:endParaRPr>
                <a:latin typeface="Museo 300" pitchFamily="50" charset="0"/>
              </a:endParaRPr>
            </a:p>
          </p:txBody>
        </p:sp>
        <p:sp>
          <p:nvSpPr>
            <p:cNvPr id="37" name="object 37"/>
            <p:cNvSpPr/>
            <p:nvPr/>
          </p:nvSpPr>
          <p:spPr>
            <a:xfrm>
              <a:off x="2958083" y="2956560"/>
              <a:ext cx="0" cy="298450"/>
            </a:xfrm>
            <a:custGeom>
              <a:avLst/>
              <a:gdLst/>
              <a:ahLst/>
              <a:cxnLst/>
              <a:rect l="l" t="t" r="r" b="b"/>
              <a:pathLst>
                <a:path h="298450">
                  <a:moveTo>
                    <a:pt x="0" y="0"/>
                  </a:moveTo>
                  <a:lnTo>
                    <a:pt x="0" y="297941"/>
                  </a:lnTo>
                </a:path>
              </a:pathLst>
            </a:custGeom>
            <a:ln w="21336">
              <a:solidFill>
                <a:srgbClr val="00FFFF"/>
              </a:solidFill>
            </a:ln>
          </p:spPr>
          <p:txBody>
            <a:bodyPr wrap="square" lIns="0" tIns="0" rIns="0" bIns="0" rtlCol="0"/>
            <a:lstStyle/>
            <a:p>
              <a:endParaRPr>
                <a:latin typeface="Museo 300" pitchFamily="50" charset="0"/>
              </a:endParaRPr>
            </a:p>
          </p:txBody>
        </p:sp>
        <p:sp>
          <p:nvSpPr>
            <p:cNvPr id="38" name="object 38"/>
            <p:cNvSpPr/>
            <p:nvPr/>
          </p:nvSpPr>
          <p:spPr>
            <a:xfrm>
              <a:off x="2894076" y="3381755"/>
              <a:ext cx="106680" cy="128270"/>
            </a:xfrm>
            <a:custGeom>
              <a:avLst/>
              <a:gdLst/>
              <a:ahLst/>
              <a:cxnLst/>
              <a:rect l="l" t="t" r="r" b="b"/>
              <a:pathLst>
                <a:path w="106680" h="128270">
                  <a:moveTo>
                    <a:pt x="106680" y="0"/>
                  </a:moveTo>
                  <a:lnTo>
                    <a:pt x="0" y="128016"/>
                  </a:lnTo>
                </a:path>
                <a:path w="106680" h="128270">
                  <a:moveTo>
                    <a:pt x="106680" y="128016"/>
                  </a:moveTo>
                  <a:lnTo>
                    <a:pt x="0" y="0"/>
                  </a:lnTo>
                </a:path>
              </a:pathLst>
            </a:custGeom>
            <a:ln w="21336">
              <a:solidFill>
                <a:srgbClr val="000000"/>
              </a:solidFill>
            </a:ln>
          </p:spPr>
          <p:txBody>
            <a:bodyPr wrap="square" lIns="0" tIns="0" rIns="0" bIns="0" rtlCol="0"/>
            <a:lstStyle/>
            <a:p>
              <a:endParaRPr>
                <a:latin typeface="Museo 300" pitchFamily="50" charset="0"/>
              </a:endParaRPr>
            </a:p>
          </p:txBody>
        </p:sp>
        <p:sp>
          <p:nvSpPr>
            <p:cNvPr id="39" name="object 39"/>
            <p:cNvSpPr/>
            <p:nvPr/>
          </p:nvSpPr>
          <p:spPr>
            <a:xfrm>
              <a:off x="2766822" y="3254502"/>
              <a:ext cx="363220" cy="363220"/>
            </a:xfrm>
            <a:custGeom>
              <a:avLst/>
              <a:gdLst/>
              <a:ahLst/>
              <a:cxnLst/>
              <a:rect l="l" t="t" r="r" b="b"/>
              <a:pathLst>
                <a:path w="363219" h="363220">
                  <a:moveTo>
                    <a:pt x="362712" y="0"/>
                  </a:moveTo>
                  <a:lnTo>
                    <a:pt x="0" y="0"/>
                  </a:lnTo>
                  <a:lnTo>
                    <a:pt x="0" y="362712"/>
                  </a:lnTo>
                  <a:lnTo>
                    <a:pt x="362712" y="362712"/>
                  </a:lnTo>
                  <a:lnTo>
                    <a:pt x="362712" y="0"/>
                  </a:lnTo>
                  <a:close/>
                </a:path>
              </a:pathLst>
            </a:custGeom>
            <a:solidFill>
              <a:srgbClr val="3399FF"/>
            </a:solidFill>
          </p:spPr>
          <p:txBody>
            <a:bodyPr wrap="square" lIns="0" tIns="0" rIns="0" bIns="0" rtlCol="0"/>
            <a:lstStyle/>
            <a:p>
              <a:endParaRPr>
                <a:latin typeface="Museo 300" pitchFamily="50" charset="0"/>
              </a:endParaRPr>
            </a:p>
          </p:txBody>
        </p:sp>
        <p:sp>
          <p:nvSpPr>
            <p:cNvPr id="40" name="object 40"/>
            <p:cNvSpPr/>
            <p:nvPr/>
          </p:nvSpPr>
          <p:spPr>
            <a:xfrm>
              <a:off x="2766822" y="3254502"/>
              <a:ext cx="363220" cy="363220"/>
            </a:xfrm>
            <a:custGeom>
              <a:avLst/>
              <a:gdLst/>
              <a:ahLst/>
              <a:cxnLst/>
              <a:rect l="l" t="t" r="r" b="b"/>
              <a:pathLst>
                <a:path w="363219" h="363220">
                  <a:moveTo>
                    <a:pt x="0" y="362712"/>
                  </a:moveTo>
                  <a:lnTo>
                    <a:pt x="362712" y="362712"/>
                  </a:lnTo>
                  <a:lnTo>
                    <a:pt x="362712" y="0"/>
                  </a:lnTo>
                  <a:lnTo>
                    <a:pt x="0" y="0"/>
                  </a:lnTo>
                  <a:lnTo>
                    <a:pt x="0" y="362712"/>
                  </a:lnTo>
                  <a:close/>
                </a:path>
              </a:pathLst>
            </a:custGeom>
            <a:ln w="3175">
              <a:solidFill>
                <a:srgbClr val="006FC0"/>
              </a:solidFill>
            </a:ln>
          </p:spPr>
          <p:txBody>
            <a:bodyPr wrap="square" lIns="0" tIns="0" rIns="0" bIns="0" rtlCol="0"/>
            <a:lstStyle/>
            <a:p>
              <a:endParaRPr>
                <a:latin typeface="Museo 300" pitchFamily="50" charset="0"/>
              </a:endParaRPr>
            </a:p>
          </p:txBody>
        </p:sp>
        <p:sp>
          <p:nvSpPr>
            <p:cNvPr id="41" name="object 41"/>
            <p:cNvSpPr/>
            <p:nvPr/>
          </p:nvSpPr>
          <p:spPr>
            <a:xfrm>
              <a:off x="2766060" y="3253740"/>
              <a:ext cx="363220" cy="363220"/>
            </a:xfrm>
            <a:custGeom>
              <a:avLst/>
              <a:gdLst/>
              <a:ahLst/>
              <a:cxnLst/>
              <a:rect l="l" t="t" r="r" b="b"/>
              <a:pathLst>
                <a:path w="363219" h="363220">
                  <a:moveTo>
                    <a:pt x="0" y="362712"/>
                  </a:moveTo>
                  <a:lnTo>
                    <a:pt x="362712" y="362712"/>
                  </a:lnTo>
                  <a:lnTo>
                    <a:pt x="362712" y="0"/>
                  </a:lnTo>
                  <a:lnTo>
                    <a:pt x="0" y="0"/>
                  </a:lnTo>
                  <a:lnTo>
                    <a:pt x="0" y="362712"/>
                  </a:lnTo>
                  <a:close/>
                </a:path>
              </a:pathLst>
            </a:custGeom>
            <a:ln w="21336">
              <a:solidFill>
                <a:srgbClr val="00FFFF"/>
              </a:solidFill>
            </a:ln>
          </p:spPr>
          <p:txBody>
            <a:bodyPr wrap="square" lIns="0" tIns="0" rIns="0" bIns="0" rtlCol="0"/>
            <a:lstStyle/>
            <a:p>
              <a:endParaRPr>
                <a:latin typeface="Museo 300" pitchFamily="50" charset="0"/>
              </a:endParaRPr>
            </a:p>
          </p:txBody>
        </p:sp>
        <p:sp>
          <p:nvSpPr>
            <p:cNvPr id="42" name="object 42"/>
            <p:cNvSpPr/>
            <p:nvPr/>
          </p:nvSpPr>
          <p:spPr>
            <a:xfrm>
              <a:off x="2894076" y="3381755"/>
              <a:ext cx="106680" cy="128270"/>
            </a:xfrm>
            <a:custGeom>
              <a:avLst/>
              <a:gdLst/>
              <a:ahLst/>
              <a:cxnLst/>
              <a:rect l="l" t="t" r="r" b="b"/>
              <a:pathLst>
                <a:path w="106680" h="128270">
                  <a:moveTo>
                    <a:pt x="106680" y="128016"/>
                  </a:moveTo>
                  <a:lnTo>
                    <a:pt x="0" y="0"/>
                  </a:lnTo>
                </a:path>
              </a:pathLst>
            </a:custGeom>
            <a:ln w="21336">
              <a:solidFill>
                <a:srgbClr val="B1B1B1"/>
              </a:solidFill>
            </a:ln>
          </p:spPr>
          <p:txBody>
            <a:bodyPr wrap="square" lIns="0" tIns="0" rIns="0" bIns="0" rtlCol="0"/>
            <a:lstStyle/>
            <a:p>
              <a:endParaRPr>
                <a:latin typeface="Museo 300" pitchFamily="50" charset="0"/>
              </a:endParaRPr>
            </a:p>
          </p:txBody>
        </p:sp>
        <p:sp>
          <p:nvSpPr>
            <p:cNvPr id="43" name="object 43"/>
            <p:cNvSpPr/>
            <p:nvPr/>
          </p:nvSpPr>
          <p:spPr>
            <a:xfrm>
              <a:off x="2894076" y="3381755"/>
              <a:ext cx="106680" cy="128270"/>
            </a:xfrm>
            <a:custGeom>
              <a:avLst/>
              <a:gdLst/>
              <a:ahLst/>
              <a:cxnLst/>
              <a:rect l="l" t="t" r="r" b="b"/>
              <a:pathLst>
                <a:path w="106680" h="128270">
                  <a:moveTo>
                    <a:pt x="106680" y="128016"/>
                  </a:moveTo>
                  <a:lnTo>
                    <a:pt x="0" y="0"/>
                  </a:lnTo>
                </a:path>
              </a:pathLst>
            </a:custGeom>
            <a:ln w="21336">
              <a:solidFill>
                <a:srgbClr val="000000"/>
              </a:solidFill>
            </a:ln>
          </p:spPr>
          <p:txBody>
            <a:bodyPr wrap="square" lIns="0" tIns="0" rIns="0" bIns="0" rtlCol="0"/>
            <a:lstStyle/>
            <a:p>
              <a:endParaRPr>
                <a:latin typeface="Museo 300" pitchFamily="50" charset="0"/>
              </a:endParaRPr>
            </a:p>
          </p:txBody>
        </p:sp>
        <p:sp>
          <p:nvSpPr>
            <p:cNvPr id="44" name="object 44"/>
            <p:cNvSpPr/>
            <p:nvPr/>
          </p:nvSpPr>
          <p:spPr>
            <a:xfrm>
              <a:off x="2894076" y="3381755"/>
              <a:ext cx="106680" cy="128270"/>
            </a:xfrm>
            <a:custGeom>
              <a:avLst/>
              <a:gdLst/>
              <a:ahLst/>
              <a:cxnLst/>
              <a:rect l="l" t="t" r="r" b="b"/>
              <a:pathLst>
                <a:path w="106680" h="128270">
                  <a:moveTo>
                    <a:pt x="106680" y="0"/>
                  </a:moveTo>
                  <a:lnTo>
                    <a:pt x="0" y="128016"/>
                  </a:lnTo>
                </a:path>
              </a:pathLst>
            </a:custGeom>
            <a:ln w="21336">
              <a:solidFill>
                <a:srgbClr val="B1B1B1"/>
              </a:solidFill>
            </a:ln>
          </p:spPr>
          <p:txBody>
            <a:bodyPr wrap="square" lIns="0" tIns="0" rIns="0" bIns="0" rtlCol="0"/>
            <a:lstStyle/>
            <a:p>
              <a:endParaRPr>
                <a:latin typeface="Museo 300" pitchFamily="50" charset="0"/>
              </a:endParaRPr>
            </a:p>
          </p:txBody>
        </p:sp>
        <p:sp>
          <p:nvSpPr>
            <p:cNvPr id="45" name="object 45"/>
            <p:cNvSpPr/>
            <p:nvPr/>
          </p:nvSpPr>
          <p:spPr>
            <a:xfrm>
              <a:off x="2894076" y="3381755"/>
              <a:ext cx="106680" cy="128270"/>
            </a:xfrm>
            <a:custGeom>
              <a:avLst/>
              <a:gdLst/>
              <a:ahLst/>
              <a:cxnLst/>
              <a:rect l="l" t="t" r="r" b="b"/>
              <a:pathLst>
                <a:path w="106680" h="128270">
                  <a:moveTo>
                    <a:pt x="106680" y="0"/>
                  </a:moveTo>
                  <a:lnTo>
                    <a:pt x="0" y="128016"/>
                  </a:lnTo>
                </a:path>
              </a:pathLst>
            </a:custGeom>
            <a:ln w="21336">
              <a:solidFill>
                <a:srgbClr val="000000"/>
              </a:solidFill>
            </a:ln>
          </p:spPr>
          <p:txBody>
            <a:bodyPr wrap="square" lIns="0" tIns="0" rIns="0" bIns="0" rtlCol="0"/>
            <a:lstStyle/>
            <a:p>
              <a:endParaRPr>
                <a:latin typeface="Museo 300" pitchFamily="50" charset="0"/>
              </a:endParaRPr>
            </a:p>
          </p:txBody>
        </p:sp>
        <p:sp>
          <p:nvSpPr>
            <p:cNvPr id="46" name="object 46"/>
            <p:cNvSpPr/>
            <p:nvPr/>
          </p:nvSpPr>
          <p:spPr>
            <a:xfrm>
              <a:off x="2947416" y="4939283"/>
              <a:ext cx="21590" cy="297180"/>
            </a:xfrm>
            <a:custGeom>
              <a:avLst/>
              <a:gdLst/>
              <a:ahLst/>
              <a:cxnLst/>
              <a:rect l="l" t="t" r="r" b="b"/>
              <a:pathLst>
                <a:path w="21589" h="297179">
                  <a:moveTo>
                    <a:pt x="0" y="297180"/>
                  </a:moveTo>
                  <a:lnTo>
                    <a:pt x="21336" y="297180"/>
                  </a:lnTo>
                  <a:lnTo>
                    <a:pt x="21336" y="0"/>
                  </a:lnTo>
                  <a:lnTo>
                    <a:pt x="0" y="0"/>
                  </a:lnTo>
                  <a:lnTo>
                    <a:pt x="0" y="297180"/>
                  </a:lnTo>
                  <a:close/>
                </a:path>
              </a:pathLst>
            </a:custGeom>
            <a:solidFill>
              <a:srgbClr val="B1FFFF"/>
            </a:solidFill>
          </p:spPr>
          <p:txBody>
            <a:bodyPr wrap="square" lIns="0" tIns="0" rIns="0" bIns="0" rtlCol="0"/>
            <a:lstStyle/>
            <a:p>
              <a:endParaRPr>
                <a:latin typeface="Museo 300" pitchFamily="50" charset="0"/>
              </a:endParaRPr>
            </a:p>
          </p:txBody>
        </p:sp>
        <p:sp>
          <p:nvSpPr>
            <p:cNvPr id="47" name="object 47"/>
            <p:cNvSpPr/>
            <p:nvPr/>
          </p:nvSpPr>
          <p:spPr>
            <a:xfrm>
              <a:off x="2947416" y="4939283"/>
              <a:ext cx="21590" cy="297180"/>
            </a:xfrm>
            <a:custGeom>
              <a:avLst/>
              <a:gdLst/>
              <a:ahLst/>
              <a:cxnLst/>
              <a:rect l="l" t="t" r="r" b="b"/>
              <a:pathLst>
                <a:path w="21589" h="297179">
                  <a:moveTo>
                    <a:pt x="0" y="297180"/>
                  </a:moveTo>
                  <a:lnTo>
                    <a:pt x="21336" y="297180"/>
                  </a:lnTo>
                  <a:lnTo>
                    <a:pt x="21336" y="0"/>
                  </a:lnTo>
                  <a:lnTo>
                    <a:pt x="0" y="0"/>
                  </a:lnTo>
                  <a:lnTo>
                    <a:pt x="0" y="297180"/>
                  </a:lnTo>
                  <a:close/>
                </a:path>
              </a:pathLst>
            </a:custGeom>
            <a:solidFill>
              <a:srgbClr val="00FFFF"/>
            </a:solidFill>
          </p:spPr>
          <p:txBody>
            <a:bodyPr wrap="square" lIns="0" tIns="0" rIns="0" bIns="0" rtlCol="0"/>
            <a:lstStyle/>
            <a:p>
              <a:endParaRPr>
                <a:latin typeface="Museo 300" pitchFamily="50" charset="0"/>
              </a:endParaRPr>
            </a:p>
          </p:txBody>
        </p:sp>
        <p:sp>
          <p:nvSpPr>
            <p:cNvPr id="48" name="object 48"/>
            <p:cNvSpPr/>
            <p:nvPr/>
          </p:nvSpPr>
          <p:spPr>
            <a:xfrm>
              <a:off x="2894076" y="4683251"/>
              <a:ext cx="106680" cy="127000"/>
            </a:xfrm>
            <a:custGeom>
              <a:avLst/>
              <a:gdLst/>
              <a:ahLst/>
              <a:cxnLst/>
              <a:rect l="l" t="t" r="r" b="b"/>
              <a:pathLst>
                <a:path w="106680" h="127000">
                  <a:moveTo>
                    <a:pt x="106680" y="126492"/>
                  </a:moveTo>
                  <a:lnTo>
                    <a:pt x="0" y="0"/>
                  </a:lnTo>
                </a:path>
              </a:pathLst>
            </a:custGeom>
            <a:ln w="21336">
              <a:solidFill>
                <a:srgbClr val="B1B1B1"/>
              </a:solidFill>
            </a:ln>
          </p:spPr>
          <p:txBody>
            <a:bodyPr wrap="square" lIns="0" tIns="0" rIns="0" bIns="0" rtlCol="0"/>
            <a:lstStyle/>
            <a:p>
              <a:endParaRPr>
                <a:latin typeface="Museo 300" pitchFamily="50" charset="0"/>
              </a:endParaRPr>
            </a:p>
          </p:txBody>
        </p:sp>
        <p:sp>
          <p:nvSpPr>
            <p:cNvPr id="49" name="object 49"/>
            <p:cNvSpPr/>
            <p:nvPr/>
          </p:nvSpPr>
          <p:spPr>
            <a:xfrm>
              <a:off x="2894076" y="4683251"/>
              <a:ext cx="106680" cy="127000"/>
            </a:xfrm>
            <a:custGeom>
              <a:avLst/>
              <a:gdLst/>
              <a:ahLst/>
              <a:cxnLst/>
              <a:rect l="l" t="t" r="r" b="b"/>
              <a:pathLst>
                <a:path w="106680" h="127000">
                  <a:moveTo>
                    <a:pt x="106680" y="126492"/>
                  </a:moveTo>
                  <a:lnTo>
                    <a:pt x="0" y="0"/>
                  </a:lnTo>
                </a:path>
              </a:pathLst>
            </a:custGeom>
            <a:ln w="21336">
              <a:solidFill>
                <a:srgbClr val="000000"/>
              </a:solidFill>
            </a:ln>
          </p:spPr>
          <p:txBody>
            <a:bodyPr wrap="square" lIns="0" tIns="0" rIns="0" bIns="0" rtlCol="0"/>
            <a:lstStyle/>
            <a:p>
              <a:endParaRPr>
                <a:latin typeface="Museo 300" pitchFamily="50" charset="0"/>
              </a:endParaRPr>
            </a:p>
          </p:txBody>
        </p:sp>
        <p:sp>
          <p:nvSpPr>
            <p:cNvPr id="50" name="object 50"/>
            <p:cNvSpPr/>
            <p:nvPr/>
          </p:nvSpPr>
          <p:spPr>
            <a:xfrm>
              <a:off x="2894076" y="4683251"/>
              <a:ext cx="106680" cy="127000"/>
            </a:xfrm>
            <a:custGeom>
              <a:avLst/>
              <a:gdLst/>
              <a:ahLst/>
              <a:cxnLst/>
              <a:rect l="l" t="t" r="r" b="b"/>
              <a:pathLst>
                <a:path w="106680" h="127000">
                  <a:moveTo>
                    <a:pt x="106680" y="0"/>
                  </a:moveTo>
                  <a:lnTo>
                    <a:pt x="0" y="126492"/>
                  </a:lnTo>
                </a:path>
              </a:pathLst>
            </a:custGeom>
            <a:ln w="21336">
              <a:solidFill>
                <a:srgbClr val="B1B1B1"/>
              </a:solidFill>
            </a:ln>
          </p:spPr>
          <p:txBody>
            <a:bodyPr wrap="square" lIns="0" tIns="0" rIns="0" bIns="0" rtlCol="0"/>
            <a:lstStyle/>
            <a:p>
              <a:endParaRPr>
                <a:latin typeface="Museo 300" pitchFamily="50" charset="0"/>
              </a:endParaRPr>
            </a:p>
          </p:txBody>
        </p:sp>
        <p:sp>
          <p:nvSpPr>
            <p:cNvPr id="51" name="object 51"/>
            <p:cNvSpPr/>
            <p:nvPr/>
          </p:nvSpPr>
          <p:spPr>
            <a:xfrm>
              <a:off x="2894076" y="4683251"/>
              <a:ext cx="106680" cy="127000"/>
            </a:xfrm>
            <a:custGeom>
              <a:avLst/>
              <a:gdLst/>
              <a:ahLst/>
              <a:cxnLst/>
              <a:rect l="l" t="t" r="r" b="b"/>
              <a:pathLst>
                <a:path w="106680" h="127000">
                  <a:moveTo>
                    <a:pt x="106680" y="0"/>
                  </a:moveTo>
                  <a:lnTo>
                    <a:pt x="0" y="126492"/>
                  </a:lnTo>
                </a:path>
              </a:pathLst>
            </a:custGeom>
            <a:ln w="21336">
              <a:solidFill>
                <a:srgbClr val="000000"/>
              </a:solidFill>
            </a:ln>
          </p:spPr>
          <p:txBody>
            <a:bodyPr wrap="square" lIns="0" tIns="0" rIns="0" bIns="0" rtlCol="0"/>
            <a:lstStyle/>
            <a:p>
              <a:endParaRPr>
                <a:latin typeface="Museo 300" pitchFamily="50" charset="0"/>
              </a:endParaRPr>
            </a:p>
          </p:txBody>
        </p:sp>
        <p:sp>
          <p:nvSpPr>
            <p:cNvPr id="52" name="object 52"/>
            <p:cNvSpPr/>
            <p:nvPr/>
          </p:nvSpPr>
          <p:spPr>
            <a:xfrm>
              <a:off x="2766822" y="4575810"/>
              <a:ext cx="363220" cy="364490"/>
            </a:xfrm>
            <a:custGeom>
              <a:avLst/>
              <a:gdLst/>
              <a:ahLst/>
              <a:cxnLst/>
              <a:rect l="l" t="t" r="r" b="b"/>
              <a:pathLst>
                <a:path w="363219" h="364489">
                  <a:moveTo>
                    <a:pt x="362712" y="0"/>
                  </a:moveTo>
                  <a:lnTo>
                    <a:pt x="0" y="0"/>
                  </a:lnTo>
                  <a:lnTo>
                    <a:pt x="0" y="364236"/>
                  </a:lnTo>
                  <a:lnTo>
                    <a:pt x="362712" y="364236"/>
                  </a:lnTo>
                  <a:lnTo>
                    <a:pt x="362712" y="0"/>
                  </a:lnTo>
                  <a:close/>
                </a:path>
              </a:pathLst>
            </a:custGeom>
            <a:solidFill>
              <a:srgbClr val="3399FF"/>
            </a:solidFill>
          </p:spPr>
          <p:txBody>
            <a:bodyPr wrap="square" lIns="0" tIns="0" rIns="0" bIns="0" rtlCol="0"/>
            <a:lstStyle/>
            <a:p>
              <a:endParaRPr>
                <a:latin typeface="Museo 300" pitchFamily="50" charset="0"/>
              </a:endParaRPr>
            </a:p>
          </p:txBody>
        </p:sp>
        <p:sp>
          <p:nvSpPr>
            <p:cNvPr id="53" name="object 53"/>
            <p:cNvSpPr/>
            <p:nvPr/>
          </p:nvSpPr>
          <p:spPr>
            <a:xfrm>
              <a:off x="2766822" y="4575810"/>
              <a:ext cx="363220" cy="364490"/>
            </a:xfrm>
            <a:custGeom>
              <a:avLst/>
              <a:gdLst/>
              <a:ahLst/>
              <a:cxnLst/>
              <a:rect l="l" t="t" r="r" b="b"/>
              <a:pathLst>
                <a:path w="363219" h="364489">
                  <a:moveTo>
                    <a:pt x="0" y="364236"/>
                  </a:moveTo>
                  <a:lnTo>
                    <a:pt x="362712" y="364236"/>
                  </a:lnTo>
                  <a:lnTo>
                    <a:pt x="362712" y="0"/>
                  </a:lnTo>
                  <a:lnTo>
                    <a:pt x="0" y="0"/>
                  </a:lnTo>
                  <a:lnTo>
                    <a:pt x="0" y="364236"/>
                  </a:lnTo>
                  <a:close/>
                </a:path>
              </a:pathLst>
            </a:custGeom>
            <a:ln w="3175">
              <a:solidFill>
                <a:srgbClr val="006FC0"/>
              </a:solidFill>
            </a:ln>
          </p:spPr>
          <p:txBody>
            <a:bodyPr wrap="square" lIns="0" tIns="0" rIns="0" bIns="0" rtlCol="0"/>
            <a:lstStyle/>
            <a:p>
              <a:endParaRPr>
                <a:latin typeface="Museo 300" pitchFamily="50" charset="0"/>
              </a:endParaRPr>
            </a:p>
          </p:txBody>
        </p:sp>
        <p:sp>
          <p:nvSpPr>
            <p:cNvPr id="54" name="object 54"/>
            <p:cNvSpPr/>
            <p:nvPr/>
          </p:nvSpPr>
          <p:spPr>
            <a:xfrm>
              <a:off x="2766060" y="4575048"/>
              <a:ext cx="363220" cy="364490"/>
            </a:xfrm>
            <a:custGeom>
              <a:avLst/>
              <a:gdLst/>
              <a:ahLst/>
              <a:cxnLst/>
              <a:rect l="l" t="t" r="r" b="b"/>
              <a:pathLst>
                <a:path w="363219" h="364489">
                  <a:moveTo>
                    <a:pt x="0" y="364235"/>
                  </a:moveTo>
                  <a:lnTo>
                    <a:pt x="362712" y="364235"/>
                  </a:lnTo>
                  <a:lnTo>
                    <a:pt x="362712" y="0"/>
                  </a:lnTo>
                  <a:lnTo>
                    <a:pt x="0" y="0"/>
                  </a:lnTo>
                  <a:lnTo>
                    <a:pt x="0" y="364235"/>
                  </a:lnTo>
                  <a:close/>
                </a:path>
              </a:pathLst>
            </a:custGeom>
            <a:ln w="21336">
              <a:solidFill>
                <a:srgbClr val="00FFFF"/>
              </a:solidFill>
            </a:ln>
          </p:spPr>
          <p:txBody>
            <a:bodyPr wrap="square" lIns="0" tIns="0" rIns="0" bIns="0" rtlCol="0"/>
            <a:lstStyle/>
            <a:p>
              <a:endParaRPr>
                <a:latin typeface="Museo 300" pitchFamily="50" charset="0"/>
              </a:endParaRPr>
            </a:p>
          </p:txBody>
        </p:sp>
        <p:sp>
          <p:nvSpPr>
            <p:cNvPr id="55" name="object 55"/>
            <p:cNvSpPr/>
            <p:nvPr/>
          </p:nvSpPr>
          <p:spPr>
            <a:xfrm>
              <a:off x="2894076" y="4683251"/>
              <a:ext cx="106680" cy="127000"/>
            </a:xfrm>
            <a:custGeom>
              <a:avLst/>
              <a:gdLst/>
              <a:ahLst/>
              <a:cxnLst/>
              <a:rect l="l" t="t" r="r" b="b"/>
              <a:pathLst>
                <a:path w="106680" h="127000">
                  <a:moveTo>
                    <a:pt x="106680" y="0"/>
                  </a:moveTo>
                  <a:lnTo>
                    <a:pt x="0" y="126492"/>
                  </a:lnTo>
                </a:path>
              </a:pathLst>
            </a:custGeom>
            <a:ln w="21336">
              <a:solidFill>
                <a:srgbClr val="B1B1B1"/>
              </a:solidFill>
            </a:ln>
          </p:spPr>
          <p:txBody>
            <a:bodyPr wrap="square" lIns="0" tIns="0" rIns="0" bIns="0" rtlCol="0"/>
            <a:lstStyle/>
            <a:p>
              <a:endParaRPr>
                <a:latin typeface="Museo 300" pitchFamily="50" charset="0"/>
              </a:endParaRPr>
            </a:p>
          </p:txBody>
        </p:sp>
        <p:sp>
          <p:nvSpPr>
            <p:cNvPr id="56" name="object 56"/>
            <p:cNvSpPr/>
            <p:nvPr/>
          </p:nvSpPr>
          <p:spPr>
            <a:xfrm>
              <a:off x="2894076" y="4683251"/>
              <a:ext cx="106680" cy="127000"/>
            </a:xfrm>
            <a:custGeom>
              <a:avLst/>
              <a:gdLst/>
              <a:ahLst/>
              <a:cxnLst/>
              <a:rect l="l" t="t" r="r" b="b"/>
              <a:pathLst>
                <a:path w="106680" h="127000">
                  <a:moveTo>
                    <a:pt x="106680" y="0"/>
                  </a:moveTo>
                  <a:lnTo>
                    <a:pt x="0" y="126492"/>
                  </a:lnTo>
                </a:path>
              </a:pathLst>
            </a:custGeom>
            <a:ln w="21336">
              <a:solidFill>
                <a:srgbClr val="000000"/>
              </a:solidFill>
            </a:ln>
          </p:spPr>
          <p:txBody>
            <a:bodyPr wrap="square" lIns="0" tIns="0" rIns="0" bIns="0" rtlCol="0"/>
            <a:lstStyle/>
            <a:p>
              <a:endParaRPr>
                <a:latin typeface="Museo 300" pitchFamily="50" charset="0"/>
              </a:endParaRPr>
            </a:p>
          </p:txBody>
        </p:sp>
        <p:sp>
          <p:nvSpPr>
            <p:cNvPr id="57" name="object 57"/>
            <p:cNvSpPr/>
            <p:nvPr/>
          </p:nvSpPr>
          <p:spPr>
            <a:xfrm>
              <a:off x="2894076" y="4683251"/>
              <a:ext cx="106680" cy="127000"/>
            </a:xfrm>
            <a:custGeom>
              <a:avLst/>
              <a:gdLst/>
              <a:ahLst/>
              <a:cxnLst/>
              <a:rect l="l" t="t" r="r" b="b"/>
              <a:pathLst>
                <a:path w="106680" h="127000">
                  <a:moveTo>
                    <a:pt x="106680" y="126492"/>
                  </a:moveTo>
                  <a:lnTo>
                    <a:pt x="0" y="0"/>
                  </a:lnTo>
                </a:path>
              </a:pathLst>
            </a:custGeom>
            <a:ln w="21336">
              <a:solidFill>
                <a:srgbClr val="B1B1B1"/>
              </a:solidFill>
            </a:ln>
          </p:spPr>
          <p:txBody>
            <a:bodyPr wrap="square" lIns="0" tIns="0" rIns="0" bIns="0" rtlCol="0"/>
            <a:lstStyle/>
            <a:p>
              <a:endParaRPr>
                <a:latin typeface="Museo 300" pitchFamily="50" charset="0"/>
              </a:endParaRPr>
            </a:p>
          </p:txBody>
        </p:sp>
        <p:sp>
          <p:nvSpPr>
            <p:cNvPr id="58" name="object 58"/>
            <p:cNvSpPr/>
            <p:nvPr/>
          </p:nvSpPr>
          <p:spPr>
            <a:xfrm>
              <a:off x="2894076" y="4683251"/>
              <a:ext cx="106680" cy="127000"/>
            </a:xfrm>
            <a:custGeom>
              <a:avLst/>
              <a:gdLst/>
              <a:ahLst/>
              <a:cxnLst/>
              <a:rect l="l" t="t" r="r" b="b"/>
              <a:pathLst>
                <a:path w="106680" h="127000">
                  <a:moveTo>
                    <a:pt x="106680" y="126492"/>
                  </a:moveTo>
                  <a:lnTo>
                    <a:pt x="0" y="0"/>
                  </a:lnTo>
                </a:path>
              </a:pathLst>
            </a:custGeom>
            <a:ln w="21336">
              <a:solidFill>
                <a:srgbClr val="000000"/>
              </a:solidFill>
            </a:ln>
          </p:spPr>
          <p:txBody>
            <a:bodyPr wrap="square" lIns="0" tIns="0" rIns="0" bIns="0" rtlCol="0"/>
            <a:lstStyle/>
            <a:p>
              <a:endParaRPr>
                <a:latin typeface="Museo 300" pitchFamily="50" charset="0"/>
              </a:endParaRPr>
            </a:p>
          </p:txBody>
        </p:sp>
      </p:grpSp>
      <p:sp>
        <p:nvSpPr>
          <p:cNvPr id="59" name="object 59"/>
          <p:cNvSpPr txBox="1"/>
          <p:nvPr/>
        </p:nvSpPr>
        <p:spPr>
          <a:xfrm>
            <a:off x="8525594" y="1458594"/>
            <a:ext cx="1905000" cy="466725"/>
          </a:xfrm>
          <a:prstGeom prst="rect">
            <a:avLst/>
          </a:prstGeom>
        </p:spPr>
        <p:txBody>
          <a:bodyPr vert="horz" wrap="square" lIns="0" tIns="32384" rIns="0" bIns="0" rtlCol="0">
            <a:spAutoFit/>
          </a:bodyPr>
          <a:lstStyle/>
          <a:p>
            <a:pPr marL="566420" marR="5080" indent="-554355">
              <a:lnSpc>
                <a:spcPts val="1680"/>
              </a:lnSpc>
              <a:spcBef>
                <a:spcPts val="254"/>
              </a:spcBef>
            </a:pPr>
            <a:r>
              <a:rPr sz="1500" spc="-5" dirty="0">
                <a:latin typeface="Museo 300" pitchFamily="50" charset="0"/>
                <a:cs typeface="Carlito"/>
              </a:rPr>
              <a:t>Internal</a:t>
            </a:r>
            <a:r>
              <a:rPr sz="1500" spc="-65" dirty="0">
                <a:latin typeface="Museo 300" pitchFamily="50" charset="0"/>
                <a:cs typeface="Carlito"/>
              </a:rPr>
              <a:t> </a:t>
            </a:r>
            <a:r>
              <a:rPr sz="1500" spc="-10" dirty="0">
                <a:latin typeface="Museo 300" pitchFamily="50" charset="0"/>
                <a:cs typeface="Carlito"/>
              </a:rPr>
              <a:t>processor  </a:t>
            </a:r>
            <a:r>
              <a:rPr sz="1500" spc="-40" dirty="0">
                <a:latin typeface="Museo 300" pitchFamily="50" charset="0"/>
                <a:cs typeface="Carlito"/>
              </a:rPr>
              <a:t>bus</a:t>
            </a:r>
            <a:endParaRPr sz="1500">
              <a:latin typeface="Museo 300" pitchFamily="50" charset="0"/>
              <a:cs typeface="Carlito"/>
            </a:endParaRPr>
          </a:p>
        </p:txBody>
      </p:sp>
      <p:sp>
        <p:nvSpPr>
          <p:cNvPr id="60" name="object 60"/>
          <p:cNvSpPr txBox="1"/>
          <p:nvPr/>
        </p:nvSpPr>
        <p:spPr>
          <a:xfrm>
            <a:off x="7496894" y="1836546"/>
            <a:ext cx="846667" cy="243656"/>
          </a:xfrm>
          <a:prstGeom prst="rect">
            <a:avLst/>
          </a:prstGeom>
        </p:spPr>
        <p:txBody>
          <a:bodyPr vert="horz" wrap="square" lIns="0" tIns="12700" rIns="0" bIns="0" rtlCol="0">
            <a:spAutoFit/>
          </a:bodyPr>
          <a:lstStyle/>
          <a:p>
            <a:pPr marL="38100">
              <a:lnSpc>
                <a:spcPct val="100000"/>
              </a:lnSpc>
              <a:spcBef>
                <a:spcPts val="100"/>
              </a:spcBef>
            </a:pPr>
            <a:r>
              <a:rPr sz="1500" spc="-5" dirty="0">
                <a:solidFill>
                  <a:srgbClr val="006FC0"/>
                </a:solidFill>
                <a:latin typeface="Museo 300" pitchFamily="50" charset="0"/>
                <a:cs typeface="Carlito"/>
              </a:rPr>
              <a:t>MDR</a:t>
            </a:r>
            <a:r>
              <a:rPr sz="1500" i="1" spc="-7" baseline="-19444" dirty="0">
                <a:solidFill>
                  <a:srgbClr val="006FC0"/>
                </a:solidFill>
                <a:latin typeface="Museo 300" pitchFamily="50" charset="0"/>
                <a:cs typeface="Carlito"/>
              </a:rPr>
              <a:t>out</a:t>
            </a:r>
            <a:endParaRPr sz="1500" baseline="-19444">
              <a:latin typeface="Museo 300" pitchFamily="50" charset="0"/>
              <a:cs typeface="Carlito"/>
            </a:endParaRPr>
          </a:p>
        </p:txBody>
      </p:sp>
      <p:sp>
        <p:nvSpPr>
          <p:cNvPr id="61" name="object 61"/>
          <p:cNvSpPr txBox="1"/>
          <p:nvPr/>
        </p:nvSpPr>
        <p:spPr>
          <a:xfrm>
            <a:off x="3347550" y="1883790"/>
            <a:ext cx="927100" cy="243656"/>
          </a:xfrm>
          <a:prstGeom prst="rect">
            <a:avLst/>
          </a:prstGeom>
        </p:spPr>
        <p:txBody>
          <a:bodyPr vert="horz" wrap="square" lIns="0" tIns="12700" rIns="0" bIns="0" rtlCol="0">
            <a:spAutoFit/>
          </a:bodyPr>
          <a:lstStyle/>
          <a:p>
            <a:pPr marL="38100">
              <a:lnSpc>
                <a:spcPct val="100000"/>
              </a:lnSpc>
              <a:spcBef>
                <a:spcPts val="100"/>
              </a:spcBef>
            </a:pPr>
            <a:r>
              <a:rPr sz="2250" spc="-7" baseline="12962" dirty="0">
                <a:solidFill>
                  <a:srgbClr val="006FC0"/>
                </a:solidFill>
                <a:latin typeface="Museo 300" pitchFamily="50" charset="0"/>
                <a:cs typeface="Carlito"/>
              </a:rPr>
              <a:t>MDR</a:t>
            </a:r>
            <a:r>
              <a:rPr sz="1000" i="1" spc="-5" dirty="0">
                <a:solidFill>
                  <a:srgbClr val="006FC0"/>
                </a:solidFill>
                <a:latin typeface="Museo 300" pitchFamily="50" charset="0"/>
                <a:cs typeface="Carlito"/>
              </a:rPr>
              <a:t>outE</a:t>
            </a:r>
            <a:endParaRPr sz="1000">
              <a:latin typeface="Museo 300" pitchFamily="50" charset="0"/>
              <a:cs typeface="Carlito"/>
            </a:endParaRPr>
          </a:p>
        </p:txBody>
      </p:sp>
      <p:sp>
        <p:nvSpPr>
          <p:cNvPr id="62" name="object 62"/>
          <p:cNvSpPr txBox="1"/>
          <p:nvPr/>
        </p:nvSpPr>
        <p:spPr>
          <a:xfrm>
            <a:off x="7554128" y="4580380"/>
            <a:ext cx="739140" cy="243656"/>
          </a:xfrm>
          <a:prstGeom prst="rect">
            <a:avLst/>
          </a:prstGeom>
        </p:spPr>
        <p:txBody>
          <a:bodyPr vert="horz" wrap="square" lIns="0" tIns="12700" rIns="0" bIns="0" rtlCol="0">
            <a:spAutoFit/>
          </a:bodyPr>
          <a:lstStyle/>
          <a:p>
            <a:pPr marL="38100">
              <a:lnSpc>
                <a:spcPct val="100000"/>
              </a:lnSpc>
              <a:spcBef>
                <a:spcPts val="100"/>
              </a:spcBef>
            </a:pPr>
            <a:r>
              <a:rPr sz="1500" spc="-5" dirty="0">
                <a:solidFill>
                  <a:srgbClr val="006FC0"/>
                </a:solidFill>
                <a:latin typeface="Museo 300" pitchFamily="50" charset="0"/>
                <a:cs typeface="Carlito"/>
              </a:rPr>
              <a:t>MDR</a:t>
            </a:r>
            <a:r>
              <a:rPr sz="1500" i="1" spc="-7" baseline="-19444" dirty="0">
                <a:solidFill>
                  <a:srgbClr val="006FC0"/>
                </a:solidFill>
                <a:latin typeface="Museo 300" pitchFamily="50" charset="0"/>
                <a:cs typeface="Carlito"/>
              </a:rPr>
              <a:t>in</a:t>
            </a:r>
            <a:endParaRPr sz="1500" baseline="-19444">
              <a:latin typeface="Museo 300" pitchFamily="50" charset="0"/>
              <a:cs typeface="Carlito"/>
            </a:endParaRPr>
          </a:p>
        </p:txBody>
      </p:sp>
      <p:sp>
        <p:nvSpPr>
          <p:cNvPr id="63" name="object 63"/>
          <p:cNvSpPr txBox="1"/>
          <p:nvPr/>
        </p:nvSpPr>
        <p:spPr>
          <a:xfrm>
            <a:off x="3425951" y="4580380"/>
            <a:ext cx="822113" cy="243656"/>
          </a:xfrm>
          <a:prstGeom prst="rect">
            <a:avLst/>
          </a:prstGeom>
        </p:spPr>
        <p:txBody>
          <a:bodyPr vert="horz" wrap="square" lIns="0" tIns="12700" rIns="0" bIns="0" rtlCol="0">
            <a:spAutoFit/>
          </a:bodyPr>
          <a:lstStyle/>
          <a:p>
            <a:pPr marL="38100">
              <a:lnSpc>
                <a:spcPct val="100000"/>
              </a:lnSpc>
              <a:spcBef>
                <a:spcPts val="100"/>
              </a:spcBef>
            </a:pPr>
            <a:r>
              <a:rPr sz="1500" spc="-5" dirty="0">
                <a:solidFill>
                  <a:srgbClr val="006FC0"/>
                </a:solidFill>
                <a:latin typeface="Museo 300" pitchFamily="50" charset="0"/>
                <a:cs typeface="Carlito"/>
              </a:rPr>
              <a:t>MDR</a:t>
            </a:r>
            <a:r>
              <a:rPr sz="1500" i="1" spc="-7" baseline="-19444" dirty="0">
                <a:solidFill>
                  <a:srgbClr val="006FC0"/>
                </a:solidFill>
                <a:latin typeface="Museo 300" pitchFamily="50" charset="0"/>
                <a:cs typeface="Carlito"/>
              </a:rPr>
              <a:t>inE</a:t>
            </a:r>
            <a:endParaRPr sz="1500" baseline="-19444">
              <a:latin typeface="Museo 300" pitchFamily="50" charset="0"/>
              <a:cs typeface="Carlito"/>
            </a:endParaRPr>
          </a:p>
        </p:txBody>
      </p:sp>
      <p:sp>
        <p:nvSpPr>
          <p:cNvPr id="65" name="Slide Number Placeholder 64"/>
          <p:cNvSpPr>
            <a:spLocks noGrp="1"/>
          </p:cNvSpPr>
          <p:nvPr>
            <p:ph type="sldNum" sz="quarter" idx="12"/>
          </p:nvPr>
        </p:nvSpPr>
        <p:spPr/>
        <p:txBody>
          <a:bodyPr/>
          <a:lstStyle/>
          <a:p>
            <a:pPr>
              <a:defRPr/>
            </a:pPr>
            <a:fld id="{7567225B-3001-4770-81AD-EA67E82D7225}" type="slidenum">
              <a:rPr lang="en-US" smtClean="0"/>
              <a:pPr>
                <a:defRPr/>
              </a:pPr>
              <a:t>28</a:t>
            </a:fld>
            <a:endParaRPr lang="en-US" dirty="0"/>
          </a:p>
        </p:txBody>
      </p:sp>
      <p:sp>
        <p:nvSpPr>
          <p:cNvPr id="66" name="Rectangle 65"/>
          <p:cNvSpPr/>
          <p:nvPr/>
        </p:nvSpPr>
        <p:spPr>
          <a:xfrm>
            <a:off x="5943600" y="6172200"/>
            <a:ext cx="6096000" cy="261610"/>
          </a:xfrm>
          <a:prstGeom prst="rect">
            <a:avLst/>
          </a:prstGeom>
        </p:spPr>
        <p:txBody>
          <a:bodyPr>
            <a:spAutoFit/>
          </a:bodyPr>
          <a:lstStyle/>
          <a:p>
            <a:r>
              <a:rPr lang="en-US" sz="1100" dirty="0">
                <a:solidFill>
                  <a:schemeClr val="accent1"/>
                </a:solidFill>
                <a:latin typeface="Museo 300" panose="02000000000000000000" pitchFamily="50" charset="0"/>
              </a:rPr>
              <a:t>Carl </a:t>
            </a:r>
            <a:r>
              <a:rPr lang="en-US" sz="1100" dirty="0" err="1">
                <a:solidFill>
                  <a:schemeClr val="accent1"/>
                </a:solidFill>
                <a:latin typeface="Museo 300" panose="02000000000000000000" pitchFamily="50" charset="0"/>
              </a:rPr>
              <a:t>Hamacher</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ZvonkoVranesic</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SafwatZaky</a:t>
            </a:r>
            <a:r>
              <a:rPr lang="en-US" sz="1100" dirty="0">
                <a:solidFill>
                  <a:schemeClr val="accent1"/>
                </a:solidFill>
                <a:latin typeface="Museo 300" panose="02000000000000000000" pitchFamily="50" charset="0"/>
              </a:rPr>
              <a:t>: Computer Organization, 5th Edition, 2000. </a:t>
            </a:r>
            <a:endParaRPr lang="en-US" sz="1100" dirty="0">
              <a:solidFill>
                <a:schemeClr val="accen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457200"/>
            <a:ext cx="6856307" cy="551433"/>
          </a:xfrm>
          <a:prstGeom prst="rect">
            <a:avLst/>
          </a:prstGeom>
        </p:spPr>
        <p:txBody>
          <a:bodyPr vert="horz" wrap="square" lIns="0" tIns="12700" rIns="0" bIns="0" rtlCol="0">
            <a:spAutoFit/>
          </a:bodyPr>
          <a:lstStyle/>
          <a:p>
            <a:pPr marL="12700" marR="5080">
              <a:lnSpc>
                <a:spcPct val="100000"/>
              </a:lnSpc>
              <a:spcBef>
                <a:spcPts val="100"/>
              </a:spcBef>
            </a:pPr>
            <a:r>
              <a:rPr dirty="0"/>
              <a:t>Fetching </a:t>
            </a:r>
            <a:r>
              <a:rPr spc="-5" dirty="0"/>
              <a:t>a </a:t>
            </a:r>
            <a:r>
              <a:rPr spc="-15" dirty="0"/>
              <a:t>Word</a:t>
            </a:r>
            <a:r>
              <a:rPr spc="-50" dirty="0"/>
              <a:t> </a:t>
            </a:r>
            <a:r>
              <a:rPr dirty="0"/>
              <a:t>from  </a:t>
            </a:r>
            <a:r>
              <a:rPr spc="-40" dirty="0"/>
              <a:t>Memory..</a:t>
            </a:r>
          </a:p>
        </p:txBody>
      </p:sp>
      <p:sp>
        <p:nvSpPr>
          <p:cNvPr id="3" name="object 3"/>
          <p:cNvSpPr txBox="1"/>
          <p:nvPr/>
        </p:nvSpPr>
        <p:spPr>
          <a:xfrm>
            <a:off x="697654" y="1743583"/>
            <a:ext cx="10187093" cy="2053767"/>
          </a:xfrm>
          <a:prstGeom prst="rect">
            <a:avLst/>
          </a:prstGeom>
        </p:spPr>
        <p:txBody>
          <a:bodyPr vert="horz" wrap="square" lIns="0" tIns="12065" rIns="0" bIns="0" rtlCol="0">
            <a:spAutoFit/>
          </a:bodyPr>
          <a:lstStyle/>
          <a:p>
            <a:pPr marL="520700" marR="1176655" indent="-495934" algn="just">
              <a:lnSpc>
                <a:spcPct val="150000"/>
              </a:lnSpc>
              <a:spcBef>
                <a:spcPts val="95"/>
              </a:spcBef>
              <a:buClr>
                <a:srgbClr val="330066"/>
              </a:buClr>
              <a:buSzPct val="69642"/>
              <a:buFont typeface="Wingdings"/>
              <a:buChar char="⚫"/>
              <a:tabLst>
                <a:tab pos="520700" algn="l"/>
                <a:tab pos="521334" algn="l"/>
              </a:tabLst>
            </a:pPr>
            <a:r>
              <a:rPr sz="2000" spc="-5" dirty="0">
                <a:latin typeface="Museo 300" pitchFamily="50" charset="0"/>
                <a:cs typeface="Arial"/>
              </a:rPr>
              <a:t>The connections for </a:t>
            </a:r>
            <a:r>
              <a:rPr sz="2000" dirty="0">
                <a:latin typeface="Museo 300" pitchFamily="50" charset="0"/>
                <a:cs typeface="Arial"/>
              </a:rPr>
              <a:t>register </a:t>
            </a:r>
            <a:r>
              <a:rPr sz="2000" spc="-5" dirty="0">
                <a:latin typeface="Museo 300" pitchFamily="50" charset="0"/>
                <a:cs typeface="Arial"/>
              </a:rPr>
              <a:t>MDR </a:t>
            </a:r>
            <a:r>
              <a:rPr sz="2000" spc="-40" dirty="0">
                <a:latin typeface="Museo 300" pitchFamily="50" charset="0"/>
                <a:cs typeface="Arial"/>
              </a:rPr>
              <a:t>are  </a:t>
            </a:r>
            <a:r>
              <a:rPr sz="2000" dirty="0">
                <a:latin typeface="Museo 300" pitchFamily="50" charset="0"/>
                <a:cs typeface="Arial"/>
              </a:rPr>
              <a:t>illustrated </a:t>
            </a:r>
            <a:r>
              <a:rPr sz="2000" spc="-5">
                <a:latin typeface="Museo 300" pitchFamily="50" charset="0"/>
                <a:cs typeface="Arial"/>
              </a:rPr>
              <a:t>in </a:t>
            </a:r>
            <a:r>
              <a:rPr lang="en-US" sz="2000" spc="-5" dirty="0">
                <a:latin typeface="Museo 300" pitchFamily="50" charset="0"/>
                <a:cs typeface="Arial"/>
              </a:rPr>
              <a:t>previous </a:t>
            </a:r>
            <a:r>
              <a:rPr sz="2000" spc="-5">
                <a:latin typeface="Museo 300" pitchFamily="50" charset="0"/>
                <a:cs typeface="Arial"/>
              </a:rPr>
              <a:t>Figure</a:t>
            </a:r>
            <a:endParaRPr sz="2000">
              <a:latin typeface="Museo 300" pitchFamily="50" charset="0"/>
              <a:cs typeface="Arial"/>
            </a:endParaRPr>
          </a:p>
          <a:p>
            <a:pPr marL="520700" indent="-495934" algn="just">
              <a:lnSpc>
                <a:spcPct val="150000"/>
              </a:lnSpc>
              <a:spcBef>
                <a:spcPts val="675"/>
              </a:spcBef>
              <a:buClr>
                <a:srgbClr val="330066"/>
              </a:buClr>
              <a:buSzPct val="69642"/>
              <a:buFont typeface="Wingdings"/>
              <a:buChar char="⚫"/>
              <a:tabLst>
                <a:tab pos="520700" algn="l"/>
                <a:tab pos="521334" algn="l"/>
              </a:tabLst>
            </a:pPr>
            <a:r>
              <a:rPr sz="2000" spc="-5" dirty="0">
                <a:latin typeface="Museo 300" pitchFamily="50" charset="0"/>
                <a:cs typeface="Arial"/>
              </a:rPr>
              <a:t>It has </a:t>
            </a:r>
            <a:r>
              <a:rPr sz="2000" dirty="0">
                <a:latin typeface="Museo 300" pitchFamily="50" charset="0"/>
                <a:cs typeface="Arial"/>
              </a:rPr>
              <a:t>four control</a:t>
            </a:r>
            <a:r>
              <a:rPr sz="2000" spc="-15" dirty="0">
                <a:latin typeface="Museo 300" pitchFamily="50" charset="0"/>
                <a:cs typeface="Arial"/>
              </a:rPr>
              <a:t> </a:t>
            </a:r>
            <a:r>
              <a:rPr sz="2000" dirty="0">
                <a:latin typeface="Museo 300" pitchFamily="50" charset="0"/>
                <a:cs typeface="Arial"/>
              </a:rPr>
              <a:t>signals:</a:t>
            </a:r>
            <a:endParaRPr sz="2000">
              <a:latin typeface="Museo 300" pitchFamily="50" charset="0"/>
              <a:cs typeface="Arial"/>
            </a:endParaRPr>
          </a:p>
          <a:p>
            <a:pPr marL="869950" lvl="1" indent="-495300" algn="just">
              <a:lnSpc>
                <a:spcPct val="150000"/>
              </a:lnSpc>
              <a:spcBef>
                <a:spcPts val="590"/>
              </a:spcBef>
              <a:buClr>
                <a:srgbClr val="669999"/>
              </a:buClr>
              <a:buSzPct val="68750"/>
              <a:buFont typeface="Wingdings"/>
              <a:buChar char="⚫"/>
              <a:tabLst>
                <a:tab pos="869315" algn="l"/>
                <a:tab pos="869950" algn="l"/>
              </a:tabLst>
            </a:pPr>
            <a:r>
              <a:rPr sz="2000" spc="-5" dirty="0">
                <a:latin typeface="Museo 300" pitchFamily="50" charset="0"/>
                <a:cs typeface="Arial"/>
              </a:rPr>
              <a:t>MDR</a:t>
            </a:r>
            <a:r>
              <a:rPr sz="2000" i="1" spc="-7" baseline="-20833" dirty="0">
                <a:latin typeface="Museo 300" pitchFamily="50" charset="0"/>
                <a:cs typeface="Arial"/>
              </a:rPr>
              <a:t>in </a:t>
            </a:r>
            <a:r>
              <a:rPr sz="2000" spc="-5" dirty="0">
                <a:latin typeface="Museo 300" pitchFamily="50" charset="0"/>
                <a:cs typeface="Arial"/>
              </a:rPr>
              <a:t>and MDR</a:t>
            </a:r>
            <a:r>
              <a:rPr sz="2000" i="1" spc="-7" baseline="-20833" dirty="0">
                <a:latin typeface="Museo 300" pitchFamily="50" charset="0"/>
                <a:cs typeface="Arial"/>
              </a:rPr>
              <a:t>out </a:t>
            </a:r>
            <a:r>
              <a:rPr sz="2000" spc="-5" dirty="0">
                <a:latin typeface="Museo 300" pitchFamily="50" charset="0"/>
                <a:cs typeface="Arial"/>
              </a:rPr>
              <a:t>control </a:t>
            </a:r>
            <a:r>
              <a:rPr sz="2000" dirty="0">
                <a:latin typeface="Museo 300" pitchFamily="50" charset="0"/>
                <a:cs typeface="Arial"/>
              </a:rPr>
              <a:t>the </a:t>
            </a:r>
            <a:r>
              <a:rPr sz="2000" spc="-5" dirty="0">
                <a:latin typeface="Museo 300" pitchFamily="50" charset="0"/>
                <a:cs typeface="Arial"/>
              </a:rPr>
              <a:t>connection </a:t>
            </a:r>
            <a:r>
              <a:rPr sz="2000">
                <a:latin typeface="Museo 300" pitchFamily="50" charset="0"/>
                <a:cs typeface="Arial"/>
              </a:rPr>
              <a:t>to</a:t>
            </a:r>
            <a:r>
              <a:rPr sz="2000" spc="-400">
                <a:latin typeface="Museo 300" pitchFamily="50" charset="0"/>
                <a:cs typeface="Arial"/>
              </a:rPr>
              <a:t> </a:t>
            </a:r>
            <a:r>
              <a:rPr sz="2000">
                <a:latin typeface="Museo 300" pitchFamily="50" charset="0"/>
                <a:cs typeface="Arial"/>
              </a:rPr>
              <a:t>the</a:t>
            </a:r>
            <a:r>
              <a:rPr lang="en-US" sz="2000" dirty="0">
                <a:latin typeface="Museo 300" pitchFamily="50" charset="0"/>
                <a:cs typeface="Arial"/>
              </a:rPr>
              <a:t> </a:t>
            </a:r>
            <a:r>
              <a:rPr sz="2000" spc="-5">
                <a:latin typeface="Museo 300" pitchFamily="50" charset="0"/>
                <a:cs typeface="Arial"/>
              </a:rPr>
              <a:t>internal</a:t>
            </a:r>
            <a:r>
              <a:rPr sz="2000">
                <a:latin typeface="Museo 300" pitchFamily="50" charset="0"/>
                <a:cs typeface="Arial"/>
              </a:rPr>
              <a:t> </a:t>
            </a:r>
            <a:r>
              <a:rPr sz="2000" dirty="0">
                <a:latin typeface="Museo 300" pitchFamily="50" charset="0"/>
                <a:cs typeface="Arial"/>
              </a:rPr>
              <a:t>bus.</a:t>
            </a:r>
            <a:endParaRPr sz="2000">
              <a:latin typeface="Museo 300" pitchFamily="50" charset="0"/>
              <a:cs typeface="Arial"/>
            </a:endParaRPr>
          </a:p>
          <a:p>
            <a:pPr marL="869950" marR="68580" lvl="1" indent="-495300" algn="just">
              <a:lnSpc>
                <a:spcPct val="150000"/>
              </a:lnSpc>
              <a:spcBef>
                <a:spcPts val="575"/>
              </a:spcBef>
              <a:buClr>
                <a:srgbClr val="669999"/>
              </a:buClr>
              <a:buSzPct val="68750"/>
              <a:buFont typeface="Wingdings"/>
              <a:buChar char="⚫"/>
              <a:tabLst>
                <a:tab pos="869315" algn="l"/>
                <a:tab pos="869950" algn="l"/>
              </a:tabLst>
            </a:pPr>
            <a:r>
              <a:rPr sz="2000" spc="-5" dirty="0">
                <a:latin typeface="Museo 300" pitchFamily="50" charset="0"/>
                <a:cs typeface="Arial"/>
              </a:rPr>
              <a:t>MDR</a:t>
            </a:r>
            <a:r>
              <a:rPr sz="2000" i="1" spc="-7" baseline="-20833" dirty="0">
                <a:latin typeface="Museo 300" pitchFamily="50" charset="0"/>
                <a:cs typeface="Arial"/>
              </a:rPr>
              <a:t>inE </a:t>
            </a:r>
            <a:r>
              <a:rPr sz="2000" spc="-5" dirty="0">
                <a:latin typeface="Museo 300" pitchFamily="50" charset="0"/>
                <a:cs typeface="Arial"/>
              </a:rPr>
              <a:t>and MDR</a:t>
            </a:r>
            <a:r>
              <a:rPr sz="2000" i="1" spc="-7" baseline="-20833" dirty="0">
                <a:latin typeface="Museo 300" pitchFamily="50" charset="0"/>
                <a:cs typeface="Arial"/>
              </a:rPr>
              <a:t>outE </a:t>
            </a:r>
            <a:r>
              <a:rPr sz="2000" spc="-5" dirty="0">
                <a:latin typeface="Museo 300" pitchFamily="50" charset="0"/>
                <a:cs typeface="Arial"/>
              </a:rPr>
              <a:t>control the connection </a:t>
            </a:r>
            <a:r>
              <a:rPr sz="2000" dirty="0">
                <a:latin typeface="Museo 300" pitchFamily="50" charset="0"/>
                <a:cs typeface="Arial"/>
              </a:rPr>
              <a:t>to the  </a:t>
            </a:r>
            <a:r>
              <a:rPr sz="2000" spc="-5" dirty="0">
                <a:latin typeface="Museo 300" pitchFamily="50" charset="0"/>
                <a:cs typeface="Arial"/>
              </a:rPr>
              <a:t>external</a:t>
            </a:r>
            <a:r>
              <a:rPr sz="2000" spc="10" dirty="0">
                <a:latin typeface="Museo 300" pitchFamily="50" charset="0"/>
                <a:cs typeface="Arial"/>
              </a:rPr>
              <a:t> </a:t>
            </a:r>
            <a:r>
              <a:rPr sz="2000" dirty="0">
                <a:latin typeface="Museo 300" pitchFamily="50" charset="0"/>
                <a:cs typeface="Arial"/>
              </a:rPr>
              <a:t>bus.</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381000"/>
            <a:ext cx="6856307" cy="551433"/>
          </a:xfrm>
          <a:prstGeom prst="rect">
            <a:avLst/>
          </a:prstGeom>
        </p:spPr>
        <p:txBody>
          <a:bodyPr vert="horz" wrap="square" lIns="0" tIns="12700" rIns="0" bIns="0" rtlCol="0">
            <a:spAutoFit/>
          </a:bodyPr>
          <a:lstStyle/>
          <a:p>
            <a:pPr marL="12700" marR="5080">
              <a:lnSpc>
                <a:spcPct val="100000"/>
              </a:lnSpc>
              <a:spcBef>
                <a:spcPts val="100"/>
              </a:spcBef>
            </a:pPr>
            <a:r>
              <a:rPr dirty="0"/>
              <a:t>Fetching </a:t>
            </a:r>
            <a:r>
              <a:rPr spc="-5" dirty="0"/>
              <a:t>a </a:t>
            </a:r>
            <a:r>
              <a:rPr spc="-15" dirty="0"/>
              <a:t>Word</a:t>
            </a:r>
            <a:r>
              <a:rPr spc="-50" dirty="0"/>
              <a:t> </a:t>
            </a:r>
            <a:r>
              <a:rPr dirty="0"/>
              <a:t>from  </a:t>
            </a:r>
            <a:r>
              <a:rPr spc="-40" dirty="0"/>
              <a:t>Memory..</a:t>
            </a:r>
          </a:p>
        </p:txBody>
      </p:sp>
      <p:sp>
        <p:nvSpPr>
          <p:cNvPr id="3" name="object 3"/>
          <p:cNvSpPr txBox="1"/>
          <p:nvPr/>
        </p:nvSpPr>
        <p:spPr>
          <a:xfrm>
            <a:off x="714587" y="1743583"/>
            <a:ext cx="10693400" cy="1948610"/>
          </a:xfrm>
          <a:prstGeom prst="rect">
            <a:avLst/>
          </a:prstGeom>
        </p:spPr>
        <p:txBody>
          <a:bodyPr vert="horz" wrap="square" lIns="0" tIns="12065" rIns="0" bIns="0" rtlCol="0">
            <a:spAutoFit/>
          </a:bodyPr>
          <a:lstStyle/>
          <a:p>
            <a:pPr marL="508000" marR="5080" indent="-495934" algn="just">
              <a:lnSpc>
                <a:spcPct val="200000"/>
              </a:lnSpc>
              <a:spcBef>
                <a:spcPts val="95"/>
              </a:spcBef>
              <a:buClr>
                <a:srgbClr val="330066"/>
              </a:buClr>
              <a:buSzPct val="69642"/>
              <a:buFont typeface="Wingdings"/>
              <a:buChar char="⚫"/>
              <a:tabLst>
                <a:tab pos="508634" algn="l"/>
              </a:tabLst>
            </a:pPr>
            <a:r>
              <a:rPr sz="2000" spc="-5" dirty="0">
                <a:latin typeface="Museo 300" pitchFamily="50" charset="0"/>
                <a:cs typeface="Arial"/>
              </a:rPr>
              <a:t>During memory Read and </a:t>
            </a:r>
            <a:r>
              <a:rPr sz="2000" spc="-10" dirty="0">
                <a:latin typeface="Museo 300" pitchFamily="50" charset="0"/>
                <a:cs typeface="Arial"/>
              </a:rPr>
              <a:t>Write </a:t>
            </a:r>
            <a:r>
              <a:rPr sz="2000" spc="-5" dirty="0">
                <a:latin typeface="Museo 300" pitchFamily="50" charset="0"/>
                <a:cs typeface="Arial"/>
              </a:rPr>
              <a:t>operations, </a:t>
            </a:r>
            <a:r>
              <a:rPr sz="2000" dirty="0">
                <a:latin typeface="Museo 300" pitchFamily="50" charset="0"/>
                <a:cs typeface="Arial"/>
              </a:rPr>
              <a:t>the </a:t>
            </a:r>
            <a:r>
              <a:rPr sz="2000" spc="-725" dirty="0">
                <a:latin typeface="Museo 300" pitchFamily="50" charset="0"/>
                <a:cs typeface="Arial"/>
              </a:rPr>
              <a:t> </a:t>
            </a:r>
            <a:r>
              <a:rPr sz="2000" spc="-5" dirty="0">
                <a:latin typeface="Museo 300" pitchFamily="50" charset="0"/>
                <a:cs typeface="Arial"/>
              </a:rPr>
              <a:t>timing of </a:t>
            </a:r>
            <a:r>
              <a:rPr sz="2000" dirty="0">
                <a:latin typeface="Museo 300" pitchFamily="50" charset="0"/>
                <a:cs typeface="Arial"/>
              </a:rPr>
              <a:t>internal processor operations </a:t>
            </a:r>
            <a:r>
              <a:rPr sz="2000" spc="-5" dirty="0">
                <a:latin typeface="Museo 300" pitchFamily="50" charset="0"/>
                <a:cs typeface="Arial"/>
              </a:rPr>
              <a:t>must be  coordinated with the response </a:t>
            </a:r>
            <a:r>
              <a:rPr sz="2000" dirty="0">
                <a:latin typeface="Museo 300" pitchFamily="50" charset="0"/>
                <a:cs typeface="Arial"/>
              </a:rPr>
              <a:t>of the </a:t>
            </a:r>
            <a:r>
              <a:rPr sz="2000" spc="-5" dirty="0">
                <a:latin typeface="Museo 300" pitchFamily="50" charset="0"/>
                <a:cs typeface="Arial"/>
              </a:rPr>
              <a:t>addressed  device on the </a:t>
            </a:r>
            <a:r>
              <a:rPr sz="2000" dirty="0">
                <a:latin typeface="Museo 300" pitchFamily="50" charset="0"/>
                <a:cs typeface="Arial"/>
              </a:rPr>
              <a:t>memory</a:t>
            </a:r>
            <a:r>
              <a:rPr sz="2000" spc="50" dirty="0">
                <a:latin typeface="Museo 300" pitchFamily="50" charset="0"/>
                <a:cs typeface="Arial"/>
              </a:rPr>
              <a:t> </a:t>
            </a:r>
            <a:r>
              <a:rPr sz="2000" spc="-5" dirty="0">
                <a:latin typeface="Museo 300" pitchFamily="50" charset="0"/>
                <a:cs typeface="Arial"/>
              </a:rPr>
              <a:t>bus.</a:t>
            </a:r>
            <a:endParaRPr sz="2000">
              <a:latin typeface="Museo 300" pitchFamily="50" charset="0"/>
              <a:cs typeface="Arial"/>
            </a:endParaRPr>
          </a:p>
          <a:p>
            <a:pPr marL="508000" marR="755015" indent="-495934" algn="just">
              <a:lnSpc>
                <a:spcPct val="200000"/>
              </a:lnSpc>
              <a:spcBef>
                <a:spcPts val="675"/>
              </a:spcBef>
              <a:buClr>
                <a:srgbClr val="330066"/>
              </a:buClr>
              <a:buSzPct val="69642"/>
              <a:buFont typeface="Wingdings"/>
              <a:buChar char="⚫"/>
              <a:tabLst>
                <a:tab pos="508634" algn="l"/>
              </a:tabLst>
            </a:pPr>
            <a:r>
              <a:rPr sz="2000" spc="-5" dirty="0">
                <a:latin typeface="Museo 300" pitchFamily="50" charset="0"/>
                <a:cs typeface="Arial"/>
              </a:rPr>
              <a:t>The </a:t>
            </a:r>
            <a:r>
              <a:rPr sz="2000" dirty="0">
                <a:latin typeface="Museo 300" pitchFamily="50" charset="0"/>
                <a:cs typeface="Arial"/>
              </a:rPr>
              <a:t>processor </a:t>
            </a:r>
            <a:r>
              <a:rPr sz="2000" spc="-5" dirty="0">
                <a:latin typeface="Museo 300" pitchFamily="50" charset="0"/>
                <a:cs typeface="Arial"/>
              </a:rPr>
              <a:t>completes one </a:t>
            </a:r>
            <a:r>
              <a:rPr sz="2000" dirty="0">
                <a:latin typeface="Museo 300" pitchFamily="50" charset="0"/>
                <a:cs typeface="Arial"/>
              </a:rPr>
              <a:t>internal data  transfer </a:t>
            </a:r>
            <a:r>
              <a:rPr sz="2000" spc="-5" dirty="0">
                <a:latin typeface="Museo 300" pitchFamily="50" charset="0"/>
                <a:cs typeface="Arial"/>
              </a:rPr>
              <a:t>in </a:t>
            </a:r>
            <a:r>
              <a:rPr sz="2000" dirty="0">
                <a:latin typeface="Museo 300" pitchFamily="50" charset="0"/>
                <a:cs typeface="Arial"/>
              </a:rPr>
              <a:t>one clock</a:t>
            </a:r>
            <a:r>
              <a:rPr sz="2000" spc="-10" dirty="0">
                <a:latin typeface="Museo 300" pitchFamily="50" charset="0"/>
                <a:cs typeface="Arial"/>
              </a:rPr>
              <a:t> </a:t>
            </a:r>
            <a:r>
              <a:rPr sz="2000" spc="-5" dirty="0">
                <a:latin typeface="Museo 300" pitchFamily="50" charset="0"/>
                <a:cs typeface="Arial"/>
              </a:rPr>
              <a:t>cycle.</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157098"/>
            <a:ext cx="6858000" cy="551433"/>
          </a:xfrm>
          <a:prstGeom prst="rect">
            <a:avLst/>
          </a:prstGeom>
        </p:spPr>
        <p:txBody>
          <a:bodyPr vert="horz" wrap="square" lIns="0" tIns="12700" rIns="0" bIns="0" rtlCol="0">
            <a:spAutoFit/>
          </a:bodyPr>
          <a:lstStyle/>
          <a:p>
            <a:pPr marL="12700" marR="5080">
              <a:lnSpc>
                <a:spcPct val="100000"/>
              </a:lnSpc>
              <a:spcBef>
                <a:spcPts val="100"/>
              </a:spcBef>
            </a:pPr>
            <a:r>
              <a:rPr dirty="0"/>
              <a:t>Fetching </a:t>
            </a:r>
            <a:r>
              <a:rPr spc="-5" dirty="0"/>
              <a:t>a </a:t>
            </a:r>
            <a:r>
              <a:rPr spc="-15" dirty="0"/>
              <a:t>Word</a:t>
            </a:r>
            <a:r>
              <a:rPr spc="-50" dirty="0"/>
              <a:t> </a:t>
            </a:r>
            <a:r>
              <a:rPr dirty="0"/>
              <a:t>from  </a:t>
            </a:r>
            <a:r>
              <a:rPr spc="-40" dirty="0"/>
              <a:t>Memory..</a:t>
            </a:r>
          </a:p>
        </p:txBody>
      </p:sp>
      <p:sp>
        <p:nvSpPr>
          <p:cNvPr id="3" name="object 3"/>
          <p:cNvSpPr txBox="1"/>
          <p:nvPr/>
        </p:nvSpPr>
        <p:spPr>
          <a:xfrm>
            <a:off x="762000" y="1295400"/>
            <a:ext cx="10574020" cy="3888244"/>
          </a:xfrm>
          <a:prstGeom prst="rect">
            <a:avLst/>
          </a:prstGeom>
        </p:spPr>
        <p:txBody>
          <a:bodyPr vert="horz" wrap="square" lIns="0" tIns="12700" rIns="0" bIns="0" rtlCol="0">
            <a:spAutoFit/>
          </a:bodyPr>
          <a:lstStyle/>
          <a:p>
            <a:pPr marL="508000" marR="689610" indent="-495934" algn="just">
              <a:lnSpc>
                <a:spcPct val="150000"/>
              </a:lnSpc>
              <a:spcBef>
                <a:spcPts val="100"/>
              </a:spcBef>
              <a:buClr>
                <a:srgbClr val="330066"/>
              </a:buClr>
              <a:buSzPct val="68750"/>
              <a:buFont typeface="Wingdings"/>
              <a:buChar char="⚫"/>
              <a:tabLst>
                <a:tab pos="508000" algn="l"/>
                <a:tab pos="508634" algn="l"/>
              </a:tabLst>
            </a:pPr>
            <a:r>
              <a:rPr sz="2000" dirty="0">
                <a:latin typeface="Museo 300" pitchFamily="50" charset="0"/>
                <a:cs typeface="Arial"/>
              </a:rPr>
              <a:t>The </a:t>
            </a:r>
            <a:r>
              <a:rPr sz="2000" spc="-5" dirty="0">
                <a:latin typeface="Museo 300" pitchFamily="50" charset="0"/>
                <a:cs typeface="Arial"/>
              </a:rPr>
              <a:t>response </a:t>
            </a:r>
            <a:r>
              <a:rPr sz="2000" dirty="0">
                <a:latin typeface="Museo 300" pitchFamily="50" charset="0"/>
                <a:cs typeface="Arial"/>
              </a:rPr>
              <a:t>time of </a:t>
            </a:r>
            <a:r>
              <a:rPr sz="2000" spc="-5" dirty="0">
                <a:latin typeface="Museo 300" pitchFamily="50" charset="0"/>
                <a:cs typeface="Arial"/>
              </a:rPr>
              <a:t>each memory access varies  (based </a:t>
            </a:r>
            <a:r>
              <a:rPr sz="2000" dirty="0">
                <a:latin typeface="Museo 300" pitchFamily="50" charset="0"/>
                <a:cs typeface="Arial"/>
              </a:rPr>
              <a:t>on cache miss, memory-mapped I/O,</a:t>
            </a:r>
            <a:r>
              <a:rPr sz="2000" spc="-80" dirty="0">
                <a:latin typeface="Museo 300" pitchFamily="50" charset="0"/>
                <a:cs typeface="Arial"/>
              </a:rPr>
              <a:t> </a:t>
            </a:r>
            <a:r>
              <a:rPr sz="2000" dirty="0">
                <a:latin typeface="Museo 300" pitchFamily="50" charset="0"/>
                <a:cs typeface="Arial"/>
              </a:rPr>
              <a:t>etc).</a:t>
            </a:r>
            <a:endParaRPr sz="2000">
              <a:latin typeface="Museo 300" pitchFamily="50" charset="0"/>
              <a:cs typeface="Arial"/>
            </a:endParaRPr>
          </a:p>
          <a:p>
            <a:pPr marL="508000" marR="5080" indent="-495934" algn="just">
              <a:lnSpc>
                <a:spcPct val="150000"/>
              </a:lnSpc>
              <a:spcBef>
                <a:spcPts val="575"/>
              </a:spcBef>
              <a:buClr>
                <a:srgbClr val="330066"/>
              </a:buClr>
              <a:buSzPct val="68750"/>
              <a:buFont typeface="Wingdings"/>
              <a:buChar char="⚫"/>
              <a:tabLst>
                <a:tab pos="508000" algn="l"/>
                <a:tab pos="508634" algn="l"/>
              </a:tabLst>
            </a:pPr>
            <a:r>
              <a:rPr sz="2000" spc="-135" dirty="0">
                <a:latin typeface="Museo 300" pitchFamily="50" charset="0"/>
                <a:cs typeface="Arial"/>
              </a:rPr>
              <a:t>To </a:t>
            </a:r>
            <a:r>
              <a:rPr sz="2000" spc="-5" dirty="0">
                <a:latin typeface="Museo 300" pitchFamily="50" charset="0"/>
                <a:cs typeface="Arial"/>
              </a:rPr>
              <a:t>accommodate </a:t>
            </a:r>
            <a:r>
              <a:rPr sz="2000" dirty="0">
                <a:latin typeface="Museo 300" pitchFamily="50" charset="0"/>
                <a:cs typeface="Arial"/>
              </a:rPr>
              <a:t>this, the </a:t>
            </a:r>
            <a:r>
              <a:rPr sz="2000" spc="-5" dirty="0">
                <a:latin typeface="Museo 300" pitchFamily="50" charset="0"/>
                <a:cs typeface="Arial"/>
              </a:rPr>
              <a:t>processor waits until </a:t>
            </a:r>
            <a:r>
              <a:rPr sz="2000" dirty="0">
                <a:latin typeface="Museo 300" pitchFamily="50" charset="0"/>
                <a:cs typeface="Arial"/>
              </a:rPr>
              <a:t>it  </a:t>
            </a:r>
            <a:r>
              <a:rPr sz="2000" spc="-5" dirty="0">
                <a:latin typeface="Museo 300" pitchFamily="50" charset="0"/>
                <a:cs typeface="Arial"/>
              </a:rPr>
              <a:t>receives an indication </a:t>
            </a:r>
            <a:r>
              <a:rPr sz="2000" dirty="0">
                <a:latin typeface="Museo 300" pitchFamily="50" charset="0"/>
                <a:cs typeface="Arial"/>
              </a:rPr>
              <a:t>that the </a:t>
            </a:r>
            <a:r>
              <a:rPr sz="2000" spc="-5" dirty="0">
                <a:latin typeface="Museo 300" pitchFamily="50" charset="0"/>
                <a:cs typeface="Arial"/>
              </a:rPr>
              <a:t>requested operation has  been</a:t>
            </a:r>
            <a:r>
              <a:rPr sz="2000" dirty="0">
                <a:latin typeface="Museo 300" pitchFamily="50" charset="0"/>
                <a:cs typeface="Arial"/>
              </a:rPr>
              <a:t> </a:t>
            </a:r>
            <a:r>
              <a:rPr sz="2000" spc="-5" dirty="0">
                <a:latin typeface="Museo 300" pitchFamily="50" charset="0"/>
                <a:cs typeface="Arial"/>
              </a:rPr>
              <a:t>completed.</a:t>
            </a:r>
            <a:endParaRPr sz="2000">
              <a:latin typeface="Museo 300" pitchFamily="50" charset="0"/>
              <a:cs typeface="Arial"/>
            </a:endParaRPr>
          </a:p>
          <a:p>
            <a:pPr marL="508000" marR="430530" indent="-495934" algn="just">
              <a:lnSpc>
                <a:spcPct val="150000"/>
              </a:lnSpc>
              <a:spcBef>
                <a:spcPts val="580"/>
              </a:spcBef>
              <a:buClr>
                <a:srgbClr val="330066"/>
              </a:buClr>
              <a:buSzPct val="68750"/>
              <a:buFont typeface="Wingdings"/>
              <a:buChar char="⚫"/>
              <a:tabLst>
                <a:tab pos="508000" algn="l"/>
                <a:tab pos="508634" algn="l"/>
              </a:tabLst>
            </a:pPr>
            <a:r>
              <a:rPr sz="2000" dirty="0">
                <a:latin typeface="Museo 300" pitchFamily="50" charset="0"/>
                <a:cs typeface="Arial"/>
              </a:rPr>
              <a:t>A </a:t>
            </a:r>
            <a:r>
              <a:rPr sz="2000" spc="-5" dirty="0">
                <a:latin typeface="Museo 300" pitchFamily="50" charset="0"/>
                <a:cs typeface="Arial"/>
              </a:rPr>
              <a:t>control signal called Memory-Function-Completed  (MFC) </a:t>
            </a:r>
            <a:r>
              <a:rPr sz="2000" spc="-10" dirty="0">
                <a:latin typeface="Museo 300" pitchFamily="50" charset="0"/>
                <a:cs typeface="Arial"/>
              </a:rPr>
              <a:t>is </a:t>
            </a:r>
            <a:r>
              <a:rPr sz="2000" spc="-5" dirty="0">
                <a:latin typeface="Museo 300" pitchFamily="50" charset="0"/>
                <a:cs typeface="Arial"/>
              </a:rPr>
              <a:t>used </a:t>
            </a:r>
            <a:r>
              <a:rPr sz="2000" dirty="0">
                <a:latin typeface="Museo 300" pitchFamily="50" charset="0"/>
                <a:cs typeface="Arial"/>
              </a:rPr>
              <a:t>for </a:t>
            </a:r>
            <a:r>
              <a:rPr sz="2000" spc="-5" dirty="0">
                <a:latin typeface="Museo 300" pitchFamily="50" charset="0"/>
                <a:cs typeface="Arial"/>
              </a:rPr>
              <a:t>this</a:t>
            </a:r>
            <a:r>
              <a:rPr sz="2000" spc="15" dirty="0">
                <a:latin typeface="Museo 300" pitchFamily="50" charset="0"/>
                <a:cs typeface="Arial"/>
              </a:rPr>
              <a:t> </a:t>
            </a:r>
            <a:r>
              <a:rPr sz="2000" spc="-5" dirty="0">
                <a:latin typeface="Museo 300" pitchFamily="50" charset="0"/>
                <a:cs typeface="Arial"/>
              </a:rPr>
              <a:t>purpose.</a:t>
            </a:r>
            <a:endParaRPr sz="2000">
              <a:latin typeface="Museo 300" pitchFamily="50" charset="0"/>
              <a:cs typeface="Arial"/>
            </a:endParaRPr>
          </a:p>
          <a:p>
            <a:pPr marL="508000" marR="39370" indent="-495934" algn="just">
              <a:lnSpc>
                <a:spcPct val="150000"/>
              </a:lnSpc>
              <a:spcBef>
                <a:spcPts val="575"/>
              </a:spcBef>
              <a:buClr>
                <a:srgbClr val="330066"/>
              </a:buClr>
              <a:buSzPct val="68750"/>
              <a:buFont typeface="Wingdings"/>
              <a:buChar char="⚫"/>
              <a:tabLst>
                <a:tab pos="508000" algn="l"/>
                <a:tab pos="508634" algn="l"/>
              </a:tabLst>
            </a:pPr>
            <a:r>
              <a:rPr sz="2000" spc="-5" dirty="0">
                <a:latin typeface="Museo 300" pitchFamily="50" charset="0"/>
                <a:cs typeface="Arial"/>
              </a:rPr>
              <a:t>The addressed device </a:t>
            </a:r>
            <a:r>
              <a:rPr sz="2000" dirty="0">
                <a:latin typeface="Museo 300" pitchFamily="50" charset="0"/>
                <a:cs typeface="Arial"/>
              </a:rPr>
              <a:t>sets this </a:t>
            </a:r>
            <a:r>
              <a:rPr sz="2000" spc="-5" dirty="0">
                <a:latin typeface="Museo 300" pitchFamily="50" charset="0"/>
                <a:cs typeface="Arial"/>
              </a:rPr>
              <a:t>signal </a:t>
            </a:r>
            <a:r>
              <a:rPr sz="2000" dirty="0">
                <a:latin typeface="Museo 300" pitchFamily="50" charset="0"/>
                <a:cs typeface="Arial"/>
              </a:rPr>
              <a:t>to 1 to </a:t>
            </a:r>
            <a:r>
              <a:rPr sz="2000" spc="-5" dirty="0">
                <a:latin typeface="Museo 300" pitchFamily="50" charset="0"/>
                <a:cs typeface="Arial"/>
              </a:rPr>
              <a:t>indicate  </a:t>
            </a:r>
            <a:r>
              <a:rPr sz="2000" dirty="0">
                <a:latin typeface="Museo 300" pitchFamily="50" charset="0"/>
                <a:cs typeface="Arial"/>
              </a:rPr>
              <a:t>that </a:t>
            </a:r>
            <a:r>
              <a:rPr sz="2000" spc="-5" dirty="0">
                <a:latin typeface="Museo 300" pitchFamily="50" charset="0"/>
                <a:cs typeface="Arial"/>
              </a:rPr>
              <a:t>the </a:t>
            </a:r>
            <a:r>
              <a:rPr sz="2000" dirty="0">
                <a:latin typeface="Museo 300" pitchFamily="50" charset="0"/>
                <a:cs typeface="Arial"/>
              </a:rPr>
              <a:t>contents </a:t>
            </a:r>
            <a:r>
              <a:rPr sz="2000" spc="-5" dirty="0">
                <a:latin typeface="Museo 300" pitchFamily="50" charset="0"/>
                <a:cs typeface="Arial"/>
              </a:rPr>
              <a:t>of </a:t>
            </a:r>
            <a:r>
              <a:rPr sz="2000" dirty="0">
                <a:latin typeface="Museo 300" pitchFamily="50" charset="0"/>
                <a:cs typeface="Arial"/>
              </a:rPr>
              <a:t>the </a:t>
            </a:r>
            <a:r>
              <a:rPr sz="2000" spc="-5" dirty="0">
                <a:latin typeface="Museo 300" pitchFamily="50" charset="0"/>
                <a:cs typeface="Arial"/>
              </a:rPr>
              <a:t>specified location have been  read and are available on </a:t>
            </a:r>
            <a:r>
              <a:rPr sz="2000" dirty="0">
                <a:latin typeface="Museo 300" pitchFamily="50" charset="0"/>
                <a:cs typeface="Arial"/>
              </a:rPr>
              <a:t>the </a:t>
            </a:r>
            <a:r>
              <a:rPr sz="2000" spc="-5" dirty="0">
                <a:latin typeface="Museo 300" pitchFamily="50" charset="0"/>
                <a:cs typeface="Arial"/>
              </a:rPr>
              <a:t>data lines </a:t>
            </a:r>
            <a:r>
              <a:rPr sz="2000" dirty="0">
                <a:latin typeface="Museo 300" pitchFamily="50" charset="0"/>
                <a:cs typeface="Arial"/>
              </a:rPr>
              <a:t>of the </a:t>
            </a:r>
            <a:r>
              <a:rPr sz="2000" spc="-5" dirty="0">
                <a:latin typeface="Museo 300" pitchFamily="50" charset="0"/>
                <a:cs typeface="Arial"/>
              </a:rPr>
              <a:t>memory  bus.</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157098"/>
            <a:ext cx="7467600" cy="551433"/>
          </a:xfrm>
          <a:prstGeom prst="rect">
            <a:avLst/>
          </a:prstGeom>
        </p:spPr>
        <p:txBody>
          <a:bodyPr vert="horz" wrap="square" lIns="0" tIns="12700" rIns="0" bIns="0" rtlCol="0">
            <a:spAutoFit/>
          </a:bodyPr>
          <a:lstStyle/>
          <a:p>
            <a:pPr marL="12700" marR="5080">
              <a:lnSpc>
                <a:spcPct val="100000"/>
              </a:lnSpc>
              <a:spcBef>
                <a:spcPts val="100"/>
              </a:spcBef>
            </a:pPr>
            <a:r>
              <a:rPr dirty="0"/>
              <a:t>Fetching </a:t>
            </a:r>
            <a:r>
              <a:rPr spc="-5" dirty="0"/>
              <a:t>a </a:t>
            </a:r>
            <a:r>
              <a:rPr spc="-15" dirty="0"/>
              <a:t>Word</a:t>
            </a:r>
            <a:r>
              <a:rPr spc="-50" dirty="0"/>
              <a:t> </a:t>
            </a:r>
            <a:r>
              <a:rPr dirty="0"/>
              <a:t>from  </a:t>
            </a:r>
            <a:r>
              <a:rPr spc="-40" dirty="0"/>
              <a:t>Memory..</a:t>
            </a:r>
          </a:p>
        </p:txBody>
      </p:sp>
      <p:sp>
        <p:nvSpPr>
          <p:cNvPr id="3" name="object 3"/>
          <p:cNvSpPr txBox="1"/>
          <p:nvPr/>
        </p:nvSpPr>
        <p:spPr>
          <a:xfrm>
            <a:off x="762000" y="990600"/>
            <a:ext cx="10147300" cy="3831177"/>
          </a:xfrm>
          <a:prstGeom prst="rect">
            <a:avLst/>
          </a:prstGeom>
        </p:spPr>
        <p:txBody>
          <a:bodyPr vert="horz" wrap="square" lIns="0" tIns="98425" rIns="0" bIns="0" rtlCol="0">
            <a:spAutoFit/>
          </a:bodyPr>
          <a:lstStyle/>
          <a:p>
            <a:pPr marL="355600" indent="-343535" algn="just">
              <a:lnSpc>
                <a:spcPct val="150000"/>
              </a:lnSpc>
              <a:spcBef>
                <a:spcPts val="775"/>
              </a:spcBef>
              <a:buClr>
                <a:srgbClr val="330066"/>
              </a:buClr>
              <a:buSzPct val="69642"/>
              <a:buFont typeface="Wingdings"/>
              <a:buChar char="⚫"/>
              <a:tabLst>
                <a:tab pos="355600" algn="l"/>
                <a:tab pos="356235" algn="l"/>
              </a:tabLst>
            </a:pPr>
            <a:r>
              <a:rPr sz="2000" spc="-5" dirty="0">
                <a:latin typeface="Museo 300" pitchFamily="50" charset="0"/>
                <a:cs typeface="Arial"/>
              </a:rPr>
              <a:t>Consider the </a:t>
            </a:r>
            <a:r>
              <a:rPr sz="2000" dirty="0">
                <a:latin typeface="Museo 300" pitchFamily="50" charset="0"/>
                <a:cs typeface="Arial"/>
              </a:rPr>
              <a:t>instruction </a:t>
            </a:r>
            <a:r>
              <a:rPr sz="2000" spc="-5" dirty="0">
                <a:solidFill>
                  <a:srgbClr val="FF0000"/>
                </a:solidFill>
                <a:latin typeface="Museo 300" pitchFamily="50" charset="0"/>
                <a:cs typeface="Arial"/>
              </a:rPr>
              <a:t>Move </a:t>
            </a:r>
            <a:r>
              <a:rPr sz="2000" dirty="0">
                <a:solidFill>
                  <a:srgbClr val="FF0000"/>
                </a:solidFill>
                <a:latin typeface="Museo 300" pitchFamily="50" charset="0"/>
                <a:cs typeface="Arial"/>
              </a:rPr>
              <a:t>(R1),</a:t>
            </a:r>
            <a:r>
              <a:rPr sz="2000" spc="65" dirty="0">
                <a:solidFill>
                  <a:srgbClr val="FF0000"/>
                </a:solidFill>
                <a:latin typeface="Museo 300" pitchFamily="50" charset="0"/>
                <a:cs typeface="Arial"/>
              </a:rPr>
              <a:t> </a:t>
            </a:r>
            <a:r>
              <a:rPr sz="2000" spc="-5" dirty="0">
                <a:solidFill>
                  <a:srgbClr val="FF0000"/>
                </a:solidFill>
                <a:latin typeface="Museo 300" pitchFamily="50" charset="0"/>
                <a:cs typeface="Arial"/>
              </a:rPr>
              <a:t>R2</a:t>
            </a:r>
            <a:endParaRPr sz="2000">
              <a:latin typeface="Museo 300" pitchFamily="50" charset="0"/>
              <a:cs typeface="Arial"/>
            </a:endParaRPr>
          </a:p>
          <a:p>
            <a:pPr marL="355600" marR="5080" indent="-343535" algn="just">
              <a:lnSpc>
                <a:spcPct val="150000"/>
              </a:lnSpc>
              <a:spcBef>
                <a:spcPts val="670"/>
              </a:spcBef>
              <a:buClr>
                <a:srgbClr val="330066"/>
              </a:buClr>
              <a:buSzPct val="69642"/>
              <a:buFont typeface="Wingdings"/>
              <a:buChar char="⚫"/>
              <a:tabLst>
                <a:tab pos="355600" algn="l"/>
                <a:tab pos="356235" algn="l"/>
              </a:tabLst>
            </a:pPr>
            <a:r>
              <a:rPr sz="2000" spc="-5" dirty="0">
                <a:latin typeface="Museo 300" pitchFamily="50" charset="0"/>
                <a:cs typeface="Arial"/>
              </a:rPr>
              <a:t>The actions needed to execute this </a:t>
            </a:r>
            <a:r>
              <a:rPr sz="2000" spc="-120" dirty="0">
                <a:latin typeface="Museo 300" pitchFamily="50" charset="0"/>
                <a:cs typeface="Arial"/>
              </a:rPr>
              <a:t>instruction  </a:t>
            </a:r>
            <a:r>
              <a:rPr sz="2000" spc="-5" dirty="0">
                <a:latin typeface="Museo 300" pitchFamily="50" charset="0"/>
                <a:cs typeface="Arial"/>
              </a:rPr>
              <a:t>are:</a:t>
            </a:r>
            <a:endParaRPr sz="2000">
              <a:latin typeface="Museo 300" pitchFamily="50" charset="0"/>
              <a:cs typeface="Arial"/>
            </a:endParaRPr>
          </a:p>
          <a:p>
            <a:pPr marL="527685" indent="-515620" algn="just">
              <a:lnSpc>
                <a:spcPct val="150000"/>
              </a:lnSpc>
              <a:spcBef>
                <a:spcPts val="675"/>
              </a:spcBef>
              <a:buClr>
                <a:srgbClr val="330066"/>
              </a:buClr>
              <a:buSzPct val="69642"/>
              <a:buAutoNum type="arabicPeriod"/>
              <a:tabLst>
                <a:tab pos="527685" algn="l"/>
                <a:tab pos="528320" algn="l"/>
              </a:tabLst>
            </a:pPr>
            <a:r>
              <a:rPr sz="2000" spc="-5" dirty="0">
                <a:latin typeface="Museo 300" pitchFamily="50" charset="0"/>
                <a:cs typeface="Arial"/>
              </a:rPr>
              <a:t>MAR ←</a:t>
            </a:r>
            <a:r>
              <a:rPr sz="2000" spc="5" dirty="0">
                <a:latin typeface="Museo 300" pitchFamily="50" charset="0"/>
                <a:cs typeface="Arial"/>
              </a:rPr>
              <a:t> </a:t>
            </a:r>
            <a:r>
              <a:rPr sz="2000" spc="-5" dirty="0">
                <a:latin typeface="Museo 300" pitchFamily="50" charset="0"/>
                <a:cs typeface="Arial"/>
              </a:rPr>
              <a:t>[R1]</a:t>
            </a:r>
            <a:endParaRPr sz="2000">
              <a:latin typeface="Museo 300" pitchFamily="50" charset="0"/>
              <a:cs typeface="Arial"/>
            </a:endParaRPr>
          </a:p>
          <a:p>
            <a:pPr marL="527685" indent="-515620" algn="just">
              <a:lnSpc>
                <a:spcPct val="150000"/>
              </a:lnSpc>
              <a:spcBef>
                <a:spcPts val="675"/>
              </a:spcBef>
              <a:buClr>
                <a:srgbClr val="330066"/>
              </a:buClr>
              <a:buSzPct val="69642"/>
              <a:buAutoNum type="arabicPeriod"/>
              <a:tabLst>
                <a:tab pos="527685" algn="l"/>
                <a:tab pos="528320" algn="l"/>
              </a:tabLst>
            </a:pPr>
            <a:r>
              <a:rPr sz="2000" spc="-5" dirty="0">
                <a:latin typeface="Museo 300" pitchFamily="50" charset="0"/>
                <a:cs typeface="Arial"/>
              </a:rPr>
              <a:t>Start a Read operation on the memory</a:t>
            </a:r>
            <a:r>
              <a:rPr sz="2000" spc="95" dirty="0">
                <a:latin typeface="Museo 300" pitchFamily="50" charset="0"/>
                <a:cs typeface="Arial"/>
              </a:rPr>
              <a:t> </a:t>
            </a:r>
            <a:r>
              <a:rPr sz="2000" spc="-5" dirty="0">
                <a:latin typeface="Museo 300" pitchFamily="50" charset="0"/>
                <a:cs typeface="Arial"/>
              </a:rPr>
              <a:t>bus</a:t>
            </a:r>
            <a:endParaRPr sz="2000">
              <a:latin typeface="Museo 300" pitchFamily="50" charset="0"/>
              <a:cs typeface="Arial"/>
            </a:endParaRPr>
          </a:p>
          <a:p>
            <a:pPr marL="527685" indent="-515620" algn="just">
              <a:lnSpc>
                <a:spcPct val="150000"/>
              </a:lnSpc>
              <a:spcBef>
                <a:spcPts val="670"/>
              </a:spcBef>
              <a:buClr>
                <a:srgbClr val="330066"/>
              </a:buClr>
              <a:buSzPct val="69642"/>
              <a:buAutoNum type="arabicPeriod"/>
              <a:tabLst>
                <a:tab pos="527685" algn="l"/>
                <a:tab pos="528320" algn="l"/>
              </a:tabLst>
            </a:pPr>
            <a:r>
              <a:rPr sz="2000" spc="-30" dirty="0">
                <a:latin typeface="Museo 300" pitchFamily="50" charset="0"/>
                <a:cs typeface="Arial"/>
              </a:rPr>
              <a:t>Wait </a:t>
            </a:r>
            <a:r>
              <a:rPr sz="2000" dirty="0">
                <a:latin typeface="Museo 300" pitchFamily="50" charset="0"/>
                <a:cs typeface="Arial"/>
              </a:rPr>
              <a:t>for </a:t>
            </a:r>
            <a:r>
              <a:rPr sz="2000" spc="-5" dirty="0">
                <a:latin typeface="Museo 300" pitchFamily="50" charset="0"/>
                <a:cs typeface="Arial"/>
              </a:rPr>
              <a:t>the MFC response from the</a:t>
            </a:r>
            <a:r>
              <a:rPr sz="2000" spc="65" dirty="0">
                <a:latin typeface="Museo 300" pitchFamily="50" charset="0"/>
                <a:cs typeface="Arial"/>
              </a:rPr>
              <a:t> </a:t>
            </a:r>
            <a:r>
              <a:rPr sz="2000" spc="-5" dirty="0">
                <a:latin typeface="Museo 300" pitchFamily="50" charset="0"/>
                <a:cs typeface="Arial"/>
              </a:rPr>
              <a:t>memory</a:t>
            </a:r>
            <a:endParaRPr sz="2000">
              <a:latin typeface="Museo 300" pitchFamily="50" charset="0"/>
              <a:cs typeface="Arial"/>
            </a:endParaRPr>
          </a:p>
          <a:p>
            <a:pPr marL="527685" indent="-515620" algn="just">
              <a:lnSpc>
                <a:spcPct val="150000"/>
              </a:lnSpc>
              <a:spcBef>
                <a:spcPts val="675"/>
              </a:spcBef>
              <a:buClr>
                <a:srgbClr val="330066"/>
              </a:buClr>
              <a:buSzPct val="69642"/>
              <a:buAutoNum type="arabicPeriod"/>
              <a:tabLst>
                <a:tab pos="527685" algn="l"/>
                <a:tab pos="528320" algn="l"/>
              </a:tabLst>
            </a:pPr>
            <a:r>
              <a:rPr sz="2000" spc="-5" dirty="0">
                <a:latin typeface="Museo 300" pitchFamily="50" charset="0"/>
                <a:cs typeface="Arial"/>
              </a:rPr>
              <a:t>Load MDR </a:t>
            </a:r>
            <a:r>
              <a:rPr sz="2000" dirty="0">
                <a:latin typeface="Museo 300" pitchFamily="50" charset="0"/>
                <a:cs typeface="Arial"/>
              </a:rPr>
              <a:t>from </a:t>
            </a:r>
            <a:r>
              <a:rPr sz="2000" spc="-5" dirty="0">
                <a:latin typeface="Museo 300" pitchFamily="50" charset="0"/>
                <a:cs typeface="Arial"/>
              </a:rPr>
              <a:t>the memory</a:t>
            </a:r>
            <a:r>
              <a:rPr sz="2000" spc="55" dirty="0">
                <a:latin typeface="Museo 300" pitchFamily="50" charset="0"/>
                <a:cs typeface="Arial"/>
              </a:rPr>
              <a:t> </a:t>
            </a:r>
            <a:r>
              <a:rPr sz="2000" spc="-5" dirty="0">
                <a:latin typeface="Museo 300" pitchFamily="50" charset="0"/>
                <a:cs typeface="Arial"/>
              </a:rPr>
              <a:t>bus</a:t>
            </a:r>
            <a:endParaRPr sz="2000">
              <a:latin typeface="Museo 300" pitchFamily="50" charset="0"/>
              <a:cs typeface="Arial"/>
            </a:endParaRPr>
          </a:p>
          <a:p>
            <a:pPr marL="527685" indent="-515620" algn="just">
              <a:lnSpc>
                <a:spcPct val="150000"/>
              </a:lnSpc>
              <a:spcBef>
                <a:spcPts val="670"/>
              </a:spcBef>
              <a:buClr>
                <a:srgbClr val="330066"/>
              </a:buClr>
              <a:buSzPct val="69642"/>
              <a:buAutoNum type="arabicPeriod"/>
              <a:tabLst>
                <a:tab pos="527685" algn="l"/>
                <a:tab pos="528320" algn="l"/>
              </a:tabLst>
            </a:pPr>
            <a:r>
              <a:rPr sz="2000" spc="-10" dirty="0">
                <a:latin typeface="Museo 300" pitchFamily="50" charset="0"/>
                <a:cs typeface="Arial"/>
              </a:rPr>
              <a:t>R2 </a:t>
            </a:r>
            <a:r>
              <a:rPr sz="2000" spc="-5" dirty="0">
                <a:latin typeface="Museo 300" pitchFamily="50" charset="0"/>
                <a:cs typeface="Arial"/>
              </a:rPr>
              <a:t>←</a:t>
            </a:r>
            <a:r>
              <a:rPr sz="2000" spc="10" dirty="0">
                <a:latin typeface="Museo 300" pitchFamily="50" charset="0"/>
                <a:cs typeface="Arial"/>
              </a:rPr>
              <a:t> </a:t>
            </a:r>
            <a:r>
              <a:rPr sz="2000" spc="-5" dirty="0">
                <a:latin typeface="Museo 300" pitchFamily="50" charset="0"/>
                <a:cs typeface="Arial"/>
              </a:rPr>
              <a:t>[MDR]</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157098"/>
            <a:ext cx="6934200" cy="551433"/>
          </a:xfrm>
          <a:prstGeom prst="rect">
            <a:avLst/>
          </a:prstGeom>
        </p:spPr>
        <p:txBody>
          <a:bodyPr vert="horz" wrap="square" lIns="0" tIns="12700" rIns="0" bIns="0" rtlCol="0">
            <a:spAutoFit/>
          </a:bodyPr>
          <a:lstStyle/>
          <a:p>
            <a:pPr marL="12700" marR="5080">
              <a:lnSpc>
                <a:spcPct val="100000"/>
              </a:lnSpc>
              <a:spcBef>
                <a:spcPts val="100"/>
              </a:spcBef>
            </a:pPr>
            <a:r>
              <a:rPr dirty="0"/>
              <a:t>Fetching </a:t>
            </a:r>
            <a:r>
              <a:rPr spc="-5" dirty="0"/>
              <a:t>a </a:t>
            </a:r>
            <a:r>
              <a:rPr spc="-15" dirty="0"/>
              <a:t>Word</a:t>
            </a:r>
            <a:r>
              <a:rPr spc="-50" dirty="0"/>
              <a:t> </a:t>
            </a:r>
            <a:r>
              <a:rPr dirty="0"/>
              <a:t>from  </a:t>
            </a:r>
            <a:r>
              <a:rPr spc="-40" dirty="0"/>
              <a:t>Memory..</a:t>
            </a:r>
          </a:p>
        </p:txBody>
      </p:sp>
      <p:sp>
        <p:nvSpPr>
          <p:cNvPr id="3" name="object 3"/>
          <p:cNvSpPr txBox="1"/>
          <p:nvPr/>
        </p:nvSpPr>
        <p:spPr>
          <a:xfrm>
            <a:off x="697654" y="1743582"/>
            <a:ext cx="9913620" cy="2541080"/>
          </a:xfrm>
          <a:prstGeom prst="rect">
            <a:avLst/>
          </a:prstGeom>
        </p:spPr>
        <p:txBody>
          <a:bodyPr vert="horz" wrap="square" lIns="0" tIns="12065" rIns="0" bIns="0" rtlCol="0">
            <a:spAutoFit/>
          </a:bodyPr>
          <a:lstStyle/>
          <a:p>
            <a:pPr marL="368300" marR="17780" indent="-343535" algn="just">
              <a:lnSpc>
                <a:spcPct val="150000"/>
              </a:lnSpc>
              <a:spcBef>
                <a:spcPts val="95"/>
              </a:spcBef>
              <a:tabLst>
                <a:tab pos="368300" algn="l"/>
              </a:tabLst>
            </a:pPr>
            <a:r>
              <a:rPr sz="2000" spc="2045" dirty="0">
                <a:solidFill>
                  <a:srgbClr val="330066"/>
                </a:solidFill>
                <a:latin typeface="Museo 300" pitchFamily="50" charset="0"/>
                <a:cs typeface="Wingdings"/>
              </a:rPr>
              <a:t>⚫</a:t>
            </a:r>
            <a:r>
              <a:rPr sz="2000" spc="2045" dirty="0">
                <a:solidFill>
                  <a:srgbClr val="330066"/>
                </a:solidFill>
                <a:latin typeface="Museo 300" pitchFamily="50" charset="0"/>
                <a:cs typeface="Times New Roman"/>
              </a:rPr>
              <a:t>	</a:t>
            </a:r>
            <a:r>
              <a:rPr sz="2000" spc="-5" dirty="0">
                <a:latin typeface="Museo 300" pitchFamily="50" charset="0"/>
                <a:cs typeface="Arial"/>
              </a:rPr>
              <a:t>The memory read </a:t>
            </a:r>
            <a:r>
              <a:rPr sz="2000" dirty="0">
                <a:latin typeface="Museo 300" pitchFamily="50" charset="0"/>
                <a:cs typeface="Arial"/>
              </a:rPr>
              <a:t>operation requires three  </a:t>
            </a:r>
            <a:r>
              <a:rPr sz="2000" spc="-5" dirty="0">
                <a:latin typeface="Museo 300" pitchFamily="50" charset="0"/>
                <a:cs typeface="Arial"/>
              </a:rPr>
              <a:t>steps, which can </a:t>
            </a:r>
            <a:r>
              <a:rPr sz="2000" dirty="0">
                <a:latin typeface="Museo 300" pitchFamily="50" charset="0"/>
                <a:cs typeface="Arial"/>
              </a:rPr>
              <a:t>be described </a:t>
            </a:r>
            <a:r>
              <a:rPr sz="2000" spc="-5" dirty="0">
                <a:latin typeface="Museo 300" pitchFamily="50" charset="0"/>
                <a:cs typeface="Arial"/>
              </a:rPr>
              <a:t>by the </a:t>
            </a:r>
            <a:r>
              <a:rPr sz="2000" dirty="0">
                <a:latin typeface="Museo 300" pitchFamily="50" charset="0"/>
                <a:cs typeface="Arial"/>
              </a:rPr>
              <a:t>signals  </a:t>
            </a:r>
            <a:r>
              <a:rPr sz="2000" spc="-5" dirty="0">
                <a:latin typeface="Museo 300" pitchFamily="50" charset="0"/>
                <a:cs typeface="Arial"/>
              </a:rPr>
              <a:t>being </a:t>
            </a:r>
            <a:r>
              <a:rPr sz="2000" dirty="0">
                <a:latin typeface="Museo 300" pitchFamily="50" charset="0"/>
                <a:cs typeface="Arial"/>
              </a:rPr>
              <a:t>activated as</a:t>
            </a:r>
            <a:r>
              <a:rPr sz="2000" spc="-15" dirty="0">
                <a:latin typeface="Museo 300" pitchFamily="50" charset="0"/>
                <a:cs typeface="Arial"/>
              </a:rPr>
              <a:t> </a:t>
            </a:r>
            <a:r>
              <a:rPr sz="2000" spc="-5" dirty="0">
                <a:latin typeface="Museo 300" pitchFamily="50" charset="0"/>
                <a:cs typeface="Arial"/>
              </a:rPr>
              <a:t>follows:</a:t>
            </a:r>
            <a:endParaRPr sz="2000">
              <a:latin typeface="Museo 300" pitchFamily="50" charset="0"/>
              <a:cs typeface="Arial"/>
            </a:endParaRPr>
          </a:p>
          <a:p>
            <a:pPr marL="540385" indent="-515620" algn="just">
              <a:lnSpc>
                <a:spcPct val="150000"/>
              </a:lnSpc>
              <a:spcBef>
                <a:spcPts val="675"/>
              </a:spcBef>
              <a:buClr>
                <a:srgbClr val="330066"/>
              </a:buClr>
              <a:buSzPct val="69642"/>
              <a:buAutoNum type="arabicPeriod"/>
              <a:tabLst>
                <a:tab pos="540385" algn="l"/>
                <a:tab pos="541020" algn="l"/>
              </a:tabLst>
            </a:pPr>
            <a:r>
              <a:rPr sz="2000" dirty="0">
                <a:latin typeface="Museo 300" pitchFamily="50" charset="0"/>
                <a:cs typeface="Arial"/>
              </a:rPr>
              <a:t>R1</a:t>
            </a:r>
            <a:r>
              <a:rPr sz="2000" i="1" baseline="-21021" dirty="0">
                <a:latin typeface="Museo 300" pitchFamily="50" charset="0"/>
                <a:cs typeface="Arial"/>
              </a:rPr>
              <a:t>out</a:t>
            </a:r>
            <a:r>
              <a:rPr sz="2000" dirty="0">
                <a:latin typeface="Museo 300" pitchFamily="50" charset="0"/>
                <a:cs typeface="Arial"/>
              </a:rPr>
              <a:t>, </a:t>
            </a:r>
            <a:r>
              <a:rPr sz="2000" spc="-5" dirty="0">
                <a:latin typeface="Museo 300" pitchFamily="50" charset="0"/>
                <a:cs typeface="Arial"/>
              </a:rPr>
              <a:t>MAR</a:t>
            </a:r>
            <a:r>
              <a:rPr sz="2000" i="1" spc="-7" baseline="-21021" dirty="0">
                <a:latin typeface="Museo 300" pitchFamily="50" charset="0"/>
                <a:cs typeface="Arial"/>
              </a:rPr>
              <a:t>in</a:t>
            </a:r>
            <a:r>
              <a:rPr sz="2000" spc="-5" dirty="0">
                <a:latin typeface="Museo 300" pitchFamily="50" charset="0"/>
                <a:cs typeface="Arial"/>
              </a:rPr>
              <a:t>,</a:t>
            </a:r>
            <a:r>
              <a:rPr sz="2000" spc="-20" dirty="0">
                <a:latin typeface="Museo 300" pitchFamily="50" charset="0"/>
                <a:cs typeface="Arial"/>
              </a:rPr>
              <a:t> </a:t>
            </a:r>
            <a:r>
              <a:rPr sz="2000" spc="-5" dirty="0">
                <a:latin typeface="Museo 300" pitchFamily="50" charset="0"/>
                <a:cs typeface="Arial"/>
              </a:rPr>
              <a:t>Read</a:t>
            </a:r>
            <a:endParaRPr sz="2000">
              <a:latin typeface="Museo 300" pitchFamily="50" charset="0"/>
              <a:cs typeface="Arial"/>
            </a:endParaRPr>
          </a:p>
          <a:p>
            <a:pPr marL="540385" indent="-515620" algn="just">
              <a:lnSpc>
                <a:spcPct val="150000"/>
              </a:lnSpc>
              <a:spcBef>
                <a:spcPts val="675"/>
              </a:spcBef>
              <a:buClr>
                <a:srgbClr val="330066"/>
              </a:buClr>
              <a:buSzPct val="69642"/>
              <a:buAutoNum type="arabicPeriod"/>
              <a:tabLst>
                <a:tab pos="540385" algn="l"/>
                <a:tab pos="541020" algn="l"/>
              </a:tabLst>
            </a:pPr>
            <a:r>
              <a:rPr sz="2000" dirty="0">
                <a:latin typeface="Museo 300" pitchFamily="50" charset="0"/>
                <a:cs typeface="Arial"/>
              </a:rPr>
              <a:t>MDR</a:t>
            </a:r>
            <a:r>
              <a:rPr sz="2000" i="1" baseline="-21021" dirty="0">
                <a:latin typeface="Museo 300" pitchFamily="50" charset="0"/>
                <a:cs typeface="Arial"/>
              </a:rPr>
              <a:t>inE</a:t>
            </a:r>
            <a:r>
              <a:rPr sz="2000" dirty="0">
                <a:latin typeface="Museo 300" pitchFamily="50" charset="0"/>
                <a:cs typeface="Arial"/>
              </a:rPr>
              <a:t>,</a:t>
            </a:r>
            <a:r>
              <a:rPr sz="2000" spc="-10" dirty="0">
                <a:latin typeface="Museo 300" pitchFamily="50" charset="0"/>
                <a:cs typeface="Arial"/>
              </a:rPr>
              <a:t> </a:t>
            </a:r>
            <a:r>
              <a:rPr sz="2000" spc="-5" dirty="0">
                <a:latin typeface="Museo 300" pitchFamily="50" charset="0"/>
                <a:cs typeface="Arial"/>
              </a:rPr>
              <a:t>WMFC</a:t>
            </a:r>
            <a:endParaRPr sz="2000">
              <a:latin typeface="Museo 300" pitchFamily="50" charset="0"/>
              <a:cs typeface="Arial"/>
            </a:endParaRPr>
          </a:p>
          <a:p>
            <a:pPr marL="540385" indent="-515620" algn="just">
              <a:lnSpc>
                <a:spcPct val="150000"/>
              </a:lnSpc>
              <a:spcBef>
                <a:spcPts val="670"/>
              </a:spcBef>
              <a:buClr>
                <a:srgbClr val="330066"/>
              </a:buClr>
              <a:buSzPct val="69642"/>
              <a:buAutoNum type="arabicPeriod"/>
              <a:tabLst>
                <a:tab pos="540385" algn="l"/>
                <a:tab pos="541020" algn="l"/>
              </a:tabLst>
            </a:pPr>
            <a:r>
              <a:rPr sz="2000" dirty="0">
                <a:latin typeface="Museo 300" pitchFamily="50" charset="0"/>
                <a:cs typeface="Arial"/>
              </a:rPr>
              <a:t>MDR</a:t>
            </a:r>
            <a:r>
              <a:rPr sz="2000" i="1" baseline="-21021" dirty="0">
                <a:latin typeface="Museo 300" pitchFamily="50" charset="0"/>
                <a:cs typeface="Arial"/>
              </a:rPr>
              <a:t>out</a:t>
            </a:r>
            <a:r>
              <a:rPr sz="2000" dirty="0">
                <a:latin typeface="Museo 300" pitchFamily="50" charset="0"/>
                <a:cs typeface="Arial"/>
              </a:rPr>
              <a:t>,</a:t>
            </a:r>
            <a:r>
              <a:rPr sz="2000" spc="-10" dirty="0">
                <a:latin typeface="Museo 300" pitchFamily="50" charset="0"/>
                <a:cs typeface="Arial"/>
              </a:rPr>
              <a:t> </a:t>
            </a:r>
            <a:r>
              <a:rPr sz="2000" spc="5" dirty="0">
                <a:latin typeface="Museo 300" pitchFamily="50" charset="0"/>
                <a:cs typeface="Arial"/>
              </a:rPr>
              <a:t>R2</a:t>
            </a:r>
            <a:r>
              <a:rPr sz="2000" i="1" spc="7" baseline="-21021" dirty="0">
                <a:latin typeface="Museo 300" pitchFamily="50" charset="0"/>
                <a:cs typeface="Arial"/>
              </a:rPr>
              <a:t>in</a:t>
            </a:r>
            <a:endParaRPr sz="2000" baseline="-21021">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4589" y="751459"/>
            <a:ext cx="2187785" cy="551433"/>
          </a:xfrm>
          <a:prstGeom prst="rect">
            <a:avLst/>
          </a:prstGeom>
        </p:spPr>
        <p:txBody>
          <a:bodyPr vert="horz" wrap="square" lIns="0" tIns="12700" rIns="0" bIns="0" rtlCol="0">
            <a:spAutoFit/>
          </a:bodyPr>
          <a:lstStyle/>
          <a:p>
            <a:pPr marL="12700">
              <a:lnSpc>
                <a:spcPct val="100000"/>
              </a:lnSpc>
              <a:spcBef>
                <a:spcPts val="100"/>
              </a:spcBef>
            </a:pPr>
            <a:r>
              <a:rPr sz="3500" b="1" spc="-70" dirty="0">
                <a:solidFill>
                  <a:srgbClr val="C00000"/>
                </a:solidFill>
                <a:latin typeface="Museo 300" pitchFamily="50" charset="0"/>
                <a:cs typeface="Arial"/>
              </a:rPr>
              <a:t>T</a:t>
            </a:r>
            <a:r>
              <a:rPr sz="3500" b="1" dirty="0">
                <a:solidFill>
                  <a:srgbClr val="C00000"/>
                </a:solidFill>
                <a:latin typeface="Museo 300" pitchFamily="50" charset="0"/>
                <a:cs typeface="Arial"/>
              </a:rPr>
              <a:t>iming</a:t>
            </a:r>
            <a:endParaRPr sz="3500">
              <a:solidFill>
                <a:srgbClr val="C00000"/>
              </a:solidFill>
              <a:latin typeface="Museo 300" pitchFamily="50" charset="0"/>
              <a:cs typeface="Arial"/>
            </a:endParaRPr>
          </a:p>
        </p:txBody>
      </p:sp>
      <p:sp>
        <p:nvSpPr>
          <p:cNvPr id="3" name="object 3"/>
          <p:cNvSpPr txBox="1"/>
          <p:nvPr/>
        </p:nvSpPr>
        <p:spPr>
          <a:xfrm>
            <a:off x="533400" y="1828800"/>
            <a:ext cx="2756747" cy="1859483"/>
          </a:xfrm>
          <a:prstGeom prst="rect">
            <a:avLst/>
          </a:prstGeom>
        </p:spPr>
        <p:txBody>
          <a:bodyPr vert="horz" wrap="square" lIns="0" tIns="12700" rIns="0" bIns="0" rtlCol="0">
            <a:spAutoFit/>
          </a:bodyPr>
          <a:lstStyle/>
          <a:p>
            <a:pPr marL="12700" algn="just">
              <a:lnSpc>
                <a:spcPct val="150000"/>
              </a:lnSpc>
              <a:spcBef>
                <a:spcPts val="100"/>
              </a:spcBef>
            </a:pPr>
            <a:r>
              <a:rPr sz="2000" spc="-5" dirty="0">
                <a:latin typeface="Museo 300" pitchFamily="50" charset="0"/>
                <a:cs typeface="Arial"/>
              </a:rPr>
              <a:t>Assume</a:t>
            </a:r>
            <a:r>
              <a:rPr sz="2000" spc="-20" dirty="0">
                <a:latin typeface="Museo 300" pitchFamily="50" charset="0"/>
                <a:cs typeface="Arial"/>
              </a:rPr>
              <a:t> </a:t>
            </a:r>
            <a:r>
              <a:rPr sz="2000" dirty="0">
                <a:latin typeface="Museo 300" pitchFamily="50" charset="0"/>
                <a:cs typeface="Arial"/>
              </a:rPr>
              <a:t>MAR</a:t>
            </a:r>
            <a:endParaRPr sz="2000">
              <a:latin typeface="Museo 300" pitchFamily="50" charset="0"/>
              <a:cs typeface="Arial"/>
            </a:endParaRPr>
          </a:p>
          <a:p>
            <a:pPr marL="12700" marR="5080" algn="just">
              <a:lnSpc>
                <a:spcPct val="150000"/>
              </a:lnSpc>
              <a:spcBef>
                <a:spcPts val="5"/>
              </a:spcBef>
            </a:pPr>
            <a:r>
              <a:rPr sz="2000" spc="-5" dirty="0">
                <a:latin typeface="Museo 300" pitchFamily="50" charset="0"/>
                <a:cs typeface="Arial"/>
              </a:rPr>
              <a:t>is </a:t>
            </a:r>
            <a:r>
              <a:rPr sz="2000" spc="-15" dirty="0">
                <a:latin typeface="Museo 300" pitchFamily="50" charset="0"/>
                <a:cs typeface="Arial"/>
              </a:rPr>
              <a:t>always </a:t>
            </a:r>
            <a:r>
              <a:rPr sz="2000" spc="-5" dirty="0">
                <a:latin typeface="Museo 300" pitchFamily="50" charset="0"/>
                <a:cs typeface="Arial"/>
              </a:rPr>
              <a:t>available  on </a:t>
            </a:r>
            <a:r>
              <a:rPr sz="2000" dirty="0">
                <a:latin typeface="Museo 300" pitchFamily="50" charset="0"/>
                <a:cs typeface="Arial"/>
              </a:rPr>
              <a:t>the </a:t>
            </a:r>
            <a:r>
              <a:rPr sz="2000" spc="-5" dirty="0">
                <a:latin typeface="Museo 300" pitchFamily="50" charset="0"/>
                <a:cs typeface="Arial"/>
              </a:rPr>
              <a:t>address</a:t>
            </a:r>
            <a:r>
              <a:rPr sz="2000" spc="-75" dirty="0">
                <a:latin typeface="Museo 300" pitchFamily="50" charset="0"/>
                <a:cs typeface="Arial"/>
              </a:rPr>
              <a:t> </a:t>
            </a:r>
            <a:r>
              <a:rPr sz="2000" spc="-5" dirty="0">
                <a:latin typeface="Museo 300" pitchFamily="50" charset="0"/>
                <a:cs typeface="Arial"/>
              </a:rPr>
              <a:t>lines  </a:t>
            </a:r>
            <a:r>
              <a:rPr sz="2000" dirty="0">
                <a:latin typeface="Museo 300" pitchFamily="50" charset="0"/>
                <a:cs typeface="Arial"/>
              </a:rPr>
              <a:t>of </a:t>
            </a:r>
            <a:r>
              <a:rPr sz="2000" spc="-5" dirty="0">
                <a:latin typeface="Museo 300" pitchFamily="50" charset="0"/>
                <a:cs typeface="Arial"/>
              </a:rPr>
              <a:t>the </a:t>
            </a:r>
            <a:r>
              <a:rPr sz="2000" dirty="0">
                <a:latin typeface="Museo 300" pitchFamily="50" charset="0"/>
                <a:cs typeface="Arial"/>
              </a:rPr>
              <a:t>memory</a:t>
            </a:r>
            <a:r>
              <a:rPr sz="2000" spc="-65" dirty="0">
                <a:latin typeface="Museo 300" pitchFamily="50" charset="0"/>
                <a:cs typeface="Arial"/>
              </a:rPr>
              <a:t> </a:t>
            </a:r>
            <a:r>
              <a:rPr sz="2000" spc="-5" dirty="0">
                <a:latin typeface="Museo 300" pitchFamily="50" charset="0"/>
                <a:cs typeface="Arial"/>
              </a:rPr>
              <a:t>bus.</a:t>
            </a:r>
            <a:endParaRPr sz="2000">
              <a:latin typeface="Museo 300" pitchFamily="50" charset="0"/>
              <a:cs typeface="Arial"/>
            </a:endParaRPr>
          </a:p>
        </p:txBody>
      </p:sp>
      <p:sp>
        <p:nvSpPr>
          <p:cNvPr id="4" name="object 4"/>
          <p:cNvSpPr txBox="1"/>
          <p:nvPr/>
        </p:nvSpPr>
        <p:spPr>
          <a:xfrm>
            <a:off x="10266679" y="6003748"/>
            <a:ext cx="1183640" cy="197490"/>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R2 </a:t>
            </a:r>
            <a:r>
              <a:rPr sz="1200" dirty="0">
                <a:latin typeface="Arial"/>
                <a:cs typeface="Arial"/>
              </a:rPr>
              <a:t>←</a:t>
            </a:r>
            <a:r>
              <a:rPr sz="1200" spc="-80" dirty="0">
                <a:latin typeface="Arial"/>
                <a:cs typeface="Arial"/>
              </a:rPr>
              <a:t> </a:t>
            </a:r>
            <a:r>
              <a:rPr sz="1200" spc="-5" dirty="0">
                <a:latin typeface="Arial"/>
                <a:cs typeface="Arial"/>
              </a:rPr>
              <a:t>[MDR]</a:t>
            </a:r>
            <a:endParaRPr sz="1200">
              <a:latin typeface="Arial"/>
              <a:cs typeface="Arial"/>
            </a:endParaRPr>
          </a:p>
        </p:txBody>
      </p:sp>
      <p:graphicFrame>
        <p:nvGraphicFramePr>
          <p:cNvPr id="5" name="object 5"/>
          <p:cNvGraphicFramePr>
            <a:graphicFrameLocks noGrp="1"/>
          </p:cNvGraphicFramePr>
          <p:nvPr/>
        </p:nvGraphicFramePr>
        <p:xfrm>
          <a:off x="4220466" y="1490472"/>
          <a:ext cx="6329680" cy="696466"/>
        </p:xfrm>
        <a:graphic>
          <a:graphicData uri="http://schemas.openxmlformats.org/drawingml/2006/table">
            <a:tbl>
              <a:tblPr firstRow="1" bandRow="1">
                <a:tableStyleId>{2D5ABB26-0587-4C30-8999-92F81FD0307C}</a:tableStyleId>
              </a:tblPr>
              <a:tblGrid>
                <a:gridCol w="371687">
                  <a:extLst>
                    <a:ext uri="{9D8B030D-6E8A-4147-A177-3AD203B41FA5}">
                      <a16:colId xmlns:a16="http://schemas.microsoft.com/office/drawing/2014/main" val="20000"/>
                    </a:ext>
                  </a:extLst>
                </a:gridCol>
                <a:gridCol w="186267">
                  <a:extLst>
                    <a:ext uri="{9D8B030D-6E8A-4147-A177-3AD203B41FA5}">
                      <a16:colId xmlns:a16="http://schemas.microsoft.com/office/drawing/2014/main" val="20001"/>
                    </a:ext>
                  </a:extLst>
                </a:gridCol>
                <a:gridCol w="928793">
                  <a:extLst>
                    <a:ext uri="{9D8B030D-6E8A-4147-A177-3AD203B41FA5}">
                      <a16:colId xmlns:a16="http://schemas.microsoft.com/office/drawing/2014/main" val="20002"/>
                    </a:ext>
                  </a:extLst>
                </a:gridCol>
                <a:gridCol w="187959">
                  <a:extLst>
                    <a:ext uri="{9D8B030D-6E8A-4147-A177-3AD203B41FA5}">
                      <a16:colId xmlns:a16="http://schemas.microsoft.com/office/drawing/2014/main" val="20003"/>
                    </a:ext>
                  </a:extLst>
                </a:gridCol>
                <a:gridCol w="929640">
                  <a:extLst>
                    <a:ext uri="{9D8B030D-6E8A-4147-A177-3AD203B41FA5}">
                      <a16:colId xmlns:a16="http://schemas.microsoft.com/office/drawing/2014/main" val="20004"/>
                    </a:ext>
                  </a:extLst>
                </a:gridCol>
                <a:gridCol w="1117600">
                  <a:extLst>
                    <a:ext uri="{9D8B030D-6E8A-4147-A177-3AD203B41FA5}">
                      <a16:colId xmlns:a16="http://schemas.microsoft.com/office/drawing/2014/main" val="20005"/>
                    </a:ext>
                  </a:extLst>
                </a:gridCol>
                <a:gridCol w="1117600">
                  <a:extLst>
                    <a:ext uri="{9D8B030D-6E8A-4147-A177-3AD203B41FA5}">
                      <a16:colId xmlns:a16="http://schemas.microsoft.com/office/drawing/2014/main" val="20006"/>
                    </a:ext>
                  </a:extLst>
                </a:gridCol>
                <a:gridCol w="1115907">
                  <a:extLst>
                    <a:ext uri="{9D8B030D-6E8A-4147-A177-3AD203B41FA5}">
                      <a16:colId xmlns:a16="http://schemas.microsoft.com/office/drawing/2014/main" val="20007"/>
                    </a:ext>
                  </a:extLst>
                </a:gridCol>
                <a:gridCol w="374227">
                  <a:extLst>
                    <a:ext uri="{9D8B030D-6E8A-4147-A177-3AD203B41FA5}">
                      <a16:colId xmlns:a16="http://schemas.microsoft.com/office/drawing/2014/main" val="20008"/>
                    </a:ext>
                  </a:extLst>
                </a:gridCol>
              </a:tblGrid>
              <a:tr h="216407">
                <a:tc rowSpan="2">
                  <a:txBody>
                    <a:bodyPr/>
                    <a:lstStyle/>
                    <a:p>
                      <a:pPr>
                        <a:lnSpc>
                          <a:spcPct val="100000"/>
                        </a:lnSpc>
                      </a:pPr>
                      <a:endParaRPr sz="1500">
                        <a:latin typeface="Times New Roman"/>
                        <a:cs typeface="Times New Roman"/>
                      </a:endParaRPr>
                    </a:p>
                  </a:txBody>
                  <a:tcPr marL="0" marR="0" marT="0" marB="0">
                    <a:lnR w="19050">
                      <a:solidFill>
                        <a:srgbClr val="00FFFF"/>
                      </a:solidFill>
                      <a:prstDash val="solid"/>
                    </a:lnR>
                    <a:lnB w="19050">
                      <a:solidFill>
                        <a:srgbClr val="000000"/>
                      </a:solidFill>
                      <a:prstDash val="solid"/>
                    </a:lnB>
                  </a:tcPr>
                </a:tc>
                <a:tc gridSpan="2">
                  <a:txBody>
                    <a:bodyPr/>
                    <a:lstStyle/>
                    <a:p>
                      <a:pPr>
                        <a:lnSpc>
                          <a:spcPct val="100000"/>
                        </a:lnSpc>
                      </a:pPr>
                      <a:endParaRPr sz="1300">
                        <a:latin typeface="Times New Roman"/>
                        <a:cs typeface="Times New Roman"/>
                      </a:endParaRPr>
                    </a:p>
                  </a:txBody>
                  <a:tcPr marL="0" marR="0" marT="0" marB="0">
                    <a:lnL w="19050">
                      <a:solidFill>
                        <a:srgbClr val="00FFFF"/>
                      </a:solidFill>
                      <a:prstDash val="solid"/>
                    </a:lnL>
                    <a:lnR w="19050">
                      <a:solidFill>
                        <a:srgbClr val="00FFFF"/>
                      </a:solidFill>
                      <a:prstDash val="solid"/>
                    </a:lnR>
                  </a:tcPr>
                </a:tc>
                <a:tc hMerge="1">
                  <a:txBody>
                    <a:bodyPr/>
                    <a:lstStyle/>
                    <a:p>
                      <a:endParaRPr/>
                    </a:p>
                  </a:txBody>
                  <a:tcPr marL="0" marR="0" marT="0" marB="0"/>
                </a:tc>
                <a:tc gridSpan="2">
                  <a:txBody>
                    <a:bodyPr/>
                    <a:lstStyle/>
                    <a:p>
                      <a:pPr>
                        <a:lnSpc>
                          <a:spcPct val="100000"/>
                        </a:lnSpc>
                      </a:pPr>
                      <a:endParaRPr sz="1300">
                        <a:latin typeface="Times New Roman"/>
                        <a:cs typeface="Times New Roman"/>
                      </a:endParaRPr>
                    </a:p>
                  </a:txBody>
                  <a:tcPr marL="0" marR="0" marT="0" marB="0">
                    <a:lnL w="19050">
                      <a:solidFill>
                        <a:srgbClr val="00FFFF"/>
                      </a:solidFill>
                      <a:prstDash val="solid"/>
                    </a:lnL>
                    <a:lnR w="19050">
                      <a:solidFill>
                        <a:srgbClr val="00FFFF"/>
                      </a:solidFill>
                      <a:prstDash val="solid"/>
                    </a:lnR>
                  </a:tcPr>
                </a:tc>
                <a:tc hMerge="1">
                  <a:txBody>
                    <a:bodyPr/>
                    <a:lstStyle/>
                    <a:p>
                      <a:endParaRPr/>
                    </a:p>
                  </a:txBody>
                  <a:tcPr marL="0" marR="0" marT="0" marB="0"/>
                </a:tc>
                <a:tc rowSpan="2">
                  <a:txBody>
                    <a:bodyPr/>
                    <a:lstStyle/>
                    <a:p>
                      <a:pPr>
                        <a:lnSpc>
                          <a:spcPct val="100000"/>
                        </a:lnSpc>
                        <a:spcBef>
                          <a:spcPts val="1175"/>
                        </a:spcBef>
                      </a:pPr>
                      <a:r>
                        <a:rPr sz="1800" dirty="0">
                          <a:latin typeface="Arial"/>
                          <a:cs typeface="Arial"/>
                        </a:rPr>
                        <a:t>←</a:t>
                      </a:r>
                      <a:r>
                        <a:rPr sz="1800" spc="-25" dirty="0">
                          <a:latin typeface="Arial"/>
                          <a:cs typeface="Arial"/>
                        </a:rPr>
                        <a:t> </a:t>
                      </a:r>
                      <a:r>
                        <a:rPr sz="1800" spc="-5" dirty="0">
                          <a:latin typeface="Arial"/>
                          <a:cs typeface="Arial"/>
                        </a:rPr>
                        <a:t>[R1]</a:t>
                      </a:r>
                      <a:endParaRPr sz="1800">
                        <a:latin typeface="Arial"/>
                        <a:cs typeface="Arial"/>
                      </a:endParaRPr>
                    </a:p>
                  </a:txBody>
                  <a:tcPr marL="0" marR="0" marT="149225" marB="0">
                    <a:lnL w="19050">
                      <a:solidFill>
                        <a:srgbClr val="00FFFF"/>
                      </a:solidFill>
                      <a:prstDash val="solid"/>
                    </a:lnL>
                    <a:lnR w="19050">
                      <a:solidFill>
                        <a:srgbClr val="00FFFF"/>
                      </a:solidFill>
                      <a:prstDash val="solid"/>
                    </a:lnR>
                    <a:lnB w="19050">
                      <a:solidFill>
                        <a:srgbClr val="000000"/>
                      </a:solidFill>
                      <a:prstDash val="solid"/>
                    </a:lnB>
                  </a:tcPr>
                </a:tc>
                <a:tc rowSpan="2">
                  <a:txBody>
                    <a:bodyPr/>
                    <a:lstStyle/>
                    <a:p>
                      <a:pPr>
                        <a:lnSpc>
                          <a:spcPct val="100000"/>
                        </a:lnSpc>
                      </a:pPr>
                      <a:endParaRPr sz="1500">
                        <a:latin typeface="Times New Roman"/>
                        <a:cs typeface="Times New Roman"/>
                      </a:endParaRPr>
                    </a:p>
                  </a:txBody>
                  <a:tcPr marL="0" marR="0" marT="0" marB="0">
                    <a:lnL w="19050">
                      <a:solidFill>
                        <a:srgbClr val="00FFFF"/>
                      </a:solidFill>
                      <a:prstDash val="solid"/>
                    </a:lnL>
                    <a:lnR w="19050">
                      <a:solidFill>
                        <a:srgbClr val="00FFFF"/>
                      </a:solidFill>
                      <a:prstDash val="solid"/>
                    </a:lnR>
                    <a:lnB w="19050">
                      <a:solidFill>
                        <a:srgbClr val="000000"/>
                      </a:solidFill>
                      <a:prstDash val="solid"/>
                    </a:lnB>
                  </a:tcPr>
                </a:tc>
                <a:tc rowSpan="2">
                  <a:txBody>
                    <a:bodyPr/>
                    <a:lstStyle/>
                    <a:p>
                      <a:pPr>
                        <a:lnSpc>
                          <a:spcPct val="100000"/>
                        </a:lnSpc>
                      </a:pPr>
                      <a:endParaRPr sz="1500">
                        <a:latin typeface="Times New Roman"/>
                        <a:cs typeface="Times New Roman"/>
                      </a:endParaRPr>
                    </a:p>
                  </a:txBody>
                  <a:tcPr marL="0" marR="0" marT="0" marB="0">
                    <a:lnL w="19050">
                      <a:solidFill>
                        <a:srgbClr val="00FFFF"/>
                      </a:solidFill>
                      <a:prstDash val="solid"/>
                    </a:lnL>
                    <a:lnR w="19050">
                      <a:solidFill>
                        <a:srgbClr val="00FFFF"/>
                      </a:solidFill>
                      <a:prstDash val="solid"/>
                    </a:lnR>
                    <a:lnB w="19050">
                      <a:solidFill>
                        <a:srgbClr val="000000"/>
                      </a:solidFill>
                      <a:prstDash val="solid"/>
                    </a:lnB>
                  </a:tcPr>
                </a:tc>
                <a:tc rowSpan="2">
                  <a:txBody>
                    <a:bodyPr/>
                    <a:lstStyle/>
                    <a:p>
                      <a:pPr>
                        <a:lnSpc>
                          <a:spcPct val="100000"/>
                        </a:lnSpc>
                      </a:pPr>
                      <a:endParaRPr sz="1500">
                        <a:latin typeface="Times New Roman"/>
                        <a:cs typeface="Times New Roman"/>
                      </a:endParaRPr>
                    </a:p>
                  </a:txBody>
                  <a:tcPr marL="0" marR="0" marT="0" marB="0">
                    <a:lnL w="19050">
                      <a:solidFill>
                        <a:srgbClr val="00FFFF"/>
                      </a:solidFill>
                      <a:prstDash val="solid"/>
                    </a:lnL>
                    <a:lnB w="19050">
                      <a:solidFill>
                        <a:srgbClr val="000000"/>
                      </a:solidFill>
                      <a:prstDash val="solid"/>
                    </a:lnB>
                  </a:tcPr>
                </a:tc>
                <a:extLst>
                  <a:ext uri="{0D108BD9-81ED-4DB2-BD59-A6C34878D82A}">
                    <a16:rowId xmlns:a16="http://schemas.microsoft.com/office/drawing/2014/main" val="10000"/>
                  </a:ext>
                </a:extLst>
              </a:tr>
              <a:tr h="278892">
                <a:tc vMerge="1">
                  <a:txBody>
                    <a:bodyPr/>
                    <a:lstStyle/>
                    <a:p>
                      <a:endParaRPr/>
                    </a:p>
                  </a:txBody>
                  <a:tcPr marL="0" marR="0" marT="0" marB="0">
                    <a:lnR w="19050">
                      <a:solidFill>
                        <a:srgbClr val="00FFFF"/>
                      </a:solidFill>
                      <a:prstDash val="solid"/>
                    </a:lnR>
                    <a:lnB w="1905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9050">
                      <a:solidFill>
                        <a:srgbClr val="00FFFF"/>
                      </a:solidFill>
                      <a:prstDash val="solid"/>
                    </a:lnL>
                    <a:lnR w="19050">
                      <a:solidFill>
                        <a:srgbClr val="000000"/>
                      </a:solidFill>
                      <a:prstDash val="solid"/>
                    </a:lnR>
                    <a:lnB w="1905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9050">
                      <a:solidFill>
                        <a:srgbClr val="000000"/>
                      </a:solidFill>
                      <a:prstDash val="solid"/>
                    </a:lnL>
                    <a:lnR w="19050">
                      <a:solidFill>
                        <a:srgbClr val="00FFFF"/>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9050">
                      <a:solidFill>
                        <a:srgbClr val="00FFFF"/>
                      </a:solidFill>
                      <a:prstDash val="solid"/>
                    </a:lnL>
                    <a:lnR w="19050">
                      <a:solidFill>
                        <a:srgbClr val="000000"/>
                      </a:solidFill>
                      <a:prstDash val="solid"/>
                    </a:lnR>
                    <a:lnB w="19050">
                      <a:solidFill>
                        <a:srgbClr val="000000"/>
                      </a:solidFill>
                      <a:prstDash val="solid"/>
                    </a:lnB>
                  </a:tcPr>
                </a:tc>
                <a:tc>
                  <a:txBody>
                    <a:bodyPr/>
                    <a:lstStyle/>
                    <a:p>
                      <a:pPr marL="89535">
                        <a:lnSpc>
                          <a:spcPts val="1635"/>
                        </a:lnSpc>
                      </a:pPr>
                      <a:r>
                        <a:rPr sz="1800" dirty="0">
                          <a:latin typeface="Arial"/>
                          <a:cs typeface="Arial"/>
                        </a:rPr>
                        <a:t>MAR</a:t>
                      </a:r>
                      <a:endParaRPr sz="1800">
                        <a:latin typeface="Arial"/>
                        <a:cs typeface="Arial"/>
                      </a:endParaRPr>
                    </a:p>
                  </a:txBody>
                  <a:tcPr marL="0" marR="0" marT="0" marB="0">
                    <a:lnL w="19050">
                      <a:solidFill>
                        <a:srgbClr val="000000"/>
                      </a:solidFill>
                      <a:prstDash val="solid"/>
                    </a:lnL>
                    <a:lnR w="19050">
                      <a:solidFill>
                        <a:srgbClr val="00FFFF"/>
                      </a:solidFill>
                      <a:prstDash val="solid"/>
                    </a:lnR>
                    <a:lnB w="19050">
                      <a:solidFill>
                        <a:srgbClr val="000000"/>
                      </a:solidFill>
                      <a:prstDash val="solid"/>
                    </a:lnB>
                  </a:tcPr>
                </a:tc>
                <a:tc vMerge="1">
                  <a:txBody>
                    <a:bodyPr/>
                    <a:lstStyle/>
                    <a:p>
                      <a:endParaRPr/>
                    </a:p>
                  </a:txBody>
                  <a:tcPr marL="0" marR="0" marT="149225" marB="0">
                    <a:lnL w="19050">
                      <a:solidFill>
                        <a:srgbClr val="00FFFF"/>
                      </a:solidFill>
                      <a:prstDash val="solid"/>
                    </a:lnL>
                    <a:lnR w="19050">
                      <a:solidFill>
                        <a:srgbClr val="00FFFF"/>
                      </a:solidFill>
                      <a:prstDash val="solid"/>
                    </a:lnR>
                    <a:lnB w="19050">
                      <a:solidFill>
                        <a:srgbClr val="000000"/>
                      </a:solidFill>
                      <a:prstDash val="solid"/>
                    </a:lnB>
                  </a:tcPr>
                </a:tc>
                <a:tc vMerge="1">
                  <a:txBody>
                    <a:bodyPr/>
                    <a:lstStyle/>
                    <a:p>
                      <a:endParaRPr/>
                    </a:p>
                  </a:txBody>
                  <a:tcPr marL="0" marR="0" marT="0" marB="0">
                    <a:lnL w="19050">
                      <a:solidFill>
                        <a:srgbClr val="00FFFF"/>
                      </a:solidFill>
                      <a:prstDash val="solid"/>
                    </a:lnL>
                    <a:lnR w="19050">
                      <a:solidFill>
                        <a:srgbClr val="00FFFF"/>
                      </a:solidFill>
                      <a:prstDash val="solid"/>
                    </a:lnR>
                    <a:lnB w="19050">
                      <a:solidFill>
                        <a:srgbClr val="000000"/>
                      </a:solidFill>
                      <a:prstDash val="solid"/>
                    </a:lnB>
                  </a:tcPr>
                </a:tc>
                <a:tc vMerge="1">
                  <a:txBody>
                    <a:bodyPr/>
                    <a:lstStyle/>
                    <a:p>
                      <a:endParaRPr/>
                    </a:p>
                  </a:txBody>
                  <a:tcPr marL="0" marR="0" marT="0" marB="0">
                    <a:lnL w="19050">
                      <a:solidFill>
                        <a:srgbClr val="00FFFF"/>
                      </a:solidFill>
                      <a:prstDash val="solid"/>
                    </a:lnL>
                    <a:lnR w="19050">
                      <a:solidFill>
                        <a:srgbClr val="00FFFF"/>
                      </a:solidFill>
                      <a:prstDash val="solid"/>
                    </a:lnR>
                    <a:lnB w="19050">
                      <a:solidFill>
                        <a:srgbClr val="000000"/>
                      </a:solidFill>
                      <a:prstDash val="solid"/>
                    </a:lnB>
                  </a:tcPr>
                </a:tc>
                <a:tc vMerge="1">
                  <a:txBody>
                    <a:bodyPr/>
                    <a:lstStyle/>
                    <a:p>
                      <a:endParaRPr/>
                    </a:p>
                  </a:txBody>
                  <a:tcPr marL="0" marR="0" marT="0" marB="0">
                    <a:lnL w="19050">
                      <a:solidFill>
                        <a:srgbClr val="00FFFF"/>
                      </a:solidFill>
                      <a:prstDash val="solid"/>
                    </a:lnL>
                    <a:lnB w="19050">
                      <a:solidFill>
                        <a:srgbClr val="000000"/>
                      </a:solidFill>
                      <a:prstDash val="solid"/>
                    </a:lnB>
                  </a:tcPr>
                </a:tc>
                <a:extLst>
                  <a:ext uri="{0D108BD9-81ED-4DB2-BD59-A6C34878D82A}">
                    <a16:rowId xmlns:a16="http://schemas.microsoft.com/office/drawing/2014/main" val="10001"/>
                  </a:ext>
                </a:extLst>
              </a:tr>
              <a:tr h="201167">
                <a:tc>
                  <a:txBody>
                    <a:bodyPr/>
                    <a:lstStyle/>
                    <a:p>
                      <a:pPr>
                        <a:lnSpc>
                          <a:spcPct val="100000"/>
                        </a:lnSpc>
                      </a:pPr>
                      <a:endParaRPr sz="1200">
                        <a:latin typeface="Times New Roman"/>
                        <a:cs typeface="Times New Roman"/>
                      </a:endParaRPr>
                    </a:p>
                  </a:txBody>
                  <a:tcPr marL="0" marR="0" marT="0" marB="0">
                    <a:lnR w="19050">
                      <a:solidFill>
                        <a:srgbClr val="00FFFF"/>
                      </a:solidFill>
                      <a:prstDash val="solid"/>
                    </a:lnR>
                    <a:lnT w="19050">
                      <a:solidFill>
                        <a:srgbClr val="000000"/>
                      </a:solidFill>
                      <a:prstDash val="solid"/>
                    </a:lnT>
                  </a:tcPr>
                </a:tc>
                <a:tc gridSpan="2">
                  <a:txBody>
                    <a:bodyPr/>
                    <a:lstStyle/>
                    <a:p>
                      <a:pPr>
                        <a:lnSpc>
                          <a:spcPct val="100000"/>
                        </a:lnSpc>
                      </a:pPr>
                      <a:endParaRPr sz="1200">
                        <a:latin typeface="Times New Roman"/>
                        <a:cs typeface="Times New Roman"/>
                      </a:endParaRPr>
                    </a:p>
                  </a:txBody>
                  <a:tcPr marL="0" marR="0" marT="0" marB="0">
                    <a:lnL w="19050">
                      <a:solidFill>
                        <a:srgbClr val="00FFFF"/>
                      </a:solidFill>
                      <a:prstDash val="solid"/>
                    </a:lnL>
                    <a:lnR w="19050">
                      <a:solidFill>
                        <a:srgbClr val="00FFFF"/>
                      </a:solidFill>
                      <a:prstDash val="solid"/>
                    </a:lnR>
                    <a:lnT w="19050">
                      <a:solidFill>
                        <a:srgbClr val="000000"/>
                      </a:solidFill>
                      <a:prstDash val="solid"/>
                    </a:lnT>
                  </a:tcPr>
                </a:tc>
                <a:tc hMerge="1">
                  <a:txBody>
                    <a:bodyPr/>
                    <a:lstStyle/>
                    <a:p>
                      <a:endParaRPr/>
                    </a:p>
                  </a:txBody>
                  <a:tcPr marL="0" marR="0" marT="0" marB="0"/>
                </a:tc>
                <a:tc gridSpan="2">
                  <a:txBody>
                    <a:bodyPr/>
                    <a:lstStyle/>
                    <a:p>
                      <a:pPr>
                        <a:lnSpc>
                          <a:spcPct val="100000"/>
                        </a:lnSpc>
                      </a:pPr>
                      <a:endParaRPr sz="1200">
                        <a:latin typeface="Times New Roman"/>
                        <a:cs typeface="Times New Roman"/>
                      </a:endParaRPr>
                    </a:p>
                  </a:txBody>
                  <a:tcPr marL="0" marR="0" marT="0" marB="0">
                    <a:lnL w="19050">
                      <a:solidFill>
                        <a:srgbClr val="00FFFF"/>
                      </a:solidFill>
                      <a:prstDash val="solid"/>
                    </a:lnL>
                    <a:lnR w="19050">
                      <a:solidFill>
                        <a:srgbClr val="00FFFF"/>
                      </a:solidFill>
                      <a:prstDash val="solid"/>
                    </a:lnR>
                    <a:lnT w="19050">
                      <a:solidFill>
                        <a:srgbClr val="000000"/>
                      </a:solidFill>
                      <a:prstDash val="solid"/>
                    </a:lnT>
                  </a:tcPr>
                </a:tc>
                <a:tc hMerge="1">
                  <a:txBody>
                    <a:bodyPr/>
                    <a:lstStyle/>
                    <a:p>
                      <a:endParaRPr/>
                    </a:p>
                  </a:txBody>
                  <a:tcPr marL="0" marR="0" marT="0" marB="0"/>
                </a:tc>
                <a:tc>
                  <a:txBody>
                    <a:bodyPr/>
                    <a:lstStyle/>
                    <a:p>
                      <a:pPr>
                        <a:lnSpc>
                          <a:spcPct val="100000"/>
                        </a:lnSpc>
                      </a:pPr>
                      <a:endParaRPr sz="1200">
                        <a:latin typeface="Times New Roman"/>
                        <a:cs typeface="Times New Roman"/>
                      </a:endParaRPr>
                    </a:p>
                  </a:txBody>
                  <a:tcPr marL="0" marR="0" marT="0" marB="0">
                    <a:lnL w="19050">
                      <a:solidFill>
                        <a:srgbClr val="00FFFF"/>
                      </a:solidFill>
                      <a:prstDash val="solid"/>
                    </a:lnL>
                    <a:lnR w="19050">
                      <a:solidFill>
                        <a:srgbClr val="00FFFF"/>
                      </a:solidFill>
                      <a:prstDash val="solid"/>
                    </a:lnR>
                    <a:lnT w="19050">
                      <a:solidFill>
                        <a:srgbClr val="000000"/>
                      </a:solidFill>
                      <a:prstDash val="solid"/>
                    </a:lnT>
                  </a:tcPr>
                </a:tc>
                <a:tc>
                  <a:txBody>
                    <a:bodyPr/>
                    <a:lstStyle/>
                    <a:p>
                      <a:pPr>
                        <a:lnSpc>
                          <a:spcPct val="100000"/>
                        </a:lnSpc>
                      </a:pPr>
                      <a:endParaRPr sz="1200">
                        <a:latin typeface="Times New Roman"/>
                        <a:cs typeface="Times New Roman"/>
                      </a:endParaRPr>
                    </a:p>
                  </a:txBody>
                  <a:tcPr marL="0" marR="0" marT="0" marB="0">
                    <a:lnL w="19050">
                      <a:solidFill>
                        <a:srgbClr val="00FFFF"/>
                      </a:solidFill>
                      <a:prstDash val="solid"/>
                    </a:lnL>
                    <a:lnR w="19050">
                      <a:solidFill>
                        <a:srgbClr val="00FFFF"/>
                      </a:solidFill>
                      <a:prstDash val="solid"/>
                    </a:lnR>
                    <a:lnT w="19050">
                      <a:solidFill>
                        <a:srgbClr val="000000"/>
                      </a:solidFill>
                      <a:prstDash val="solid"/>
                    </a:lnT>
                  </a:tcPr>
                </a:tc>
                <a:tc>
                  <a:txBody>
                    <a:bodyPr/>
                    <a:lstStyle/>
                    <a:p>
                      <a:pPr>
                        <a:lnSpc>
                          <a:spcPct val="100000"/>
                        </a:lnSpc>
                      </a:pPr>
                      <a:endParaRPr sz="1200">
                        <a:latin typeface="Times New Roman"/>
                        <a:cs typeface="Times New Roman"/>
                      </a:endParaRPr>
                    </a:p>
                  </a:txBody>
                  <a:tcPr marL="0" marR="0" marT="0" marB="0">
                    <a:lnL w="19050">
                      <a:solidFill>
                        <a:srgbClr val="00FFFF"/>
                      </a:solidFill>
                      <a:prstDash val="solid"/>
                    </a:lnL>
                    <a:lnR w="19050">
                      <a:solidFill>
                        <a:srgbClr val="00FFFF"/>
                      </a:solidFill>
                      <a:prstDash val="solid"/>
                    </a:lnR>
                    <a:lnT w="19050">
                      <a:solidFill>
                        <a:srgbClr val="000000"/>
                      </a:solidFill>
                      <a:prstDash val="solid"/>
                    </a:lnT>
                  </a:tcPr>
                </a:tc>
                <a:tc>
                  <a:txBody>
                    <a:bodyPr/>
                    <a:lstStyle/>
                    <a:p>
                      <a:pPr>
                        <a:lnSpc>
                          <a:spcPct val="100000"/>
                        </a:lnSpc>
                      </a:pPr>
                      <a:endParaRPr sz="1200">
                        <a:latin typeface="Times New Roman"/>
                        <a:cs typeface="Times New Roman"/>
                      </a:endParaRPr>
                    </a:p>
                  </a:txBody>
                  <a:tcPr marL="0" marR="0" marT="0" marB="0">
                    <a:lnL w="19050">
                      <a:solidFill>
                        <a:srgbClr val="00FFFF"/>
                      </a:solidFill>
                      <a:prstDash val="solid"/>
                    </a:lnL>
                    <a:lnT w="19050">
                      <a:solidFill>
                        <a:srgbClr val="000000"/>
                      </a:solidFill>
                      <a:prstDash val="solid"/>
                    </a:lnT>
                  </a:tcPr>
                </a:tc>
                <a:extLst>
                  <a:ext uri="{0D108BD9-81ED-4DB2-BD59-A6C34878D82A}">
                    <a16:rowId xmlns:a16="http://schemas.microsoft.com/office/drawing/2014/main" val="10002"/>
                  </a:ext>
                </a:extLst>
              </a:tr>
            </a:tbl>
          </a:graphicData>
        </a:graphic>
      </p:graphicFrame>
      <p:sp>
        <p:nvSpPr>
          <p:cNvPr id="6" name="object 6"/>
          <p:cNvSpPr txBox="1"/>
          <p:nvPr/>
        </p:nvSpPr>
        <p:spPr>
          <a:xfrm>
            <a:off x="5897033" y="2694559"/>
            <a:ext cx="5791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useo 300" pitchFamily="50" charset="0"/>
                <a:cs typeface="Arial"/>
              </a:rPr>
              <a:t>Start </a:t>
            </a:r>
            <a:r>
              <a:rPr sz="1800" spc="-5" dirty="0">
                <a:latin typeface="Museo 300" pitchFamily="50" charset="0"/>
                <a:cs typeface="Arial"/>
              </a:rPr>
              <a:t>a Read operation on </a:t>
            </a:r>
            <a:r>
              <a:rPr sz="1800" dirty="0">
                <a:latin typeface="Museo 300" pitchFamily="50" charset="0"/>
                <a:cs typeface="Arial"/>
              </a:rPr>
              <a:t>the </a:t>
            </a:r>
            <a:r>
              <a:rPr sz="1800" spc="-5" dirty="0">
                <a:latin typeface="Museo 300" pitchFamily="50" charset="0"/>
                <a:cs typeface="Arial"/>
              </a:rPr>
              <a:t>memory</a:t>
            </a:r>
            <a:r>
              <a:rPr sz="1800" dirty="0">
                <a:latin typeface="Museo 300" pitchFamily="50" charset="0"/>
                <a:cs typeface="Arial"/>
              </a:rPr>
              <a:t> </a:t>
            </a:r>
            <a:r>
              <a:rPr sz="1800" spc="-5" dirty="0">
                <a:latin typeface="Museo 300" pitchFamily="50" charset="0"/>
                <a:cs typeface="Arial"/>
              </a:rPr>
              <a:t>bus</a:t>
            </a:r>
            <a:endParaRPr sz="1800">
              <a:latin typeface="Museo 300" pitchFamily="50" charset="0"/>
              <a:cs typeface="Arial"/>
            </a:endParaRPr>
          </a:p>
        </p:txBody>
      </p:sp>
      <p:sp>
        <p:nvSpPr>
          <p:cNvPr id="7" name="object 7"/>
          <p:cNvSpPr txBox="1"/>
          <p:nvPr/>
        </p:nvSpPr>
        <p:spPr>
          <a:xfrm>
            <a:off x="2137325" y="4828794"/>
            <a:ext cx="6048587"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Museo 300" pitchFamily="50" charset="0"/>
                <a:cs typeface="Arial"/>
              </a:rPr>
              <a:t>Wait </a:t>
            </a:r>
            <a:r>
              <a:rPr sz="1800" dirty="0">
                <a:latin typeface="Museo 300" pitchFamily="50" charset="0"/>
                <a:cs typeface="Arial"/>
              </a:rPr>
              <a:t>for the MFC </a:t>
            </a:r>
            <a:r>
              <a:rPr sz="1800" spc="-5" dirty="0">
                <a:latin typeface="Museo 300" pitchFamily="50" charset="0"/>
                <a:cs typeface="Arial"/>
              </a:rPr>
              <a:t>response </a:t>
            </a:r>
            <a:r>
              <a:rPr sz="1800" dirty="0">
                <a:latin typeface="Museo 300" pitchFamily="50" charset="0"/>
                <a:cs typeface="Arial"/>
              </a:rPr>
              <a:t>from </a:t>
            </a:r>
            <a:r>
              <a:rPr sz="1800" spc="-5" dirty="0">
                <a:latin typeface="Museo 300" pitchFamily="50" charset="0"/>
                <a:cs typeface="Arial"/>
              </a:rPr>
              <a:t>the</a:t>
            </a:r>
            <a:r>
              <a:rPr sz="1800" spc="-25" dirty="0">
                <a:latin typeface="Museo 300" pitchFamily="50" charset="0"/>
                <a:cs typeface="Arial"/>
              </a:rPr>
              <a:t> </a:t>
            </a:r>
            <a:r>
              <a:rPr sz="1800" spc="-5" dirty="0">
                <a:latin typeface="Museo 300" pitchFamily="50" charset="0"/>
                <a:cs typeface="Arial"/>
              </a:rPr>
              <a:t>memory</a:t>
            </a:r>
            <a:endParaRPr sz="1800">
              <a:latin typeface="Museo 300" pitchFamily="50" charset="0"/>
              <a:cs typeface="Arial"/>
            </a:endParaRPr>
          </a:p>
        </p:txBody>
      </p:sp>
      <p:sp>
        <p:nvSpPr>
          <p:cNvPr id="8" name="object 8"/>
          <p:cNvSpPr txBox="1"/>
          <p:nvPr/>
        </p:nvSpPr>
        <p:spPr>
          <a:xfrm>
            <a:off x="4593169" y="5514543"/>
            <a:ext cx="4433993" cy="299720"/>
          </a:xfrm>
          <a:prstGeom prst="rect">
            <a:avLst/>
          </a:prstGeom>
        </p:spPr>
        <p:txBody>
          <a:bodyPr vert="horz" wrap="square" lIns="0" tIns="12700" rIns="0" bIns="0" rtlCol="0">
            <a:spAutoFit/>
          </a:bodyPr>
          <a:lstStyle/>
          <a:p>
            <a:pPr>
              <a:lnSpc>
                <a:spcPct val="100000"/>
              </a:lnSpc>
              <a:spcBef>
                <a:spcPts val="100"/>
              </a:spcBef>
            </a:pPr>
            <a:r>
              <a:rPr sz="1800" spc="-5" dirty="0">
                <a:latin typeface="Museo 300" pitchFamily="50" charset="0"/>
                <a:cs typeface="Arial"/>
              </a:rPr>
              <a:t>Load MDR </a:t>
            </a:r>
            <a:r>
              <a:rPr sz="1800" dirty="0">
                <a:latin typeface="Museo 300" pitchFamily="50" charset="0"/>
                <a:cs typeface="Arial"/>
              </a:rPr>
              <a:t>from the </a:t>
            </a:r>
            <a:r>
              <a:rPr sz="1800" spc="-5" dirty="0">
                <a:latin typeface="Museo 300" pitchFamily="50" charset="0"/>
                <a:cs typeface="Arial"/>
              </a:rPr>
              <a:t>memory</a:t>
            </a:r>
            <a:r>
              <a:rPr sz="1800" spc="-50" dirty="0">
                <a:latin typeface="Museo 300" pitchFamily="50" charset="0"/>
                <a:cs typeface="Arial"/>
              </a:rPr>
              <a:t> </a:t>
            </a:r>
            <a:r>
              <a:rPr sz="1800" spc="-5" dirty="0">
                <a:latin typeface="Museo 300" pitchFamily="50" charset="0"/>
                <a:cs typeface="Arial"/>
              </a:rPr>
              <a:t>bus</a:t>
            </a:r>
            <a:endParaRPr sz="1800">
              <a:latin typeface="Museo 300" pitchFamily="50" charset="0"/>
              <a:cs typeface="Arial"/>
            </a:endParaRPr>
          </a:p>
        </p:txBody>
      </p:sp>
      <p:sp>
        <p:nvSpPr>
          <p:cNvPr id="9" name="object 9"/>
          <p:cNvSpPr txBox="1"/>
          <p:nvPr/>
        </p:nvSpPr>
        <p:spPr>
          <a:xfrm>
            <a:off x="5072381" y="6526480"/>
            <a:ext cx="900007" cy="197490"/>
          </a:xfrm>
          <a:prstGeom prst="rect">
            <a:avLst/>
          </a:prstGeom>
        </p:spPr>
        <p:txBody>
          <a:bodyPr vert="horz" wrap="square" lIns="0" tIns="12700" rIns="0" bIns="0" rtlCol="0">
            <a:spAutoFit/>
          </a:bodyPr>
          <a:lstStyle/>
          <a:p>
            <a:pPr marL="12700">
              <a:lnSpc>
                <a:spcPct val="100000"/>
              </a:lnSpc>
              <a:spcBef>
                <a:spcPts val="100"/>
              </a:spcBef>
            </a:pPr>
            <a:r>
              <a:rPr sz="1200" spc="-5" dirty="0">
                <a:latin typeface="Carlito"/>
                <a:cs typeface="Carlito"/>
              </a:rPr>
              <a:t>Figure</a:t>
            </a:r>
            <a:r>
              <a:rPr sz="1200" spc="-90" dirty="0">
                <a:latin typeface="Carlito"/>
                <a:cs typeface="Carlito"/>
              </a:rPr>
              <a:t> </a:t>
            </a:r>
            <a:r>
              <a:rPr sz="1200" dirty="0">
                <a:latin typeface="Carlito"/>
                <a:cs typeface="Carlito"/>
              </a:rPr>
              <a:t>7.5.</a:t>
            </a:r>
            <a:endParaRPr sz="1200">
              <a:latin typeface="Carlito"/>
              <a:cs typeface="Carlito"/>
            </a:endParaRPr>
          </a:p>
        </p:txBody>
      </p:sp>
      <p:sp>
        <p:nvSpPr>
          <p:cNvPr id="10" name="object 10"/>
          <p:cNvSpPr txBox="1"/>
          <p:nvPr/>
        </p:nvSpPr>
        <p:spPr>
          <a:xfrm>
            <a:off x="6189981" y="6526480"/>
            <a:ext cx="3089487" cy="197490"/>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rlito"/>
                <a:cs typeface="Carlito"/>
              </a:rPr>
              <a:t>Timing </a:t>
            </a:r>
            <a:r>
              <a:rPr sz="1200" dirty="0">
                <a:latin typeface="Carlito"/>
                <a:cs typeface="Carlito"/>
              </a:rPr>
              <a:t>of a memory </a:t>
            </a:r>
            <a:r>
              <a:rPr sz="1200" spc="-10" dirty="0">
                <a:latin typeface="Carlito"/>
                <a:cs typeface="Carlito"/>
              </a:rPr>
              <a:t>Read</a:t>
            </a:r>
            <a:r>
              <a:rPr sz="1200" spc="-80" dirty="0">
                <a:latin typeface="Carlito"/>
                <a:cs typeface="Carlito"/>
              </a:rPr>
              <a:t> </a:t>
            </a:r>
            <a:r>
              <a:rPr sz="1200" spc="-5" dirty="0">
                <a:latin typeface="Carlito"/>
                <a:cs typeface="Carlito"/>
              </a:rPr>
              <a:t>operation.</a:t>
            </a:r>
            <a:endParaRPr sz="1200">
              <a:latin typeface="Carlito"/>
              <a:cs typeface="Carlito"/>
            </a:endParaRPr>
          </a:p>
        </p:txBody>
      </p:sp>
      <p:sp>
        <p:nvSpPr>
          <p:cNvPr id="11" name="object 11"/>
          <p:cNvSpPr/>
          <p:nvPr/>
        </p:nvSpPr>
        <p:spPr>
          <a:xfrm>
            <a:off x="5149088" y="1149096"/>
            <a:ext cx="5401733" cy="280670"/>
          </a:xfrm>
          <a:custGeom>
            <a:avLst/>
            <a:gdLst/>
            <a:ahLst/>
            <a:cxnLst/>
            <a:rect l="l" t="t" r="r" b="b"/>
            <a:pathLst>
              <a:path w="4051300" h="280669">
                <a:moveTo>
                  <a:pt x="838200" y="280415"/>
                </a:moveTo>
                <a:lnTo>
                  <a:pt x="838200" y="0"/>
                </a:lnTo>
                <a:lnTo>
                  <a:pt x="419100" y="0"/>
                </a:lnTo>
                <a:lnTo>
                  <a:pt x="419100" y="280415"/>
                </a:lnTo>
                <a:lnTo>
                  <a:pt x="0" y="280415"/>
                </a:lnTo>
              </a:path>
              <a:path w="4051300" h="280669">
                <a:moveTo>
                  <a:pt x="1676400" y="280415"/>
                </a:moveTo>
                <a:lnTo>
                  <a:pt x="1676400" y="0"/>
                </a:lnTo>
                <a:lnTo>
                  <a:pt x="1257300" y="0"/>
                </a:lnTo>
                <a:lnTo>
                  <a:pt x="1257300" y="280415"/>
                </a:lnTo>
                <a:lnTo>
                  <a:pt x="838200" y="280415"/>
                </a:lnTo>
              </a:path>
              <a:path w="4051300" h="280669">
                <a:moveTo>
                  <a:pt x="2514600" y="280415"/>
                </a:moveTo>
                <a:lnTo>
                  <a:pt x="2514600" y="0"/>
                </a:lnTo>
                <a:lnTo>
                  <a:pt x="2095500" y="0"/>
                </a:lnTo>
                <a:lnTo>
                  <a:pt x="2095500" y="280415"/>
                </a:lnTo>
                <a:lnTo>
                  <a:pt x="1676400" y="280415"/>
                </a:lnTo>
              </a:path>
              <a:path w="4051300" h="280669">
                <a:moveTo>
                  <a:pt x="4050791" y="0"/>
                </a:moveTo>
                <a:lnTo>
                  <a:pt x="3771011" y="0"/>
                </a:lnTo>
                <a:lnTo>
                  <a:pt x="3771011" y="280415"/>
                </a:lnTo>
                <a:lnTo>
                  <a:pt x="3351276" y="280415"/>
                </a:lnTo>
              </a:path>
              <a:path w="4051300" h="280669">
                <a:moveTo>
                  <a:pt x="3351276" y="280415"/>
                </a:moveTo>
                <a:lnTo>
                  <a:pt x="3351276" y="0"/>
                </a:lnTo>
                <a:lnTo>
                  <a:pt x="2932938" y="0"/>
                </a:lnTo>
                <a:lnTo>
                  <a:pt x="2932938" y="280415"/>
                </a:lnTo>
                <a:lnTo>
                  <a:pt x="2514600" y="280415"/>
                </a:lnTo>
              </a:path>
            </a:pathLst>
          </a:custGeom>
          <a:ln w="15240">
            <a:solidFill>
              <a:srgbClr val="000000"/>
            </a:solidFill>
          </a:ln>
        </p:spPr>
        <p:txBody>
          <a:bodyPr wrap="square" lIns="0" tIns="0" rIns="0" bIns="0" rtlCol="0"/>
          <a:lstStyle/>
          <a:p>
            <a:endParaRPr>
              <a:latin typeface="Museo 300" pitchFamily="50" charset="0"/>
            </a:endParaRPr>
          </a:p>
        </p:txBody>
      </p:sp>
      <p:grpSp>
        <p:nvGrpSpPr>
          <p:cNvPr id="12" name="object 12"/>
          <p:cNvGrpSpPr/>
          <p:nvPr/>
        </p:nvGrpSpPr>
        <p:grpSpPr>
          <a:xfrm>
            <a:off x="4210303" y="2622807"/>
            <a:ext cx="6350000" cy="3552825"/>
            <a:chOff x="3157727" y="2622804"/>
            <a:chExt cx="4762500" cy="3552825"/>
          </a:xfrm>
        </p:grpSpPr>
        <p:sp>
          <p:nvSpPr>
            <p:cNvPr id="13" name="object 13"/>
            <p:cNvSpPr/>
            <p:nvPr/>
          </p:nvSpPr>
          <p:spPr>
            <a:xfrm>
              <a:off x="4280916" y="2622804"/>
              <a:ext cx="838200" cy="3552825"/>
            </a:xfrm>
            <a:custGeom>
              <a:avLst/>
              <a:gdLst/>
              <a:ahLst/>
              <a:cxnLst/>
              <a:rect l="l" t="t" r="r" b="b"/>
              <a:pathLst>
                <a:path w="838200" h="3552825">
                  <a:moveTo>
                    <a:pt x="0" y="3552444"/>
                  </a:moveTo>
                  <a:lnTo>
                    <a:pt x="0" y="0"/>
                  </a:lnTo>
                </a:path>
                <a:path w="838200" h="3552825">
                  <a:moveTo>
                    <a:pt x="838200" y="3552444"/>
                  </a:moveTo>
                  <a:lnTo>
                    <a:pt x="838200" y="32004"/>
                  </a:lnTo>
                </a:path>
              </a:pathLst>
            </a:custGeom>
            <a:ln w="15240">
              <a:solidFill>
                <a:srgbClr val="00FFFF"/>
              </a:solidFill>
            </a:ln>
          </p:spPr>
          <p:txBody>
            <a:bodyPr wrap="square" lIns="0" tIns="0" rIns="0" bIns="0" rtlCol="0"/>
            <a:lstStyle/>
            <a:p>
              <a:endParaRPr>
                <a:latin typeface="Museo 300" pitchFamily="50" charset="0"/>
              </a:endParaRPr>
            </a:p>
          </p:txBody>
        </p:sp>
        <p:sp>
          <p:nvSpPr>
            <p:cNvPr id="14" name="object 14"/>
            <p:cNvSpPr/>
            <p:nvPr/>
          </p:nvSpPr>
          <p:spPr>
            <a:xfrm>
              <a:off x="3165347" y="4500372"/>
              <a:ext cx="4747260" cy="836930"/>
            </a:xfrm>
            <a:custGeom>
              <a:avLst/>
              <a:gdLst/>
              <a:ahLst/>
              <a:cxnLst/>
              <a:rect l="l" t="t" r="r" b="b"/>
              <a:pathLst>
                <a:path w="4747259" h="836929">
                  <a:moveTo>
                    <a:pt x="0" y="140207"/>
                  </a:moveTo>
                  <a:lnTo>
                    <a:pt x="3211067" y="140207"/>
                  </a:lnTo>
                </a:path>
                <a:path w="4747259" h="836929">
                  <a:moveTo>
                    <a:pt x="4747259" y="836675"/>
                  </a:moveTo>
                  <a:lnTo>
                    <a:pt x="4049141" y="836675"/>
                  </a:lnTo>
                  <a:lnTo>
                    <a:pt x="4049141" y="557783"/>
                  </a:lnTo>
                  <a:lnTo>
                    <a:pt x="3211322" y="557783"/>
                  </a:lnTo>
                  <a:lnTo>
                    <a:pt x="3211322" y="836675"/>
                  </a:lnTo>
                  <a:lnTo>
                    <a:pt x="0" y="836675"/>
                  </a:lnTo>
                </a:path>
                <a:path w="4747259" h="836929">
                  <a:moveTo>
                    <a:pt x="3288791" y="277367"/>
                  </a:moveTo>
                  <a:lnTo>
                    <a:pt x="3211067" y="138683"/>
                  </a:lnTo>
                  <a:lnTo>
                    <a:pt x="3288791" y="0"/>
                  </a:lnTo>
                </a:path>
                <a:path w="4747259" h="836929">
                  <a:moveTo>
                    <a:pt x="4747259" y="140207"/>
                  </a:moveTo>
                  <a:lnTo>
                    <a:pt x="4125468" y="140207"/>
                  </a:lnTo>
                </a:path>
                <a:path w="4747259" h="836929">
                  <a:moveTo>
                    <a:pt x="4047744" y="277367"/>
                  </a:moveTo>
                  <a:lnTo>
                    <a:pt x="4125468" y="138683"/>
                  </a:lnTo>
                  <a:lnTo>
                    <a:pt x="4047744" y="0"/>
                  </a:lnTo>
                </a:path>
              </a:pathLst>
            </a:custGeom>
            <a:ln w="15240">
              <a:solidFill>
                <a:srgbClr val="000000"/>
              </a:solidFill>
            </a:ln>
          </p:spPr>
          <p:txBody>
            <a:bodyPr wrap="square" lIns="0" tIns="0" rIns="0" bIns="0" rtlCol="0"/>
            <a:lstStyle/>
            <a:p>
              <a:endParaRPr>
                <a:latin typeface="Museo 300" pitchFamily="50" charset="0"/>
              </a:endParaRPr>
            </a:p>
          </p:txBody>
        </p:sp>
        <p:sp>
          <p:nvSpPr>
            <p:cNvPr id="15" name="object 15"/>
            <p:cNvSpPr/>
            <p:nvPr/>
          </p:nvSpPr>
          <p:spPr>
            <a:xfrm>
              <a:off x="6795516" y="2638044"/>
              <a:ext cx="0" cy="1815464"/>
            </a:xfrm>
            <a:custGeom>
              <a:avLst/>
              <a:gdLst/>
              <a:ahLst/>
              <a:cxnLst/>
              <a:rect l="l" t="t" r="r" b="b"/>
              <a:pathLst>
                <a:path h="1815464">
                  <a:moveTo>
                    <a:pt x="0" y="1815083"/>
                  </a:moveTo>
                  <a:lnTo>
                    <a:pt x="0" y="0"/>
                  </a:lnTo>
                </a:path>
              </a:pathLst>
            </a:custGeom>
            <a:ln w="15240">
              <a:solidFill>
                <a:srgbClr val="00FFFF"/>
              </a:solidFill>
            </a:ln>
          </p:spPr>
          <p:txBody>
            <a:bodyPr wrap="square" lIns="0" tIns="0" rIns="0" bIns="0" rtlCol="0"/>
            <a:lstStyle/>
            <a:p>
              <a:endParaRPr>
                <a:latin typeface="Museo 300" pitchFamily="50" charset="0"/>
              </a:endParaRPr>
            </a:p>
          </p:txBody>
        </p:sp>
        <p:sp>
          <p:nvSpPr>
            <p:cNvPr id="16" name="object 16"/>
            <p:cNvSpPr/>
            <p:nvPr/>
          </p:nvSpPr>
          <p:spPr>
            <a:xfrm>
              <a:off x="3165347" y="3383280"/>
              <a:ext cx="4747260" cy="1394460"/>
            </a:xfrm>
            <a:custGeom>
              <a:avLst/>
              <a:gdLst/>
              <a:ahLst/>
              <a:cxnLst/>
              <a:rect l="l" t="t" r="r" b="b"/>
              <a:pathLst>
                <a:path w="4747259" h="1394460">
                  <a:moveTo>
                    <a:pt x="4047744" y="1117092"/>
                  </a:moveTo>
                  <a:lnTo>
                    <a:pt x="3273552" y="1117092"/>
                  </a:lnTo>
                </a:path>
                <a:path w="4747259" h="1394460">
                  <a:moveTo>
                    <a:pt x="4047744" y="1394460"/>
                  </a:moveTo>
                  <a:lnTo>
                    <a:pt x="3273552" y="1394460"/>
                  </a:lnTo>
                </a:path>
                <a:path w="4747259" h="1394460">
                  <a:moveTo>
                    <a:pt x="4747259" y="278892"/>
                  </a:moveTo>
                  <a:lnTo>
                    <a:pt x="3769868" y="278892"/>
                  </a:lnTo>
                  <a:lnTo>
                    <a:pt x="3769868" y="0"/>
                  </a:lnTo>
                  <a:lnTo>
                    <a:pt x="1256664" y="0"/>
                  </a:lnTo>
                  <a:lnTo>
                    <a:pt x="1256664" y="278892"/>
                  </a:lnTo>
                  <a:lnTo>
                    <a:pt x="0" y="278892"/>
                  </a:lnTo>
                </a:path>
              </a:pathLst>
            </a:custGeom>
            <a:ln w="15240">
              <a:solidFill>
                <a:srgbClr val="000000"/>
              </a:solidFill>
            </a:ln>
          </p:spPr>
          <p:txBody>
            <a:bodyPr wrap="square" lIns="0" tIns="0" rIns="0" bIns="0" rtlCol="0"/>
            <a:lstStyle/>
            <a:p>
              <a:endParaRPr>
                <a:latin typeface="Museo 300" pitchFamily="50" charset="0"/>
              </a:endParaRPr>
            </a:p>
          </p:txBody>
        </p:sp>
        <p:sp>
          <p:nvSpPr>
            <p:cNvPr id="17" name="object 17"/>
            <p:cNvSpPr/>
            <p:nvPr/>
          </p:nvSpPr>
          <p:spPr>
            <a:xfrm>
              <a:off x="3444239" y="2638044"/>
              <a:ext cx="0" cy="3537585"/>
            </a:xfrm>
            <a:custGeom>
              <a:avLst/>
              <a:gdLst/>
              <a:ahLst/>
              <a:cxnLst/>
              <a:rect l="l" t="t" r="r" b="b"/>
              <a:pathLst>
                <a:path h="3537585">
                  <a:moveTo>
                    <a:pt x="0" y="3537204"/>
                  </a:moveTo>
                  <a:lnTo>
                    <a:pt x="0" y="0"/>
                  </a:lnTo>
                </a:path>
              </a:pathLst>
            </a:custGeom>
            <a:ln w="15240">
              <a:solidFill>
                <a:srgbClr val="00FFFF"/>
              </a:solidFill>
            </a:ln>
          </p:spPr>
          <p:txBody>
            <a:bodyPr wrap="square" lIns="0" tIns="0" rIns="0" bIns="0" rtlCol="0"/>
            <a:lstStyle/>
            <a:p>
              <a:endParaRPr>
                <a:latin typeface="Museo 300" pitchFamily="50" charset="0"/>
              </a:endParaRPr>
            </a:p>
          </p:txBody>
        </p:sp>
        <p:sp>
          <p:nvSpPr>
            <p:cNvPr id="18" name="object 18"/>
            <p:cNvSpPr/>
            <p:nvPr/>
          </p:nvSpPr>
          <p:spPr>
            <a:xfrm>
              <a:off x="3165347" y="3941064"/>
              <a:ext cx="4747260" cy="1955800"/>
            </a:xfrm>
            <a:custGeom>
              <a:avLst/>
              <a:gdLst/>
              <a:ahLst/>
              <a:cxnLst/>
              <a:rect l="l" t="t" r="r" b="b"/>
              <a:pathLst>
                <a:path w="4747259" h="1955800">
                  <a:moveTo>
                    <a:pt x="4747259" y="280416"/>
                  </a:moveTo>
                  <a:lnTo>
                    <a:pt x="3769868" y="280416"/>
                  </a:lnTo>
                  <a:lnTo>
                    <a:pt x="3769868" y="0"/>
                  </a:lnTo>
                  <a:lnTo>
                    <a:pt x="1256664" y="0"/>
                  </a:lnTo>
                  <a:lnTo>
                    <a:pt x="1256664" y="280416"/>
                  </a:lnTo>
                  <a:lnTo>
                    <a:pt x="0" y="280416"/>
                  </a:lnTo>
                </a:path>
                <a:path w="4747259" h="1955800">
                  <a:moveTo>
                    <a:pt x="4747259" y="1955292"/>
                  </a:moveTo>
                  <a:lnTo>
                    <a:pt x="4607686" y="1955292"/>
                  </a:lnTo>
                  <a:lnTo>
                    <a:pt x="4607686" y="1674876"/>
                  </a:lnTo>
                  <a:lnTo>
                    <a:pt x="3769868" y="1674876"/>
                  </a:lnTo>
                  <a:lnTo>
                    <a:pt x="3769868" y="1955292"/>
                  </a:lnTo>
                  <a:lnTo>
                    <a:pt x="0" y="1955292"/>
                  </a:lnTo>
                </a:path>
              </a:pathLst>
            </a:custGeom>
            <a:ln w="15240">
              <a:solidFill>
                <a:srgbClr val="000000"/>
              </a:solidFill>
            </a:ln>
          </p:spPr>
          <p:txBody>
            <a:bodyPr wrap="square" lIns="0" tIns="0" rIns="0" bIns="0" rtlCol="0"/>
            <a:lstStyle/>
            <a:p>
              <a:endParaRPr>
                <a:latin typeface="Museo 300" pitchFamily="50" charset="0"/>
              </a:endParaRPr>
            </a:p>
          </p:txBody>
        </p:sp>
        <p:sp>
          <p:nvSpPr>
            <p:cNvPr id="19" name="object 19"/>
            <p:cNvSpPr/>
            <p:nvPr/>
          </p:nvSpPr>
          <p:spPr>
            <a:xfrm>
              <a:off x="5957316" y="2654808"/>
              <a:ext cx="0" cy="3520440"/>
            </a:xfrm>
            <a:custGeom>
              <a:avLst/>
              <a:gdLst/>
              <a:ahLst/>
              <a:cxnLst/>
              <a:rect l="l" t="t" r="r" b="b"/>
              <a:pathLst>
                <a:path h="3520440">
                  <a:moveTo>
                    <a:pt x="0" y="3520440"/>
                  </a:moveTo>
                  <a:lnTo>
                    <a:pt x="0" y="0"/>
                  </a:lnTo>
                </a:path>
              </a:pathLst>
            </a:custGeom>
            <a:ln w="15240">
              <a:solidFill>
                <a:srgbClr val="00FFFF"/>
              </a:solidFill>
            </a:ln>
          </p:spPr>
          <p:txBody>
            <a:bodyPr wrap="square" lIns="0" tIns="0" rIns="0" bIns="0" rtlCol="0"/>
            <a:lstStyle/>
            <a:p>
              <a:endParaRPr>
                <a:latin typeface="Museo 300" pitchFamily="50" charset="0"/>
              </a:endParaRPr>
            </a:p>
          </p:txBody>
        </p:sp>
        <p:sp>
          <p:nvSpPr>
            <p:cNvPr id="20" name="object 20"/>
            <p:cNvSpPr/>
            <p:nvPr/>
          </p:nvSpPr>
          <p:spPr>
            <a:xfrm>
              <a:off x="3165347" y="2823972"/>
              <a:ext cx="4747260" cy="279400"/>
            </a:xfrm>
            <a:custGeom>
              <a:avLst/>
              <a:gdLst/>
              <a:ahLst/>
              <a:cxnLst/>
              <a:rect l="l" t="t" r="r" b="b"/>
              <a:pathLst>
                <a:path w="4747259" h="279400">
                  <a:moveTo>
                    <a:pt x="4747259" y="278891"/>
                  </a:moveTo>
                  <a:lnTo>
                    <a:pt x="1256664" y="278891"/>
                  </a:lnTo>
                  <a:lnTo>
                    <a:pt x="1256664" y="0"/>
                  </a:lnTo>
                  <a:lnTo>
                    <a:pt x="418846" y="0"/>
                  </a:lnTo>
                  <a:lnTo>
                    <a:pt x="418846" y="278891"/>
                  </a:lnTo>
                  <a:lnTo>
                    <a:pt x="0" y="278891"/>
                  </a:lnTo>
                </a:path>
              </a:pathLst>
            </a:custGeom>
            <a:ln w="15240">
              <a:solidFill>
                <a:srgbClr val="000000"/>
              </a:solidFill>
            </a:ln>
          </p:spPr>
          <p:txBody>
            <a:bodyPr wrap="square" lIns="0" tIns="0" rIns="0" bIns="0" rtlCol="0"/>
            <a:lstStyle/>
            <a:p>
              <a:endParaRPr>
                <a:latin typeface="Museo 300" pitchFamily="50" charset="0"/>
              </a:endParaRPr>
            </a:p>
          </p:txBody>
        </p:sp>
        <p:sp>
          <p:nvSpPr>
            <p:cNvPr id="21" name="object 21"/>
            <p:cNvSpPr/>
            <p:nvPr/>
          </p:nvSpPr>
          <p:spPr>
            <a:xfrm>
              <a:off x="6795516" y="2638044"/>
              <a:ext cx="836930" cy="3537585"/>
            </a:xfrm>
            <a:custGeom>
              <a:avLst/>
              <a:gdLst/>
              <a:ahLst/>
              <a:cxnLst/>
              <a:rect l="l" t="t" r="r" b="b"/>
              <a:pathLst>
                <a:path w="836929" h="3537585">
                  <a:moveTo>
                    <a:pt x="836676" y="3537204"/>
                  </a:moveTo>
                  <a:lnTo>
                    <a:pt x="836676" y="0"/>
                  </a:lnTo>
                </a:path>
                <a:path w="836929" h="3537585">
                  <a:moveTo>
                    <a:pt x="0" y="3537204"/>
                  </a:moveTo>
                  <a:lnTo>
                    <a:pt x="0" y="2217419"/>
                  </a:lnTo>
                </a:path>
              </a:pathLst>
            </a:custGeom>
            <a:ln w="15240">
              <a:solidFill>
                <a:srgbClr val="00FFFF"/>
              </a:solidFill>
            </a:ln>
          </p:spPr>
          <p:txBody>
            <a:bodyPr wrap="square" lIns="0" tIns="0" rIns="0" bIns="0" rtlCol="0"/>
            <a:lstStyle/>
            <a:p>
              <a:endParaRPr>
                <a:latin typeface="Museo 300" pitchFamily="50" charset="0"/>
              </a:endParaRPr>
            </a:p>
          </p:txBody>
        </p:sp>
      </p:grpSp>
      <p:sp>
        <p:nvSpPr>
          <p:cNvPr id="22" name="object 22"/>
          <p:cNvSpPr txBox="1"/>
          <p:nvPr/>
        </p:nvSpPr>
        <p:spPr>
          <a:xfrm>
            <a:off x="5093547" y="710312"/>
            <a:ext cx="128693" cy="182742"/>
          </a:xfrm>
          <a:prstGeom prst="rect">
            <a:avLst/>
          </a:prstGeom>
        </p:spPr>
        <p:txBody>
          <a:bodyPr vert="horz" wrap="square" lIns="0" tIns="13335" rIns="0" bIns="0" rtlCol="0">
            <a:spAutoFit/>
          </a:bodyPr>
          <a:lstStyle/>
          <a:p>
            <a:pPr marL="12700">
              <a:lnSpc>
                <a:spcPct val="100000"/>
              </a:lnSpc>
              <a:spcBef>
                <a:spcPts val="105"/>
              </a:spcBef>
            </a:pPr>
            <a:r>
              <a:rPr sz="1100" dirty="0">
                <a:latin typeface="Museo 300" pitchFamily="50" charset="0"/>
                <a:cs typeface="Carlito"/>
              </a:rPr>
              <a:t>1</a:t>
            </a:r>
            <a:endParaRPr sz="1100">
              <a:latin typeface="Museo 300" pitchFamily="50" charset="0"/>
              <a:cs typeface="Carlito"/>
            </a:endParaRPr>
          </a:p>
        </p:txBody>
      </p:sp>
      <p:sp>
        <p:nvSpPr>
          <p:cNvPr id="23" name="object 23"/>
          <p:cNvSpPr txBox="1"/>
          <p:nvPr/>
        </p:nvSpPr>
        <p:spPr>
          <a:xfrm>
            <a:off x="7327053" y="710312"/>
            <a:ext cx="128693" cy="182742"/>
          </a:xfrm>
          <a:prstGeom prst="rect">
            <a:avLst/>
          </a:prstGeom>
        </p:spPr>
        <p:txBody>
          <a:bodyPr vert="horz" wrap="square" lIns="0" tIns="13335" rIns="0" bIns="0" rtlCol="0">
            <a:spAutoFit/>
          </a:bodyPr>
          <a:lstStyle/>
          <a:p>
            <a:pPr marL="12700">
              <a:lnSpc>
                <a:spcPct val="100000"/>
              </a:lnSpc>
              <a:spcBef>
                <a:spcPts val="105"/>
              </a:spcBef>
            </a:pPr>
            <a:r>
              <a:rPr sz="1100" dirty="0">
                <a:latin typeface="Museo 300" pitchFamily="50" charset="0"/>
                <a:cs typeface="Carlito"/>
              </a:rPr>
              <a:t>2</a:t>
            </a:r>
            <a:endParaRPr sz="1100">
              <a:latin typeface="Museo 300" pitchFamily="50" charset="0"/>
              <a:cs typeface="Carlito"/>
            </a:endParaRPr>
          </a:p>
        </p:txBody>
      </p:sp>
      <p:sp>
        <p:nvSpPr>
          <p:cNvPr id="24" name="object 24"/>
          <p:cNvSpPr/>
          <p:nvPr/>
        </p:nvSpPr>
        <p:spPr>
          <a:xfrm>
            <a:off x="4220464" y="2264664"/>
            <a:ext cx="6329680" cy="280670"/>
          </a:xfrm>
          <a:custGeom>
            <a:avLst/>
            <a:gdLst/>
            <a:ahLst/>
            <a:cxnLst/>
            <a:rect l="l" t="t" r="r" b="b"/>
            <a:pathLst>
              <a:path w="4747259" h="280669">
                <a:moveTo>
                  <a:pt x="4747259" y="0"/>
                </a:moveTo>
                <a:lnTo>
                  <a:pt x="1318640" y="0"/>
                </a:lnTo>
                <a:lnTo>
                  <a:pt x="1179067" y="280415"/>
                </a:lnTo>
                <a:lnTo>
                  <a:pt x="0" y="280415"/>
                </a:lnTo>
              </a:path>
              <a:path w="4747259" h="280669">
                <a:moveTo>
                  <a:pt x="4747259" y="280415"/>
                </a:moveTo>
                <a:lnTo>
                  <a:pt x="1318640" y="280415"/>
                </a:lnTo>
                <a:lnTo>
                  <a:pt x="1179067" y="0"/>
                </a:lnTo>
                <a:lnTo>
                  <a:pt x="0" y="0"/>
                </a:lnTo>
              </a:path>
            </a:pathLst>
          </a:custGeom>
          <a:ln w="15240">
            <a:solidFill>
              <a:srgbClr val="000000"/>
            </a:solidFill>
          </a:ln>
        </p:spPr>
        <p:txBody>
          <a:bodyPr wrap="square" lIns="0" tIns="0" rIns="0" bIns="0" rtlCol="0"/>
          <a:lstStyle/>
          <a:p>
            <a:endParaRPr>
              <a:latin typeface="Museo 300" pitchFamily="50" charset="0"/>
            </a:endParaRPr>
          </a:p>
        </p:txBody>
      </p:sp>
      <p:sp>
        <p:nvSpPr>
          <p:cNvPr id="25" name="object 25"/>
          <p:cNvSpPr txBox="1"/>
          <p:nvPr/>
        </p:nvSpPr>
        <p:spPr>
          <a:xfrm>
            <a:off x="3603244" y="1237234"/>
            <a:ext cx="1044787" cy="182742"/>
          </a:xfrm>
          <a:prstGeom prst="rect">
            <a:avLst/>
          </a:prstGeom>
        </p:spPr>
        <p:txBody>
          <a:bodyPr vert="horz" wrap="square" lIns="0" tIns="13335" rIns="0" bIns="0" rtlCol="0">
            <a:spAutoFit/>
          </a:bodyPr>
          <a:lstStyle/>
          <a:p>
            <a:pPr marL="12700">
              <a:lnSpc>
                <a:spcPct val="100000"/>
              </a:lnSpc>
              <a:spcBef>
                <a:spcPts val="105"/>
              </a:spcBef>
              <a:tabLst>
                <a:tab pos="462280" algn="l"/>
                <a:tab pos="770255" algn="l"/>
              </a:tabLst>
            </a:pPr>
            <a:r>
              <a:rPr sz="1100" spc="-5" dirty="0">
                <a:latin typeface="Museo 300" pitchFamily="50" charset="0"/>
                <a:cs typeface="Carlito"/>
              </a:rPr>
              <a:t>Clock	</a:t>
            </a:r>
            <a:r>
              <a:rPr sz="1100" u="heavy" spc="-5" dirty="0">
                <a:uFill>
                  <a:solidFill>
                    <a:srgbClr val="000000"/>
                  </a:solidFill>
                </a:uFill>
                <a:latin typeface="Museo 300" pitchFamily="50" charset="0"/>
                <a:cs typeface="Carlito"/>
              </a:rPr>
              <a:t> 	</a:t>
            </a:r>
            <a:endParaRPr sz="1100">
              <a:latin typeface="Museo 300" pitchFamily="50" charset="0"/>
              <a:cs typeface="Carlito"/>
            </a:endParaRPr>
          </a:p>
        </p:txBody>
      </p:sp>
      <p:sp>
        <p:nvSpPr>
          <p:cNvPr id="26" name="object 26"/>
          <p:cNvSpPr txBox="1"/>
          <p:nvPr/>
        </p:nvSpPr>
        <p:spPr>
          <a:xfrm>
            <a:off x="3437807" y="2292808"/>
            <a:ext cx="642620" cy="182742"/>
          </a:xfrm>
          <a:prstGeom prst="rect">
            <a:avLst/>
          </a:prstGeom>
        </p:spPr>
        <p:txBody>
          <a:bodyPr vert="horz" wrap="square" lIns="0" tIns="13335" rIns="0" bIns="0" rtlCol="0">
            <a:spAutoFit/>
          </a:bodyPr>
          <a:lstStyle/>
          <a:p>
            <a:pPr marL="12700">
              <a:lnSpc>
                <a:spcPct val="100000"/>
              </a:lnSpc>
              <a:spcBef>
                <a:spcPts val="105"/>
              </a:spcBef>
            </a:pPr>
            <a:r>
              <a:rPr sz="1100" spc="-5" dirty="0">
                <a:latin typeface="Museo 300" pitchFamily="50" charset="0"/>
                <a:cs typeface="Carlito"/>
              </a:rPr>
              <a:t>Add</a:t>
            </a:r>
            <a:r>
              <a:rPr sz="1100" dirty="0">
                <a:latin typeface="Museo 300" pitchFamily="50" charset="0"/>
                <a:cs typeface="Carlito"/>
              </a:rPr>
              <a:t>ress</a:t>
            </a:r>
            <a:endParaRPr sz="1100">
              <a:latin typeface="Museo 300" pitchFamily="50" charset="0"/>
              <a:cs typeface="Carlito"/>
            </a:endParaRPr>
          </a:p>
        </p:txBody>
      </p:sp>
      <p:sp>
        <p:nvSpPr>
          <p:cNvPr id="27" name="object 27"/>
          <p:cNvSpPr txBox="1"/>
          <p:nvPr/>
        </p:nvSpPr>
        <p:spPr>
          <a:xfrm>
            <a:off x="3768343" y="3409571"/>
            <a:ext cx="297180" cy="182742"/>
          </a:xfrm>
          <a:prstGeom prst="rect">
            <a:avLst/>
          </a:prstGeom>
        </p:spPr>
        <p:txBody>
          <a:bodyPr vert="horz" wrap="square" lIns="0" tIns="13335" rIns="0" bIns="0" rtlCol="0">
            <a:spAutoFit/>
          </a:bodyPr>
          <a:lstStyle/>
          <a:p>
            <a:pPr marL="12700">
              <a:lnSpc>
                <a:spcPct val="100000"/>
              </a:lnSpc>
              <a:spcBef>
                <a:spcPts val="105"/>
              </a:spcBef>
            </a:pPr>
            <a:r>
              <a:rPr sz="1100" dirty="0">
                <a:latin typeface="Museo 300" pitchFamily="50" charset="0"/>
                <a:cs typeface="Carlito"/>
              </a:rPr>
              <a:t>MR</a:t>
            </a:r>
            <a:endParaRPr sz="1100">
              <a:latin typeface="Museo 300" pitchFamily="50" charset="0"/>
              <a:cs typeface="Carlito"/>
            </a:endParaRPr>
          </a:p>
        </p:txBody>
      </p:sp>
      <p:sp>
        <p:nvSpPr>
          <p:cNvPr id="28" name="object 28"/>
          <p:cNvSpPr txBox="1"/>
          <p:nvPr/>
        </p:nvSpPr>
        <p:spPr>
          <a:xfrm>
            <a:off x="3387005" y="3967937"/>
            <a:ext cx="736600" cy="739305"/>
          </a:xfrm>
          <a:prstGeom prst="rect">
            <a:avLst/>
          </a:prstGeom>
        </p:spPr>
        <p:txBody>
          <a:bodyPr vert="horz" wrap="square" lIns="0" tIns="13335" rIns="0" bIns="0" rtlCol="0">
            <a:spAutoFit/>
          </a:bodyPr>
          <a:lstStyle/>
          <a:p>
            <a:pPr marL="50800">
              <a:lnSpc>
                <a:spcPct val="100000"/>
              </a:lnSpc>
              <a:spcBef>
                <a:spcPts val="105"/>
              </a:spcBef>
            </a:pPr>
            <a:r>
              <a:rPr sz="1100" dirty="0">
                <a:latin typeface="Museo 300" pitchFamily="50" charset="0"/>
                <a:cs typeface="Carlito"/>
              </a:rPr>
              <a:t>MDR</a:t>
            </a:r>
            <a:r>
              <a:rPr sz="1100" spc="-125" dirty="0">
                <a:latin typeface="Museo 300" pitchFamily="50" charset="0"/>
                <a:cs typeface="Carlito"/>
              </a:rPr>
              <a:t> </a:t>
            </a:r>
            <a:r>
              <a:rPr sz="1350" i="1" spc="-7" baseline="-24691" dirty="0">
                <a:latin typeface="Museo 300" pitchFamily="50" charset="0"/>
                <a:cs typeface="Carlito"/>
              </a:rPr>
              <a:t>inE</a:t>
            </a:r>
            <a:endParaRPr sz="1350" baseline="-24691">
              <a:latin typeface="Museo 300" pitchFamily="50" charset="0"/>
              <a:cs typeface="Carlito"/>
            </a:endParaRPr>
          </a:p>
          <a:p>
            <a:pPr>
              <a:lnSpc>
                <a:spcPct val="100000"/>
              </a:lnSpc>
            </a:pPr>
            <a:endParaRPr sz="1500">
              <a:latin typeface="Museo 300" pitchFamily="50" charset="0"/>
              <a:cs typeface="Carlito"/>
            </a:endParaRPr>
          </a:p>
          <a:p>
            <a:pPr marL="222250">
              <a:lnSpc>
                <a:spcPct val="100000"/>
              </a:lnSpc>
              <a:spcBef>
                <a:spcPts val="1110"/>
              </a:spcBef>
            </a:pPr>
            <a:r>
              <a:rPr sz="1200" spc="-10" dirty="0">
                <a:latin typeface="Museo 300" pitchFamily="50" charset="0"/>
                <a:cs typeface="Carlito"/>
              </a:rPr>
              <a:t>Data</a:t>
            </a:r>
            <a:endParaRPr sz="1200">
              <a:latin typeface="Museo 300" pitchFamily="50" charset="0"/>
              <a:cs typeface="Carlito"/>
            </a:endParaRPr>
          </a:p>
        </p:txBody>
      </p:sp>
      <p:sp>
        <p:nvSpPr>
          <p:cNvPr id="29" name="object 29"/>
          <p:cNvSpPr txBox="1"/>
          <p:nvPr/>
        </p:nvSpPr>
        <p:spPr>
          <a:xfrm>
            <a:off x="3666745" y="5086352"/>
            <a:ext cx="380153" cy="182101"/>
          </a:xfrm>
          <a:prstGeom prst="rect">
            <a:avLst/>
          </a:prstGeom>
        </p:spPr>
        <p:txBody>
          <a:bodyPr vert="horz" wrap="square" lIns="0" tIns="12700" rIns="0" bIns="0" rtlCol="0">
            <a:spAutoFit/>
          </a:bodyPr>
          <a:lstStyle/>
          <a:p>
            <a:pPr marL="12700">
              <a:lnSpc>
                <a:spcPct val="100000"/>
              </a:lnSpc>
              <a:spcBef>
                <a:spcPts val="100"/>
              </a:spcBef>
            </a:pPr>
            <a:r>
              <a:rPr sz="1100" dirty="0">
                <a:latin typeface="Museo 300" pitchFamily="50" charset="0"/>
                <a:cs typeface="Carlito"/>
              </a:rPr>
              <a:t>M</a:t>
            </a:r>
            <a:r>
              <a:rPr sz="1100" spc="-5" dirty="0">
                <a:latin typeface="Museo 300" pitchFamily="50" charset="0"/>
                <a:cs typeface="Carlito"/>
              </a:rPr>
              <a:t>FC</a:t>
            </a:r>
            <a:endParaRPr sz="1100">
              <a:latin typeface="Museo 300" pitchFamily="50" charset="0"/>
              <a:cs typeface="Carlito"/>
            </a:endParaRPr>
          </a:p>
        </p:txBody>
      </p:sp>
      <p:grpSp>
        <p:nvGrpSpPr>
          <p:cNvPr id="30" name="object 30"/>
          <p:cNvGrpSpPr/>
          <p:nvPr/>
        </p:nvGrpSpPr>
        <p:grpSpPr>
          <a:xfrm>
            <a:off x="4582160" y="729995"/>
            <a:ext cx="382693" cy="280670"/>
            <a:chOff x="3436620" y="729995"/>
            <a:chExt cx="287020" cy="280670"/>
          </a:xfrm>
        </p:grpSpPr>
        <p:sp>
          <p:nvSpPr>
            <p:cNvPr id="31" name="object 31"/>
            <p:cNvSpPr/>
            <p:nvPr/>
          </p:nvSpPr>
          <p:spPr>
            <a:xfrm>
              <a:off x="3444240" y="729995"/>
              <a:ext cx="125095" cy="280670"/>
            </a:xfrm>
            <a:custGeom>
              <a:avLst/>
              <a:gdLst/>
              <a:ahLst/>
              <a:cxnLst/>
              <a:rect l="l" t="t" r="r" b="b"/>
              <a:pathLst>
                <a:path w="125095" h="280669">
                  <a:moveTo>
                    <a:pt x="0" y="0"/>
                  </a:moveTo>
                  <a:lnTo>
                    <a:pt x="0" y="280415"/>
                  </a:lnTo>
                </a:path>
                <a:path w="125095" h="280669">
                  <a:moveTo>
                    <a:pt x="124968" y="77724"/>
                  </a:moveTo>
                  <a:lnTo>
                    <a:pt x="15239" y="92963"/>
                  </a:lnTo>
                  <a:lnTo>
                    <a:pt x="124968" y="108203"/>
                  </a:lnTo>
                  <a:lnTo>
                    <a:pt x="124968" y="92963"/>
                  </a:lnTo>
                  <a:lnTo>
                    <a:pt x="124968" y="77724"/>
                  </a:lnTo>
                </a:path>
              </a:pathLst>
            </a:custGeom>
            <a:ln w="15240">
              <a:solidFill>
                <a:srgbClr val="000000"/>
              </a:solidFill>
            </a:ln>
          </p:spPr>
          <p:txBody>
            <a:bodyPr wrap="square" lIns="0" tIns="0" rIns="0" bIns="0" rtlCol="0"/>
            <a:lstStyle/>
            <a:p>
              <a:endParaRPr>
                <a:latin typeface="Museo 300" pitchFamily="50" charset="0"/>
              </a:endParaRPr>
            </a:p>
          </p:txBody>
        </p:sp>
        <p:sp>
          <p:nvSpPr>
            <p:cNvPr id="32" name="object 32"/>
            <p:cNvSpPr/>
            <p:nvPr/>
          </p:nvSpPr>
          <p:spPr>
            <a:xfrm>
              <a:off x="3460242" y="808481"/>
              <a:ext cx="109855" cy="30480"/>
            </a:xfrm>
            <a:custGeom>
              <a:avLst/>
              <a:gdLst/>
              <a:ahLst/>
              <a:cxnLst/>
              <a:rect l="l" t="t" r="r" b="b"/>
              <a:pathLst>
                <a:path w="109854" h="30480">
                  <a:moveTo>
                    <a:pt x="109728" y="0"/>
                  </a:moveTo>
                  <a:lnTo>
                    <a:pt x="0" y="14477"/>
                  </a:lnTo>
                  <a:lnTo>
                    <a:pt x="109728" y="30479"/>
                  </a:lnTo>
                  <a:lnTo>
                    <a:pt x="109728" y="0"/>
                  </a:lnTo>
                  <a:close/>
                </a:path>
              </a:pathLst>
            </a:custGeom>
            <a:solidFill>
              <a:srgbClr val="000000"/>
            </a:solidFill>
          </p:spPr>
          <p:txBody>
            <a:bodyPr wrap="square" lIns="0" tIns="0" rIns="0" bIns="0" rtlCol="0"/>
            <a:lstStyle/>
            <a:p>
              <a:endParaRPr>
                <a:latin typeface="Museo 300" pitchFamily="50" charset="0"/>
              </a:endParaRPr>
            </a:p>
          </p:txBody>
        </p:sp>
        <p:sp>
          <p:nvSpPr>
            <p:cNvPr id="33" name="object 33"/>
            <p:cNvSpPr/>
            <p:nvPr/>
          </p:nvSpPr>
          <p:spPr>
            <a:xfrm>
              <a:off x="3460242" y="808481"/>
              <a:ext cx="109855" cy="30480"/>
            </a:xfrm>
            <a:custGeom>
              <a:avLst/>
              <a:gdLst/>
              <a:ahLst/>
              <a:cxnLst/>
              <a:rect l="l" t="t" r="r" b="b"/>
              <a:pathLst>
                <a:path w="109854" h="30480">
                  <a:moveTo>
                    <a:pt x="109728" y="0"/>
                  </a:moveTo>
                  <a:lnTo>
                    <a:pt x="0" y="14477"/>
                  </a:lnTo>
                  <a:lnTo>
                    <a:pt x="109728" y="30479"/>
                  </a:lnTo>
                  <a:lnTo>
                    <a:pt x="109728" y="14477"/>
                  </a:lnTo>
                  <a:lnTo>
                    <a:pt x="109728"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34" name="object 34"/>
            <p:cNvSpPr/>
            <p:nvPr/>
          </p:nvSpPr>
          <p:spPr>
            <a:xfrm>
              <a:off x="3569208" y="822959"/>
              <a:ext cx="154305" cy="0"/>
            </a:xfrm>
            <a:custGeom>
              <a:avLst/>
              <a:gdLst/>
              <a:ahLst/>
              <a:cxnLst/>
              <a:rect l="l" t="t" r="r" b="b"/>
              <a:pathLst>
                <a:path w="154304">
                  <a:moveTo>
                    <a:pt x="0" y="0"/>
                  </a:moveTo>
                  <a:lnTo>
                    <a:pt x="153924" y="0"/>
                  </a:lnTo>
                </a:path>
              </a:pathLst>
            </a:custGeom>
            <a:ln w="15240">
              <a:solidFill>
                <a:srgbClr val="000000"/>
              </a:solidFill>
            </a:ln>
          </p:spPr>
          <p:txBody>
            <a:bodyPr wrap="square" lIns="0" tIns="0" rIns="0" bIns="0" rtlCol="0"/>
            <a:lstStyle/>
            <a:p>
              <a:endParaRPr>
                <a:latin typeface="Museo 300" pitchFamily="50" charset="0"/>
              </a:endParaRPr>
            </a:p>
          </p:txBody>
        </p:sp>
      </p:grpSp>
      <p:grpSp>
        <p:nvGrpSpPr>
          <p:cNvPr id="35" name="object 35"/>
          <p:cNvGrpSpPr/>
          <p:nvPr/>
        </p:nvGrpSpPr>
        <p:grpSpPr>
          <a:xfrm>
            <a:off x="5336033" y="729995"/>
            <a:ext cx="1863513" cy="280670"/>
            <a:chOff x="4002023" y="729995"/>
            <a:chExt cx="1397635" cy="280670"/>
          </a:xfrm>
        </p:grpSpPr>
        <p:sp>
          <p:nvSpPr>
            <p:cNvPr id="36" name="object 36"/>
            <p:cNvSpPr/>
            <p:nvPr/>
          </p:nvSpPr>
          <p:spPr>
            <a:xfrm>
              <a:off x="4280915" y="729995"/>
              <a:ext cx="125095" cy="280670"/>
            </a:xfrm>
            <a:custGeom>
              <a:avLst/>
              <a:gdLst/>
              <a:ahLst/>
              <a:cxnLst/>
              <a:rect l="l" t="t" r="r" b="b"/>
              <a:pathLst>
                <a:path w="125095" h="280669">
                  <a:moveTo>
                    <a:pt x="0" y="0"/>
                  </a:moveTo>
                  <a:lnTo>
                    <a:pt x="0" y="280415"/>
                  </a:lnTo>
                </a:path>
                <a:path w="125095" h="280669">
                  <a:moveTo>
                    <a:pt x="124968" y="77724"/>
                  </a:moveTo>
                  <a:lnTo>
                    <a:pt x="16763" y="92963"/>
                  </a:lnTo>
                  <a:lnTo>
                    <a:pt x="124968" y="108203"/>
                  </a:lnTo>
                  <a:lnTo>
                    <a:pt x="124968" y="92963"/>
                  </a:lnTo>
                  <a:lnTo>
                    <a:pt x="124968" y="77724"/>
                  </a:lnTo>
                </a:path>
              </a:pathLst>
            </a:custGeom>
            <a:ln w="15240">
              <a:solidFill>
                <a:srgbClr val="000000"/>
              </a:solidFill>
            </a:ln>
          </p:spPr>
          <p:txBody>
            <a:bodyPr wrap="square" lIns="0" tIns="0" rIns="0" bIns="0" rtlCol="0"/>
            <a:lstStyle/>
            <a:p>
              <a:endParaRPr>
                <a:latin typeface="Museo 300" pitchFamily="50" charset="0"/>
              </a:endParaRPr>
            </a:p>
          </p:txBody>
        </p:sp>
        <p:sp>
          <p:nvSpPr>
            <p:cNvPr id="37" name="object 37"/>
            <p:cNvSpPr/>
            <p:nvPr/>
          </p:nvSpPr>
          <p:spPr>
            <a:xfrm>
              <a:off x="4298441" y="808481"/>
              <a:ext cx="108585" cy="30480"/>
            </a:xfrm>
            <a:custGeom>
              <a:avLst/>
              <a:gdLst/>
              <a:ahLst/>
              <a:cxnLst/>
              <a:rect l="l" t="t" r="r" b="b"/>
              <a:pathLst>
                <a:path w="108585" h="30480">
                  <a:moveTo>
                    <a:pt x="108204" y="0"/>
                  </a:moveTo>
                  <a:lnTo>
                    <a:pt x="0" y="14477"/>
                  </a:lnTo>
                  <a:lnTo>
                    <a:pt x="108204" y="30479"/>
                  </a:lnTo>
                  <a:lnTo>
                    <a:pt x="108204" y="0"/>
                  </a:lnTo>
                  <a:close/>
                </a:path>
              </a:pathLst>
            </a:custGeom>
            <a:solidFill>
              <a:srgbClr val="000000"/>
            </a:solidFill>
          </p:spPr>
          <p:txBody>
            <a:bodyPr wrap="square" lIns="0" tIns="0" rIns="0" bIns="0" rtlCol="0"/>
            <a:lstStyle/>
            <a:p>
              <a:endParaRPr>
                <a:latin typeface="Museo 300" pitchFamily="50" charset="0"/>
              </a:endParaRPr>
            </a:p>
          </p:txBody>
        </p:sp>
        <p:sp>
          <p:nvSpPr>
            <p:cNvPr id="38" name="object 38"/>
            <p:cNvSpPr/>
            <p:nvPr/>
          </p:nvSpPr>
          <p:spPr>
            <a:xfrm>
              <a:off x="4298441" y="808481"/>
              <a:ext cx="108585" cy="30480"/>
            </a:xfrm>
            <a:custGeom>
              <a:avLst/>
              <a:gdLst/>
              <a:ahLst/>
              <a:cxnLst/>
              <a:rect l="l" t="t" r="r" b="b"/>
              <a:pathLst>
                <a:path w="108585" h="30480">
                  <a:moveTo>
                    <a:pt x="108204" y="0"/>
                  </a:moveTo>
                  <a:lnTo>
                    <a:pt x="0" y="14477"/>
                  </a:lnTo>
                  <a:lnTo>
                    <a:pt x="108204" y="30479"/>
                  </a:lnTo>
                  <a:lnTo>
                    <a:pt x="108204" y="14477"/>
                  </a:lnTo>
                  <a:lnTo>
                    <a:pt x="108204"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39" name="object 39"/>
            <p:cNvSpPr/>
            <p:nvPr/>
          </p:nvSpPr>
          <p:spPr>
            <a:xfrm>
              <a:off x="4157471" y="807719"/>
              <a:ext cx="1242060" cy="30480"/>
            </a:xfrm>
            <a:custGeom>
              <a:avLst/>
              <a:gdLst/>
              <a:ahLst/>
              <a:cxnLst/>
              <a:rect l="l" t="t" r="r" b="b"/>
              <a:pathLst>
                <a:path w="1242060" h="30480">
                  <a:moveTo>
                    <a:pt x="248412" y="15239"/>
                  </a:moveTo>
                  <a:lnTo>
                    <a:pt x="1242060" y="15239"/>
                  </a:lnTo>
                </a:path>
                <a:path w="1242060" h="30480">
                  <a:moveTo>
                    <a:pt x="0" y="30479"/>
                  </a:moveTo>
                  <a:lnTo>
                    <a:pt x="109727" y="15239"/>
                  </a:lnTo>
                  <a:lnTo>
                    <a:pt x="0" y="0"/>
                  </a:lnTo>
                  <a:lnTo>
                    <a:pt x="0" y="15239"/>
                  </a:lnTo>
                  <a:lnTo>
                    <a:pt x="0" y="30479"/>
                  </a:lnTo>
                </a:path>
              </a:pathLst>
            </a:custGeom>
            <a:ln w="15240">
              <a:solidFill>
                <a:srgbClr val="000000"/>
              </a:solidFill>
            </a:ln>
          </p:spPr>
          <p:txBody>
            <a:bodyPr wrap="square" lIns="0" tIns="0" rIns="0" bIns="0" rtlCol="0"/>
            <a:lstStyle/>
            <a:p>
              <a:endParaRPr>
                <a:latin typeface="Museo 300" pitchFamily="50" charset="0"/>
              </a:endParaRPr>
            </a:p>
          </p:txBody>
        </p:sp>
        <p:sp>
          <p:nvSpPr>
            <p:cNvPr id="40" name="object 40"/>
            <p:cNvSpPr/>
            <p:nvPr/>
          </p:nvSpPr>
          <p:spPr>
            <a:xfrm>
              <a:off x="4158233" y="808481"/>
              <a:ext cx="109855" cy="30480"/>
            </a:xfrm>
            <a:custGeom>
              <a:avLst/>
              <a:gdLst/>
              <a:ahLst/>
              <a:cxnLst/>
              <a:rect l="l" t="t" r="r" b="b"/>
              <a:pathLst>
                <a:path w="109854" h="30480">
                  <a:moveTo>
                    <a:pt x="0" y="0"/>
                  </a:moveTo>
                  <a:lnTo>
                    <a:pt x="0" y="30479"/>
                  </a:lnTo>
                  <a:lnTo>
                    <a:pt x="109727" y="14477"/>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41" name="object 41"/>
            <p:cNvSpPr/>
            <p:nvPr/>
          </p:nvSpPr>
          <p:spPr>
            <a:xfrm>
              <a:off x="4158233" y="808481"/>
              <a:ext cx="109855" cy="30480"/>
            </a:xfrm>
            <a:custGeom>
              <a:avLst/>
              <a:gdLst/>
              <a:ahLst/>
              <a:cxnLst/>
              <a:rect l="l" t="t" r="r" b="b"/>
              <a:pathLst>
                <a:path w="109854" h="30480">
                  <a:moveTo>
                    <a:pt x="0" y="30479"/>
                  </a:moveTo>
                  <a:lnTo>
                    <a:pt x="109727" y="14477"/>
                  </a:lnTo>
                  <a:lnTo>
                    <a:pt x="0" y="0"/>
                  </a:lnTo>
                  <a:lnTo>
                    <a:pt x="0" y="14477"/>
                  </a:lnTo>
                  <a:lnTo>
                    <a:pt x="0" y="30479"/>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42" name="object 42"/>
            <p:cNvSpPr/>
            <p:nvPr/>
          </p:nvSpPr>
          <p:spPr>
            <a:xfrm>
              <a:off x="4002023" y="822959"/>
              <a:ext cx="155575" cy="0"/>
            </a:xfrm>
            <a:custGeom>
              <a:avLst/>
              <a:gdLst/>
              <a:ahLst/>
              <a:cxnLst/>
              <a:rect l="l" t="t" r="r" b="b"/>
              <a:pathLst>
                <a:path w="155575">
                  <a:moveTo>
                    <a:pt x="0" y="0"/>
                  </a:moveTo>
                  <a:lnTo>
                    <a:pt x="155448" y="0"/>
                  </a:lnTo>
                </a:path>
              </a:pathLst>
            </a:custGeom>
            <a:ln w="15240">
              <a:solidFill>
                <a:srgbClr val="000000"/>
              </a:solidFill>
            </a:ln>
          </p:spPr>
          <p:txBody>
            <a:bodyPr wrap="square" lIns="0" tIns="0" rIns="0" bIns="0" rtlCol="0"/>
            <a:lstStyle/>
            <a:p>
              <a:endParaRPr>
                <a:latin typeface="Museo 300" pitchFamily="50" charset="0"/>
              </a:endParaRPr>
            </a:p>
          </p:txBody>
        </p:sp>
      </p:grpSp>
      <p:grpSp>
        <p:nvGrpSpPr>
          <p:cNvPr id="43" name="object 43"/>
          <p:cNvGrpSpPr/>
          <p:nvPr/>
        </p:nvGrpSpPr>
        <p:grpSpPr>
          <a:xfrm>
            <a:off x="7571231" y="729995"/>
            <a:ext cx="1861820" cy="280670"/>
            <a:chOff x="5678423" y="729995"/>
            <a:chExt cx="1396365" cy="280670"/>
          </a:xfrm>
        </p:grpSpPr>
        <p:sp>
          <p:nvSpPr>
            <p:cNvPr id="44" name="object 44"/>
            <p:cNvSpPr/>
            <p:nvPr/>
          </p:nvSpPr>
          <p:spPr>
            <a:xfrm>
              <a:off x="6670547" y="729995"/>
              <a:ext cx="125095" cy="280670"/>
            </a:xfrm>
            <a:custGeom>
              <a:avLst/>
              <a:gdLst/>
              <a:ahLst/>
              <a:cxnLst/>
              <a:rect l="l" t="t" r="r" b="b"/>
              <a:pathLst>
                <a:path w="125095" h="280669">
                  <a:moveTo>
                    <a:pt x="124968" y="0"/>
                  </a:moveTo>
                  <a:lnTo>
                    <a:pt x="124968" y="280415"/>
                  </a:lnTo>
                </a:path>
                <a:path w="125095" h="280669">
                  <a:moveTo>
                    <a:pt x="0" y="108203"/>
                  </a:moveTo>
                  <a:lnTo>
                    <a:pt x="109727" y="92963"/>
                  </a:lnTo>
                  <a:lnTo>
                    <a:pt x="0" y="77724"/>
                  </a:lnTo>
                  <a:lnTo>
                    <a:pt x="0" y="92963"/>
                  </a:lnTo>
                  <a:lnTo>
                    <a:pt x="0" y="108203"/>
                  </a:lnTo>
                </a:path>
              </a:pathLst>
            </a:custGeom>
            <a:ln w="15240">
              <a:solidFill>
                <a:srgbClr val="000000"/>
              </a:solidFill>
            </a:ln>
          </p:spPr>
          <p:txBody>
            <a:bodyPr wrap="square" lIns="0" tIns="0" rIns="0" bIns="0" rtlCol="0"/>
            <a:lstStyle/>
            <a:p>
              <a:endParaRPr>
                <a:latin typeface="Museo 300" pitchFamily="50" charset="0"/>
              </a:endParaRPr>
            </a:p>
          </p:txBody>
        </p:sp>
        <p:sp>
          <p:nvSpPr>
            <p:cNvPr id="45" name="object 45"/>
            <p:cNvSpPr/>
            <p:nvPr/>
          </p:nvSpPr>
          <p:spPr>
            <a:xfrm>
              <a:off x="6671309" y="808481"/>
              <a:ext cx="109855" cy="30480"/>
            </a:xfrm>
            <a:custGeom>
              <a:avLst/>
              <a:gdLst/>
              <a:ahLst/>
              <a:cxnLst/>
              <a:rect l="l" t="t" r="r" b="b"/>
              <a:pathLst>
                <a:path w="109854" h="30480">
                  <a:moveTo>
                    <a:pt x="0" y="0"/>
                  </a:moveTo>
                  <a:lnTo>
                    <a:pt x="0" y="30479"/>
                  </a:lnTo>
                  <a:lnTo>
                    <a:pt x="109728" y="14477"/>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46" name="object 46"/>
            <p:cNvSpPr/>
            <p:nvPr/>
          </p:nvSpPr>
          <p:spPr>
            <a:xfrm>
              <a:off x="6671309" y="808481"/>
              <a:ext cx="109855" cy="30480"/>
            </a:xfrm>
            <a:custGeom>
              <a:avLst/>
              <a:gdLst/>
              <a:ahLst/>
              <a:cxnLst/>
              <a:rect l="l" t="t" r="r" b="b"/>
              <a:pathLst>
                <a:path w="109854" h="30480">
                  <a:moveTo>
                    <a:pt x="0" y="30479"/>
                  </a:moveTo>
                  <a:lnTo>
                    <a:pt x="109728" y="14477"/>
                  </a:lnTo>
                  <a:lnTo>
                    <a:pt x="0" y="0"/>
                  </a:lnTo>
                  <a:lnTo>
                    <a:pt x="0" y="14477"/>
                  </a:lnTo>
                  <a:lnTo>
                    <a:pt x="0" y="30479"/>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47" name="object 47"/>
            <p:cNvSpPr/>
            <p:nvPr/>
          </p:nvSpPr>
          <p:spPr>
            <a:xfrm>
              <a:off x="5678423" y="807719"/>
              <a:ext cx="1242060" cy="30480"/>
            </a:xfrm>
            <a:custGeom>
              <a:avLst/>
              <a:gdLst/>
              <a:ahLst/>
              <a:cxnLst/>
              <a:rect l="l" t="t" r="r" b="b"/>
              <a:pathLst>
                <a:path w="1242059" h="30480">
                  <a:moveTo>
                    <a:pt x="0" y="15239"/>
                  </a:moveTo>
                  <a:lnTo>
                    <a:pt x="992124" y="15239"/>
                  </a:lnTo>
                </a:path>
                <a:path w="1242059" h="30480">
                  <a:moveTo>
                    <a:pt x="1242059" y="0"/>
                  </a:moveTo>
                  <a:lnTo>
                    <a:pt x="1132331" y="15239"/>
                  </a:lnTo>
                  <a:lnTo>
                    <a:pt x="1242059" y="30479"/>
                  </a:lnTo>
                  <a:lnTo>
                    <a:pt x="1242059" y="15239"/>
                  </a:lnTo>
                  <a:lnTo>
                    <a:pt x="1242059" y="0"/>
                  </a:lnTo>
                </a:path>
              </a:pathLst>
            </a:custGeom>
            <a:ln w="15240">
              <a:solidFill>
                <a:srgbClr val="000000"/>
              </a:solidFill>
            </a:ln>
          </p:spPr>
          <p:txBody>
            <a:bodyPr wrap="square" lIns="0" tIns="0" rIns="0" bIns="0" rtlCol="0"/>
            <a:lstStyle/>
            <a:p>
              <a:endParaRPr>
                <a:latin typeface="Museo 300" pitchFamily="50" charset="0"/>
              </a:endParaRPr>
            </a:p>
          </p:txBody>
        </p:sp>
        <p:sp>
          <p:nvSpPr>
            <p:cNvPr id="48" name="object 48"/>
            <p:cNvSpPr/>
            <p:nvPr/>
          </p:nvSpPr>
          <p:spPr>
            <a:xfrm>
              <a:off x="6811517" y="808481"/>
              <a:ext cx="109855" cy="30480"/>
            </a:xfrm>
            <a:custGeom>
              <a:avLst/>
              <a:gdLst/>
              <a:ahLst/>
              <a:cxnLst/>
              <a:rect l="l" t="t" r="r" b="b"/>
              <a:pathLst>
                <a:path w="109854" h="30480">
                  <a:moveTo>
                    <a:pt x="109727" y="0"/>
                  </a:moveTo>
                  <a:lnTo>
                    <a:pt x="0" y="14477"/>
                  </a:lnTo>
                  <a:lnTo>
                    <a:pt x="109727" y="30479"/>
                  </a:lnTo>
                  <a:lnTo>
                    <a:pt x="109727" y="0"/>
                  </a:lnTo>
                  <a:close/>
                </a:path>
              </a:pathLst>
            </a:custGeom>
            <a:solidFill>
              <a:srgbClr val="000000"/>
            </a:solidFill>
          </p:spPr>
          <p:txBody>
            <a:bodyPr wrap="square" lIns="0" tIns="0" rIns="0" bIns="0" rtlCol="0"/>
            <a:lstStyle/>
            <a:p>
              <a:endParaRPr>
                <a:latin typeface="Museo 300" pitchFamily="50" charset="0"/>
              </a:endParaRPr>
            </a:p>
          </p:txBody>
        </p:sp>
        <p:sp>
          <p:nvSpPr>
            <p:cNvPr id="49" name="object 49"/>
            <p:cNvSpPr/>
            <p:nvPr/>
          </p:nvSpPr>
          <p:spPr>
            <a:xfrm>
              <a:off x="6811517" y="808481"/>
              <a:ext cx="109855" cy="30480"/>
            </a:xfrm>
            <a:custGeom>
              <a:avLst/>
              <a:gdLst/>
              <a:ahLst/>
              <a:cxnLst/>
              <a:rect l="l" t="t" r="r" b="b"/>
              <a:pathLst>
                <a:path w="109854" h="30480">
                  <a:moveTo>
                    <a:pt x="109727" y="0"/>
                  </a:moveTo>
                  <a:lnTo>
                    <a:pt x="0" y="14477"/>
                  </a:lnTo>
                  <a:lnTo>
                    <a:pt x="109727" y="30479"/>
                  </a:lnTo>
                  <a:lnTo>
                    <a:pt x="109727" y="14477"/>
                  </a:lnTo>
                  <a:lnTo>
                    <a:pt x="109727" y="0"/>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50" name="object 50"/>
            <p:cNvSpPr/>
            <p:nvPr/>
          </p:nvSpPr>
          <p:spPr>
            <a:xfrm>
              <a:off x="6920483" y="822959"/>
              <a:ext cx="154305" cy="0"/>
            </a:xfrm>
            <a:custGeom>
              <a:avLst/>
              <a:gdLst/>
              <a:ahLst/>
              <a:cxnLst/>
              <a:rect l="l" t="t" r="r" b="b"/>
              <a:pathLst>
                <a:path w="154304">
                  <a:moveTo>
                    <a:pt x="0" y="0"/>
                  </a:moveTo>
                  <a:lnTo>
                    <a:pt x="153924" y="0"/>
                  </a:lnTo>
                </a:path>
              </a:pathLst>
            </a:custGeom>
            <a:ln w="15240">
              <a:solidFill>
                <a:srgbClr val="000000"/>
              </a:solidFill>
            </a:ln>
          </p:spPr>
          <p:txBody>
            <a:bodyPr wrap="square" lIns="0" tIns="0" rIns="0" bIns="0" rtlCol="0"/>
            <a:lstStyle/>
            <a:p>
              <a:endParaRPr>
                <a:latin typeface="Museo 300" pitchFamily="50" charset="0"/>
              </a:endParaRPr>
            </a:p>
          </p:txBody>
        </p:sp>
      </p:grpSp>
      <p:sp>
        <p:nvSpPr>
          <p:cNvPr id="51" name="object 51"/>
          <p:cNvSpPr txBox="1"/>
          <p:nvPr/>
        </p:nvSpPr>
        <p:spPr>
          <a:xfrm>
            <a:off x="3666743" y="2912493"/>
            <a:ext cx="416560" cy="182742"/>
          </a:xfrm>
          <a:prstGeom prst="rect">
            <a:avLst/>
          </a:prstGeom>
        </p:spPr>
        <p:txBody>
          <a:bodyPr vert="horz" wrap="square" lIns="0" tIns="13335" rIns="0" bIns="0" rtlCol="0">
            <a:spAutoFit/>
          </a:bodyPr>
          <a:lstStyle/>
          <a:p>
            <a:pPr marL="12700">
              <a:lnSpc>
                <a:spcPct val="100000"/>
              </a:lnSpc>
              <a:spcBef>
                <a:spcPts val="105"/>
              </a:spcBef>
            </a:pPr>
            <a:r>
              <a:rPr sz="1100" dirty="0">
                <a:latin typeface="Museo 300" pitchFamily="50" charset="0"/>
                <a:cs typeface="Carlito"/>
              </a:rPr>
              <a:t>Read</a:t>
            </a:r>
            <a:endParaRPr sz="1100">
              <a:latin typeface="Museo 300" pitchFamily="50" charset="0"/>
              <a:cs typeface="Carlito"/>
            </a:endParaRPr>
          </a:p>
        </p:txBody>
      </p:sp>
      <p:sp>
        <p:nvSpPr>
          <p:cNvPr id="52" name="object 52"/>
          <p:cNvSpPr txBox="1"/>
          <p:nvPr/>
        </p:nvSpPr>
        <p:spPr>
          <a:xfrm>
            <a:off x="3403940" y="5643168"/>
            <a:ext cx="743373" cy="182742"/>
          </a:xfrm>
          <a:prstGeom prst="rect">
            <a:avLst/>
          </a:prstGeom>
        </p:spPr>
        <p:txBody>
          <a:bodyPr vert="horz" wrap="square" lIns="0" tIns="13335" rIns="0" bIns="0" rtlCol="0">
            <a:spAutoFit/>
          </a:bodyPr>
          <a:lstStyle/>
          <a:p>
            <a:pPr marL="38100">
              <a:lnSpc>
                <a:spcPct val="100000"/>
              </a:lnSpc>
              <a:spcBef>
                <a:spcPts val="105"/>
              </a:spcBef>
            </a:pPr>
            <a:r>
              <a:rPr sz="1100" dirty="0">
                <a:latin typeface="Museo 300" pitchFamily="50" charset="0"/>
                <a:cs typeface="Carlito"/>
              </a:rPr>
              <a:t>MDR</a:t>
            </a:r>
            <a:r>
              <a:rPr sz="1100" spc="35" dirty="0">
                <a:latin typeface="Museo 300" pitchFamily="50" charset="0"/>
                <a:cs typeface="Carlito"/>
              </a:rPr>
              <a:t> </a:t>
            </a:r>
            <a:r>
              <a:rPr sz="1350" i="1" spc="-7" baseline="-24691" dirty="0">
                <a:latin typeface="Museo 300" pitchFamily="50" charset="0"/>
                <a:cs typeface="Carlito"/>
              </a:rPr>
              <a:t>out</a:t>
            </a:r>
            <a:endParaRPr sz="1350" baseline="-24691">
              <a:latin typeface="Museo 300" pitchFamily="50" charset="0"/>
              <a:cs typeface="Carlito"/>
            </a:endParaRPr>
          </a:p>
        </p:txBody>
      </p:sp>
      <p:sp>
        <p:nvSpPr>
          <p:cNvPr id="53" name="object 53"/>
          <p:cNvSpPr txBox="1"/>
          <p:nvPr/>
        </p:nvSpPr>
        <p:spPr>
          <a:xfrm>
            <a:off x="3728043" y="710313"/>
            <a:ext cx="373380" cy="182742"/>
          </a:xfrm>
          <a:prstGeom prst="rect">
            <a:avLst/>
          </a:prstGeom>
        </p:spPr>
        <p:txBody>
          <a:bodyPr vert="horz" wrap="square" lIns="0" tIns="13335" rIns="0" bIns="0" rtlCol="0">
            <a:spAutoFit/>
          </a:bodyPr>
          <a:lstStyle/>
          <a:p>
            <a:pPr marL="12700">
              <a:lnSpc>
                <a:spcPct val="100000"/>
              </a:lnSpc>
              <a:spcBef>
                <a:spcPts val="105"/>
              </a:spcBef>
            </a:pPr>
            <a:r>
              <a:rPr sz="1100" spc="-5" dirty="0">
                <a:latin typeface="Museo 300" pitchFamily="50" charset="0"/>
                <a:cs typeface="Carlito"/>
              </a:rPr>
              <a:t>Step</a:t>
            </a:r>
            <a:endParaRPr sz="1100">
              <a:latin typeface="Museo 300" pitchFamily="50" charset="0"/>
              <a:cs typeface="Carlito"/>
            </a:endParaRPr>
          </a:p>
        </p:txBody>
      </p:sp>
      <p:grpSp>
        <p:nvGrpSpPr>
          <p:cNvPr id="54" name="object 54"/>
          <p:cNvGrpSpPr/>
          <p:nvPr/>
        </p:nvGrpSpPr>
        <p:grpSpPr>
          <a:xfrm>
            <a:off x="9804400" y="729995"/>
            <a:ext cx="382693" cy="280670"/>
            <a:chOff x="7353300" y="729995"/>
            <a:chExt cx="287020" cy="280670"/>
          </a:xfrm>
        </p:grpSpPr>
        <p:sp>
          <p:nvSpPr>
            <p:cNvPr id="55" name="object 55"/>
            <p:cNvSpPr/>
            <p:nvPr/>
          </p:nvSpPr>
          <p:spPr>
            <a:xfrm>
              <a:off x="7508747" y="729995"/>
              <a:ext cx="123825" cy="280670"/>
            </a:xfrm>
            <a:custGeom>
              <a:avLst/>
              <a:gdLst/>
              <a:ahLst/>
              <a:cxnLst/>
              <a:rect l="l" t="t" r="r" b="b"/>
              <a:pathLst>
                <a:path w="123825" h="280669">
                  <a:moveTo>
                    <a:pt x="123444" y="0"/>
                  </a:moveTo>
                  <a:lnTo>
                    <a:pt x="123444" y="280415"/>
                  </a:lnTo>
                </a:path>
                <a:path w="123825" h="280669">
                  <a:moveTo>
                    <a:pt x="0" y="108203"/>
                  </a:moveTo>
                  <a:lnTo>
                    <a:pt x="109727" y="92963"/>
                  </a:lnTo>
                  <a:lnTo>
                    <a:pt x="0" y="77724"/>
                  </a:lnTo>
                  <a:lnTo>
                    <a:pt x="0" y="92963"/>
                  </a:lnTo>
                  <a:lnTo>
                    <a:pt x="0" y="108203"/>
                  </a:lnTo>
                </a:path>
              </a:pathLst>
            </a:custGeom>
            <a:ln w="15240">
              <a:solidFill>
                <a:srgbClr val="000000"/>
              </a:solidFill>
            </a:ln>
          </p:spPr>
          <p:txBody>
            <a:bodyPr wrap="square" lIns="0" tIns="0" rIns="0" bIns="0" rtlCol="0"/>
            <a:lstStyle/>
            <a:p>
              <a:endParaRPr>
                <a:latin typeface="Museo 300" pitchFamily="50" charset="0"/>
              </a:endParaRPr>
            </a:p>
          </p:txBody>
        </p:sp>
        <p:sp>
          <p:nvSpPr>
            <p:cNvPr id="56" name="object 56"/>
            <p:cNvSpPr/>
            <p:nvPr/>
          </p:nvSpPr>
          <p:spPr>
            <a:xfrm>
              <a:off x="7509510" y="808481"/>
              <a:ext cx="109855" cy="30480"/>
            </a:xfrm>
            <a:custGeom>
              <a:avLst/>
              <a:gdLst/>
              <a:ahLst/>
              <a:cxnLst/>
              <a:rect l="l" t="t" r="r" b="b"/>
              <a:pathLst>
                <a:path w="109854" h="30480">
                  <a:moveTo>
                    <a:pt x="0" y="0"/>
                  </a:moveTo>
                  <a:lnTo>
                    <a:pt x="0" y="30479"/>
                  </a:lnTo>
                  <a:lnTo>
                    <a:pt x="109728" y="14477"/>
                  </a:lnTo>
                  <a:lnTo>
                    <a:pt x="0" y="0"/>
                  </a:lnTo>
                  <a:close/>
                </a:path>
              </a:pathLst>
            </a:custGeom>
            <a:solidFill>
              <a:srgbClr val="000000"/>
            </a:solidFill>
          </p:spPr>
          <p:txBody>
            <a:bodyPr wrap="square" lIns="0" tIns="0" rIns="0" bIns="0" rtlCol="0"/>
            <a:lstStyle/>
            <a:p>
              <a:endParaRPr>
                <a:latin typeface="Museo 300" pitchFamily="50" charset="0"/>
              </a:endParaRPr>
            </a:p>
          </p:txBody>
        </p:sp>
        <p:sp>
          <p:nvSpPr>
            <p:cNvPr id="57" name="object 57"/>
            <p:cNvSpPr/>
            <p:nvPr/>
          </p:nvSpPr>
          <p:spPr>
            <a:xfrm>
              <a:off x="7509510" y="808481"/>
              <a:ext cx="109855" cy="30480"/>
            </a:xfrm>
            <a:custGeom>
              <a:avLst/>
              <a:gdLst/>
              <a:ahLst/>
              <a:cxnLst/>
              <a:rect l="l" t="t" r="r" b="b"/>
              <a:pathLst>
                <a:path w="109854" h="30480">
                  <a:moveTo>
                    <a:pt x="0" y="30479"/>
                  </a:moveTo>
                  <a:lnTo>
                    <a:pt x="109728" y="14477"/>
                  </a:lnTo>
                  <a:lnTo>
                    <a:pt x="0" y="0"/>
                  </a:lnTo>
                  <a:lnTo>
                    <a:pt x="0" y="14477"/>
                  </a:lnTo>
                  <a:lnTo>
                    <a:pt x="0" y="30479"/>
                  </a:lnTo>
                  <a:close/>
                </a:path>
              </a:pathLst>
            </a:custGeom>
            <a:ln w="3175">
              <a:solidFill>
                <a:srgbClr val="000000"/>
              </a:solidFill>
            </a:ln>
          </p:spPr>
          <p:txBody>
            <a:bodyPr wrap="square" lIns="0" tIns="0" rIns="0" bIns="0" rtlCol="0"/>
            <a:lstStyle/>
            <a:p>
              <a:endParaRPr>
                <a:latin typeface="Museo 300" pitchFamily="50" charset="0"/>
              </a:endParaRPr>
            </a:p>
          </p:txBody>
        </p:sp>
        <p:sp>
          <p:nvSpPr>
            <p:cNvPr id="58" name="object 58"/>
            <p:cNvSpPr/>
            <p:nvPr/>
          </p:nvSpPr>
          <p:spPr>
            <a:xfrm>
              <a:off x="7353300" y="822959"/>
              <a:ext cx="155575" cy="0"/>
            </a:xfrm>
            <a:custGeom>
              <a:avLst/>
              <a:gdLst/>
              <a:ahLst/>
              <a:cxnLst/>
              <a:rect l="l" t="t" r="r" b="b"/>
              <a:pathLst>
                <a:path w="155575">
                  <a:moveTo>
                    <a:pt x="0" y="0"/>
                  </a:moveTo>
                  <a:lnTo>
                    <a:pt x="155448" y="0"/>
                  </a:lnTo>
                </a:path>
              </a:pathLst>
            </a:custGeom>
            <a:ln w="15240">
              <a:solidFill>
                <a:srgbClr val="000000"/>
              </a:solidFill>
            </a:ln>
          </p:spPr>
          <p:txBody>
            <a:bodyPr wrap="square" lIns="0" tIns="0" rIns="0" bIns="0" rtlCol="0"/>
            <a:lstStyle/>
            <a:p>
              <a:endParaRPr>
                <a:latin typeface="Museo 300" pitchFamily="50" charset="0"/>
              </a:endParaRPr>
            </a:p>
          </p:txBody>
        </p:sp>
      </p:grpSp>
      <p:sp>
        <p:nvSpPr>
          <p:cNvPr id="59" name="object 59"/>
          <p:cNvSpPr txBox="1"/>
          <p:nvPr/>
        </p:nvSpPr>
        <p:spPr>
          <a:xfrm>
            <a:off x="9562760" y="710312"/>
            <a:ext cx="128693" cy="182742"/>
          </a:xfrm>
          <a:prstGeom prst="rect">
            <a:avLst/>
          </a:prstGeom>
        </p:spPr>
        <p:txBody>
          <a:bodyPr vert="horz" wrap="square" lIns="0" tIns="13335" rIns="0" bIns="0" rtlCol="0">
            <a:spAutoFit/>
          </a:bodyPr>
          <a:lstStyle/>
          <a:p>
            <a:pPr marL="12700">
              <a:lnSpc>
                <a:spcPct val="100000"/>
              </a:lnSpc>
              <a:spcBef>
                <a:spcPts val="105"/>
              </a:spcBef>
            </a:pPr>
            <a:r>
              <a:rPr sz="1100" dirty="0">
                <a:latin typeface="Museo 300" pitchFamily="50" charset="0"/>
                <a:cs typeface="Carlito"/>
              </a:rPr>
              <a:t>3</a:t>
            </a:r>
            <a:endParaRPr sz="1100">
              <a:latin typeface="Museo 300" pitchFamily="50" charset="0"/>
              <a:cs typeface="Carlito"/>
            </a:endParaRPr>
          </a:p>
        </p:txBody>
      </p:sp>
      <p:sp>
        <p:nvSpPr>
          <p:cNvPr id="60" name="object 60"/>
          <p:cNvSpPr txBox="1"/>
          <p:nvPr/>
        </p:nvSpPr>
        <p:spPr>
          <a:xfrm>
            <a:off x="3520777" y="1734439"/>
            <a:ext cx="404707" cy="182742"/>
          </a:xfrm>
          <a:prstGeom prst="rect">
            <a:avLst/>
          </a:prstGeom>
        </p:spPr>
        <p:txBody>
          <a:bodyPr vert="horz" wrap="square" lIns="0" tIns="13335" rIns="0" bIns="0" rtlCol="0">
            <a:spAutoFit/>
          </a:bodyPr>
          <a:lstStyle/>
          <a:p>
            <a:pPr marL="12700">
              <a:lnSpc>
                <a:spcPct val="100000"/>
              </a:lnSpc>
              <a:spcBef>
                <a:spcPts val="105"/>
              </a:spcBef>
            </a:pPr>
            <a:r>
              <a:rPr sz="1100" dirty="0">
                <a:latin typeface="Museo 300" pitchFamily="50" charset="0"/>
                <a:cs typeface="Carlito"/>
              </a:rPr>
              <a:t>MAR</a:t>
            </a:r>
            <a:endParaRPr sz="1100">
              <a:latin typeface="Museo 300" pitchFamily="50" charset="0"/>
              <a:cs typeface="Carlito"/>
            </a:endParaRPr>
          </a:p>
        </p:txBody>
      </p:sp>
      <p:sp>
        <p:nvSpPr>
          <p:cNvPr id="61" name="object 61"/>
          <p:cNvSpPr txBox="1"/>
          <p:nvPr/>
        </p:nvSpPr>
        <p:spPr>
          <a:xfrm>
            <a:off x="3935646" y="1812165"/>
            <a:ext cx="146473" cy="151323"/>
          </a:xfrm>
          <a:prstGeom prst="rect">
            <a:avLst/>
          </a:prstGeom>
        </p:spPr>
        <p:txBody>
          <a:bodyPr vert="horz" wrap="square" lIns="0" tIns="12700" rIns="0" bIns="0" rtlCol="0">
            <a:spAutoFit/>
          </a:bodyPr>
          <a:lstStyle/>
          <a:p>
            <a:pPr marL="12700">
              <a:lnSpc>
                <a:spcPct val="100000"/>
              </a:lnSpc>
              <a:spcBef>
                <a:spcPts val="100"/>
              </a:spcBef>
            </a:pPr>
            <a:r>
              <a:rPr sz="900" i="1" spc="-5" dirty="0">
                <a:latin typeface="Museo 300" pitchFamily="50" charset="0"/>
                <a:cs typeface="Carlito"/>
              </a:rPr>
              <a:t>in</a:t>
            </a:r>
            <a:endParaRPr sz="900">
              <a:latin typeface="Museo 300" pitchFamily="50" charset="0"/>
              <a:cs typeface="Carlito"/>
            </a:endParaRPr>
          </a:p>
        </p:txBody>
      </p:sp>
      <p:sp>
        <p:nvSpPr>
          <p:cNvPr id="62" name="Slide Number Placeholder 61"/>
          <p:cNvSpPr>
            <a:spLocks noGrp="1"/>
          </p:cNvSpPr>
          <p:nvPr>
            <p:ph type="sldNum" sz="quarter" idx="12"/>
          </p:nvPr>
        </p:nvSpPr>
        <p:spPr>
          <a:xfrm>
            <a:off x="8610600" y="6356350"/>
            <a:ext cx="3276600" cy="365125"/>
          </a:xfrm>
        </p:spPr>
        <p:txBody>
          <a:bodyPr/>
          <a:lstStyle/>
          <a:p>
            <a:pPr>
              <a:defRPr/>
            </a:pPr>
            <a:fld id="{DA6FD02F-D3CD-4E4F-800F-75D2C3ECA6E5}" type="slidenum">
              <a:rPr lang="en-US" smtClean="0">
                <a:solidFill>
                  <a:schemeClr val="bg1"/>
                </a:solidFill>
              </a:rPr>
              <a:pPr>
                <a:defRPr/>
              </a:pPr>
              <a:t>34</a:t>
            </a:fld>
            <a:endParaRPr lang="en-US" dirty="0">
              <a:solidFill>
                <a:schemeClr val="bg1"/>
              </a:solidFill>
            </a:endParaRPr>
          </a:p>
        </p:txBody>
      </p:sp>
      <p:sp>
        <p:nvSpPr>
          <p:cNvPr id="63" name="Rectangle 62"/>
          <p:cNvSpPr/>
          <p:nvPr/>
        </p:nvSpPr>
        <p:spPr>
          <a:xfrm>
            <a:off x="1143000" y="6096000"/>
            <a:ext cx="6096000" cy="261610"/>
          </a:xfrm>
          <a:prstGeom prst="rect">
            <a:avLst/>
          </a:prstGeom>
        </p:spPr>
        <p:txBody>
          <a:bodyPr>
            <a:spAutoFit/>
          </a:bodyPr>
          <a:lstStyle/>
          <a:p>
            <a:r>
              <a:rPr lang="en-US" sz="1100" dirty="0">
                <a:solidFill>
                  <a:schemeClr val="accent1"/>
                </a:solidFill>
                <a:latin typeface="Museo 300" panose="02000000000000000000" pitchFamily="50" charset="0"/>
              </a:rPr>
              <a:t>Carl </a:t>
            </a:r>
            <a:r>
              <a:rPr lang="en-US" sz="1100" dirty="0" err="1">
                <a:solidFill>
                  <a:schemeClr val="accent1"/>
                </a:solidFill>
                <a:latin typeface="Museo 300" panose="02000000000000000000" pitchFamily="50" charset="0"/>
              </a:rPr>
              <a:t>Hamacher</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ZvonkoVranesic</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SafwatZaky</a:t>
            </a:r>
            <a:r>
              <a:rPr lang="en-US" sz="1100" dirty="0">
                <a:solidFill>
                  <a:schemeClr val="accent1"/>
                </a:solidFill>
                <a:latin typeface="Museo 300" panose="02000000000000000000" pitchFamily="50" charset="0"/>
              </a:rPr>
              <a:t>: Computer Organization, 5th Edition, 2000. </a:t>
            </a:r>
            <a:endParaRPr lang="en-US" sz="1100" dirty="0">
              <a:solidFill>
                <a:schemeClr val="accent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304800"/>
            <a:ext cx="8249920" cy="551433"/>
          </a:xfrm>
          <a:prstGeom prst="rect">
            <a:avLst/>
          </a:prstGeom>
        </p:spPr>
        <p:txBody>
          <a:bodyPr vert="horz" wrap="square" lIns="0" tIns="12700" rIns="0" bIns="0" rtlCol="0">
            <a:spAutoFit/>
          </a:bodyPr>
          <a:lstStyle/>
          <a:p>
            <a:pPr marL="12700">
              <a:lnSpc>
                <a:spcPct val="100000"/>
              </a:lnSpc>
              <a:spcBef>
                <a:spcPts val="100"/>
              </a:spcBef>
            </a:pPr>
            <a:r>
              <a:rPr dirty="0"/>
              <a:t>Storing </a:t>
            </a:r>
            <a:r>
              <a:rPr spc="-5" dirty="0"/>
              <a:t>a </a:t>
            </a:r>
            <a:r>
              <a:rPr spc="-20" dirty="0"/>
              <a:t>Word </a:t>
            </a:r>
            <a:r>
              <a:rPr dirty="0"/>
              <a:t>in</a:t>
            </a:r>
            <a:r>
              <a:rPr spc="-20" dirty="0"/>
              <a:t> </a:t>
            </a:r>
            <a:r>
              <a:rPr dirty="0"/>
              <a:t>Memory</a:t>
            </a:r>
          </a:p>
        </p:txBody>
      </p:sp>
      <p:sp>
        <p:nvSpPr>
          <p:cNvPr id="3" name="object 3"/>
          <p:cNvSpPr txBox="1"/>
          <p:nvPr/>
        </p:nvSpPr>
        <p:spPr>
          <a:xfrm>
            <a:off x="914400" y="1219200"/>
            <a:ext cx="10694245" cy="3318216"/>
          </a:xfrm>
          <a:prstGeom prst="rect">
            <a:avLst/>
          </a:prstGeom>
        </p:spPr>
        <p:txBody>
          <a:bodyPr vert="horz" wrap="square" lIns="0" tIns="98425" rIns="0" bIns="0" rtlCol="0">
            <a:spAutoFit/>
          </a:bodyPr>
          <a:lstStyle/>
          <a:p>
            <a:pPr marL="393700" indent="-343535" algn="just">
              <a:lnSpc>
                <a:spcPct val="150000"/>
              </a:lnSpc>
              <a:spcBef>
                <a:spcPts val="775"/>
              </a:spcBef>
              <a:buClr>
                <a:srgbClr val="330066"/>
              </a:buClr>
              <a:buSzPct val="69642"/>
              <a:buFont typeface="Wingdings"/>
              <a:buChar char="⚫"/>
              <a:tabLst>
                <a:tab pos="393700" algn="l"/>
                <a:tab pos="394335" algn="l"/>
              </a:tabLst>
            </a:pPr>
            <a:r>
              <a:rPr sz="2000" spc="-5" dirty="0">
                <a:latin typeface="Museo 300" pitchFamily="50" charset="0"/>
                <a:cs typeface="Arial"/>
              </a:rPr>
              <a:t>The desired </a:t>
            </a:r>
            <a:r>
              <a:rPr sz="2000" dirty="0">
                <a:latin typeface="Museo 300" pitchFamily="50" charset="0"/>
                <a:cs typeface="Arial"/>
              </a:rPr>
              <a:t>address </a:t>
            </a:r>
            <a:r>
              <a:rPr sz="2000" spc="-5" dirty="0">
                <a:latin typeface="Museo 300" pitchFamily="50" charset="0"/>
                <a:cs typeface="Arial"/>
              </a:rPr>
              <a:t>is loaded into</a:t>
            </a:r>
            <a:r>
              <a:rPr sz="2000" spc="45" dirty="0">
                <a:latin typeface="Museo 300" pitchFamily="50" charset="0"/>
                <a:cs typeface="Arial"/>
              </a:rPr>
              <a:t> </a:t>
            </a:r>
            <a:r>
              <a:rPr sz="2000" spc="-5" dirty="0">
                <a:latin typeface="Museo 300" pitchFamily="50" charset="0"/>
                <a:cs typeface="Arial"/>
              </a:rPr>
              <a:t>MAR.</a:t>
            </a:r>
            <a:endParaRPr sz="2000">
              <a:latin typeface="Museo 300" pitchFamily="50" charset="0"/>
              <a:cs typeface="Arial"/>
            </a:endParaRPr>
          </a:p>
          <a:p>
            <a:pPr marL="393700" marR="120650" indent="-343535" algn="just">
              <a:lnSpc>
                <a:spcPct val="150000"/>
              </a:lnSpc>
              <a:spcBef>
                <a:spcPts val="670"/>
              </a:spcBef>
              <a:buClr>
                <a:srgbClr val="330066"/>
              </a:buClr>
              <a:buSzPct val="69642"/>
              <a:buFont typeface="Wingdings"/>
              <a:buChar char="⚫"/>
              <a:tabLst>
                <a:tab pos="393700" algn="l"/>
                <a:tab pos="394335" algn="l"/>
              </a:tabLst>
            </a:pPr>
            <a:r>
              <a:rPr sz="2000" spc="-5" dirty="0">
                <a:latin typeface="Museo 300" pitchFamily="50" charset="0"/>
                <a:cs typeface="Arial"/>
              </a:rPr>
              <a:t>The data to be written </a:t>
            </a:r>
            <a:r>
              <a:rPr sz="2000" dirty="0">
                <a:latin typeface="Museo 300" pitchFamily="50" charset="0"/>
                <a:cs typeface="Arial"/>
              </a:rPr>
              <a:t>are loaded </a:t>
            </a:r>
            <a:r>
              <a:rPr sz="2000" spc="-5" dirty="0">
                <a:latin typeface="Museo 300" pitchFamily="50" charset="0"/>
                <a:cs typeface="Arial"/>
              </a:rPr>
              <a:t>into MDR</a:t>
            </a:r>
            <a:r>
              <a:rPr sz="2000" dirty="0">
                <a:latin typeface="Museo 300" pitchFamily="50" charset="0"/>
                <a:cs typeface="Arial"/>
              </a:rPr>
              <a:t> </a:t>
            </a:r>
            <a:r>
              <a:rPr sz="2000">
                <a:latin typeface="Museo 300" pitchFamily="50" charset="0"/>
                <a:cs typeface="Arial"/>
              </a:rPr>
              <a:t>and </a:t>
            </a:r>
            <a:r>
              <a:rPr sz="2000" spc="-5">
                <a:latin typeface="Museo 300" pitchFamily="50" charset="0"/>
                <a:cs typeface="Arial"/>
              </a:rPr>
              <a:t>a </a:t>
            </a:r>
            <a:r>
              <a:rPr sz="2000" spc="-10" dirty="0">
                <a:latin typeface="Museo 300" pitchFamily="50" charset="0"/>
                <a:cs typeface="Arial"/>
              </a:rPr>
              <a:t>Write </a:t>
            </a:r>
            <a:r>
              <a:rPr sz="2000" spc="-5" dirty="0">
                <a:latin typeface="Museo 300" pitchFamily="50" charset="0"/>
                <a:cs typeface="Arial"/>
              </a:rPr>
              <a:t>command is</a:t>
            </a:r>
            <a:r>
              <a:rPr sz="2000" spc="25" dirty="0">
                <a:latin typeface="Museo 300" pitchFamily="50" charset="0"/>
                <a:cs typeface="Arial"/>
              </a:rPr>
              <a:t> </a:t>
            </a:r>
            <a:r>
              <a:rPr sz="2000" dirty="0">
                <a:latin typeface="Museo 300" pitchFamily="50" charset="0"/>
                <a:cs typeface="Arial"/>
              </a:rPr>
              <a:t>issued.</a:t>
            </a:r>
            <a:endParaRPr sz="2000">
              <a:latin typeface="Museo 300" pitchFamily="50" charset="0"/>
              <a:cs typeface="Arial"/>
            </a:endParaRPr>
          </a:p>
          <a:p>
            <a:pPr marL="393700" marR="43180" indent="-343535" algn="just">
              <a:lnSpc>
                <a:spcPct val="150000"/>
              </a:lnSpc>
              <a:spcBef>
                <a:spcPts val="675"/>
              </a:spcBef>
              <a:buClr>
                <a:srgbClr val="330066"/>
              </a:buClr>
              <a:buSzPct val="69642"/>
              <a:buFont typeface="Wingdings"/>
              <a:buChar char="⚫"/>
              <a:tabLst>
                <a:tab pos="393700" algn="l"/>
                <a:tab pos="394335" algn="l"/>
              </a:tabLst>
            </a:pPr>
            <a:r>
              <a:rPr sz="2000" dirty="0">
                <a:latin typeface="Museo 300" pitchFamily="50" charset="0"/>
                <a:cs typeface="Arial"/>
              </a:rPr>
              <a:t>Executing the instruction </a:t>
            </a:r>
            <a:r>
              <a:rPr sz="2000" spc="-5" dirty="0">
                <a:latin typeface="Museo 300" pitchFamily="50" charset="0"/>
                <a:cs typeface="Arial"/>
              </a:rPr>
              <a:t>Move R2,(R1) </a:t>
            </a:r>
            <a:r>
              <a:rPr sz="2000" dirty="0">
                <a:latin typeface="Museo 300" pitchFamily="50" charset="0"/>
                <a:cs typeface="Arial"/>
              </a:rPr>
              <a:t>requires</a:t>
            </a:r>
            <a:r>
              <a:rPr sz="2000" spc="-165" dirty="0">
                <a:latin typeface="Museo 300" pitchFamily="50" charset="0"/>
                <a:cs typeface="Arial"/>
              </a:rPr>
              <a:t>  </a:t>
            </a:r>
            <a:r>
              <a:rPr sz="2000" spc="-5" dirty="0">
                <a:latin typeface="Museo 300" pitchFamily="50" charset="0"/>
                <a:cs typeface="Arial"/>
              </a:rPr>
              <a:t>the following</a:t>
            </a:r>
            <a:r>
              <a:rPr sz="2000" spc="25" dirty="0">
                <a:latin typeface="Museo 300" pitchFamily="50" charset="0"/>
                <a:cs typeface="Arial"/>
              </a:rPr>
              <a:t> </a:t>
            </a:r>
            <a:r>
              <a:rPr sz="2000" spc="-5" dirty="0">
                <a:latin typeface="Museo 300" pitchFamily="50" charset="0"/>
                <a:cs typeface="Arial"/>
              </a:rPr>
              <a:t>sequence:</a:t>
            </a:r>
            <a:endParaRPr sz="2000">
              <a:latin typeface="Museo 300" pitchFamily="50" charset="0"/>
              <a:cs typeface="Arial"/>
            </a:endParaRPr>
          </a:p>
          <a:p>
            <a:pPr marL="565785" indent="-515620" algn="just">
              <a:lnSpc>
                <a:spcPct val="150000"/>
              </a:lnSpc>
              <a:spcBef>
                <a:spcPts val="675"/>
              </a:spcBef>
              <a:buClr>
                <a:srgbClr val="330066"/>
              </a:buClr>
              <a:buSzPct val="69642"/>
              <a:buAutoNum type="arabicPeriod"/>
              <a:tabLst>
                <a:tab pos="565785" algn="l"/>
                <a:tab pos="566420" algn="l"/>
              </a:tabLst>
            </a:pPr>
            <a:r>
              <a:rPr sz="2000" dirty="0">
                <a:latin typeface="Museo 300" pitchFamily="50" charset="0"/>
                <a:cs typeface="Arial"/>
              </a:rPr>
              <a:t>R1</a:t>
            </a:r>
            <a:r>
              <a:rPr sz="2000" i="1" baseline="-21021" dirty="0">
                <a:latin typeface="Museo 300" pitchFamily="50" charset="0"/>
                <a:cs typeface="Arial"/>
              </a:rPr>
              <a:t>out</a:t>
            </a:r>
            <a:r>
              <a:rPr sz="2000" dirty="0">
                <a:latin typeface="Museo 300" pitchFamily="50" charset="0"/>
                <a:cs typeface="Arial"/>
              </a:rPr>
              <a:t>,</a:t>
            </a:r>
            <a:r>
              <a:rPr sz="2000" spc="-10" dirty="0">
                <a:latin typeface="Museo 300" pitchFamily="50" charset="0"/>
                <a:cs typeface="Arial"/>
              </a:rPr>
              <a:t> </a:t>
            </a:r>
            <a:r>
              <a:rPr sz="2000" spc="-5" dirty="0">
                <a:latin typeface="Museo 300" pitchFamily="50" charset="0"/>
                <a:cs typeface="Arial"/>
              </a:rPr>
              <a:t>MAR</a:t>
            </a:r>
            <a:r>
              <a:rPr sz="2000" i="1" spc="-7" baseline="-21021" dirty="0">
                <a:latin typeface="Museo 300" pitchFamily="50" charset="0"/>
                <a:cs typeface="Arial"/>
              </a:rPr>
              <a:t>in</a:t>
            </a:r>
            <a:endParaRPr sz="2000" baseline="-21021">
              <a:latin typeface="Museo 300" pitchFamily="50" charset="0"/>
              <a:cs typeface="Arial"/>
            </a:endParaRPr>
          </a:p>
          <a:p>
            <a:pPr marL="565785" indent="-515620" algn="just">
              <a:lnSpc>
                <a:spcPct val="150000"/>
              </a:lnSpc>
              <a:spcBef>
                <a:spcPts val="670"/>
              </a:spcBef>
              <a:buClr>
                <a:srgbClr val="330066"/>
              </a:buClr>
              <a:buSzPct val="69642"/>
              <a:buAutoNum type="arabicPeriod"/>
              <a:tabLst>
                <a:tab pos="565785" algn="l"/>
                <a:tab pos="566420" algn="l"/>
              </a:tabLst>
            </a:pPr>
            <a:r>
              <a:rPr sz="2000" dirty="0">
                <a:latin typeface="Museo 300" pitchFamily="50" charset="0"/>
                <a:cs typeface="Arial"/>
              </a:rPr>
              <a:t>R2</a:t>
            </a:r>
            <a:r>
              <a:rPr sz="2000" i="1" baseline="-21021" dirty="0">
                <a:latin typeface="Museo 300" pitchFamily="50" charset="0"/>
                <a:cs typeface="Arial"/>
              </a:rPr>
              <a:t>out</a:t>
            </a:r>
            <a:r>
              <a:rPr sz="2000" dirty="0">
                <a:latin typeface="Museo 300" pitchFamily="50" charset="0"/>
                <a:cs typeface="Arial"/>
              </a:rPr>
              <a:t>, </a:t>
            </a:r>
            <a:r>
              <a:rPr sz="2000" spc="-5" dirty="0">
                <a:latin typeface="Museo 300" pitchFamily="50" charset="0"/>
                <a:cs typeface="Arial"/>
              </a:rPr>
              <a:t>MDR</a:t>
            </a:r>
            <a:r>
              <a:rPr sz="2000" i="1" spc="-7" baseline="-21021" dirty="0">
                <a:latin typeface="Museo 300" pitchFamily="50" charset="0"/>
                <a:cs typeface="Arial"/>
              </a:rPr>
              <a:t>in</a:t>
            </a:r>
            <a:r>
              <a:rPr sz="2000" spc="-5" dirty="0">
                <a:latin typeface="Museo 300" pitchFamily="50" charset="0"/>
                <a:cs typeface="Arial"/>
              </a:rPr>
              <a:t>, </a:t>
            </a:r>
            <a:r>
              <a:rPr sz="2000" spc="-10" dirty="0">
                <a:latin typeface="Museo 300" pitchFamily="50" charset="0"/>
                <a:cs typeface="Arial"/>
              </a:rPr>
              <a:t>Write</a:t>
            </a:r>
            <a:endParaRPr sz="2000">
              <a:latin typeface="Museo 300" pitchFamily="50" charset="0"/>
              <a:cs typeface="Arial"/>
            </a:endParaRPr>
          </a:p>
          <a:p>
            <a:pPr marL="565785" indent="-515620" algn="just">
              <a:lnSpc>
                <a:spcPct val="150000"/>
              </a:lnSpc>
              <a:spcBef>
                <a:spcPts val="675"/>
              </a:spcBef>
              <a:buClr>
                <a:srgbClr val="330066"/>
              </a:buClr>
              <a:buSzPct val="69642"/>
              <a:buAutoNum type="arabicPeriod"/>
              <a:tabLst>
                <a:tab pos="565785" algn="l"/>
                <a:tab pos="566420" algn="l"/>
              </a:tabLst>
            </a:pPr>
            <a:r>
              <a:rPr sz="2000" dirty="0">
                <a:latin typeface="Museo 300" pitchFamily="50" charset="0"/>
                <a:cs typeface="Arial"/>
              </a:rPr>
              <a:t>MDR</a:t>
            </a:r>
            <a:r>
              <a:rPr sz="2000" i="1" baseline="-21021" dirty="0">
                <a:latin typeface="Museo 300" pitchFamily="50" charset="0"/>
                <a:cs typeface="Arial"/>
              </a:rPr>
              <a:t>outE</a:t>
            </a:r>
            <a:r>
              <a:rPr sz="2000" dirty="0">
                <a:latin typeface="Museo 300" pitchFamily="50" charset="0"/>
                <a:cs typeface="Arial"/>
              </a:rPr>
              <a:t>,WMFC</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157098"/>
            <a:ext cx="8077200" cy="551433"/>
          </a:xfrm>
          <a:prstGeom prst="rect">
            <a:avLst/>
          </a:prstGeom>
        </p:spPr>
        <p:txBody>
          <a:bodyPr vert="horz" wrap="square" lIns="0" tIns="12700" rIns="0" bIns="0" rtlCol="0">
            <a:spAutoFit/>
          </a:bodyPr>
          <a:lstStyle/>
          <a:p>
            <a:pPr marL="12700" marR="5080">
              <a:lnSpc>
                <a:spcPct val="100000"/>
              </a:lnSpc>
              <a:spcBef>
                <a:spcPts val="100"/>
              </a:spcBef>
            </a:pPr>
            <a:r>
              <a:rPr dirty="0"/>
              <a:t>Execution of </a:t>
            </a:r>
            <a:r>
              <a:rPr spc="-5" dirty="0"/>
              <a:t>a</a:t>
            </a:r>
            <a:r>
              <a:rPr spc="-30" dirty="0"/>
              <a:t> </a:t>
            </a:r>
            <a:r>
              <a:rPr dirty="0"/>
              <a:t>Complete  Instruction</a:t>
            </a:r>
          </a:p>
        </p:txBody>
      </p:sp>
      <p:sp>
        <p:nvSpPr>
          <p:cNvPr id="3" name="object 3"/>
          <p:cNvSpPr txBox="1"/>
          <p:nvPr/>
        </p:nvSpPr>
        <p:spPr>
          <a:xfrm>
            <a:off x="990600" y="1371600"/>
            <a:ext cx="10287000" cy="3324628"/>
          </a:xfrm>
          <a:prstGeom prst="rect">
            <a:avLst/>
          </a:prstGeom>
        </p:spPr>
        <p:txBody>
          <a:bodyPr vert="horz" wrap="square" lIns="0" tIns="104775" rIns="0" bIns="0" rtlCol="0">
            <a:spAutoFit/>
          </a:bodyPr>
          <a:lstStyle/>
          <a:p>
            <a:pPr marL="355600" indent="-343535" algn="just">
              <a:lnSpc>
                <a:spcPct val="150000"/>
              </a:lnSpc>
              <a:spcBef>
                <a:spcPts val="825"/>
              </a:spcBef>
              <a:buClr>
                <a:srgbClr val="330066"/>
              </a:buClr>
              <a:buSzPct val="70000"/>
              <a:buFont typeface="Wingdings"/>
              <a:buChar char="⚫"/>
              <a:tabLst>
                <a:tab pos="355600" algn="l"/>
                <a:tab pos="356235" algn="l"/>
              </a:tabLst>
            </a:pPr>
            <a:r>
              <a:rPr sz="2000" dirty="0">
                <a:latin typeface="Museo 300" pitchFamily="50" charset="0"/>
                <a:cs typeface="Arial"/>
              </a:rPr>
              <a:t>Consider the </a:t>
            </a:r>
            <a:r>
              <a:rPr sz="2000" spc="-5" dirty="0">
                <a:latin typeface="Museo 300" pitchFamily="50" charset="0"/>
                <a:cs typeface="Arial"/>
              </a:rPr>
              <a:t>instruction </a:t>
            </a:r>
            <a:r>
              <a:rPr sz="2000" dirty="0">
                <a:solidFill>
                  <a:srgbClr val="FF0000"/>
                </a:solidFill>
                <a:latin typeface="Museo 300" pitchFamily="50" charset="0"/>
                <a:cs typeface="Arial"/>
              </a:rPr>
              <a:t>Add (R3),</a:t>
            </a:r>
            <a:r>
              <a:rPr sz="2000" spc="-260" dirty="0">
                <a:solidFill>
                  <a:srgbClr val="FF0000"/>
                </a:solidFill>
                <a:latin typeface="Museo 300" pitchFamily="50" charset="0"/>
                <a:cs typeface="Arial"/>
              </a:rPr>
              <a:t> </a:t>
            </a:r>
            <a:r>
              <a:rPr sz="2000" dirty="0">
                <a:solidFill>
                  <a:srgbClr val="FF0000"/>
                </a:solidFill>
                <a:latin typeface="Museo 300" pitchFamily="50" charset="0"/>
                <a:cs typeface="Arial"/>
              </a:rPr>
              <a:t>R1</a:t>
            </a:r>
            <a:endParaRPr sz="2000">
              <a:latin typeface="Museo 300" pitchFamily="50" charset="0"/>
              <a:cs typeface="Arial"/>
            </a:endParaRPr>
          </a:p>
          <a:p>
            <a:pPr marL="355600" marR="1026794" indent="-343535" algn="just">
              <a:lnSpc>
                <a:spcPct val="150000"/>
              </a:lnSpc>
              <a:spcBef>
                <a:spcPts val="720"/>
              </a:spcBef>
              <a:buClr>
                <a:srgbClr val="330066"/>
              </a:buClr>
              <a:buSzPct val="70000"/>
              <a:buFont typeface="Wingdings"/>
              <a:buChar char="⚫"/>
              <a:tabLst>
                <a:tab pos="355600" algn="l"/>
                <a:tab pos="356235" algn="l"/>
              </a:tabLst>
            </a:pPr>
            <a:r>
              <a:rPr sz="2000" spc="-5" dirty="0">
                <a:latin typeface="Museo 300" pitchFamily="50" charset="0"/>
                <a:cs typeface="Arial"/>
              </a:rPr>
              <a:t>Executing </a:t>
            </a:r>
            <a:r>
              <a:rPr sz="2000" dirty="0">
                <a:latin typeface="Museo 300" pitchFamily="50" charset="0"/>
                <a:cs typeface="Arial"/>
              </a:rPr>
              <a:t>this </a:t>
            </a:r>
            <a:r>
              <a:rPr sz="2000" spc="-5" dirty="0">
                <a:latin typeface="Museo 300" pitchFamily="50" charset="0"/>
                <a:cs typeface="Arial"/>
              </a:rPr>
              <a:t>instruction requires </a:t>
            </a:r>
            <a:r>
              <a:rPr sz="2000">
                <a:latin typeface="Museo 300" pitchFamily="50" charset="0"/>
                <a:cs typeface="Arial"/>
              </a:rPr>
              <a:t>the</a:t>
            </a:r>
            <a:r>
              <a:rPr sz="2000" spc="-540">
                <a:latin typeface="Museo 300" pitchFamily="50" charset="0"/>
                <a:cs typeface="Arial"/>
              </a:rPr>
              <a:t>  </a:t>
            </a:r>
            <a:r>
              <a:rPr lang="en-US" sz="2000" spc="-540" dirty="0">
                <a:latin typeface="Museo 300" pitchFamily="50" charset="0"/>
                <a:cs typeface="Arial"/>
              </a:rPr>
              <a:t>  </a:t>
            </a:r>
            <a:r>
              <a:rPr sz="2000">
                <a:latin typeface="Museo 300" pitchFamily="50" charset="0"/>
                <a:cs typeface="Arial"/>
              </a:rPr>
              <a:t>following</a:t>
            </a:r>
            <a:r>
              <a:rPr sz="2000" spc="-45">
                <a:latin typeface="Museo 300" pitchFamily="50" charset="0"/>
                <a:cs typeface="Arial"/>
              </a:rPr>
              <a:t> </a:t>
            </a:r>
            <a:r>
              <a:rPr sz="2000" dirty="0">
                <a:latin typeface="Museo 300" pitchFamily="50" charset="0"/>
                <a:cs typeface="Arial"/>
              </a:rPr>
              <a:t>actions:</a:t>
            </a:r>
            <a:endParaRPr sz="2000">
              <a:latin typeface="Museo 300" pitchFamily="50" charset="0"/>
              <a:cs typeface="Arial"/>
            </a:endParaRPr>
          </a:p>
          <a:p>
            <a:pPr marL="527685" indent="-515620" algn="just">
              <a:lnSpc>
                <a:spcPct val="150000"/>
              </a:lnSpc>
              <a:spcBef>
                <a:spcPts val="720"/>
              </a:spcBef>
              <a:buClr>
                <a:srgbClr val="330066"/>
              </a:buClr>
              <a:buSzPct val="70000"/>
              <a:buAutoNum type="arabicPeriod"/>
              <a:tabLst>
                <a:tab pos="527685" algn="l"/>
                <a:tab pos="528320" algn="l"/>
              </a:tabLst>
            </a:pPr>
            <a:r>
              <a:rPr sz="2000" dirty="0">
                <a:latin typeface="Museo 300" pitchFamily="50" charset="0"/>
                <a:cs typeface="Arial"/>
              </a:rPr>
              <a:t>Fetch </a:t>
            </a:r>
            <a:r>
              <a:rPr sz="2000" spc="-5" dirty="0">
                <a:latin typeface="Museo 300" pitchFamily="50" charset="0"/>
                <a:cs typeface="Arial"/>
              </a:rPr>
              <a:t>the</a:t>
            </a:r>
            <a:r>
              <a:rPr sz="2000" spc="-15" dirty="0">
                <a:latin typeface="Museo 300" pitchFamily="50" charset="0"/>
                <a:cs typeface="Arial"/>
              </a:rPr>
              <a:t> </a:t>
            </a:r>
            <a:r>
              <a:rPr sz="2000" spc="-5" dirty="0">
                <a:latin typeface="Museo 300" pitchFamily="50" charset="0"/>
                <a:cs typeface="Arial"/>
              </a:rPr>
              <a:t>instruction</a:t>
            </a:r>
            <a:endParaRPr sz="2000">
              <a:latin typeface="Museo 300" pitchFamily="50" charset="0"/>
              <a:cs typeface="Arial"/>
            </a:endParaRPr>
          </a:p>
          <a:p>
            <a:pPr marL="527685" marR="5080" indent="-515620" algn="just">
              <a:lnSpc>
                <a:spcPct val="150000"/>
              </a:lnSpc>
              <a:spcBef>
                <a:spcPts val="725"/>
              </a:spcBef>
              <a:buClr>
                <a:srgbClr val="330066"/>
              </a:buClr>
              <a:buSzPct val="70000"/>
              <a:buAutoNum type="arabicPeriod"/>
              <a:tabLst>
                <a:tab pos="527685" algn="l"/>
                <a:tab pos="528320" algn="l"/>
              </a:tabLst>
            </a:pPr>
            <a:r>
              <a:rPr sz="2000" dirty="0">
                <a:latin typeface="Museo 300" pitchFamily="50" charset="0"/>
                <a:cs typeface="Arial"/>
              </a:rPr>
              <a:t>Fetch </a:t>
            </a:r>
            <a:r>
              <a:rPr sz="2000" spc="-5" dirty="0">
                <a:latin typeface="Museo 300" pitchFamily="50" charset="0"/>
                <a:cs typeface="Arial"/>
              </a:rPr>
              <a:t>the first operand (the </a:t>
            </a:r>
            <a:r>
              <a:rPr sz="2000" dirty="0">
                <a:latin typeface="Museo 300" pitchFamily="50" charset="0"/>
                <a:cs typeface="Arial"/>
              </a:rPr>
              <a:t>contents of</a:t>
            </a:r>
            <a:r>
              <a:rPr sz="2000" spc="-45" dirty="0">
                <a:latin typeface="Museo 300" pitchFamily="50" charset="0"/>
                <a:cs typeface="Arial"/>
              </a:rPr>
              <a:t> </a:t>
            </a:r>
            <a:r>
              <a:rPr sz="2000" dirty="0">
                <a:latin typeface="Museo 300" pitchFamily="50" charset="0"/>
                <a:cs typeface="Arial"/>
              </a:rPr>
              <a:t>the  memory </a:t>
            </a:r>
            <a:r>
              <a:rPr sz="2000" spc="-5" dirty="0">
                <a:latin typeface="Museo 300" pitchFamily="50" charset="0"/>
                <a:cs typeface="Arial"/>
              </a:rPr>
              <a:t>location pointed </a:t>
            </a:r>
            <a:r>
              <a:rPr sz="2000" dirty="0">
                <a:latin typeface="Museo 300" pitchFamily="50" charset="0"/>
                <a:cs typeface="Arial"/>
              </a:rPr>
              <a:t>to </a:t>
            </a:r>
            <a:r>
              <a:rPr sz="2000" spc="-5" dirty="0">
                <a:latin typeface="Museo 300" pitchFamily="50" charset="0"/>
                <a:cs typeface="Arial"/>
              </a:rPr>
              <a:t>by</a:t>
            </a:r>
            <a:r>
              <a:rPr sz="2000" spc="-45" dirty="0">
                <a:latin typeface="Museo 300" pitchFamily="50" charset="0"/>
                <a:cs typeface="Arial"/>
              </a:rPr>
              <a:t> </a:t>
            </a:r>
            <a:r>
              <a:rPr sz="2000" spc="-5" dirty="0">
                <a:latin typeface="Museo 300" pitchFamily="50" charset="0"/>
                <a:cs typeface="Arial"/>
              </a:rPr>
              <a:t>R3)</a:t>
            </a:r>
            <a:endParaRPr sz="2000">
              <a:latin typeface="Museo 300" pitchFamily="50" charset="0"/>
              <a:cs typeface="Arial"/>
            </a:endParaRPr>
          </a:p>
          <a:p>
            <a:pPr marL="527685" indent="-515620" algn="just">
              <a:lnSpc>
                <a:spcPct val="150000"/>
              </a:lnSpc>
              <a:spcBef>
                <a:spcPts val="720"/>
              </a:spcBef>
              <a:buClr>
                <a:srgbClr val="330066"/>
              </a:buClr>
              <a:buSzPct val="70000"/>
              <a:buAutoNum type="arabicPeriod"/>
              <a:tabLst>
                <a:tab pos="527685" algn="l"/>
                <a:tab pos="528320" algn="l"/>
              </a:tabLst>
            </a:pPr>
            <a:r>
              <a:rPr sz="2000" dirty="0">
                <a:latin typeface="Museo 300" pitchFamily="50" charset="0"/>
                <a:cs typeface="Arial"/>
              </a:rPr>
              <a:t>Perform </a:t>
            </a:r>
            <a:r>
              <a:rPr sz="2000" spc="-5" dirty="0">
                <a:latin typeface="Museo 300" pitchFamily="50" charset="0"/>
                <a:cs typeface="Arial"/>
              </a:rPr>
              <a:t>the</a:t>
            </a:r>
            <a:r>
              <a:rPr sz="2000" spc="-20" dirty="0">
                <a:latin typeface="Museo 300" pitchFamily="50" charset="0"/>
                <a:cs typeface="Arial"/>
              </a:rPr>
              <a:t> </a:t>
            </a:r>
            <a:r>
              <a:rPr sz="2000" dirty="0">
                <a:latin typeface="Museo 300" pitchFamily="50" charset="0"/>
                <a:cs typeface="Arial"/>
              </a:rPr>
              <a:t>addition</a:t>
            </a:r>
            <a:endParaRPr sz="2000">
              <a:latin typeface="Museo 300" pitchFamily="50" charset="0"/>
              <a:cs typeface="Arial"/>
            </a:endParaRPr>
          </a:p>
          <a:p>
            <a:pPr marL="527685" indent="-515620" algn="just">
              <a:lnSpc>
                <a:spcPct val="150000"/>
              </a:lnSpc>
              <a:spcBef>
                <a:spcPts val="720"/>
              </a:spcBef>
              <a:buClr>
                <a:srgbClr val="330066"/>
              </a:buClr>
              <a:buSzPct val="70000"/>
              <a:buAutoNum type="arabicPeriod"/>
              <a:tabLst>
                <a:tab pos="527685" algn="l"/>
                <a:tab pos="528320" algn="l"/>
              </a:tabLst>
            </a:pPr>
            <a:r>
              <a:rPr sz="2000" spc="-5" dirty="0">
                <a:latin typeface="Museo 300" pitchFamily="50" charset="0"/>
                <a:cs typeface="Arial"/>
              </a:rPr>
              <a:t>Load </a:t>
            </a:r>
            <a:r>
              <a:rPr sz="2000" dirty="0">
                <a:latin typeface="Museo 300" pitchFamily="50" charset="0"/>
                <a:cs typeface="Arial"/>
              </a:rPr>
              <a:t>the </a:t>
            </a:r>
            <a:r>
              <a:rPr sz="2000" spc="-5" dirty="0">
                <a:latin typeface="Museo 300" pitchFamily="50" charset="0"/>
                <a:cs typeface="Arial"/>
              </a:rPr>
              <a:t>result into</a:t>
            </a:r>
            <a:r>
              <a:rPr sz="2000" spc="-30" dirty="0">
                <a:latin typeface="Museo 300" pitchFamily="50" charset="0"/>
                <a:cs typeface="Arial"/>
              </a:rPr>
              <a:t> </a:t>
            </a:r>
            <a:r>
              <a:rPr sz="2000" spc="-5" dirty="0">
                <a:latin typeface="Museo 300" pitchFamily="50" charset="0"/>
                <a:cs typeface="Arial"/>
              </a:rPr>
              <a:t>R1</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pc="-5" dirty="0">
                <a:cs typeface="Arial"/>
              </a:rPr>
              <a:t>Add (R3),</a:t>
            </a:r>
            <a:r>
              <a:rPr lang="en-US" spc="-55" dirty="0">
                <a:cs typeface="Arial"/>
              </a:rPr>
              <a:t> </a:t>
            </a:r>
            <a:r>
              <a:rPr lang="en-US" spc="-5" dirty="0">
                <a:cs typeface="Arial"/>
              </a:rPr>
              <a:t>R1</a:t>
            </a:r>
            <a:endParaRPr lang="en-US" dirty="0">
              <a:cs typeface="Arial"/>
            </a:endParaRPr>
          </a:p>
          <a:p>
            <a:endParaRPr lang="en-US"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37</a:t>
            </a:fld>
            <a:endParaRPr lang="en-US" dirty="0"/>
          </a:p>
        </p:txBody>
      </p:sp>
      <p:sp>
        <p:nvSpPr>
          <p:cNvPr id="6" name="object 2"/>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sz="3500" b="1" dirty="0">
                <a:solidFill>
                  <a:srgbClr val="C00000"/>
                </a:solidFill>
                <a:latin typeface="Museo 300" pitchFamily="50" charset="0"/>
              </a:rPr>
              <a:t>Execution of </a:t>
            </a:r>
            <a:r>
              <a:rPr sz="3500" b="1" spc="-5" dirty="0">
                <a:solidFill>
                  <a:srgbClr val="C00000"/>
                </a:solidFill>
                <a:latin typeface="Museo 300" pitchFamily="50" charset="0"/>
              </a:rPr>
              <a:t>a</a:t>
            </a:r>
            <a:r>
              <a:rPr sz="3500" b="1" spc="-30" dirty="0">
                <a:solidFill>
                  <a:srgbClr val="C00000"/>
                </a:solidFill>
                <a:latin typeface="Museo 300" pitchFamily="50" charset="0"/>
              </a:rPr>
              <a:t> </a:t>
            </a:r>
            <a:r>
              <a:rPr sz="3500" b="1" dirty="0">
                <a:solidFill>
                  <a:srgbClr val="C00000"/>
                </a:solidFill>
                <a:latin typeface="Museo 300" pitchFamily="50" charset="0"/>
              </a:rPr>
              <a:t>Complete  Instruction..</a:t>
            </a:r>
          </a:p>
        </p:txBody>
      </p:sp>
      <p:sp>
        <p:nvSpPr>
          <p:cNvPr id="7" name="TextBox 6"/>
          <p:cNvSpPr txBox="1"/>
          <p:nvPr/>
        </p:nvSpPr>
        <p:spPr>
          <a:xfrm>
            <a:off x="3505200" y="2086213"/>
            <a:ext cx="7924800" cy="3323987"/>
          </a:xfrm>
          <a:prstGeom prst="rect">
            <a:avLst/>
          </a:prstGeom>
          <a:noFill/>
        </p:spPr>
        <p:txBody>
          <a:bodyPr wrap="square" rtlCol="0">
            <a:spAutoFit/>
          </a:bodyPr>
          <a:lstStyle/>
          <a:p>
            <a:pPr>
              <a:lnSpc>
                <a:spcPct val="150000"/>
              </a:lnSpc>
            </a:pPr>
            <a:r>
              <a:rPr lang="en-US" sz="2000" dirty="0">
                <a:latin typeface="Museo 300" pitchFamily="50" charset="0"/>
              </a:rPr>
              <a:t>Step 			Action</a:t>
            </a:r>
          </a:p>
          <a:p>
            <a:pPr>
              <a:lnSpc>
                <a:spcPct val="150000"/>
              </a:lnSpc>
            </a:pPr>
            <a:r>
              <a:rPr lang="en-US" sz="2000" dirty="0">
                <a:latin typeface="Museo 300" pitchFamily="50" charset="0"/>
              </a:rPr>
              <a:t>1.                                   </a:t>
            </a:r>
            <a:r>
              <a:rPr lang="en-US" sz="2000" dirty="0" err="1">
                <a:latin typeface="Museo 300" pitchFamily="50" charset="0"/>
              </a:rPr>
              <a:t>PCout</a:t>
            </a:r>
            <a:r>
              <a:rPr lang="en-US" sz="2000" dirty="0">
                <a:latin typeface="Museo 300" pitchFamily="50" charset="0"/>
              </a:rPr>
              <a:t>, </a:t>
            </a:r>
            <a:r>
              <a:rPr lang="en-US" sz="2000" dirty="0" err="1">
                <a:latin typeface="Museo 300" pitchFamily="50" charset="0"/>
              </a:rPr>
              <a:t>MARin</a:t>
            </a:r>
            <a:r>
              <a:rPr lang="en-US" sz="2000" dirty="0">
                <a:latin typeface="Museo 300" pitchFamily="50" charset="0"/>
              </a:rPr>
              <a:t>, Read, Select4, Add, </a:t>
            </a:r>
            <a:r>
              <a:rPr lang="en-US" sz="2000" dirty="0" err="1">
                <a:latin typeface="Museo 300" pitchFamily="50" charset="0"/>
              </a:rPr>
              <a:t>Zin</a:t>
            </a:r>
            <a:endParaRPr lang="en-US" sz="2000" dirty="0">
              <a:latin typeface="Museo 300" pitchFamily="50" charset="0"/>
            </a:endParaRPr>
          </a:p>
          <a:p>
            <a:pPr marL="342900" indent="-342900">
              <a:lnSpc>
                <a:spcPct val="150000"/>
              </a:lnSpc>
            </a:pPr>
            <a:r>
              <a:rPr lang="en-US" sz="2000" dirty="0">
                <a:latin typeface="Museo 300" pitchFamily="50" charset="0"/>
              </a:rPr>
              <a:t>2.                                   </a:t>
            </a:r>
            <a:r>
              <a:rPr lang="en-US" sz="2000" dirty="0" err="1">
                <a:latin typeface="Museo 300" pitchFamily="50" charset="0"/>
              </a:rPr>
              <a:t>Zout</a:t>
            </a:r>
            <a:r>
              <a:rPr lang="en-US" sz="2000" dirty="0">
                <a:latin typeface="Museo 300" pitchFamily="50" charset="0"/>
              </a:rPr>
              <a:t>, </a:t>
            </a:r>
            <a:r>
              <a:rPr lang="en-US" sz="2000" dirty="0" err="1">
                <a:latin typeface="Museo 300" pitchFamily="50" charset="0"/>
              </a:rPr>
              <a:t>Pcin</a:t>
            </a:r>
            <a:r>
              <a:rPr lang="en-US" sz="2000" dirty="0">
                <a:latin typeface="Museo 300" pitchFamily="50" charset="0"/>
              </a:rPr>
              <a:t>, Yin, WMFC</a:t>
            </a:r>
          </a:p>
          <a:p>
            <a:pPr marL="342900" indent="-342900">
              <a:lnSpc>
                <a:spcPct val="150000"/>
              </a:lnSpc>
            </a:pPr>
            <a:r>
              <a:rPr lang="en-US" sz="2000" dirty="0">
                <a:latin typeface="Museo 300" pitchFamily="50" charset="0"/>
              </a:rPr>
              <a:t>3.                                   </a:t>
            </a:r>
            <a:r>
              <a:rPr lang="en-US" sz="2000" dirty="0" err="1">
                <a:latin typeface="Museo 300" pitchFamily="50" charset="0"/>
              </a:rPr>
              <a:t>MDRout</a:t>
            </a:r>
            <a:r>
              <a:rPr lang="en-US" sz="2000" dirty="0">
                <a:latin typeface="Museo 300" pitchFamily="50" charset="0"/>
              </a:rPr>
              <a:t>, </a:t>
            </a:r>
            <a:r>
              <a:rPr lang="en-US" sz="2000" dirty="0" err="1">
                <a:latin typeface="Museo 300" pitchFamily="50" charset="0"/>
              </a:rPr>
              <a:t>IRin</a:t>
            </a:r>
            <a:endParaRPr lang="en-US" sz="2000" dirty="0">
              <a:latin typeface="Museo 300" pitchFamily="50" charset="0"/>
            </a:endParaRPr>
          </a:p>
          <a:p>
            <a:pPr marL="342900" indent="-342900">
              <a:lnSpc>
                <a:spcPct val="150000"/>
              </a:lnSpc>
            </a:pPr>
            <a:r>
              <a:rPr lang="en-US" sz="2000" dirty="0">
                <a:latin typeface="Museo 300" pitchFamily="50" charset="0"/>
              </a:rPr>
              <a:t>4.                                   R3out, Yin, WMFC</a:t>
            </a:r>
          </a:p>
          <a:p>
            <a:pPr marL="342900" indent="-342900">
              <a:lnSpc>
                <a:spcPct val="150000"/>
              </a:lnSpc>
            </a:pPr>
            <a:r>
              <a:rPr lang="en-US" sz="2000" dirty="0">
                <a:latin typeface="Museo 300" pitchFamily="50" charset="0"/>
              </a:rPr>
              <a:t>5.                                   </a:t>
            </a:r>
            <a:r>
              <a:rPr lang="en-US" sz="2000" dirty="0" err="1">
                <a:latin typeface="Museo 300" pitchFamily="50" charset="0"/>
              </a:rPr>
              <a:t>MDRout</a:t>
            </a:r>
            <a:r>
              <a:rPr lang="en-US" sz="2000" dirty="0">
                <a:latin typeface="Museo 300" pitchFamily="50" charset="0"/>
              </a:rPr>
              <a:t>, </a:t>
            </a:r>
            <a:r>
              <a:rPr lang="en-US" sz="2000" dirty="0" err="1">
                <a:latin typeface="Museo 300" pitchFamily="50" charset="0"/>
              </a:rPr>
              <a:t>SelectY</a:t>
            </a:r>
            <a:r>
              <a:rPr lang="en-US" sz="2000" dirty="0">
                <a:latin typeface="Museo 300" pitchFamily="50" charset="0"/>
              </a:rPr>
              <a:t>, Add, </a:t>
            </a:r>
            <a:r>
              <a:rPr lang="en-US" sz="2000" dirty="0" err="1">
                <a:latin typeface="Museo 300" pitchFamily="50" charset="0"/>
              </a:rPr>
              <a:t>Zin</a:t>
            </a:r>
            <a:endParaRPr lang="en-US" sz="2000" dirty="0">
              <a:latin typeface="Museo 300" pitchFamily="50" charset="0"/>
            </a:endParaRPr>
          </a:p>
          <a:p>
            <a:pPr marL="342900" indent="-342900">
              <a:lnSpc>
                <a:spcPct val="150000"/>
              </a:lnSpc>
            </a:pPr>
            <a:r>
              <a:rPr lang="en-US" sz="2000" dirty="0">
                <a:latin typeface="Museo 300" pitchFamily="50" charset="0"/>
              </a:rPr>
              <a:t>6.                                   </a:t>
            </a:r>
            <a:r>
              <a:rPr lang="en-US" sz="2000" dirty="0" err="1">
                <a:latin typeface="Museo 300" pitchFamily="50" charset="0"/>
              </a:rPr>
              <a:t>Zout</a:t>
            </a:r>
            <a:r>
              <a:rPr lang="en-US" sz="2000" dirty="0">
                <a:latin typeface="Museo 300" pitchFamily="50" charset="0"/>
              </a:rPr>
              <a:t>, R1in, 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20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20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20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20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20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20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157098"/>
            <a:ext cx="8686800" cy="551433"/>
          </a:xfrm>
          <a:prstGeom prst="rect">
            <a:avLst/>
          </a:prstGeom>
        </p:spPr>
        <p:txBody>
          <a:bodyPr vert="horz" wrap="square" lIns="0" tIns="12700" rIns="0" bIns="0" rtlCol="0">
            <a:spAutoFit/>
          </a:bodyPr>
          <a:lstStyle/>
          <a:p>
            <a:pPr marL="12700" marR="5080">
              <a:lnSpc>
                <a:spcPct val="100000"/>
              </a:lnSpc>
              <a:spcBef>
                <a:spcPts val="100"/>
              </a:spcBef>
            </a:pPr>
            <a:r>
              <a:rPr dirty="0"/>
              <a:t>Execution of </a:t>
            </a:r>
            <a:r>
              <a:rPr spc="-5" dirty="0"/>
              <a:t>a</a:t>
            </a:r>
            <a:r>
              <a:rPr spc="-30" dirty="0"/>
              <a:t> </a:t>
            </a:r>
            <a:r>
              <a:rPr dirty="0"/>
              <a:t>Complete  Instruction..</a:t>
            </a:r>
          </a:p>
        </p:txBody>
      </p:sp>
      <p:sp>
        <p:nvSpPr>
          <p:cNvPr id="3" name="object 3"/>
          <p:cNvSpPr txBox="1"/>
          <p:nvPr/>
        </p:nvSpPr>
        <p:spPr>
          <a:xfrm>
            <a:off x="914400" y="1143000"/>
            <a:ext cx="10645987" cy="4064574"/>
          </a:xfrm>
          <a:prstGeom prst="rect">
            <a:avLst/>
          </a:prstGeom>
        </p:spPr>
        <p:txBody>
          <a:bodyPr vert="horz" wrap="square" lIns="0" tIns="12065" rIns="0" bIns="0" rtlCol="0">
            <a:spAutoFit/>
          </a:bodyPr>
          <a:lstStyle/>
          <a:p>
            <a:pPr marL="355600" marR="339090" indent="-343535" algn="just">
              <a:lnSpc>
                <a:spcPct val="150000"/>
              </a:lnSpc>
              <a:spcBef>
                <a:spcPts val="95"/>
              </a:spcBef>
              <a:buClr>
                <a:srgbClr val="330066"/>
              </a:buClr>
              <a:buSzPct val="69642"/>
              <a:buFont typeface="Wingdings"/>
              <a:buChar char="⚫"/>
              <a:tabLst>
                <a:tab pos="355600" algn="l"/>
                <a:tab pos="356235" algn="l"/>
              </a:tabLst>
            </a:pPr>
            <a:r>
              <a:rPr sz="2000" spc="-5">
                <a:latin typeface="Museo 300" pitchFamily="50" charset="0"/>
                <a:cs typeface="Arial"/>
              </a:rPr>
              <a:t>Figure gives </a:t>
            </a:r>
            <a:r>
              <a:rPr sz="2000" spc="-5" dirty="0">
                <a:latin typeface="Museo 300" pitchFamily="50" charset="0"/>
                <a:cs typeface="Arial"/>
              </a:rPr>
              <a:t>the </a:t>
            </a:r>
            <a:r>
              <a:rPr sz="2000" dirty="0">
                <a:latin typeface="Museo 300" pitchFamily="50" charset="0"/>
                <a:cs typeface="Arial"/>
              </a:rPr>
              <a:t>sequence of control steps </a:t>
            </a:r>
            <a:r>
              <a:rPr sz="2000" spc="-260" dirty="0">
                <a:latin typeface="Museo 300" pitchFamily="50" charset="0"/>
                <a:cs typeface="Arial"/>
              </a:rPr>
              <a:t> </a:t>
            </a:r>
            <a:r>
              <a:rPr sz="2000" dirty="0">
                <a:latin typeface="Museo 300" pitchFamily="50" charset="0"/>
                <a:cs typeface="Arial"/>
              </a:rPr>
              <a:t>required </a:t>
            </a:r>
            <a:r>
              <a:rPr sz="2000" spc="-5" dirty="0">
                <a:latin typeface="Museo 300" pitchFamily="50" charset="0"/>
                <a:cs typeface="Arial"/>
              </a:rPr>
              <a:t>to </a:t>
            </a:r>
            <a:r>
              <a:rPr sz="2000" dirty="0">
                <a:latin typeface="Museo 300" pitchFamily="50" charset="0"/>
                <a:cs typeface="Arial"/>
              </a:rPr>
              <a:t>perform </a:t>
            </a:r>
            <a:r>
              <a:rPr sz="2000" spc="-5" dirty="0">
                <a:latin typeface="Museo 300" pitchFamily="50" charset="0"/>
                <a:cs typeface="Arial"/>
              </a:rPr>
              <a:t>these </a:t>
            </a:r>
            <a:r>
              <a:rPr sz="2000" dirty="0">
                <a:latin typeface="Museo 300" pitchFamily="50" charset="0"/>
                <a:cs typeface="Arial"/>
              </a:rPr>
              <a:t>operations </a:t>
            </a:r>
            <a:r>
              <a:rPr sz="2000" spc="-5" dirty="0">
                <a:latin typeface="Museo 300" pitchFamily="50" charset="0"/>
                <a:cs typeface="Arial"/>
              </a:rPr>
              <a:t>for the  </a:t>
            </a:r>
            <a:r>
              <a:rPr sz="2000">
                <a:latin typeface="Museo 300" pitchFamily="50" charset="0"/>
                <a:cs typeface="Arial"/>
              </a:rPr>
              <a:t>single-bus architecture</a:t>
            </a:r>
          </a:p>
          <a:p>
            <a:pPr marL="355600" marR="5080" indent="-343535" algn="just">
              <a:lnSpc>
                <a:spcPct val="150000"/>
              </a:lnSpc>
              <a:spcBef>
                <a:spcPts val="675"/>
              </a:spcBef>
              <a:buClr>
                <a:srgbClr val="330066"/>
              </a:buClr>
              <a:buSzPct val="69642"/>
              <a:buFont typeface="Wingdings"/>
              <a:buChar char="⚫"/>
              <a:tabLst>
                <a:tab pos="355600" algn="l"/>
                <a:tab pos="356235" algn="l"/>
              </a:tabLst>
            </a:pPr>
            <a:r>
              <a:rPr sz="2000" spc="-5" dirty="0">
                <a:latin typeface="Museo 300" pitchFamily="50" charset="0"/>
                <a:cs typeface="Arial"/>
              </a:rPr>
              <a:t>Steps 1 </a:t>
            </a:r>
            <a:r>
              <a:rPr sz="2000" dirty="0">
                <a:latin typeface="Museo 300" pitchFamily="50" charset="0"/>
                <a:cs typeface="Arial"/>
              </a:rPr>
              <a:t>through </a:t>
            </a:r>
            <a:r>
              <a:rPr sz="2000" spc="-5" dirty="0">
                <a:latin typeface="Museo 300" pitchFamily="50" charset="0"/>
                <a:cs typeface="Arial"/>
              </a:rPr>
              <a:t>3 </a:t>
            </a:r>
            <a:r>
              <a:rPr sz="2000" dirty="0">
                <a:latin typeface="Museo 300" pitchFamily="50" charset="0"/>
                <a:cs typeface="Arial"/>
              </a:rPr>
              <a:t>constitute </a:t>
            </a:r>
            <a:r>
              <a:rPr sz="2000" spc="-5" dirty="0">
                <a:latin typeface="Museo 300" pitchFamily="50" charset="0"/>
                <a:cs typeface="Arial"/>
              </a:rPr>
              <a:t>the </a:t>
            </a:r>
            <a:r>
              <a:rPr sz="2000" dirty="0">
                <a:latin typeface="Museo 300" pitchFamily="50" charset="0"/>
                <a:cs typeface="Arial"/>
              </a:rPr>
              <a:t>instruction fetch</a:t>
            </a:r>
            <a:r>
              <a:rPr sz="2000" spc="-260" dirty="0">
                <a:latin typeface="Museo 300" pitchFamily="50" charset="0"/>
                <a:cs typeface="Arial"/>
              </a:rPr>
              <a:t>  </a:t>
            </a:r>
            <a:r>
              <a:rPr sz="2000" spc="-5" dirty="0">
                <a:latin typeface="Museo 300" pitchFamily="50" charset="0"/>
                <a:cs typeface="Arial"/>
              </a:rPr>
              <a:t>phase,</a:t>
            </a:r>
            <a:endParaRPr sz="2000">
              <a:latin typeface="Museo 300" pitchFamily="50" charset="0"/>
              <a:cs typeface="Arial"/>
            </a:endParaRPr>
          </a:p>
          <a:p>
            <a:pPr marL="355600" indent="-343535" algn="just">
              <a:lnSpc>
                <a:spcPct val="150000"/>
              </a:lnSpc>
              <a:spcBef>
                <a:spcPts val="675"/>
              </a:spcBef>
              <a:buClr>
                <a:srgbClr val="330066"/>
              </a:buClr>
              <a:buSzPct val="69642"/>
              <a:buFont typeface="Wingdings"/>
              <a:buChar char="⚫"/>
              <a:tabLst>
                <a:tab pos="355600" algn="l"/>
                <a:tab pos="356235" algn="l"/>
              </a:tabLst>
            </a:pPr>
            <a:r>
              <a:rPr sz="2000" spc="-5" dirty="0">
                <a:latin typeface="Museo 300" pitchFamily="50" charset="0"/>
                <a:cs typeface="Arial"/>
              </a:rPr>
              <a:t>This is the same for all</a:t>
            </a:r>
            <a:r>
              <a:rPr sz="2000" spc="35" dirty="0">
                <a:latin typeface="Museo 300" pitchFamily="50" charset="0"/>
                <a:cs typeface="Arial"/>
              </a:rPr>
              <a:t> </a:t>
            </a:r>
            <a:r>
              <a:rPr sz="2000" dirty="0">
                <a:latin typeface="Museo 300" pitchFamily="50" charset="0"/>
                <a:cs typeface="Arial"/>
              </a:rPr>
              <a:t>instructions.</a:t>
            </a:r>
            <a:endParaRPr sz="2000">
              <a:latin typeface="Museo 300" pitchFamily="50" charset="0"/>
              <a:cs typeface="Arial"/>
            </a:endParaRPr>
          </a:p>
          <a:p>
            <a:pPr marL="355600" marR="535940" indent="-343535" algn="just">
              <a:lnSpc>
                <a:spcPct val="150000"/>
              </a:lnSpc>
              <a:spcBef>
                <a:spcPts val="670"/>
              </a:spcBef>
              <a:buClr>
                <a:srgbClr val="330066"/>
              </a:buClr>
              <a:buSzPct val="69642"/>
              <a:buFont typeface="Wingdings"/>
              <a:buChar char="⚫"/>
              <a:tabLst>
                <a:tab pos="355600" algn="l"/>
                <a:tab pos="356235" algn="l"/>
              </a:tabLst>
            </a:pPr>
            <a:r>
              <a:rPr sz="2000" spc="-5" dirty="0">
                <a:latin typeface="Museo 300" pitchFamily="50" charset="0"/>
                <a:cs typeface="Arial"/>
              </a:rPr>
              <a:t>The </a:t>
            </a:r>
            <a:r>
              <a:rPr sz="2000" dirty="0">
                <a:latin typeface="Museo 300" pitchFamily="50" charset="0"/>
                <a:cs typeface="Arial"/>
              </a:rPr>
              <a:t>instruction decoding circuit interprets the  </a:t>
            </a:r>
            <a:r>
              <a:rPr sz="2000" spc="-5" dirty="0">
                <a:latin typeface="Museo 300" pitchFamily="50" charset="0"/>
                <a:cs typeface="Arial"/>
              </a:rPr>
              <a:t>contents of the IR </a:t>
            </a:r>
            <a:r>
              <a:rPr sz="2000" dirty="0">
                <a:latin typeface="Museo 300" pitchFamily="50" charset="0"/>
                <a:cs typeface="Arial"/>
              </a:rPr>
              <a:t>at </a:t>
            </a:r>
            <a:r>
              <a:rPr sz="2000" spc="-5" dirty="0">
                <a:latin typeface="Museo 300" pitchFamily="50" charset="0"/>
                <a:cs typeface="Arial"/>
              </a:rPr>
              <a:t>the beginning of </a:t>
            </a:r>
            <a:r>
              <a:rPr sz="2000" dirty="0">
                <a:latin typeface="Museo 300" pitchFamily="50" charset="0"/>
                <a:cs typeface="Arial"/>
              </a:rPr>
              <a:t>step</a:t>
            </a:r>
            <a:r>
              <a:rPr sz="2000" spc="60" dirty="0">
                <a:latin typeface="Museo 300" pitchFamily="50" charset="0"/>
                <a:cs typeface="Arial"/>
              </a:rPr>
              <a:t> </a:t>
            </a:r>
            <a:r>
              <a:rPr sz="2000" dirty="0">
                <a:latin typeface="Museo 300" pitchFamily="50" charset="0"/>
                <a:cs typeface="Arial"/>
              </a:rPr>
              <a:t>4.</a:t>
            </a:r>
            <a:endParaRPr sz="2000">
              <a:latin typeface="Museo 300" pitchFamily="50" charset="0"/>
              <a:cs typeface="Arial"/>
            </a:endParaRPr>
          </a:p>
          <a:p>
            <a:pPr marL="355600" marR="203835" indent="-343535" algn="just">
              <a:lnSpc>
                <a:spcPct val="150000"/>
              </a:lnSpc>
              <a:spcBef>
                <a:spcPts val="675"/>
              </a:spcBef>
              <a:buClr>
                <a:srgbClr val="330066"/>
              </a:buClr>
              <a:buSzPct val="69642"/>
              <a:buFont typeface="Wingdings"/>
              <a:buChar char="⚫"/>
              <a:tabLst>
                <a:tab pos="355600" algn="l"/>
                <a:tab pos="356235" algn="l"/>
              </a:tabLst>
            </a:pPr>
            <a:r>
              <a:rPr sz="2000" spc="-5" dirty="0">
                <a:latin typeface="Museo 300" pitchFamily="50" charset="0"/>
                <a:cs typeface="Arial"/>
              </a:rPr>
              <a:t>This </a:t>
            </a:r>
            <a:r>
              <a:rPr sz="2000" dirty="0">
                <a:latin typeface="Museo 300" pitchFamily="50" charset="0"/>
                <a:cs typeface="Arial"/>
              </a:rPr>
              <a:t>enables </a:t>
            </a:r>
            <a:r>
              <a:rPr sz="2000" spc="-5" dirty="0">
                <a:latin typeface="Museo 300" pitchFamily="50" charset="0"/>
                <a:cs typeface="Arial"/>
              </a:rPr>
              <a:t>the </a:t>
            </a:r>
            <a:r>
              <a:rPr sz="2000" dirty="0">
                <a:latin typeface="Museo 300" pitchFamily="50" charset="0"/>
                <a:cs typeface="Arial"/>
              </a:rPr>
              <a:t>control circuitry </a:t>
            </a:r>
            <a:r>
              <a:rPr sz="2000" spc="-5" dirty="0">
                <a:latin typeface="Museo 300" pitchFamily="50" charset="0"/>
                <a:cs typeface="Arial"/>
              </a:rPr>
              <a:t>to activate </a:t>
            </a:r>
            <a:r>
              <a:rPr sz="2000" dirty="0">
                <a:latin typeface="Museo 300" pitchFamily="50" charset="0"/>
                <a:cs typeface="Arial"/>
              </a:rPr>
              <a:t>the</a:t>
            </a:r>
            <a:r>
              <a:rPr sz="2000" spc="-440" dirty="0">
                <a:latin typeface="Museo 300" pitchFamily="50" charset="0"/>
                <a:cs typeface="Arial"/>
              </a:rPr>
              <a:t>  </a:t>
            </a:r>
            <a:r>
              <a:rPr sz="2000" dirty="0">
                <a:latin typeface="Museo 300" pitchFamily="50" charset="0"/>
                <a:cs typeface="Arial"/>
              </a:rPr>
              <a:t>control signals </a:t>
            </a:r>
            <a:r>
              <a:rPr sz="2000" spc="-5" dirty="0">
                <a:latin typeface="Museo 300" pitchFamily="50" charset="0"/>
                <a:cs typeface="Arial"/>
              </a:rPr>
              <a:t>for </a:t>
            </a:r>
            <a:r>
              <a:rPr sz="2000" dirty="0">
                <a:latin typeface="Museo 300" pitchFamily="50" charset="0"/>
                <a:cs typeface="Arial"/>
              </a:rPr>
              <a:t>steps </a:t>
            </a:r>
            <a:r>
              <a:rPr sz="2000" spc="-5" dirty="0">
                <a:latin typeface="Museo 300" pitchFamily="50" charset="0"/>
                <a:cs typeface="Arial"/>
              </a:rPr>
              <a:t>4 </a:t>
            </a:r>
            <a:r>
              <a:rPr sz="2000" dirty="0">
                <a:latin typeface="Museo 300" pitchFamily="50" charset="0"/>
                <a:cs typeface="Arial"/>
              </a:rPr>
              <a:t>through 7, </a:t>
            </a:r>
            <a:r>
              <a:rPr sz="2000" spc="-5" dirty="0">
                <a:latin typeface="Museo 300" pitchFamily="50" charset="0"/>
                <a:cs typeface="Arial"/>
              </a:rPr>
              <a:t>which  constitute the execution</a:t>
            </a:r>
            <a:r>
              <a:rPr sz="2000" spc="10" dirty="0">
                <a:latin typeface="Museo 300" pitchFamily="50" charset="0"/>
                <a:cs typeface="Arial"/>
              </a:rPr>
              <a:t> </a:t>
            </a:r>
            <a:r>
              <a:rPr sz="2000" dirty="0">
                <a:latin typeface="Museo 300" pitchFamily="50" charset="0"/>
                <a:cs typeface="Arial"/>
              </a:rPr>
              <a:t>phase.</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228600"/>
            <a:ext cx="8810413" cy="551433"/>
          </a:xfrm>
          <a:prstGeom prst="rect">
            <a:avLst/>
          </a:prstGeom>
        </p:spPr>
        <p:txBody>
          <a:bodyPr vert="horz" wrap="square" lIns="0" tIns="12700" rIns="0" bIns="0" rtlCol="0">
            <a:spAutoFit/>
          </a:bodyPr>
          <a:lstStyle/>
          <a:p>
            <a:pPr marL="12700" marR="5080">
              <a:lnSpc>
                <a:spcPct val="100000"/>
              </a:lnSpc>
              <a:spcBef>
                <a:spcPts val="100"/>
              </a:spcBef>
            </a:pPr>
            <a:r>
              <a:rPr dirty="0"/>
              <a:t>Execution of</a:t>
            </a:r>
            <a:r>
              <a:rPr spc="-60" dirty="0"/>
              <a:t> </a:t>
            </a:r>
            <a:r>
              <a:rPr dirty="0"/>
              <a:t>Branch  Instructions</a:t>
            </a:r>
          </a:p>
        </p:txBody>
      </p:sp>
      <p:sp>
        <p:nvSpPr>
          <p:cNvPr id="3" name="object 3"/>
          <p:cNvSpPr txBox="1"/>
          <p:nvPr/>
        </p:nvSpPr>
        <p:spPr>
          <a:xfrm>
            <a:off x="714588" y="1743583"/>
            <a:ext cx="10616353" cy="1438214"/>
          </a:xfrm>
          <a:prstGeom prst="rect">
            <a:avLst/>
          </a:prstGeom>
        </p:spPr>
        <p:txBody>
          <a:bodyPr vert="horz" wrap="square" lIns="0" tIns="12065" rIns="0" bIns="0" rtlCol="0">
            <a:spAutoFit/>
          </a:bodyPr>
          <a:lstStyle/>
          <a:p>
            <a:pPr marL="355600" marR="5080" indent="-343535" algn="just">
              <a:lnSpc>
                <a:spcPct val="150000"/>
              </a:lnSpc>
              <a:spcBef>
                <a:spcPts val="95"/>
              </a:spcBef>
              <a:buClr>
                <a:srgbClr val="330066"/>
              </a:buClr>
              <a:buSzPct val="69642"/>
              <a:buFont typeface="Wingdings"/>
              <a:buChar char="⚫"/>
              <a:tabLst>
                <a:tab pos="356235" algn="l"/>
              </a:tabLst>
            </a:pPr>
            <a:r>
              <a:rPr sz="2000" spc="-5" dirty="0">
                <a:latin typeface="Museo 300" pitchFamily="50" charset="0"/>
                <a:cs typeface="Arial"/>
              </a:rPr>
              <a:t>A </a:t>
            </a:r>
            <a:r>
              <a:rPr sz="2000" dirty="0">
                <a:latin typeface="Museo 300" pitchFamily="50" charset="0"/>
                <a:cs typeface="Arial"/>
              </a:rPr>
              <a:t>branch instruction </a:t>
            </a:r>
            <a:r>
              <a:rPr sz="2000" spc="-5" dirty="0">
                <a:latin typeface="Museo 300" pitchFamily="50" charset="0"/>
                <a:cs typeface="Arial"/>
              </a:rPr>
              <a:t>replaces the </a:t>
            </a:r>
            <a:r>
              <a:rPr sz="2000" dirty="0">
                <a:latin typeface="Museo 300" pitchFamily="50" charset="0"/>
                <a:cs typeface="Arial"/>
              </a:rPr>
              <a:t>contents </a:t>
            </a:r>
            <a:r>
              <a:rPr sz="2000" spc="-5" dirty="0">
                <a:latin typeface="Museo 300" pitchFamily="50" charset="0"/>
                <a:cs typeface="Arial"/>
              </a:rPr>
              <a:t>of </a:t>
            </a:r>
            <a:r>
              <a:rPr sz="2000" dirty="0">
                <a:latin typeface="Museo 300" pitchFamily="50" charset="0"/>
                <a:cs typeface="Arial"/>
              </a:rPr>
              <a:t>PC  with</a:t>
            </a:r>
            <a:r>
              <a:rPr sz="2000" spc="-5" dirty="0">
                <a:latin typeface="Museo 300" pitchFamily="50" charset="0"/>
                <a:cs typeface="Arial"/>
              </a:rPr>
              <a:t> the </a:t>
            </a:r>
            <a:r>
              <a:rPr sz="2000" dirty="0">
                <a:latin typeface="Museo 300" pitchFamily="50" charset="0"/>
                <a:cs typeface="Arial"/>
              </a:rPr>
              <a:t>branch target</a:t>
            </a:r>
            <a:r>
              <a:rPr sz="2000" spc="-5" dirty="0">
                <a:latin typeface="Museo 300" pitchFamily="50" charset="0"/>
                <a:cs typeface="Arial"/>
              </a:rPr>
              <a:t> address</a:t>
            </a:r>
            <a:endParaRPr sz="2000">
              <a:latin typeface="Museo 300" pitchFamily="50" charset="0"/>
              <a:cs typeface="Arial"/>
            </a:endParaRPr>
          </a:p>
          <a:p>
            <a:pPr marL="355600" marR="396240" indent="-343535" algn="just">
              <a:lnSpc>
                <a:spcPct val="150000"/>
              </a:lnSpc>
              <a:spcBef>
                <a:spcPts val="675"/>
              </a:spcBef>
              <a:buClr>
                <a:srgbClr val="330066"/>
              </a:buClr>
              <a:buSzPct val="69642"/>
              <a:buFont typeface="Wingdings"/>
              <a:buChar char="⚫"/>
              <a:tabLst>
                <a:tab pos="356235" algn="l"/>
              </a:tabLst>
            </a:pPr>
            <a:r>
              <a:rPr sz="2000" spc="-5" dirty="0">
                <a:latin typeface="Museo 300" pitchFamily="50" charset="0"/>
                <a:cs typeface="Arial"/>
              </a:rPr>
              <a:t>This </a:t>
            </a:r>
            <a:r>
              <a:rPr sz="2000" dirty="0">
                <a:latin typeface="Museo 300" pitchFamily="50" charset="0"/>
                <a:cs typeface="Arial"/>
              </a:rPr>
              <a:t>address </a:t>
            </a:r>
            <a:r>
              <a:rPr sz="2000" spc="-5" dirty="0">
                <a:latin typeface="Museo 300" pitchFamily="50" charset="0"/>
                <a:cs typeface="Arial"/>
              </a:rPr>
              <a:t>is usually </a:t>
            </a:r>
            <a:r>
              <a:rPr sz="2000" dirty="0">
                <a:latin typeface="Museo 300" pitchFamily="50" charset="0"/>
                <a:cs typeface="Arial"/>
              </a:rPr>
              <a:t>obtained </a:t>
            </a:r>
            <a:r>
              <a:rPr sz="2000" spc="-5" dirty="0">
                <a:latin typeface="Museo 300" pitchFamily="50" charset="0"/>
                <a:cs typeface="Arial"/>
              </a:rPr>
              <a:t>by adding </a:t>
            </a:r>
            <a:r>
              <a:rPr sz="2000">
                <a:latin typeface="Museo 300" pitchFamily="50" charset="0"/>
                <a:cs typeface="Arial"/>
              </a:rPr>
              <a:t>an o</a:t>
            </a:r>
            <a:r>
              <a:rPr sz="2000" spc="-10">
                <a:latin typeface="Museo 300" pitchFamily="50" charset="0"/>
                <a:cs typeface="Arial"/>
              </a:rPr>
              <a:t>ffset </a:t>
            </a:r>
            <a:r>
              <a:rPr sz="2000" spc="-5" dirty="0">
                <a:latin typeface="Museo 300" pitchFamily="50" charset="0"/>
                <a:cs typeface="Arial"/>
              </a:rPr>
              <a:t>X given in the branch </a:t>
            </a:r>
            <a:r>
              <a:rPr sz="2000" dirty="0">
                <a:latin typeface="Museo 300" pitchFamily="50" charset="0"/>
                <a:cs typeface="Arial"/>
              </a:rPr>
              <a:t>instruction, </a:t>
            </a:r>
            <a:r>
              <a:rPr sz="2000" spc="20" dirty="0">
                <a:latin typeface="Museo 300" pitchFamily="50" charset="0"/>
                <a:cs typeface="Arial"/>
              </a:rPr>
              <a:t>to </a:t>
            </a:r>
            <a:r>
              <a:rPr sz="2000" spc="-5" dirty="0">
                <a:latin typeface="Museo 300" pitchFamily="50" charset="0"/>
                <a:cs typeface="Arial"/>
              </a:rPr>
              <a:t>the  updated value of the</a:t>
            </a:r>
            <a:r>
              <a:rPr sz="2000" spc="25" dirty="0">
                <a:latin typeface="Museo 300" pitchFamily="50" charset="0"/>
                <a:cs typeface="Arial"/>
              </a:rPr>
              <a:t> </a:t>
            </a:r>
            <a:r>
              <a:rPr sz="2000" spc="-10" dirty="0">
                <a:latin typeface="Museo 300" pitchFamily="50" charset="0"/>
                <a:cs typeface="Arial"/>
              </a:rPr>
              <a:t>PC.</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40</a:t>
            </a:fld>
            <a:endParaRPr lang="en-US" dirty="0"/>
          </a:p>
        </p:txBody>
      </p:sp>
      <p:sp>
        <p:nvSpPr>
          <p:cNvPr id="6" name="object 2"/>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sz="3500" b="1" dirty="0">
                <a:solidFill>
                  <a:srgbClr val="C00000"/>
                </a:solidFill>
                <a:latin typeface="Museo 300" pitchFamily="50" charset="0"/>
              </a:rPr>
              <a:t>Execution of</a:t>
            </a:r>
            <a:r>
              <a:rPr sz="3500" b="1" spc="-60" dirty="0">
                <a:solidFill>
                  <a:srgbClr val="C00000"/>
                </a:solidFill>
                <a:latin typeface="Museo 300" pitchFamily="50" charset="0"/>
              </a:rPr>
              <a:t> </a:t>
            </a:r>
            <a:r>
              <a:rPr sz="3500" b="1" dirty="0">
                <a:solidFill>
                  <a:srgbClr val="C00000"/>
                </a:solidFill>
                <a:latin typeface="Museo 300" pitchFamily="50" charset="0"/>
              </a:rPr>
              <a:t>Branch  Instructions..</a:t>
            </a:r>
          </a:p>
        </p:txBody>
      </p:sp>
      <p:sp>
        <p:nvSpPr>
          <p:cNvPr id="7" name="TextBox 6"/>
          <p:cNvSpPr txBox="1"/>
          <p:nvPr/>
        </p:nvSpPr>
        <p:spPr>
          <a:xfrm>
            <a:off x="2133600" y="1905000"/>
            <a:ext cx="7924800" cy="3323987"/>
          </a:xfrm>
          <a:prstGeom prst="rect">
            <a:avLst/>
          </a:prstGeom>
          <a:noFill/>
        </p:spPr>
        <p:txBody>
          <a:bodyPr wrap="square" rtlCol="0">
            <a:spAutoFit/>
          </a:bodyPr>
          <a:lstStyle/>
          <a:p>
            <a:pPr>
              <a:lnSpc>
                <a:spcPct val="150000"/>
              </a:lnSpc>
            </a:pPr>
            <a:r>
              <a:rPr lang="en-US" sz="2000" dirty="0">
                <a:latin typeface="Museo 300" pitchFamily="50" charset="0"/>
              </a:rPr>
              <a:t>Step 			Action</a:t>
            </a:r>
          </a:p>
          <a:p>
            <a:pPr>
              <a:lnSpc>
                <a:spcPct val="150000"/>
              </a:lnSpc>
            </a:pPr>
            <a:r>
              <a:rPr lang="en-US" sz="2000" dirty="0">
                <a:latin typeface="Museo 300" pitchFamily="50" charset="0"/>
              </a:rPr>
              <a:t>1.                                   </a:t>
            </a:r>
            <a:r>
              <a:rPr lang="en-US" sz="2000" dirty="0" err="1">
                <a:latin typeface="Museo 300" pitchFamily="50" charset="0"/>
              </a:rPr>
              <a:t>PCout</a:t>
            </a:r>
            <a:r>
              <a:rPr lang="en-US" sz="2000" dirty="0">
                <a:latin typeface="Museo 300" pitchFamily="50" charset="0"/>
              </a:rPr>
              <a:t>, </a:t>
            </a:r>
            <a:r>
              <a:rPr lang="en-US" sz="2000" dirty="0" err="1">
                <a:latin typeface="Museo 300" pitchFamily="50" charset="0"/>
              </a:rPr>
              <a:t>MARin</a:t>
            </a:r>
            <a:r>
              <a:rPr lang="en-US" sz="2000" dirty="0">
                <a:latin typeface="Museo 300" pitchFamily="50" charset="0"/>
              </a:rPr>
              <a:t>, Read, Select4, Add, </a:t>
            </a:r>
            <a:r>
              <a:rPr lang="en-US" sz="2000" dirty="0" err="1">
                <a:latin typeface="Museo 300" pitchFamily="50" charset="0"/>
              </a:rPr>
              <a:t>Zin</a:t>
            </a:r>
            <a:endParaRPr lang="en-US" sz="2000" dirty="0">
              <a:latin typeface="Museo 300" pitchFamily="50" charset="0"/>
            </a:endParaRPr>
          </a:p>
          <a:p>
            <a:pPr marL="342900" indent="-342900">
              <a:lnSpc>
                <a:spcPct val="150000"/>
              </a:lnSpc>
            </a:pPr>
            <a:r>
              <a:rPr lang="en-US" sz="2000" dirty="0">
                <a:latin typeface="Museo 300" pitchFamily="50" charset="0"/>
              </a:rPr>
              <a:t>2.                                   </a:t>
            </a:r>
            <a:r>
              <a:rPr lang="en-US" sz="2000" dirty="0" err="1">
                <a:latin typeface="Museo 300" pitchFamily="50" charset="0"/>
              </a:rPr>
              <a:t>Zout</a:t>
            </a:r>
            <a:r>
              <a:rPr lang="en-US" sz="2000" dirty="0">
                <a:latin typeface="Museo 300" pitchFamily="50" charset="0"/>
              </a:rPr>
              <a:t>, </a:t>
            </a:r>
            <a:r>
              <a:rPr lang="en-US" sz="2000" dirty="0" err="1">
                <a:latin typeface="Museo 300" pitchFamily="50" charset="0"/>
              </a:rPr>
              <a:t>PCin</a:t>
            </a:r>
            <a:r>
              <a:rPr lang="en-US" sz="2000" dirty="0">
                <a:latin typeface="Museo 300" pitchFamily="50" charset="0"/>
              </a:rPr>
              <a:t>, Yin, WMFC</a:t>
            </a:r>
          </a:p>
          <a:p>
            <a:pPr marL="342900" indent="-342900">
              <a:lnSpc>
                <a:spcPct val="150000"/>
              </a:lnSpc>
            </a:pPr>
            <a:r>
              <a:rPr lang="en-US" sz="2000" dirty="0">
                <a:latin typeface="Museo 300" pitchFamily="50" charset="0"/>
              </a:rPr>
              <a:t>3.                                   </a:t>
            </a:r>
            <a:r>
              <a:rPr lang="en-US" sz="2000" dirty="0" err="1">
                <a:latin typeface="Museo 300" pitchFamily="50" charset="0"/>
              </a:rPr>
              <a:t>MDRout</a:t>
            </a:r>
            <a:r>
              <a:rPr lang="en-US" sz="2000" dirty="0">
                <a:latin typeface="Museo 300" pitchFamily="50" charset="0"/>
              </a:rPr>
              <a:t>, </a:t>
            </a:r>
            <a:r>
              <a:rPr lang="en-US" sz="2000" dirty="0" err="1">
                <a:latin typeface="Museo 300" pitchFamily="50" charset="0"/>
              </a:rPr>
              <a:t>IRin</a:t>
            </a:r>
            <a:endParaRPr lang="en-US" sz="2000" dirty="0">
              <a:latin typeface="Museo 300" pitchFamily="50" charset="0"/>
            </a:endParaRPr>
          </a:p>
          <a:p>
            <a:pPr marL="342900" indent="-342900">
              <a:lnSpc>
                <a:spcPct val="150000"/>
              </a:lnSpc>
            </a:pPr>
            <a:r>
              <a:rPr lang="en-US" sz="2000" dirty="0">
                <a:latin typeface="Museo 300" pitchFamily="50" charset="0"/>
              </a:rPr>
              <a:t>4.                                   Offset-field-of-</a:t>
            </a:r>
            <a:r>
              <a:rPr lang="en-US" sz="2000" dirty="0" err="1">
                <a:latin typeface="Museo 300" pitchFamily="50" charset="0"/>
              </a:rPr>
              <a:t>IRout</a:t>
            </a:r>
            <a:r>
              <a:rPr lang="en-US" sz="2000" dirty="0">
                <a:latin typeface="Museo 300" pitchFamily="50" charset="0"/>
              </a:rPr>
              <a:t>, Add, </a:t>
            </a:r>
            <a:r>
              <a:rPr lang="en-US" sz="2000" dirty="0" err="1">
                <a:latin typeface="Museo 300" pitchFamily="50" charset="0"/>
              </a:rPr>
              <a:t>Zin</a:t>
            </a:r>
            <a:endParaRPr lang="en-US" sz="2000" dirty="0">
              <a:latin typeface="Museo 300" pitchFamily="50" charset="0"/>
            </a:endParaRPr>
          </a:p>
          <a:p>
            <a:pPr marL="342900" indent="-342900">
              <a:lnSpc>
                <a:spcPct val="150000"/>
              </a:lnSpc>
            </a:pPr>
            <a:r>
              <a:rPr lang="en-US" sz="2000" dirty="0">
                <a:latin typeface="Museo 300" pitchFamily="50" charset="0"/>
              </a:rPr>
              <a:t>5. 			            </a:t>
            </a:r>
            <a:r>
              <a:rPr lang="en-US" sz="2000" dirty="0" err="1">
                <a:latin typeface="Museo 300" pitchFamily="50" charset="0"/>
              </a:rPr>
              <a:t>Zout</a:t>
            </a:r>
            <a:r>
              <a:rPr lang="en-US" sz="2000" dirty="0">
                <a:latin typeface="Museo 300" pitchFamily="50" charset="0"/>
              </a:rPr>
              <a:t>, </a:t>
            </a:r>
            <a:r>
              <a:rPr lang="en-US" sz="2000" dirty="0" err="1">
                <a:latin typeface="Museo 300" pitchFamily="50" charset="0"/>
              </a:rPr>
              <a:t>PCin</a:t>
            </a:r>
            <a:r>
              <a:rPr lang="en-US" sz="2000" dirty="0">
                <a:latin typeface="Museo 300" pitchFamily="50" charset="0"/>
              </a:rPr>
              <a:t>, End</a:t>
            </a:r>
          </a:p>
          <a:p>
            <a:pPr marL="342900" indent="-342900">
              <a:lnSpc>
                <a:spcPct val="150000"/>
              </a:lnSpc>
            </a:pPr>
            <a:r>
              <a:rPr lang="en-US" sz="2000" dirty="0">
                <a:latin typeface="Museo 300" pitchFamily="50"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20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20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20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20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20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20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157098"/>
            <a:ext cx="7696200" cy="551433"/>
          </a:xfrm>
          <a:prstGeom prst="rect">
            <a:avLst/>
          </a:prstGeom>
        </p:spPr>
        <p:txBody>
          <a:bodyPr vert="horz" wrap="square" lIns="0" tIns="12700" rIns="0" bIns="0" rtlCol="0">
            <a:spAutoFit/>
          </a:bodyPr>
          <a:lstStyle/>
          <a:p>
            <a:pPr marL="12700" marR="5080">
              <a:lnSpc>
                <a:spcPct val="100000"/>
              </a:lnSpc>
              <a:spcBef>
                <a:spcPts val="100"/>
              </a:spcBef>
            </a:pPr>
            <a:r>
              <a:rPr dirty="0"/>
              <a:t>Execution of</a:t>
            </a:r>
            <a:r>
              <a:rPr spc="-60" dirty="0"/>
              <a:t> </a:t>
            </a:r>
            <a:r>
              <a:rPr dirty="0"/>
              <a:t>Branch  Instructions..</a:t>
            </a:r>
          </a:p>
        </p:txBody>
      </p:sp>
      <p:sp>
        <p:nvSpPr>
          <p:cNvPr id="3" name="object 3"/>
          <p:cNvSpPr txBox="1"/>
          <p:nvPr/>
        </p:nvSpPr>
        <p:spPr>
          <a:xfrm>
            <a:off x="762000" y="1066800"/>
            <a:ext cx="10662920" cy="4090863"/>
          </a:xfrm>
          <a:prstGeom prst="rect">
            <a:avLst/>
          </a:prstGeom>
        </p:spPr>
        <p:txBody>
          <a:bodyPr vert="horz" wrap="square" lIns="0" tIns="12700" rIns="0" bIns="0" rtlCol="0">
            <a:spAutoFit/>
          </a:bodyPr>
          <a:lstStyle/>
          <a:p>
            <a:pPr marL="355600" indent="-343535" algn="just">
              <a:lnSpc>
                <a:spcPct val="150000"/>
              </a:lnSpc>
              <a:spcBef>
                <a:spcPts val="100"/>
              </a:spcBef>
              <a:buClr>
                <a:srgbClr val="330066"/>
              </a:buClr>
              <a:buSzPct val="68750"/>
              <a:buFont typeface="Wingdings"/>
              <a:buChar char="⚫"/>
              <a:tabLst>
                <a:tab pos="355600" algn="l"/>
                <a:tab pos="356235" algn="l"/>
              </a:tabLst>
            </a:pPr>
            <a:r>
              <a:rPr sz="2000" spc="-5">
                <a:latin typeface="Museo 300" pitchFamily="50" charset="0"/>
                <a:cs typeface="Arial"/>
              </a:rPr>
              <a:t>Figure gives </a:t>
            </a:r>
            <a:r>
              <a:rPr sz="2000" dirty="0">
                <a:latin typeface="Museo 300" pitchFamily="50" charset="0"/>
                <a:cs typeface="Arial"/>
              </a:rPr>
              <a:t>a </a:t>
            </a:r>
            <a:r>
              <a:rPr sz="2000" spc="-5" dirty="0">
                <a:latin typeface="Museo 300" pitchFamily="50" charset="0"/>
                <a:cs typeface="Arial"/>
              </a:rPr>
              <a:t>control sequence </a:t>
            </a:r>
            <a:r>
              <a:rPr sz="2000" dirty="0">
                <a:latin typeface="Museo 300" pitchFamily="50" charset="0"/>
                <a:cs typeface="Arial"/>
              </a:rPr>
              <a:t>that </a:t>
            </a:r>
            <a:r>
              <a:rPr sz="2000" spc="-5">
                <a:latin typeface="Museo 300" pitchFamily="50" charset="0"/>
                <a:cs typeface="Arial"/>
              </a:rPr>
              <a:t>implements</a:t>
            </a:r>
            <a:r>
              <a:rPr sz="2000" spc="75">
                <a:latin typeface="Museo 300" pitchFamily="50" charset="0"/>
                <a:cs typeface="Arial"/>
              </a:rPr>
              <a:t> </a:t>
            </a:r>
            <a:r>
              <a:rPr sz="2000">
                <a:latin typeface="Museo 300" pitchFamily="50" charset="0"/>
                <a:cs typeface="Arial"/>
              </a:rPr>
              <a:t>an</a:t>
            </a:r>
            <a:r>
              <a:rPr lang="en-US" sz="2000" dirty="0">
                <a:latin typeface="Museo 300" pitchFamily="50" charset="0"/>
                <a:cs typeface="Arial"/>
              </a:rPr>
              <a:t> </a:t>
            </a:r>
            <a:r>
              <a:rPr sz="2000" spc="-5">
                <a:latin typeface="Museo 300" pitchFamily="50" charset="0"/>
                <a:cs typeface="Arial"/>
              </a:rPr>
              <a:t>unconditional </a:t>
            </a:r>
            <a:r>
              <a:rPr sz="2000" spc="-5" dirty="0">
                <a:latin typeface="Museo 300" pitchFamily="50" charset="0"/>
                <a:cs typeface="Arial"/>
              </a:rPr>
              <a:t>branch</a:t>
            </a:r>
            <a:r>
              <a:rPr sz="2000" spc="50" dirty="0">
                <a:latin typeface="Museo 300" pitchFamily="50" charset="0"/>
                <a:cs typeface="Arial"/>
              </a:rPr>
              <a:t> </a:t>
            </a:r>
            <a:r>
              <a:rPr sz="2000" spc="-5" dirty="0">
                <a:latin typeface="Museo 300" pitchFamily="50" charset="0"/>
                <a:cs typeface="Arial"/>
              </a:rPr>
              <a:t>instruction.</a:t>
            </a:r>
            <a:endParaRPr sz="2000">
              <a:latin typeface="Museo 300" pitchFamily="50" charset="0"/>
              <a:cs typeface="Arial"/>
            </a:endParaRPr>
          </a:p>
          <a:p>
            <a:pPr marL="355600" indent="-343535" algn="just">
              <a:lnSpc>
                <a:spcPct val="150000"/>
              </a:lnSpc>
              <a:spcBef>
                <a:spcPts val="575"/>
              </a:spcBef>
              <a:buClr>
                <a:srgbClr val="330066"/>
              </a:buClr>
              <a:buSzPct val="68750"/>
              <a:buFont typeface="Wingdings"/>
              <a:buChar char="⚫"/>
              <a:tabLst>
                <a:tab pos="355600" algn="l"/>
                <a:tab pos="356235" algn="l"/>
              </a:tabLst>
            </a:pPr>
            <a:r>
              <a:rPr sz="2000" spc="-5" dirty="0">
                <a:latin typeface="Museo 300" pitchFamily="50" charset="0"/>
                <a:cs typeface="Arial"/>
              </a:rPr>
              <a:t>Processing </a:t>
            </a:r>
            <a:r>
              <a:rPr sz="2000" dirty="0">
                <a:latin typeface="Museo 300" pitchFamily="50" charset="0"/>
                <a:cs typeface="Arial"/>
              </a:rPr>
              <a:t>starts </a:t>
            </a:r>
            <a:r>
              <a:rPr sz="2000" spc="-5" dirty="0">
                <a:latin typeface="Museo 300" pitchFamily="50" charset="0"/>
                <a:cs typeface="Arial"/>
              </a:rPr>
              <a:t>with the </a:t>
            </a:r>
            <a:r>
              <a:rPr sz="2000" dirty="0">
                <a:latin typeface="Museo 300" pitchFamily="50" charset="0"/>
                <a:cs typeface="Arial"/>
              </a:rPr>
              <a:t>fetch</a:t>
            </a:r>
            <a:r>
              <a:rPr sz="2000" spc="10" dirty="0">
                <a:latin typeface="Museo 300" pitchFamily="50" charset="0"/>
                <a:cs typeface="Arial"/>
              </a:rPr>
              <a:t> </a:t>
            </a:r>
            <a:r>
              <a:rPr sz="2000" spc="-5" dirty="0">
                <a:latin typeface="Museo 300" pitchFamily="50" charset="0"/>
                <a:cs typeface="Arial"/>
              </a:rPr>
              <a:t>phase.</a:t>
            </a:r>
            <a:endParaRPr sz="2000">
              <a:latin typeface="Museo 300" pitchFamily="50" charset="0"/>
              <a:cs typeface="Arial"/>
            </a:endParaRPr>
          </a:p>
          <a:p>
            <a:pPr marL="355600" indent="-343535" algn="just">
              <a:lnSpc>
                <a:spcPct val="150000"/>
              </a:lnSpc>
              <a:spcBef>
                <a:spcPts val="575"/>
              </a:spcBef>
              <a:buClr>
                <a:srgbClr val="330066"/>
              </a:buClr>
              <a:buSzPct val="68750"/>
              <a:buFont typeface="Wingdings"/>
              <a:buChar char="⚫"/>
              <a:tabLst>
                <a:tab pos="355600" algn="l"/>
                <a:tab pos="356235" algn="l"/>
              </a:tabLst>
            </a:pPr>
            <a:r>
              <a:rPr sz="2000" spc="-5" dirty="0">
                <a:latin typeface="Museo 300" pitchFamily="50" charset="0"/>
                <a:cs typeface="Arial"/>
              </a:rPr>
              <a:t>This phase ends when </a:t>
            </a:r>
            <a:r>
              <a:rPr sz="2000" dirty="0">
                <a:latin typeface="Museo 300" pitchFamily="50" charset="0"/>
                <a:cs typeface="Arial"/>
              </a:rPr>
              <a:t>the </a:t>
            </a:r>
            <a:r>
              <a:rPr sz="2000" spc="-5" dirty="0">
                <a:latin typeface="Museo 300" pitchFamily="50" charset="0"/>
                <a:cs typeface="Arial"/>
              </a:rPr>
              <a:t>instruction is loaded </a:t>
            </a:r>
            <a:r>
              <a:rPr sz="2000" spc="-5">
                <a:latin typeface="Museo 300" pitchFamily="50" charset="0"/>
                <a:cs typeface="Arial"/>
              </a:rPr>
              <a:t>into</a:t>
            </a:r>
            <a:r>
              <a:rPr sz="2000" spc="125">
                <a:latin typeface="Museo 300" pitchFamily="50" charset="0"/>
                <a:cs typeface="Arial"/>
              </a:rPr>
              <a:t> </a:t>
            </a:r>
            <a:r>
              <a:rPr sz="2000">
                <a:latin typeface="Museo 300" pitchFamily="50" charset="0"/>
                <a:cs typeface="Arial"/>
              </a:rPr>
              <a:t>the</a:t>
            </a:r>
            <a:r>
              <a:rPr lang="en-US" sz="2000" dirty="0">
                <a:latin typeface="Museo 300" pitchFamily="50" charset="0"/>
                <a:cs typeface="Arial"/>
              </a:rPr>
              <a:t> </a:t>
            </a:r>
            <a:r>
              <a:rPr sz="2000">
                <a:latin typeface="Museo 300" pitchFamily="50" charset="0"/>
                <a:cs typeface="Arial"/>
              </a:rPr>
              <a:t>IR </a:t>
            </a:r>
            <a:r>
              <a:rPr sz="2000" spc="-5" dirty="0">
                <a:latin typeface="Museo 300" pitchFamily="50" charset="0"/>
                <a:cs typeface="Arial"/>
              </a:rPr>
              <a:t>in </a:t>
            </a:r>
            <a:r>
              <a:rPr sz="2000" dirty="0">
                <a:latin typeface="Museo 300" pitchFamily="50" charset="0"/>
                <a:cs typeface="Arial"/>
              </a:rPr>
              <a:t>step</a:t>
            </a:r>
            <a:r>
              <a:rPr sz="2000" spc="-5" dirty="0">
                <a:latin typeface="Museo 300" pitchFamily="50" charset="0"/>
                <a:cs typeface="Arial"/>
              </a:rPr>
              <a:t> 3.</a:t>
            </a:r>
            <a:endParaRPr sz="2000">
              <a:latin typeface="Museo 300" pitchFamily="50" charset="0"/>
              <a:cs typeface="Arial"/>
            </a:endParaRPr>
          </a:p>
          <a:p>
            <a:pPr marL="355600" marR="157480" indent="-343535" algn="just">
              <a:lnSpc>
                <a:spcPct val="150000"/>
              </a:lnSpc>
              <a:spcBef>
                <a:spcPts val="575"/>
              </a:spcBef>
              <a:buClr>
                <a:srgbClr val="330066"/>
              </a:buClr>
              <a:buSzPct val="68750"/>
              <a:buFont typeface="Wingdings"/>
              <a:buChar char="⚫"/>
              <a:tabLst>
                <a:tab pos="355600" algn="l"/>
                <a:tab pos="356235" algn="l"/>
              </a:tabLst>
            </a:pPr>
            <a:r>
              <a:rPr sz="2000" dirty="0">
                <a:latin typeface="Museo 300" pitchFamily="50" charset="0"/>
                <a:cs typeface="Arial"/>
              </a:rPr>
              <a:t>The </a:t>
            </a:r>
            <a:r>
              <a:rPr sz="2000" spc="-10" dirty="0">
                <a:latin typeface="Museo 300" pitchFamily="50" charset="0"/>
                <a:cs typeface="Arial"/>
              </a:rPr>
              <a:t>offset </a:t>
            </a:r>
            <a:r>
              <a:rPr sz="2000" spc="-5" dirty="0">
                <a:latin typeface="Museo 300" pitchFamily="50" charset="0"/>
                <a:cs typeface="Arial"/>
              </a:rPr>
              <a:t>value is extracted </a:t>
            </a:r>
            <a:r>
              <a:rPr sz="2000" dirty="0">
                <a:latin typeface="Museo 300" pitchFamily="50" charset="0"/>
                <a:cs typeface="Arial"/>
              </a:rPr>
              <a:t>from the IR </a:t>
            </a:r>
            <a:r>
              <a:rPr sz="2000" spc="-10" dirty="0">
                <a:latin typeface="Museo 300" pitchFamily="50" charset="0"/>
                <a:cs typeface="Arial"/>
              </a:rPr>
              <a:t>by </a:t>
            </a:r>
            <a:r>
              <a:rPr sz="2000" dirty="0">
                <a:latin typeface="Museo 300" pitchFamily="50" charset="0"/>
                <a:cs typeface="Arial"/>
              </a:rPr>
              <a:t>the  </a:t>
            </a:r>
            <a:r>
              <a:rPr sz="2000" spc="-5" dirty="0">
                <a:latin typeface="Museo 300" pitchFamily="50" charset="0"/>
                <a:cs typeface="Arial"/>
              </a:rPr>
              <a:t>instruction decoding circuit, which will also perform sign  extension </a:t>
            </a:r>
            <a:r>
              <a:rPr sz="2000" dirty="0">
                <a:latin typeface="Museo 300" pitchFamily="50" charset="0"/>
                <a:cs typeface="Arial"/>
              </a:rPr>
              <a:t>if</a:t>
            </a:r>
            <a:r>
              <a:rPr sz="2000" spc="15" dirty="0">
                <a:latin typeface="Museo 300" pitchFamily="50" charset="0"/>
                <a:cs typeface="Arial"/>
              </a:rPr>
              <a:t> </a:t>
            </a:r>
            <a:r>
              <a:rPr sz="2000" spc="-5" dirty="0">
                <a:latin typeface="Museo 300" pitchFamily="50" charset="0"/>
                <a:cs typeface="Arial"/>
              </a:rPr>
              <a:t>required.</a:t>
            </a:r>
            <a:endParaRPr sz="2000">
              <a:latin typeface="Museo 300" pitchFamily="50" charset="0"/>
              <a:cs typeface="Arial"/>
            </a:endParaRPr>
          </a:p>
          <a:p>
            <a:pPr marL="355600" marR="5080" indent="-343535" algn="just">
              <a:lnSpc>
                <a:spcPct val="150000"/>
              </a:lnSpc>
              <a:spcBef>
                <a:spcPts val="580"/>
              </a:spcBef>
              <a:buClr>
                <a:srgbClr val="330066"/>
              </a:buClr>
              <a:buSzPct val="68750"/>
              <a:buFont typeface="Wingdings"/>
              <a:buChar char="⚫"/>
              <a:tabLst>
                <a:tab pos="355600" algn="l"/>
                <a:tab pos="356235" algn="l"/>
              </a:tabLst>
            </a:pPr>
            <a:r>
              <a:rPr sz="2000" spc="-5" dirty="0">
                <a:latin typeface="Museo 300" pitchFamily="50" charset="0"/>
                <a:cs typeface="Arial"/>
              </a:rPr>
              <a:t>Since </a:t>
            </a:r>
            <a:r>
              <a:rPr sz="2000" dirty="0">
                <a:latin typeface="Museo 300" pitchFamily="50" charset="0"/>
                <a:cs typeface="Arial"/>
              </a:rPr>
              <a:t>the </a:t>
            </a:r>
            <a:r>
              <a:rPr sz="2000" spc="-5" dirty="0">
                <a:latin typeface="Museo 300" pitchFamily="50" charset="0"/>
                <a:cs typeface="Arial"/>
              </a:rPr>
              <a:t>value </a:t>
            </a:r>
            <a:r>
              <a:rPr sz="2000" dirty="0">
                <a:latin typeface="Museo 300" pitchFamily="50" charset="0"/>
                <a:cs typeface="Arial"/>
              </a:rPr>
              <a:t>of the </a:t>
            </a:r>
            <a:r>
              <a:rPr sz="2000" spc="-5" dirty="0">
                <a:latin typeface="Museo 300" pitchFamily="50" charset="0"/>
                <a:cs typeface="Arial"/>
              </a:rPr>
              <a:t>updated PC is already </a:t>
            </a:r>
            <a:r>
              <a:rPr sz="2000">
                <a:latin typeface="Museo 300" pitchFamily="50" charset="0"/>
                <a:cs typeface="Arial"/>
              </a:rPr>
              <a:t>available in </a:t>
            </a:r>
            <a:r>
              <a:rPr sz="2000" spc="-5" dirty="0">
                <a:latin typeface="Museo 300" pitchFamily="50" charset="0"/>
                <a:cs typeface="Arial"/>
              </a:rPr>
              <a:t>register </a:t>
            </a:r>
            <a:r>
              <a:rPr sz="2000" spc="-160" dirty="0">
                <a:latin typeface="Museo 300" pitchFamily="50" charset="0"/>
                <a:cs typeface="Arial"/>
              </a:rPr>
              <a:t>Y, </a:t>
            </a:r>
            <a:r>
              <a:rPr sz="2000" dirty="0">
                <a:latin typeface="Museo 300" pitchFamily="50" charset="0"/>
                <a:cs typeface="Arial"/>
              </a:rPr>
              <a:t>the </a:t>
            </a:r>
            <a:r>
              <a:rPr sz="2000" spc="-10" dirty="0">
                <a:latin typeface="Museo 300" pitchFamily="50" charset="0"/>
                <a:cs typeface="Arial"/>
              </a:rPr>
              <a:t>offset </a:t>
            </a:r>
            <a:r>
              <a:rPr sz="2000" dirty="0">
                <a:latin typeface="Museo 300" pitchFamily="50" charset="0"/>
                <a:cs typeface="Arial"/>
              </a:rPr>
              <a:t>X </a:t>
            </a:r>
            <a:r>
              <a:rPr sz="2000" spc="-5" dirty="0">
                <a:latin typeface="Museo 300" pitchFamily="50" charset="0"/>
                <a:cs typeface="Arial"/>
              </a:rPr>
              <a:t>is gated onto </a:t>
            </a:r>
            <a:r>
              <a:rPr sz="2000" dirty="0">
                <a:latin typeface="Museo 300" pitchFamily="50" charset="0"/>
                <a:cs typeface="Arial"/>
              </a:rPr>
              <a:t>the </a:t>
            </a:r>
            <a:r>
              <a:rPr sz="2000" spc="-5" dirty="0">
                <a:latin typeface="Museo 300" pitchFamily="50" charset="0"/>
                <a:cs typeface="Arial"/>
              </a:rPr>
              <a:t>bus in step </a:t>
            </a:r>
            <a:r>
              <a:rPr sz="2000" dirty="0">
                <a:latin typeface="Museo 300" pitchFamily="50" charset="0"/>
                <a:cs typeface="Arial"/>
              </a:rPr>
              <a:t>4,  </a:t>
            </a:r>
            <a:r>
              <a:rPr sz="2000" spc="-5" dirty="0">
                <a:latin typeface="Museo 300" pitchFamily="50" charset="0"/>
                <a:cs typeface="Arial"/>
              </a:rPr>
              <a:t>and </a:t>
            </a:r>
            <a:r>
              <a:rPr sz="2000" dirty="0">
                <a:latin typeface="Museo 300" pitchFamily="50" charset="0"/>
                <a:cs typeface="Arial"/>
              </a:rPr>
              <a:t>an </a:t>
            </a:r>
            <a:r>
              <a:rPr sz="2000" spc="-5" dirty="0">
                <a:latin typeface="Museo 300" pitchFamily="50" charset="0"/>
                <a:cs typeface="Arial"/>
              </a:rPr>
              <a:t>addition operation </a:t>
            </a:r>
            <a:r>
              <a:rPr sz="2000" dirty="0">
                <a:latin typeface="Museo 300" pitchFamily="50" charset="0"/>
                <a:cs typeface="Arial"/>
              </a:rPr>
              <a:t>is</a:t>
            </a:r>
            <a:r>
              <a:rPr sz="2000" spc="45" dirty="0">
                <a:latin typeface="Museo 300" pitchFamily="50" charset="0"/>
                <a:cs typeface="Arial"/>
              </a:rPr>
              <a:t> </a:t>
            </a:r>
            <a:r>
              <a:rPr sz="2000" dirty="0">
                <a:latin typeface="Museo 300" pitchFamily="50" charset="0"/>
                <a:cs typeface="Arial"/>
              </a:rPr>
              <a:t>performed.</a:t>
            </a:r>
            <a:endParaRPr sz="2000">
              <a:latin typeface="Museo 300" pitchFamily="50" charset="0"/>
              <a:cs typeface="Arial"/>
            </a:endParaRPr>
          </a:p>
          <a:p>
            <a:pPr marL="355600" marR="80010" indent="-343535" algn="just">
              <a:lnSpc>
                <a:spcPct val="150000"/>
              </a:lnSpc>
              <a:spcBef>
                <a:spcPts val="575"/>
              </a:spcBef>
              <a:buClr>
                <a:srgbClr val="330066"/>
              </a:buClr>
              <a:buSzPct val="68750"/>
              <a:buFont typeface="Wingdings"/>
              <a:buChar char="⚫"/>
              <a:tabLst>
                <a:tab pos="355600" algn="l"/>
                <a:tab pos="356235" algn="l"/>
              </a:tabLst>
            </a:pPr>
            <a:r>
              <a:rPr sz="2000" dirty="0">
                <a:latin typeface="Museo 300" pitchFamily="50" charset="0"/>
                <a:cs typeface="Arial"/>
              </a:rPr>
              <a:t>The </a:t>
            </a:r>
            <a:r>
              <a:rPr sz="2000" spc="-5" dirty="0">
                <a:latin typeface="Museo 300" pitchFamily="50" charset="0"/>
                <a:cs typeface="Arial"/>
              </a:rPr>
              <a:t>result, </a:t>
            </a:r>
            <a:r>
              <a:rPr sz="2000" spc="-10" dirty="0">
                <a:latin typeface="Museo 300" pitchFamily="50" charset="0"/>
                <a:cs typeface="Arial"/>
              </a:rPr>
              <a:t>which </a:t>
            </a:r>
            <a:r>
              <a:rPr sz="2000" spc="-5" dirty="0">
                <a:latin typeface="Museo 300" pitchFamily="50" charset="0"/>
                <a:cs typeface="Arial"/>
              </a:rPr>
              <a:t>is </a:t>
            </a:r>
            <a:r>
              <a:rPr sz="2000" dirty="0">
                <a:latin typeface="Museo 300" pitchFamily="50" charset="0"/>
                <a:cs typeface="Arial"/>
              </a:rPr>
              <a:t>the </a:t>
            </a:r>
            <a:r>
              <a:rPr sz="2000" spc="-5" dirty="0">
                <a:latin typeface="Museo 300" pitchFamily="50" charset="0"/>
                <a:cs typeface="Arial"/>
              </a:rPr>
              <a:t>branch </a:t>
            </a:r>
            <a:r>
              <a:rPr sz="2000" dirty="0">
                <a:latin typeface="Museo 300" pitchFamily="50" charset="0"/>
                <a:cs typeface="Arial"/>
              </a:rPr>
              <a:t>target </a:t>
            </a:r>
            <a:r>
              <a:rPr sz="2000" spc="-5" dirty="0">
                <a:latin typeface="Museo 300" pitchFamily="50" charset="0"/>
                <a:cs typeface="Arial"/>
              </a:rPr>
              <a:t>address, is </a:t>
            </a:r>
            <a:r>
              <a:rPr sz="2000" spc="-130" dirty="0">
                <a:latin typeface="Museo 300" pitchFamily="50" charset="0"/>
                <a:cs typeface="Arial"/>
              </a:rPr>
              <a:t>loaded  </a:t>
            </a:r>
            <a:r>
              <a:rPr sz="2000" spc="-5" dirty="0">
                <a:latin typeface="Museo 300" pitchFamily="50" charset="0"/>
                <a:cs typeface="Arial"/>
              </a:rPr>
              <a:t>into the </a:t>
            </a:r>
            <a:r>
              <a:rPr sz="2000" spc="-10" dirty="0">
                <a:latin typeface="Museo 300" pitchFamily="50" charset="0"/>
                <a:cs typeface="Arial"/>
              </a:rPr>
              <a:t>PC </a:t>
            </a:r>
            <a:r>
              <a:rPr sz="2000" spc="-5" dirty="0">
                <a:latin typeface="Museo 300" pitchFamily="50" charset="0"/>
                <a:cs typeface="Arial"/>
              </a:rPr>
              <a:t>in </a:t>
            </a:r>
            <a:r>
              <a:rPr sz="2000" dirty="0">
                <a:latin typeface="Museo 300" pitchFamily="50" charset="0"/>
                <a:cs typeface="Arial"/>
              </a:rPr>
              <a:t>step</a:t>
            </a:r>
            <a:r>
              <a:rPr sz="2000" spc="25" dirty="0">
                <a:latin typeface="Museo 300" pitchFamily="50" charset="0"/>
                <a:cs typeface="Arial"/>
              </a:rPr>
              <a:t> </a:t>
            </a:r>
            <a:r>
              <a:rPr sz="2000" dirty="0">
                <a:latin typeface="Museo 300" pitchFamily="50" charset="0"/>
                <a:cs typeface="Arial"/>
              </a:rPr>
              <a:t>5.</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304800"/>
            <a:ext cx="9039013" cy="551433"/>
          </a:xfrm>
          <a:prstGeom prst="rect">
            <a:avLst/>
          </a:prstGeom>
        </p:spPr>
        <p:txBody>
          <a:bodyPr vert="horz" wrap="square" lIns="0" tIns="12700" rIns="0" bIns="0" rtlCol="0">
            <a:spAutoFit/>
          </a:bodyPr>
          <a:lstStyle/>
          <a:p>
            <a:pPr marL="12700" marR="5080">
              <a:lnSpc>
                <a:spcPct val="100000"/>
              </a:lnSpc>
              <a:spcBef>
                <a:spcPts val="100"/>
              </a:spcBef>
            </a:pPr>
            <a:r>
              <a:rPr dirty="0"/>
              <a:t>Execution of</a:t>
            </a:r>
            <a:r>
              <a:rPr spc="-60" dirty="0"/>
              <a:t> </a:t>
            </a:r>
            <a:r>
              <a:rPr dirty="0"/>
              <a:t>Branch  Instructions..</a:t>
            </a:r>
          </a:p>
        </p:txBody>
      </p:sp>
      <p:sp>
        <p:nvSpPr>
          <p:cNvPr id="3" name="object 3"/>
          <p:cNvSpPr txBox="1"/>
          <p:nvPr/>
        </p:nvSpPr>
        <p:spPr>
          <a:xfrm>
            <a:off x="714588" y="1624711"/>
            <a:ext cx="10046545" cy="1887055"/>
          </a:xfrm>
          <a:prstGeom prst="rect">
            <a:avLst/>
          </a:prstGeom>
        </p:spPr>
        <p:txBody>
          <a:bodyPr vert="horz" wrap="square" lIns="0" tIns="12065" rIns="0" bIns="0" rtlCol="0">
            <a:spAutoFit/>
          </a:bodyPr>
          <a:lstStyle/>
          <a:p>
            <a:pPr marL="355600" marR="5080" indent="-343535" algn="just">
              <a:lnSpc>
                <a:spcPct val="150000"/>
              </a:lnSpc>
              <a:spcBef>
                <a:spcPts val="95"/>
              </a:spcBef>
              <a:tabLst>
                <a:tab pos="355600" algn="l"/>
              </a:tabLst>
            </a:pPr>
            <a:r>
              <a:rPr sz="2000" spc="2045" dirty="0">
                <a:solidFill>
                  <a:srgbClr val="330066"/>
                </a:solidFill>
                <a:latin typeface="Museo 300" pitchFamily="50" charset="0"/>
                <a:cs typeface="Wingdings"/>
              </a:rPr>
              <a:t>⚫</a:t>
            </a:r>
            <a:r>
              <a:rPr sz="2000" spc="2045" dirty="0">
                <a:solidFill>
                  <a:srgbClr val="330066"/>
                </a:solidFill>
                <a:latin typeface="Museo 300" pitchFamily="50" charset="0"/>
                <a:cs typeface="Times New Roman"/>
              </a:rPr>
              <a:t>	</a:t>
            </a:r>
            <a:r>
              <a:rPr sz="2000" spc="-5" dirty="0">
                <a:latin typeface="Museo 300" pitchFamily="50" charset="0"/>
                <a:cs typeface="Arial"/>
              </a:rPr>
              <a:t>The </a:t>
            </a:r>
            <a:r>
              <a:rPr sz="2000" spc="-10" dirty="0">
                <a:latin typeface="Museo 300" pitchFamily="50" charset="0"/>
                <a:cs typeface="Arial"/>
              </a:rPr>
              <a:t>offset </a:t>
            </a:r>
            <a:r>
              <a:rPr sz="2000" spc="-5" dirty="0">
                <a:latin typeface="Museo 300" pitchFamily="50" charset="0"/>
                <a:cs typeface="Arial"/>
              </a:rPr>
              <a:t>X is usually the difference </a:t>
            </a:r>
            <a:r>
              <a:rPr sz="2000" dirty="0">
                <a:latin typeface="Museo 300" pitchFamily="50" charset="0"/>
                <a:cs typeface="Arial"/>
              </a:rPr>
              <a:t>between</a:t>
            </a:r>
            <a:r>
              <a:rPr sz="2000" spc="-190" dirty="0">
                <a:latin typeface="Museo 300" pitchFamily="50" charset="0"/>
                <a:cs typeface="Arial"/>
              </a:rPr>
              <a:t>  </a:t>
            </a:r>
            <a:r>
              <a:rPr sz="2000" spc="-5" dirty="0">
                <a:latin typeface="Museo 300" pitchFamily="50" charset="0"/>
                <a:cs typeface="Arial"/>
              </a:rPr>
              <a:t>the </a:t>
            </a:r>
            <a:r>
              <a:rPr sz="2000" dirty="0">
                <a:latin typeface="Museo 300" pitchFamily="50" charset="0"/>
                <a:cs typeface="Arial"/>
              </a:rPr>
              <a:t>branch </a:t>
            </a:r>
            <a:r>
              <a:rPr sz="2000" spc="-5" dirty="0">
                <a:latin typeface="Museo 300" pitchFamily="50" charset="0"/>
                <a:cs typeface="Arial"/>
              </a:rPr>
              <a:t>target address and the </a:t>
            </a:r>
            <a:r>
              <a:rPr sz="2000" dirty="0">
                <a:latin typeface="Museo 300" pitchFamily="50" charset="0"/>
                <a:cs typeface="Arial"/>
              </a:rPr>
              <a:t>address  </a:t>
            </a:r>
            <a:r>
              <a:rPr sz="2000" spc="-5" dirty="0">
                <a:latin typeface="Museo 300" pitchFamily="50" charset="0"/>
                <a:cs typeface="Arial"/>
              </a:rPr>
              <a:t>immediately following the branch</a:t>
            </a:r>
            <a:r>
              <a:rPr sz="2000" spc="80" dirty="0">
                <a:latin typeface="Museo 300" pitchFamily="50" charset="0"/>
                <a:cs typeface="Arial"/>
              </a:rPr>
              <a:t> </a:t>
            </a:r>
            <a:r>
              <a:rPr sz="2000" dirty="0">
                <a:latin typeface="Museo 300" pitchFamily="50" charset="0"/>
                <a:cs typeface="Arial"/>
              </a:rPr>
              <a:t>instruction.</a:t>
            </a:r>
            <a:endParaRPr sz="2000">
              <a:latin typeface="Museo 300" pitchFamily="50" charset="0"/>
              <a:cs typeface="Arial"/>
            </a:endParaRPr>
          </a:p>
          <a:p>
            <a:pPr marL="704850" marR="29845" indent="-347980" algn="just">
              <a:lnSpc>
                <a:spcPct val="150000"/>
              </a:lnSpc>
              <a:spcBef>
                <a:spcPts val="590"/>
              </a:spcBef>
            </a:pPr>
            <a:r>
              <a:rPr sz="2000" spc="1785" dirty="0">
                <a:solidFill>
                  <a:srgbClr val="669999"/>
                </a:solidFill>
                <a:latin typeface="Museo 300" pitchFamily="50" charset="0"/>
                <a:cs typeface="Wingdings"/>
              </a:rPr>
              <a:t>⚫</a:t>
            </a:r>
            <a:r>
              <a:rPr sz="2000" spc="1140" dirty="0">
                <a:solidFill>
                  <a:srgbClr val="669999"/>
                </a:solidFill>
                <a:latin typeface="Museo 300" pitchFamily="50" charset="0"/>
                <a:cs typeface="Times New Roman"/>
              </a:rPr>
              <a:t> </a:t>
            </a:r>
            <a:r>
              <a:rPr sz="2000" spc="-5" dirty="0">
                <a:latin typeface="Museo 300" pitchFamily="50" charset="0"/>
                <a:cs typeface="Arial"/>
              </a:rPr>
              <a:t>For example, </a:t>
            </a:r>
            <a:r>
              <a:rPr sz="2000" dirty="0">
                <a:latin typeface="Museo 300" pitchFamily="50" charset="0"/>
                <a:cs typeface="Arial"/>
              </a:rPr>
              <a:t>if the </a:t>
            </a:r>
            <a:r>
              <a:rPr sz="2000" spc="-5" dirty="0">
                <a:latin typeface="Museo 300" pitchFamily="50" charset="0"/>
                <a:cs typeface="Arial"/>
              </a:rPr>
              <a:t>branch instruction </a:t>
            </a:r>
            <a:r>
              <a:rPr sz="2000" dirty="0">
                <a:latin typeface="Museo 300" pitchFamily="50" charset="0"/>
                <a:cs typeface="Arial"/>
              </a:rPr>
              <a:t>is at location </a:t>
            </a:r>
            <a:r>
              <a:rPr sz="2000" spc="-280" dirty="0">
                <a:latin typeface="Museo 300" pitchFamily="50" charset="0"/>
                <a:cs typeface="Arial"/>
              </a:rPr>
              <a:t> </a:t>
            </a:r>
            <a:r>
              <a:rPr sz="2000" spc="-5" dirty="0">
                <a:latin typeface="Museo 300" pitchFamily="50" charset="0"/>
                <a:cs typeface="Arial"/>
              </a:rPr>
              <a:t>2000 and </a:t>
            </a:r>
            <a:r>
              <a:rPr sz="2000" dirty="0">
                <a:latin typeface="Museo 300" pitchFamily="50" charset="0"/>
                <a:cs typeface="Arial"/>
              </a:rPr>
              <a:t>if the </a:t>
            </a:r>
            <a:r>
              <a:rPr sz="2000" spc="-5" dirty="0">
                <a:latin typeface="Museo 300" pitchFamily="50" charset="0"/>
                <a:cs typeface="Arial"/>
              </a:rPr>
              <a:t>branch </a:t>
            </a:r>
            <a:r>
              <a:rPr sz="2000" dirty="0">
                <a:latin typeface="Museo 300" pitchFamily="50" charset="0"/>
                <a:cs typeface="Arial"/>
              </a:rPr>
              <a:t>target </a:t>
            </a:r>
            <a:r>
              <a:rPr sz="2000" spc="-5" dirty="0">
                <a:latin typeface="Museo 300" pitchFamily="50" charset="0"/>
                <a:cs typeface="Arial"/>
              </a:rPr>
              <a:t>address is 2050, </a:t>
            </a:r>
            <a:r>
              <a:rPr sz="2000" dirty="0">
                <a:latin typeface="Museo 300" pitchFamily="50" charset="0"/>
                <a:cs typeface="Arial"/>
              </a:rPr>
              <a:t>the  </a:t>
            </a:r>
            <a:r>
              <a:rPr sz="2000" spc="-5" dirty="0">
                <a:latin typeface="Museo 300" pitchFamily="50" charset="0"/>
                <a:cs typeface="Arial"/>
              </a:rPr>
              <a:t>value </a:t>
            </a:r>
            <a:r>
              <a:rPr sz="2000" dirty="0">
                <a:latin typeface="Museo 300" pitchFamily="50" charset="0"/>
                <a:cs typeface="Arial"/>
              </a:rPr>
              <a:t>of X must </a:t>
            </a:r>
            <a:r>
              <a:rPr sz="2000" spc="-5" dirty="0">
                <a:latin typeface="Museo 300" pitchFamily="50" charset="0"/>
                <a:cs typeface="Arial"/>
              </a:rPr>
              <a:t>be</a:t>
            </a:r>
            <a:r>
              <a:rPr sz="2000" spc="-25" dirty="0">
                <a:latin typeface="Museo 300" pitchFamily="50" charset="0"/>
                <a:cs typeface="Arial"/>
              </a:rPr>
              <a:t> </a:t>
            </a:r>
            <a:r>
              <a:rPr sz="2000" dirty="0">
                <a:latin typeface="Museo 300" pitchFamily="50" charset="0"/>
                <a:cs typeface="Arial"/>
              </a:rPr>
              <a:t>46.</a:t>
            </a:r>
            <a:endParaRPr sz="2000">
              <a:latin typeface="Museo 300" pitchFamily="50" charset="0"/>
              <a:cs typeface="Arial"/>
            </a:endParaRP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304800"/>
            <a:ext cx="10182013" cy="551433"/>
          </a:xfrm>
          <a:prstGeom prst="rect">
            <a:avLst/>
          </a:prstGeom>
        </p:spPr>
        <p:txBody>
          <a:bodyPr vert="horz" wrap="square" lIns="0" tIns="12700" rIns="0" bIns="0" rtlCol="0">
            <a:spAutoFit/>
          </a:bodyPr>
          <a:lstStyle/>
          <a:p>
            <a:pPr marL="12700" marR="5080">
              <a:lnSpc>
                <a:spcPct val="100000"/>
              </a:lnSpc>
              <a:spcBef>
                <a:spcPts val="100"/>
              </a:spcBef>
            </a:pPr>
            <a:r>
              <a:rPr dirty="0"/>
              <a:t>Execution of</a:t>
            </a:r>
            <a:r>
              <a:rPr spc="-60" dirty="0"/>
              <a:t> </a:t>
            </a:r>
            <a:r>
              <a:rPr dirty="0"/>
              <a:t>Branch  Instructions..</a:t>
            </a:r>
          </a:p>
        </p:txBody>
      </p:sp>
      <p:sp>
        <p:nvSpPr>
          <p:cNvPr id="3" name="object 3"/>
          <p:cNvSpPr txBox="1"/>
          <p:nvPr/>
        </p:nvSpPr>
        <p:spPr>
          <a:xfrm>
            <a:off x="762000" y="1295400"/>
            <a:ext cx="10701020" cy="4478790"/>
          </a:xfrm>
          <a:prstGeom prst="rect">
            <a:avLst/>
          </a:prstGeom>
        </p:spPr>
        <p:txBody>
          <a:bodyPr vert="horz" wrap="square" lIns="0" tIns="92075" rIns="0" bIns="0" rtlCol="0">
            <a:spAutoFit/>
          </a:bodyPr>
          <a:lstStyle/>
          <a:p>
            <a:pPr marL="355600" indent="-343535" algn="just">
              <a:lnSpc>
                <a:spcPct val="150000"/>
              </a:lnSpc>
              <a:spcBef>
                <a:spcPts val="725"/>
              </a:spcBef>
              <a:buClr>
                <a:srgbClr val="330066"/>
              </a:buClr>
              <a:buSzPct val="69230"/>
              <a:buFont typeface="Wingdings"/>
              <a:buChar char="⚫"/>
              <a:tabLst>
                <a:tab pos="355600" algn="l"/>
                <a:tab pos="356235" algn="l"/>
              </a:tabLst>
            </a:pPr>
            <a:r>
              <a:rPr sz="2000" dirty="0">
                <a:latin typeface="Museo 300" pitchFamily="50" charset="0"/>
                <a:cs typeface="Arial"/>
              </a:rPr>
              <a:t>Consider now a conditional</a:t>
            </a:r>
            <a:r>
              <a:rPr sz="2000" spc="-50" dirty="0">
                <a:latin typeface="Museo 300" pitchFamily="50" charset="0"/>
                <a:cs typeface="Arial"/>
              </a:rPr>
              <a:t> </a:t>
            </a:r>
            <a:r>
              <a:rPr sz="2000" dirty="0">
                <a:latin typeface="Museo 300" pitchFamily="50" charset="0"/>
                <a:cs typeface="Arial"/>
              </a:rPr>
              <a:t>branch.</a:t>
            </a:r>
            <a:endParaRPr sz="2000">
              <a:latin typeface="Museo 300" pitchFamily="50" charset="0"/>
              <a:cs typeface="Arial"/>
            </a:endParaRPr>
          </a:p>
          <a:p>
            <a:pPr marL="355600" marR="142875" indent="-343535" algn="just">
              <a:lnSpc>
                <a:spcPct val="150000"/>
              </a:lnSpc>
              <a:spcBef>
                <a:spcPts val="630"/>
              </a:spcBef>
              <a:buClr>
                <a:srgbClr val="330066"/>
              </a:buClr>
              <a:buSzPct val="69230"/>
              <a:buFont typeface="Wingdings"/>
              <a:buChar char="⚫"/>
              <a:tabLst>
                <a:tab pos="355600" algn="l"/>
                <a:tab pos="356235" algn="l"/>
              </a:tabLst>
            </a:pPr>
            <a:r>
              <a:rPr sz="2000" dirty="0">
                <a:latin typeface="Museo 300" pitchFamily="50" charset="0"/>
                <a:cs typeface="Arial"/>
              </a:rPr>
              <a:t>In this case, we need </a:t>
            </a:r>
            <a:r>
              <a:rPr sz="2000" spc="-5" dirty="0">
                <a:latin typeface="Museo 300" pitchFamily="50" charset="0"/>
                <a:cs typeface="Arial"/>
              </a:rPr>
              <a:t>to </a:t>
            </a:r>
            <a:r>
              <a:rPr sz="2000" dirty="0">
                <a:latin typeface="Museo 300" pitchFamily="50" charset="0"/>
                <a:cs typeface="Arial"/>
              </a:rPr>
              <a:t>check the status of the  condition codes before loading a new value into</a:t>
            </a:r>
            <a:r>
              <a:rPr sz="2000" spc="-40" dirty="0">
                <a:latin typeface="Museo 300" pitchFamily="50" charset="0"/>
                <a:cs typeface="Arial"/>
              </a:rPr>
              <a:t> </a:t>
            </a:r>
            <a:r>
              <a:rPr sz="2000" dirty="0">
                <a:latin typeface="Museo 300" pitchFamily="50" charset="0"/>
                <a:cs typeface="Arial"/>
              </a:rPr>
              <a:t>the  PC.</a:t>
            </a:r>
            <a:endParaRPr sz="2000">
              <a:latin typeface="Museo 300" pitchFamily="50" charset="0"/>
              <a:cs typeface="Arial"/>
            </a:endParaRPr>
          </a:p>
          <a:p>
            <a:pPr marL="355600" marR="172720" indent="-343535" algn="just">
              <a:lnSpc>
                <a:spcPct val="150000"/>
              </a:lnSpc>
              <a:spcBef>
                <a:spcPts val="625"/>
              </a:spcBef>
              <a:buClr>
                <a:srgbClr val="330066"/>
              </a:buClr>
              <a:buSzPct val="69230"/>
              <a:buFont typeface="Wingdings"/>
              <a:buChar char="⚫"/>
              <a:tabLst>
                <a:tab pos="355600" algn="l"/>
                <a:tab pos="356235" algn="l"/>
              </a:tabLst>
            </a:pPr>
            <a:r>
              <a:rPr sz="2000" dirty="0">
                <a:latin typeface="Museo 300" pitchFamily="50" charset="0"/>
                <a:cs typeface="Arial"/>
              </a:rPr>
              <a:t>For example, for a Branch-on-negative (Branch </a:t>
            </a:r>
            <a:r>
              <a:rPr sz="2000" spc="-340" dirty="0">
                <a:latin typeface="Museo 300" pitchFamily="50" charset="0"/>
                <a:cs typeface="Arial"/>
              </a:rPr>
              <a:t>&lt;0)  </a:t>
            </a:r>
            <a:r>
              <a:rPr sz="2000" dirty="0">
                <a:latin typeface="Museo 300" pitchFamily="50" charset="0"/>
                <a:cs typeface="Arial"/>
              </a:rPr>
              <a:t>instruction, step 4 in </a:t>
            </a:r>
            <a:r>
              <a:rPr sz="2000">
                <a:latin typeface="Museo 300" pitchFamily="50" charset="0"/>
                <a:cs typeface="Arial"/>
              </a:rPr>
              <a:t>Figure is replaced</a:t>
            </a:r>
            <a:r>
              <a:rPr sz="2000" spc="-45">
                <a:latin typeface="Museo 300" pitchFamily="50" charset="0"/>
                <a:cs typeface="Arial"/>
              </a:rPr>
              <a:t> </a:t>
            </a:r>
            <a:r>
              <a:rPr sz="2000">
                <a:latin typeface="Museo 300" pitchFamily="50" charset="0"/>
                <a:cs typeface="Arial"/>
              </a:rPr>
              <a:t>with</a:t>
            </a:r>
            <a:r>
              <a:rPr lang="en-US" sz="2000" dirty="0">
                <a:latin typeface="Museo 300" pitchFamily="50" charset="0"/>
                <a:cs typeface="Arial"/>
              </a:rPr>
              <a:t> </a:t>
            </a:r>
            <a:r>
              <a:rPr lang="en-US" sz="2000" dirty="0" err="1">
                <a:latin typeface="Museo 300" pitchFamily="50" charset="0"/>
                <a:cs typeface="Arial"/>
              </a:rPr>
              <a:t>offset_field_of_IR</a:t>
            </a:r>
            <a:endParaRPr sz="2000">
              <a:latin typeface="Museo 300" pitchFamily="50" charset="0"/>
              <a:cs typeface="Arial"/>
            </a:endParaRPr>
          </a:p>
          <a:p>
            <a:pPr algn="just">
              <a:lnSpc>
                <a:spcPct val="150000"/>
              </a:lnSpc>
              <a:buClr>
                <a:srgbClr val="330066"/>
              </a:buClr>
              <a:buFont typeface="Wingdings"/>
              <a:buChar char="⚫"/>
            </a:pPr>
            <a:endParaRPr sz="2000">
              <a:latin typeface="Museo 300" pitchFamily="50" charset="0"/>
              <a:cs typeface="Arial"/>
            </a:endParaRPr>
          </a:p>
          <a:p>
            <a:pPr marL="355600" marR="1111250" indent="-343535" algn="just">
              <a:lnSpc>
                <a:spcPct val="150000"/>
              </a:lnSpc>
              <a:buClr>
                <a:srgbClr val="330066"/>
              </a:buClr>
              <a:buSzPct val="69230"/>
              <a:buFont typeface="Wingdings"/>
              <a:buChar char="⚫"/>
              <a:tabLst>
                <a:tab pos="355600" algn="l"/>
                <a:tab pos="356235" algn="l"/>
              </a:tabLst>
            </a:pPr>
            <a:r>
              <a:rPr sz="2000" dirty="0">
                <a:latin typeface="Museo 300" pitchFamily="50" charset="0"/>
                <a:cs typeface="Arial"/>
              </a:rPr>
              <a:t>Thus, if N = 0 the processor returns </a:t>
            </a:r>
            <a:r>
              <a:rPr sz="2000" spc="-5" dirty="0">
                <a:latin typeface="Museo 300" pitchFamily="50" charset="0"/>
                <a:cs typeface="Arial"/>
              </a:rPr>
              <a:t>to </a:t>
            </a:r>
            <a:r>
              <a:rPr sz="2000" dirty="0">
                <a:latin typeface="Museo 300" pitchFamily="50" charset="0"/>
                <a:cs typeface="Arial"/>
              </a:rPr>
              <a:t>step 1  immediately after step</a:t>
            </a:r>
            <a:r>
              <a:rPr sz="2000" spc="-25" dirty="0">
                <a:latin typeface="Museo 300" pitchFamily="50" charset="0"/>
                <a:cs typeface="Arial"/>
              </a:rPr>
              <a:t> </a:t>
            </a:r>
            <a:r>
              <a:rPr sz="2000" dirty="0">
                <a:latin typeface="Museo 300" pitchFamily="50" charset="0"/>
                <a:cs typeface="Arial"/>
              </a:rPr>
              <a:t>4.</a:t>
            </a:r>
            <a:endParaRPr sz="2000">
              <a:latin typeface="Museo 300" pitchFamily="50" charset="0"/>
              <a:cs typeface="Arial"/>
            </a:endParaRPr>
          </a:p>
          <a:p>
            <a:pPr marL="355600" marR="5080" indent="-343535" algn="just">
              <a:lnSpc>
                <a:spcPct val="150000"/>
              </a:lnSpc>
              <a:spcBef>
                <a:spcPts val="625"/>
              </a:spcBef>
              <a:buClr>
                <a:srgbClr val="330066"/>
              </a:buClr>
              <a:buSzPct val="69230"/>
              <a:buFont typeface="Wingdings"/>
              <a:buChar char="⚫"/>
              <a:tabLst>
                <a:tab pos="355600" algn="l"/>
                <a:tab pos="356235" algn="l"/>
              </a:tabLst>
            </a:pPr>
            <a:r>
              <a:rPr sz="2000" dirty="0">
                <a:latin typeface="Museo 300" pitchFamily="50" charset="0"/>
                <a:cs typeface="Arial"/>
              </a:rPr>
              <a:t>If N = 1, step 5 </a:t>
            </a:r>
            <a:r>
              <a:rPr sz="2000" spc="-5" dirty="0">
                <a:latin typeface="Museo 300" pitchFamily="50" charset="0"/>
                <a:cs typeface="Arial"/>
              </a:rPr>
              <a:t>is </a:t>
            </a:r>
            <a:r>
              <a:rPr sz="2000" dirty="0">
                <a:latin typeface="Museo 300" pitchFamily="50" charset="0"/>
                <a:cs typeface="Arial"/>
              </a:rPr>
              <a:t>performed to load a </a:t>
            </a:r>
            <a:r>
              <a:rPr sz="2000" spc="5" dirty="0">
                <a:latin typeface="Museo 300" pitchFamily="50" charset="0"/>
                <a:cs typeface="Arial"/>
              </a:rPr>
              <a:t>new </a:t>
            </a:r>
            <a:r>
              <a:rPr sz="2000" dirty="0">
                <a:latin typeface="Museo 300" pitchFamily="50" charset="0"/>
                <a:cs typeface="Arial"/>
              </a:rPr>
              <a:t>value into</a:t>
            </a:r>
            <a:r>
              <a:rPr sz="2000" spc="-260" dirty="0">
                <a:latin typeface="Museo 300" pitchFamily="50" charset="0"/>
                <a:cs typeface="Arial"/>
              </a:rPr>
              <a:t>  </a:t>
            </a:r>
            <a:r>
              <a:rPr sz="2000" dirty="0">
                <a:latin typeface="Museo 300" pitchFamily="50" charset="0"/>
                <a:cs typeface="Arial"/>
              </a:rPr>
              <a:t>the PC, thus performing the branch</a:t>
            </a:r>
            <a:r>
              <a:rPr sz="2000" spc="-15" dirty="0">
                <a:latin typeface="Museo 300" pitchFamily="50" charset="0"/>
                <a:cs typeface="Arial"/>
              </a:rPr>
              <a:t> </a:t>
            </a:r>
            <a:r>
              <a:rPr sz="2000" dirty="0">
                <a:latin typeface="Museo 300" pitchFamily="50" charset="0"/>
                <a:cs typeface="Arial"/>
              </a:rPr>
              <a:t>operation.</a:t>
            </a:r>
            <a:endParaRPr sz="2000">
              <a:latin typeface="Museo 300" pitchFamily="50" charset="0"/>
              <a:cs typeface="Arial"/>
            </a:endParaRPr>
          </a:p>
        </p:txBody>
      </p:sp>
      <p:sp>
        <p:nvSpPr>
          <p:cNvPr id="5" name="Slide Number Placeholder 4"/>
          <p:cNvSpPr>
            <a:spLocks noGrp="1"/>
          </p:cNvSpPr>
          <p:nvPr>
            <p:ph type="sldNum" sz="quarter" idx="12"/>
          </p:nvPr>
        </p:nvSpPr>
        <p:spPr/>
        <p:txBody>
          <a:bodyPr/>
          <a:lstStyle/>
          <a:p>
            <a:pPr>
              <a:defRPr/>
            </a:pPr>
            <a:fld id="{7567225B-3001-4770-81AD-EA67E82D7225}" type="slidenum">
              <a:rPr lang="en-US" smtClean="0"/>
              <a:pPr>
                <a:defRPr/>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44</a:t>
            </a:fld>
            <a:endParaRPr lang="en-US" dirty="0"/>
          </a:p>
        </p:txBody>
      </p:sp>
      <p:sp>
        <p:nvSpPr>
          <p:cNvPr id="7" name="Rectangle 2"/>
          <p:cNvSpPr txBox="1">
            <a:spLocks noChangeArrowheads="1"/>
          </p:cNvSpPr>
          <p:nvPr/>
        </p:nvSpPr>
        <p:spPr>
          <a:xfrm>
            <a:off x="1447800" y="0"/>
            <a:ext cx="7543800" cy="1295400"/>
          </a:xfrm>
          <a:prstGeom prst="rect">
            <a:avLst/>
          </a:prstGeom>
        </p:spPr>
        <p:txBody>
          <a:bodyPr vert="horz" lIns="91440" tIns="45720" rIns="91440" bIns="45720" rtlCol="0" anchor="ctr">
            <a:normAutofit/>
          </a:bodyPr>
          <a:lstStyle/>
          <a:p>
            <a:pPr lvl="0" eaLnBrk="1" fontAlgn="auto" hangingPunct="1">
              <a:lnSpc>
                <a:spcPct val="150000"/>
              </a:lnSpc>
              <a:spcAft>
                <a:spcPts val="0"/>
              </a:spcAft>
            </a:pPr>
            <a:r>
              <a:rPr lang="en-US" altLang="zh-CN" sz="3500" b="1" dirty="0">
                <a:solidFill>
                  <a:srgbClr val="C00000"/>
                </a:solidFill>
                <a:latin typeface="Museo 300" pitchFamily="50" charset="0"/>
                <a:ea typeface="SimSun" pitchFamily="2" charset="-122"/>
              </a:rPr>
              <a:t>Pipelining</a:t>
            </a:r>
            <a:endParaRPr kumimoji="0" lang="en-US" altLang="zh-CN" sz="3500" b="1" i="0" u="none" strike="noStrike" kern="1200" cap="none" spc="0" normalizeH="0" baseline="0" noProof="0" dirty="0">
              <a:ln>
                <a:noFill/>
              </a:ln>
              <a:solidFill>
                <a:srgbClr val="C00000"/>
              </a:solidFill>
              <a:effectLst/>
              <a:uLnTx/>
              <a:uFillTx/>
              <a:latin typeface="Museo 300" pitchFamily="50" charset="0"/>
              <a:ea typeface="SimSun" pitchFamily="2" charset="-122"/>
              <a:cs typeface="+mj-cs"/>
            </a:endParaRPr>
          </a:p>
        </p:txBody>
      </p:sp>
      <p:sp>
        <p:nvSpPr>
          <p:cNvPr id="8" name="Rectangle 3"/>
          <p:cNvSpPr txBox="1">
            <a:spLocks noChangeArrowheads="1"/>
          </p:cNvSpPr>
          <p:nvPr/>
        </p:nvSpPr>
        <p:spPr>
          <a:xfrm>
            <a:off x="1447800" y="1597025"/>
            <a:ext cx="8229600" cy="4411662"/>
          </a:xfrm>
          <a:prstGeom prst="rect">
            <a:avLst/>
          </a:prstGeom>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Pipelining is widely used in modern processors.</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Pipelining improves system performance in terms of throughput.</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Pipelined organization requires sophisticated compilation techniques.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45</a:t>
            </a:fld>
            <a:endParaRPr lang="en-US" dirty="0"/>
          </a:p>
        </p:txBody>
      </p:sp>
      <p:sp>
        <p:nvSpPr>
          <p:cNvPr id="5" name="Rectangle 2"/>
          <p:cNvSpPr txBox="1">
            <a:spLocks noChangeArrowheads="1"/>
          </p:cNvSpPr>
          <p:nvPr/>
        </p:nvSpPr>
        <p:spPr>
          <a:xfrm>
            <a:off x="1676400" y="0"/>
            <a:ext cx="9296400" cy="15240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Basic Concepts</a:t>
            </a:r>
          </a:p>
        </p:txBody>
      </p:sp>
      <p:sp>
        <p:nvSpPr>
          <p:cNvPr id="6" name="Rectangle 3"/>
          <p:cNvSpPr txBox="1">
            <a:spLocks noChangeArrowheads="1"/>
          </p:cNvSpPr>
          <p:nvPr/>
        </p:nvSpPr>
        <p:spPr>
          <a:xfrm>
            <a:off x="1066800" y="1371600"/>
            <a:ext cx="9601200" cy="4411662"/>
          </a:xfrm>
          <a:prstGeom prst="rect">
            <a:avLst/>
          </a:prstGeom>
        </p:spPr>
        <p:txBody>
          <a:bodyPr vert="horz" lIns="91440" tIns="45720" rIns="91440" bIns="45720" rtlCol="0">
            <a:normAutofit/>
          </a:bodyPr>
          <a:lstStyle/>
          <a:p>
            <a:pPr marL="228600" indent="-228600" algn="just" eaLnBrk="1" fontAlgn="auto" hangingPunct="1">
              <a:lnSpc>
                <a:spcPct val="150000"/>
              </a:lnSpc>
              <a:spcBef>
                <a:spcPts val="1000"/>
              </a:spcBef>
              <a:spcAft>
                <a:spcPts val="0"/>
              </a:spcAft>
              <a:buFont typeface="Arial" panose="020B0604020202020204" pitchFamily="34" charset="0"/>
              <a:buChar char="•"/>
              <a:defRPr/>
            </a:pPr>
            <a:r>
              <a:rPr lang="en-US" altLang="zh-CN" sz="2000" dirty="0">
                <a:solidFill>
                  <a:schemeClr val="accent2"/>
                </a:solidFill>
                <a:latin typeface="Museo 300" panose="02000000000000000000" pitchFamily="50" charset="0"/>
                <a:ea typeface="SimSun" pitchFamily="2" charset="-122"/>
              </a:rPr>
              <a:t>Making the Execution of Programs Faster</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Use faster circuit technology to build the processor and the main memory.</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Arrange the hardware so that more than one operation can be performed at the same time.</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In the latter way, the number of operations performed per second is increased even though the elapsed time needed to perform any one operation is not changed.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46</a:t>
            </a:fld>
            <a:endParaRPr lang="en-US" dirty="0"/>
          </a:p>
        </p:txBody>
      </p:sp>
      <p:sp>
        <p:nvSpPr>
          <p:cNvPr id="5" name="Rectangle 2"/>
          <p:cNvSpPr txBox="1">
            <a:spLocks noChangeArrowheads="1"/>
          </p:cNvSpPr>
          <p:nvPr/>
        </p:nvSpPr>
        <p:spPr>
          <a:xfrm>
            <a:off x="1828800" y="0"/>
            <a:ext cx="7543800"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Traditional Pipeline Concept</a:t>
            </a:r>
          </a:p>
        </p:txBody>
      </p:sp>
      <p:sp>
        <p:nvSpPr>
          <p:cNvPr id="6" name="Rectangle 3"/>
          <p:cNvSpPr txBox="1">
            <a:spLocks noChangeArrowheads="1"/>
          </p:cNvSpPr>
          <p:nvPr/>
        </p:nvSpPr>
        <p:spPr>
          <a:xfrm>
            <a:off x="2057400" y="1524000"/>
            <a:ext cx="7640637" cy="4067175"/>
          </a:xfrm>
          <a:prstGeom prst="rect">
            <a:avLst/>
          </a:prstGeom>
          <a:ln/>
        </p:spPr>
        <p:txBody>
          <a:bodyPr vert="horz" lIns="63360" tIns="25560" rIns="63360" bIns="25560" rtlCol="0">
            <a:noAutofit/>
          </a:bodyPr>
          <a:lstStyle/>
          <a:p>
            <a:pPr marL="201613" marR="0" lvl="0" indent="-201613" defTabSz="449263" rtl="0" eaLnBrk="1" fontAlgn="auto" latinLnBrk="0" hangingPunct="1">
              <a:lnSpc>
                <a:spcPct val="9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Laundry Example</a:t>
            </a:r>
          </a:p>
          <a:p>
            <a:pPr marL="201613" marR="0" lvl="0" indent="-201613" defTabSz="449263" rtl="0" eaLnBrk="1" fontAlgn="auto" latinLnBrk="0" hangingPunct="1">
              <a:lnSpc>
                <a:spcPct val="9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endParaRPr>
          </a:p>
          <a:p>
            <a:pPr marL="201613" marR="0" lvl="0" indent="-201613" defTabSz="449263" rtl="0" eaLnBrk="1" fontAlgn="auto" latinLnBrk="0" hangingPunct="1">
              <a:lnSpc>
                <a:spcPct val="9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Ann, Brian, Cathy, Dave </a:t>
            </a:r>
            <a:b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br>
            <a: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each have one load of clothes </a:t>
            </a:r>
            <a:b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br>
            <a: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to wash, dry, and fold</a:t>
            </a:r>
          </a:p>
          <a:p>
            <a:pPr marL="201613" marR="0" lvl="0" indent="-201613" defTabSz="449263" rtl="0" eaLnBrk="1" fontAlgn="auto" latinLnBrk="0" hangingPunct="1">
              <a:lnSpc>
                <a:spcPct val="9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endParaRPr>
          </a:p>
          <a:p>
            <a:pPr marL="201613" marR="0" lvl="0" indent="-201613" defTabSz="449263" rtl="0" eaLnBrk="1" fontAlgn="auto" latinLnBrk="0" hangingPunct="1">
              <a:lnSpc>
                <a:spcPct val="9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Washer takes 30 minutes</a:t>
            </a:r>
          </a:p>
          <a:p>
            <a:pPr marL="201613" marR="0" lvl="0" indent="-201613" defTabSz="449263" rtl="0" eaLnBrk="1" fontAlgn="auto" latinLnBrk="0" hangingPunct="1">
              <a:lnSpc>
                <a:spcPct val="9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endParaRPr>
          </a:p>
          <a:p>
            <a:pPr marL="201613" marR="0" lvl="0" indent="-201613" defTabSz="449263" rtl="0" eaLnBrk="1" fontAlgn="auto" latinLnBrk="0" hangingPunct="1">
              <a:lnSpc>
                <a:spcPct val="9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Dryer takes 40 minutes</a:t>
            </a:r>
          </a:p>
          <a:p>
            <a:pPr marL="201613" marR="0" lvl="0" indent="-201613" defTabSz="449263" rtl="0" eaLnBrk="1" fontAlgn="auto" latinLnBrk="0" hangingPunct="1">
              <a:lnSpc>
                <a:spcPct val="9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endParaRPr>
          </a:p>
          <a:p>
            <a:pPr marL="201613" marR="0" lvl="0" indent="-201613" defTabSz="449263" rtl="0" eaLnBrk="1" fontAlgn="auto" latinLnBrk="0" hangingPunct="1">
              <a:lnSpc>
                <a:spcPct val="9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endParaRPr>
          </a:p>
          <a:p>
            <a:pPr marL="201613" marR="0" lvl="0" indent="-201613" defTabSz="449263" rtl="0" eaLnBrk="1" fontAlgn="auto" latinLnBrk="0" hangingPunct="1">
              <a:lnSpc>
                <a:spcPct val="9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“Folder” takes 20 minutes</a:t>
            </a:r>
          </a:p>
        </p:txBody>
      </p:sp>
      <p:grpSp>
        <p:nvGrpSpPr>
          <p:cNvPr id="7" name="Group 4"/>
          <p:cNvGrpSpPr>
            <a:grpSpLocks/>
          </p:cNvGrpSpPr>
          <p:nvPr/>
        </p:nvGrpSpPr>
        <p:grpSpPr bwMode="auto">
          <a:xfrm>
            <a:off x="7848600" y="4343400"/>
            <a:ext cx="671513" cy="798512"/>
            <a:chOff x="4012" y="2316"/>
            <a:chExt cx="423" cy="503"/>
          </a:xfrm>
        </p:grpSpPr>
        <p:grpSp>
          <p:nvGrpSpPr>
            <p:cNvPr id="8" name="Group 5"/>
            <p:cNvGrpSpPr>
              <a:grpSpLocks/>
            </p:cNvGrpSpPr>
            <p:nvPr/>
          </p:nvGrpSpPr>
          <p:grpSpPr bwMode="auto">
            <a:xfrm>
              <a:off x="4012" y="2316"/>
              <a:ext cx="424" cy="504"/>
              <a:chOff x="4012" y="2316"/>
              <a:chExt cx="424" cy="504"/>
            </a:xfrm>
          </p:grpSpPr>
          <p:grpSp>
            <p:nvGrpSpPr>
              <p:cNvPr id="11" name="Group 6"/>
              <p:cNvGrpSpPr>
                <a:grpSpLocks/>
              </p:cNvGrpSpPr>
              <p:nvPr/>
            </p:nvGrpSpPr>
            <p:grpSpPr bwMode="auto">
              <a:xfrm>
                <a:off x="4012" y="2396"/>
                <a:ext cx="424" cy="424"/>
                <a:chOff x="4012" y="2396"/>
                <a:chExt cx="424" cy="424"/>
              </a:xfrm>
            </p:grpSpPr>
            <p:sp>
              <p:nvSpPr>
                <p:cNvPr id="16" name="Freeform 7"/>
                <p:cNvSpPr>
                  <a:spLocks noChangeArrowheads="1"/>
                </p:cNvSpPr>
                <p:nvPr/>
              </p:nvSpPr>
              <p:spPr bwMode="auto">
                <a:xfrm>
                  <a:off x="4012" y="2396"/>
                  <a:ext cx="424" cy="424"/>
                </a:xfrm>
                <a:custGeom>
                  <a:avLst/>
                  <a:gdLst/>
                  <a:ahLst/>
                  <a:cxnLst>
                    <a:cxn ang="0">
                      <a:pos x="0" y="1869"/>
                    </a:cxn>
                    <a:cxn ang="0">
                      <a:pos x="0" y="467"/>
                    </a:cxn>
                    <a:cxn ang="0">
                      <a:pos x="466" y="0"/>
                    </a:cxn>
                    <a:cxn ang="0">
                      <a:pos x="1870" y="0"/>
                    </a:cxn>
                    <a:cxn ang="0">
                      <a:pos x="1870" y="1402"/>
                    </a:cxn>
                    <a:cxn ang="0">
                      <a:pos x="1402" y="1869"/>
                    </a:cxn>
                    <a:cxn ang="0">
                      <a:pos x="0" y="1869"/>
                    </a:cxn>
                  </a:cxnLst>
                  <a:rect l="0" t="0" r="r" b="b"/>
                  <a:pathLst>
                    <a:path w="1871" h="1870">
                      <a:moveTo>
                        <a:pt x="0" y="1869"/>
                      </a:moveTo>
                      <a:lnTo>
                        <a:pt x="0" y="467"/>
                      </a:lnTo>
                      <a:lnTo>
                        <a:pt x="466" y="0"/>
                      </a:lnTo>
                      <a:lnTo>
                        <a:pt x="1870" y="0"/>
                      </a:lnTo>
                      <a:lnTo>
                        <a:pt x="1870" y="1402"/>
                      </a:lnTo>
                      <a:lnTo>
                        <a:pt x="1402" y="1869"/>
                      </a:lnTo>
                      <a:lnTo>
                        <a:pt x="0" y="1869"/>
                      </a:lnTo>
                    </a:path>
                  </a:pathLst>
                </a:custGeom>
                <a:solidFill>
                  <a:srgbClr val="A2C1FE"/>
                </a:solidFill>
                <a:ln w="12600">
                  <a:solidFill>
                    <a:srgbClr val="000000"/>
                  </a:solidFill>
                  <a:round/>
                  <a:headEnd/>
                  <a:tailEnd/>
                </a:ln>
              </p:spPr>
              <p:txBody>
                <a:bodyPr wrap="none" anchor="ctr"/>
                <a:lstStyle/>
                <a:p>
                  <a:endParaRPr lang="en-US"/>
                </a:p>
              </p:txBody>
            </p:sp>
            <p:sp>
              <p:nvSpPr>
                <p:cNvPr id="17" name="Freeform 8"/>
                <p:cNvSpPr>
                  <a:spLocks noChangeArrowheads="1"/>
                </p:cNvSpPr>
                <p:nvPr/>
              </p:nvSpPr>
              <p:spPr bwMode="auto">
                <a:xfrm>
                  <a:off x="4012" y="2396"/>
                  <a:ext cx="424" cy="106"/>
                </a:xfrm>
                <a:custGeom>
                  <a:avLst/>
                  <a:gdLst/>
                  <a:ahLst/>
                  <a:cxnLst>
                    <a:cxn ang="0">
                      <a:pos x="0" y="467"/>
                    </a:cxn>
                    <a:cxn ang="0">
                      <a:pos x="466" y="0"/>
                    </a:cxn>
                    <a:cxn ang="0">
                      <a:pos x="1870" y="0"/>
                    </a:cxn>
                    <a:cxn ang="0">
                      <a:pos x="1402" y="467"/>
                    </a:cxn>
                    <a:cxn ang="0">
                      <a:pos x="0" y="467"/>
                    </a:cxn>
                  </a:cxnLst>
                  <a:rect l="0" t="0" r="r" b="b"/>
                  <a:pathLst>
                    <a:path w="1871" h="468">
                      <a:moveTo>
                        <a:pt x="0" y="467"/>
                      </a:moveTo>
                      <a:lnTo>
                        <a:pt x="466" y="0"/>
                      </a:lnTo>
                      <a:lnTo>
                        <a:pt x="1870" y="0"/>
                      </a:lnTo>
                      <a:lnTo>
                        <a:pt x="1402" y="467"/>
                      </a:lnTo>
                      <a:lnTo>
                        <a:pt x="0" y="467"/>
                      </a:lnTo>
                    </a:path>
                  </a:pathLst>
                </a:custGeom>
                <a:solidFill>
                  <a:srgbClr val="B1D3FF"/>
                </a:solidFill>
                <a:ln w="12600">
                  <a:solidFill>
                    <a:srgbClr val="000000"/>
                  </a:solidFill>
                  <a:round/>
                  <a:headEnd/>
                  <a:tailEnd/>
                </a:ln>
              </p:spPr>
              <p:txBody>
                <a:bodyPr wrap="none" anchor="ctr"/>
                <a:lstStyle/>
                <a:p>
                  <a:endParaRPr lang="en-US"/>
                </a:p>
              </p:txBody>
            </p:sp>
            <p:sp>
              <p:nvSpPr>
                <p:cNvPr id="18" name="Freeform 9"/>
                <p:cNvSpPr>
                  <a:spLocks noChangeArrowheads="1"/>
                </p:cNvSpPr>
                <p:nvPr/>
              </p:nvSpPr>
              <p:spPr bwMode="auto">
                <a:xfrm>
                  <a:off x="4330" y="2396"/>
                  <a:ext cx="106" cy="424"/>
                </a:xfrm>
                <a:custGeom>
                  <a:avLst/>
                  <a:gdLst/>
                  <a:ahLst/>
                  <a:cxnLst>
                    <a:cxn ang="0">
                      <a:pos x="0" y="1869"/>
                    </a:cxn>
                    <a:cxn ang="0">
                      <a:pos x="0" y="467"/>
                    </a:cxn>
                    <a:cxn ang="0">
                      <a:pos x="468" y="0"/>
                    </a:cxn>
                    <a:cxn ang="0">
                      <a:pos x="468" y="1402"/>
                    </a:cxn>
                    <a:cxn ang="0">
                      <a:pos x="0" y="1869"/>
                    </a:cxn>
                  </a:cxnLst>
                  <a:rect l="0" t="0" r="r" b="b"/>
                  <a:pathLst>
                    <a:path w="469" h="1870">
                      <a:moveTo>
                        <a:pt x="0" y="1869"/>
                      </a:moveTo>
                      <a:lnTo>
                        <a:pt x="0" y="467"/>
                      </a:lnTo>
                      <a:lnTo>
                        <a:pt x="468" y="0"/>
                      </a:lnTo>
                      <a:lnTo>
                        <a:pt x="468" y="1402"/>
                      </a:lnTo>
                      <a:lnTo>
                        <a:pt x="0" y="1869"/>
                      </a:lnTo>
                    </a:path>
                  </a:pathLst>
                </a:custGeom>
                <a:solidFill>
                  <a:srgbClr val="8BA5DA"/>
                </a:solidFill>
                <a:ln w="12600">
                  <a:solidFill>
                    <a:srgbClr val="000000"/>
                  </a:solidFill>
                  <a:round/>
                  <a:headEnd/>
                  <a:tailEnd/>
                </a:ln>
              </p:spPr>
              <p:txBody>
                <a:bodyPr wrap="none" anchor="ctr"/>
                <a:lstStyle/>
                <a:p>
                  <a:endParaRPr lang="en-US"/>
                </a:p>
              </p:txBody>
            </p:sp>
          </p:grpSp>
          <p:grpSp>
            <p:nvGrpSpPr>
              <p:cNvPr id="12" name="Group 10"/>
              <p:cNvGrpSpPr>
                <a:grpSpLocks/>
              </p:cNvGrpSpPr>
              <p:nvPr/>
            </p:nvGrpSpPr>
            <p:grpSpPr bwMode="auto">
              <a:xfrm>
                <a:off x="4108" y="2316"/>
                <a:ext cx="328" cy="88"/>
                <a:chOff x="4108" y="2316"/>
                <a:chExt cx="328" cy="88"/>
              </a:xfrm>
            </p:grpSpPr>
            <p:sp>
              <p:nvSpPr>
                <p:cNvPr id="13" name="Freeform 11"/>
                <p:cNvSpPr>
                  <a:spLocks noChangeArrowheads="1"/>
                </p:cNvSpPr>
                <p:nvPr/>
              </p:nvSpPr>
              <p:spPr bwMode="auto">
                <a:xfrm>
                  <a:off x="4108" y="2316"/>
                  <a:ext cx="328" cy="88"/>
                </a:xfrm>
                <a:custGeom>
                  <a:avLst/>
                  <a:gdLst/>
                  <a:ahLst/>
                  <a:cxnLst>
                    <a:cxn ang="0">
                      <a:pos x="0" y="388"/>
                    </a:cxn>
                    <a:cxn ang="0">
                      <a:pos x="0" y="96"/>
                    </a:cxn>
                    <a:cxn ang="0">
                      <a:pos x="96" y="0"/>
                    </a:cxn>
                    <a:cxn ang="0">
                      <a:pos x="1447" y="0"/>
                    </a:cxn>
                    <a:cxn ang="0">
                      <a:pos x="1447" y="290"/>
                    </a:cxn>
                    <a:cxn ang="0">
                      <a:pos x="1349" y="388"/>
                    </a:cxn>
                    <a:cxn ang="0">
                      <a:pos x="0" y="388"/>
                    </a:cxn>
                  </a:cxnLst>
                  <a:rect l="0" t="0" r="r" b="b"/>
                  <a:pathLst>
                    <a:path w="1448" h="389">
                      <a:moveTo>
                        <a:pt x="0" y="388"/>
                      </a:moveTo>
                      <a:lnTo>
                        <a:pt x="0" y="96"/>
                      </a:lnTo>
                      <a:lnTo>
                        <a:pt x="96" y="0"/>
                      </a:lnTo>
                      <a:lnTo>
                        <a:pt x="1447" y="0"/>
                      </a:lnTo>
                      <a:lnTo>
                        <a:pt x="1447" y="290"/>
                      </a:lnTo>
                      <a:lnTo>
                        <a:pt x="1349" y="388"/>
                      </a:lnTo>
                      <a:lnTo>
                        <a:pt x="0" y="388"/>
                      </a:lnTo>
                    </a:path>
                  </a:pathLst>
                </a:custGeom>
                <a:solidFill>
                  <a:srgbClr val="A2C1FE"/>
                </a:solidFill>
                <a:ln w="12600">
                  <a:solidFill>
                    <a:srgbClr val="000000"/>
                  </a:solidFill>
                  <a:round/>
                  <a:headEnd/>
                  <a:tailEnd/>
                </a:ln>
              </p:spPr>
              <p:txBody>
                <a:bodyPr wrap="none" anchor="ctr"/>
                <a:lstStyle/>
                <a:p>
                  <a:endParaRPr lang="en-US"/>
                </a:p>
              </p:txBody>
            </p:sp>
            <p:sp>
              <p:nvSpPr>
                <p:cNvPr id="14" name="Freeform 12"/>
                <p:cNvSpPr>
                  <a:spLocks noChangeArrowheads="1"/>
                </p:cNvSpPr>
                <p:nvPr/>
              </p:nvSpPr>
              <p:spPr bwMode="auto">
                <a:xfrm>
                  <a:off x="4108" y="2316"/>
                  <a:ext cx="328" cy="22"/>
                </a:xfrm>
                <a:custGeom>
                  <a:avLst/>
                  <a:gdLst/>
                  <a:ahLst/>
                  <a:cxnLst>
                    <a:cxn ang="0">
                      <a:pos x="0" y="96"/>
                    </a:cxn>
                    <a:cxn ang="0">
                      <a:pos x="96" y="0"/>
                    </a:cxn>
                    <a:cxn ang="0">
                      <a:pos x="1447" y="0"/>
                    </a:cxn>
                    <a:cxn ang="0">
                      <a:pos x="1349" y="96"/>
                    </a:cxn>
                    <a:cxn ang="0">
                      <a:pos x="0" y="96"/>
                    </a:cxn>
                  </a:cxnLst>
                  <a:rect l="0" t="0" r="r" b="b"/>
                  <a:pathLst>
                    <a:path w="1448" h="97">
                      <a:moveTo>
                        <a:pt x="0" y="96"/>
                      </a:moveTo>
                      <a:lnTo>
                        <a:pt x="96" y="0"/>
                      </a:lnTo>
                      <a:lnTo>
                        <a:pt x="1447" y="0"/>
                      </a:lnTo>
                      <a:lnTo>
                        <a:pt x="1349" y="96"/>
                      </a:lnTo>
                      <a:lnTo>
                        <a:pt x="0" y="96"/>
                      </a:lnTo>
                    </a:path>
                  </a:pathLst>
                </a:custGeom>
                <a:solidFill>
                  <a:srgbClr val="B1D3FF"/>
                </a:solidFill>
                <a:ln w="12600">
                  <a:solidFill>
                    <a:srgbClr val="000000"/>
                  </a:solidFill>
                  <a:round/>
                  <a:headEnd/>
                  <a:tailEnd/>
                </a:ln>
              </p:spPr>
              <p:txBody>
                <a:bodyPr wrap="none" anchor="ctr"/>
                <a:lstStyle/>
                <a:p>
                  <a:endParaRPr lang="en-US"/>
                </a:p>
              </p:txBody>
            </p:sp>
            <p:sp>
              <p:nvSpPr>
                <p:cNvPr id="15" name="Freeform 13"/>
                <p:cNvSpPr>
                  <a:spLocks noChangeArrowheads="1"/>
                </p:cNvSpPr>
                <p:nvPr/>
              </p:nvSpPr>
              <p:spPr bwMode="auto">
                <a:xfrm>
                  <a:off x="4414" y="2316"/>
                  <a:ext cx="22" cy="88"/>
                </a:xfrm>
                <a:custGeom>
                  <a:avLst/>
                  <a:gdLst/>
                  <a:ahLst/>
                  <a:cxnLst>
                    <a:cxn ang="0">
                      <a:pos x="0" y="388"/>
                    </a:cxn>
                    <a:cxn ang="0">
                      <a:pos x="0" y="96"/>
                    </a:cxn>
                    <a:cxn ang="0">
                      <a:pos x="98" y="0"/>
                    </a:cxn>
                    <a:cxn ang="0">
                      <a:pos x="98" y="290"/>
                    </a:cxn>
                    <a:cxn ang="0">
                      <a:pos x="0" y="388"/>
                    </a:cxn>
                  </a:cxnLst>
                  <a:rect l="0" t="0" r="r" b="b"/>
                  <a:pathLst>
                    <a:path w="99" h="389">
                      <a:moveTo>
                        <a:pt x="0" y="388"/>
                      </a:moveTo>
                      <a:lnTo>
                        <a:pt x="0" y="96"/>
                      </a:lnTo>
                      <a:lnTo>
                        <a:pt x="98" y="0"/>
                      </a:lnTo>
                      <a:lnTo>
                        <a:pt x="98" y="290"/>
                      </a:lnTo>
                      <a:lnTo>
                        <a:pt x="0" y="388"/>
                      </a:lnTo>
                    </a:path>
                  </a:pathLst>
                </a:custGeom>
                <a:solidFill>
                  <a:srgbClr val="8BA5DA"/>
                </a:solidFill>
                <a:ln w="12600">
                  <a:solidFill>
                    <a:srgbClr val="000000"/>
                  </a:solidFill>
                  <a:round/>
                  <a:headEnd/>
                  <a:tailEnd/>
                </a:ln>
              </p:spPr>
              <p:txBody>
                <a:bodyPr wrap="none" anchor="ctr"/>
                <a:lstStyle/>
                <a:p>
                  <a:endParaRPr lang="en-US"/>
                </a:p>
              </p:txBody>
            </p:sp>
          </p:grpSp>
        </p:grpSp>
        <p:sp>
          <p:nvSpPr>
            <p:cNvPr id="9" name="Oval 14"/>
            <p:cNvSpPr>
              <a:spLocks noChangeArrowheads="1"/>
            </p:cNvSpPr>
            <p:nvPr/>
          </p:nvSpPr>
          <p:spPr bwMode="auto">
            <a:xfrm>
              <a:off x="4140" y="2356"/>
              <a:ext cx="56" cy="32"/>
            </a:xfrm>
            <a:prstGeom prst="ellipse">
              <a:avLst/>
            </a:prstGeom>
            <a:solidFill>
              <a:srgbClr val="FFFFFF"/>
            </a:solidFill>
            <a:ln w="12600">
              <a:solidFill>
                <a:srgbClr val="000000"/>
              </a:solidFill>
              <a:round/>
              <a:headEnd/>
              <a:tailEnd/>
            </a:ln>
          </p:spPr>
          <p:txBody>
            <a:bodyPr wrap="none" anchor="ctr"/>
            <a:lstStyle/>
            <a:p>
              <a:endParaRPr lang="en-US"/>
            </a:p>
          </p:txBody>
        </p:sp>
        <p:sp>
          <p:nvSpPr>
            <p:cNvPr id="10" name="Freeform 15"/>
            <p:cNvSpPr>
              <a:spLocks noChangeArrowheads="1"/>
            </p:cNvSpPr>
            <p:nvPr/>
          </p:nvSpPr>
          <p:spPr bwMode="auto">
            <a:xfrm>
              <a:off x="4064" y="2592"/>
              <a:ext cx="224" cy="96"/>
            </a:xfrm>
            <a:custGeom>
              <a:avLst/>
              <a:gdLst/>
              <a:ahLst/>
              <a:cxnLst>
                <a:cxn ang="0">
                  <a:pos x="123" y="0"/>
                </a:cxn>
                <a:cxn ang="0">
                  <a:pos x="863" y="0"/>
                </a:cxn>
                <a:cxn ang="0">
                  <a:pos x="988" y="123"/>
                </a:cxn>
                <a:cxn ang="0">
                  <a:pos x="988" y="298"/>
                </a:cxn>
                <a:cxn ang="0">
                  <a:pos x="863" y="423"/>
                </a:cxn>
                <a:cxn ang="0">
                  <a:pos x="123" y="423"/>
                </a:cxn>
                <a:cxn ang="0">
                  <a:pos x="0" y="298"/>
                </a:cxn>
                <a:cxn ang="0">
                  <a:pos x="0" y="123"/>
                </a:cxn>
                <a:cxn ang="0">
                  <a:pos x="123" y="0"/>
                </a:cxn>
              </a:cxnLst>
              <a:rect l="0" t="0" r="r" b="b"/>
              <a:pathLst>
                <a:path w="989" h="424">
                  <a:moveTo>
                    <a:pt x="123" y="0"/>
                  </a:moveTo>
                  <a:lnTo>
                    <a:pt x="863" y="0"/>
                  </a:lnTo>
                  <a:lnTo>
                    <a:pt x="988" y="123"/>
                  </a:lnTo>
                  <a:lnTo>
                    <a:pt x="988" y="298"/>
                  </a:lnTo>
                  <a:lnTo>
                    <a:pt x="863" y="423"/>
                  </a:lnTo>
                  <a:lnTo>
                    <a:pt x="123" y="423"/>
                  </a:lnTo>
                  <a:lnTo>
                    <a:pt x="0" y="298"/>
                  </a:lnTo>
                  <a:lnTo>
                    <a:pt x="0" y="123"/>
                  </a:lnTo>
                  <a:lnTo>
                    <a:pt x="123" y="0"/>
                  </a:lnTo>
                </a:path>
              </a:pathLst>
            </a:custGeom>
            <a:solidFill>
              <a:srgbClr val="A2C1FE"/>
            </a:solidFill>
            <a:ln w="25560">
              <a:solidFill>
                <a:srgbClr val="000000"/>
              </a:solidFill>
              <a:round/>
              <a:headEnd/>
              <a:tailEnd/>
            </a:ln>
          </p:spPr>
          <p:txBody>
            <a:bodyPr wrap="none" anchor="ctr"/>
            <a:lstStyle/>
            <a:p>
              <a:endParaRPr lang="en-US"/>
            </a:p>
          </p:txBody>
        </p:sp>
      </p:grpSp>
      <p:grpSp>
        <p:nvGrpSpPr>
          <p:cNvPr id="19" name="Group 16"/>
          <p:cNvGrpSpPr>
            <a:grpSpLocks/>
          </p:cNvGrpSpPr>
          <p:nvPr/>
        </p:nvGrpSpPr>
        <p:grpSpPr bwMode="auto">
          <a:xfrm>
            <a:off x="7840663" y="5332412"/>
            <a:ext cx="660400" cy="647700"/>
            <a:chOff x="4007" y="2964"/>
            <a:chExt cx="416" cy="408"/>
          </a:xfrm>
        </p:grpSpPr>
        <p:grpSp>
          <p:nvGrpSpPr>
            <p:cNvPr id="20" name="Group 17"/>
            <p:cNvGrpSpPr>
              <a:grpSpLocks/>
            </p:cNvGrpSpPr>
            <p:nvPr/>
          </p:nvGrpSpPr>
          <p:grpSpPr bwMode="auto">
            <a:xfrm>
              <a:off x="4009" y="3157"/>
              <a:ext cx="415" cy="216"/>
              <a:chOff x="4009" y="3157"/>
              <a:chExt cx="415" cy="216"/>
            </a:xfrm>
          </p:grpSpPr>
          <p:sp>
            <p:nvSpPr>
              <p:cNvPr id="24" name="Freeform 18"/>
              <p:cNvSpPr>
                <a:spLocks noChangeArrowheads="1"/>
              </p:cNvSpPr>
              <p:nvPr/>
            </p:nvSpPr>
            <p:spPr bwMode="auto">
              <a:xfrm>
                <a:off x="4211" y="3158"/>
                <a:ext cx="95" cy="215"/>
              </a:xfrm>
              <a:custGeom>
                <a:avLst/>
                <a:gdLst/>
                <a:ahLst/>
                <a:cxnLst>
                  <a:cxn ang="0">
                    <a:pos x="305" y="0"/>
                  </a:cxn>
                  <a:cxn ang="0">
                    <a:pos x="420" y="0"/>
                  </a:cxn>
                  <a:cxn ang="0">
                    <a:pos x="115" y="948"/>
                  </a:cxn>
                  <a:cxn ang="0">
                    <a:pos x="0" y="948"/>
                  </a:cxn>
                  <a:cxn ang="0">
                    <a:pos x="305" y="0"/>
                  </a:cxn>
                </a:cxnLst>
                <a:rect l="0" t="0" r="r" b="b"/>
                <a:pathLst>
                  <a:path w="421" h="949">
                    <a:moveTo>
                      <a:pt x="305" y="0"/>
                    </a:moveTo>
                    <a:lnTo>
                      <a:pt x="420" y="0"/>
                    </a:lnTo>
                    <a:lnTo>
                      <a:pt x="115" y="948"/>
                    </a:lnTo>
                    <a:lnTo>
                      <a:pt x="0" y="948"/>
                    </a:lnTo>
                    <a:lnTo>
                      <a:pt x="305" y="0"/>
                    </a:lnTo>
                  </a:path>
                </a:pathLst>
              </a:custGeom>
              <a:solidFill>
                <a:srgbClr val="FC0128"/>
              </a:solidFill>
              <a:ln w="9525">
                <a:noFill/>
                <a:round/>
                <a:headEnd/>
                <a:tailEnd/>
              </a:ln>
            </p:spPr>
            <p:txBody>
              <a:bodyPr wrap="none" anchor="ctr"/>
              <a:lstStyle/>
              <a:p>
                <a:endParaRPr lang="en-US"/>
              </a:p>
            </p:txBody>
          </p:sp>
          <p:sp>
            <p:nvSpPr>
              <p:cNvPr id="25" name="AutoShape 19"/>
              <p:cNvSpPr>
                <a:spLocks noChangeArrowheads="1"/>
              </p:cNvSpPr>
              <p:nvPr/>
            </p:nvSpPr>
            <p:spPr bwMode="auto">
              <a:xfrm>
                <a:off x="4206" y="3157"/>
                <a:ext cx="218" cy="12"/>
              </a:xfrm>
              <a:prstGeom prst="roundRect">
                <a:avLst>
                  <a:gd name="adj" fmla="val 8333"/>
                </a:avLst>
              </a:prstGeom>
              <a:solidFill>
                <a:srgbClr val="FC0128"/>
              </a:solidFill>
              <a:ln w="9525">
                <a:noFill/>
                <a:round/>
                <a:headEnd/>
                <a:tailEnd/>
              </a:ln>
            </p:spPr>
            <p:txBody>
              <a:bodyPr wrap="none" anchor="ctr"/>
              <a:lstStyle/>
              <a:p>
                <a:endParaRPr lang="en-US"/>
              </a:p>
            </p:txBody>
          </p:sp>
          <p:sp>
            <p:nvSpPr>
              <p:cNvPr id="26" name="AutoShape 20"/>
              <p:cNvSpPr>
                <a:spLocks noChangeArrowheads="1"/>
              </p:cNvSpPr>
              <p:nvPr/>
            </p:nvSpPr>
            <p:spPr bwMode="auto">
              <a:xfrm>
                <a:off x="4205" y="3249"/>
                <a:ext cx="218" cy="13"/>
              </a:xfrm>
              <a:prstGeom prst="roundRect">
                <a:avLst>
                  <a:gd name="adj" fmla="val 8333"/>
                </a:avLst>
              </a:prstGeom>
              <a:solidFill>
                <a:srgbClr val="FC0128"/>
              </a:solidFill>
              <a:ln w="9525">
                <a:noFill/>
                <a:round/>
                <a:headEnd/>
                <a:tailEnd/>
              </a:ln>
            </p:spPr>
            <p:txBody>
              <a:bodyPr wrap="none" anchor="ctr"/>
              <a:lstStyle/>
              <a:p>
                <a:endParaRPr lang="en-US"/>
              </a:p>
            </p:txBody>
          </p:sp>
          <p:sp>
            <p:nvSpPr>
              <p:cNvPr id="27" name="AutoShape 21"/>
              <p:cNvSpPr>
                <a:spLocks noChangeArrowheads="1"/>
              </p:cNvSpPr>
              <p:nvPr/>
            </p:nvSpPr>
            <p:spPr bwMode="auto">
              <a:xfrm>
                <a:off x="4009" y="3249"/>
                <a:ext cx="116" cy="13"/>
              </a:xfrm>
              <a:prstGeom prst="roundRect">
                <a:avLst>
                  <a:gd name="adj" fmla="val 8333"/>
                </a:avLst>
              </a:prstGeom>
              <a:solidFill>
                <a:srgbClr val="FC0128"/>
              </a:solidFill>
              <a:ln w="9525">
                <a:noFill/>
                <a:round/>
                <a:headEnd/>
                <a:tailEnd/>
              </a:ln>
            </p:spPr>
            <p:txBody>
              <a:bodyPr wrap="none" anchor="ctr"/>
              <a:lstStyle/>
              <a:p>
                <a:endParaRPr lang="en-US"/>
              </a:p>
            </p:txBody>
          </p:sp>
        </p:grpSp>
        <p:grpSp>
          <p:nvGrpSpPr>
            <p:cNvPr id="21" name="Group 22"/>
            <p:cNvGrpSpPr>
              <a:grpSpLocks/>
            </p:cNvGrpSpPr>
            <p:nvPr/>
          </p:nvGrpSpPr>
          <p:grpSpPr bwMode="auto">
            <a:xfrm>
              <a:off x="4007" y="2964"/>
              <a:ext cx="217" cy="409"/>
              <a:chOff x="4007" y="2964"/>
              <a:chExt cx="217" cy="409"/>
            </a:xfrm>
          </p:grpSpPr>
          <p:sp>
            <p:nvSpPr>
              <p:cNvPr id="22" name="Oval 23"/>
              <p:cNvSpPr>
                <a:spLocks noChangeArrowheads="1"/>
              </p:cNvSpPr>
              <p:nvPr/>
            </p:nvSpPr>
            <p:spPr bwMode="auto">
              <a:xfrm>
                <a:off x="4091" y="2964"/>
                <a:ext cx="56" cy="55"/>
              </a:xfrm>
              <a:prstGeom prst="ellipse">
                <a:avLst/>
              </a:prstGeom>
              <a:solidFill>
                <a:srgbClr val="FC0128"/>
              </a:solidFill>
              <a:ln w="12600">
                <a:solidFill>
                  <a:srgbClr val="000000"/>
                </a:solidFill>
                <a:round/>
                <a:headEnd/>
                <a:tailEnd/>
              </a:ln>
            </p:spPr>
            <p:txBody>
              <a:bodyPr wrap="none" anchor="ctr"/>
              <a:lstStyle/>
              <a:p>
                <a:endParaRPr lang="en-US"/>
              </a:p>
            </p:txBody>
          </p:sp>
          <p:sp>
            <p:nvSpPr>
              <p:cNvPr id="23" name="Freeform 24"/>
              <p:cNvSpPr>
                <a:spLocks noChangeArrowheads="1"/>
              </p:cNvSpPr>
              <p:nvPr/>
            </p:nvSpPr>
            <p:spPr bwMode="auto">
              <a:xfrm>
                <a:off x="4007" y="3041"/>
                <a:ext cx="217" cy="332"/>
              </a:xfrm>
              <a:custGeom>
                <a:avLst/>
                <a:gdLst/>
                <a:ahLst/>
                <a:cxnLst>
                  <a:cxn ang="0">
                    <a:pos x="8" y="676"/>
                  </a:cxn>
                  <a:cxn ang="0">
                    <a:pos x="4" y="693"/>
                  </a:cxn>
                  <a:cxn ang="0">
                    <a:pos x="0" y="720"/>
                  </a:cxn>
                  <a:cxn ang="0">
                    <a:pos x="0" y="742"/>
                  </a:cxn>
                  <a:cxn ang="0">
                    <a:pos x="8" y="768"/>
                  </a:cxn>
                  <a:cxn ang="0">
                    <a:pos x="22" y="790"/>
                  </a:cxn>
                  <a:cxn ang="0">
                    <a:pos x="39" y="808"/>
                  </a:cxn>
                  <a:cxn ang="0">
                    <a:pos x="61" y="821"/>
                  </a:cxn>
                  <a:cxn ang="0">
                    <a:pos x="75" y="821"/>
                  </a:cxn>
                  <a:cxn ang="0">
                    <a:pos x="101" y="821"/>
                  </a:cxn>
                  <a:cxn ang="0">
                    <a:pos x="625" y="1462"/>
                  </a:cxn>
                  <a:cxn ang="0">
                    <a:pos x="788" y="702"/>
                  </a:cxn>
                  <a:cxn ang="0">
                    <a:pos x="784" y="684"/>
                  </a:cxn>
                  <a:cxn ang="0">
                    <a:pos x="779" y="671"/>
                  </a:cxn>
                  <a:cxn ang="0">
                    <a:pos x="766" y="658"/>
                  </a:cxn>
                  <a:cxn ang="0">
                    <a:pos x="753" y="649"/>
                  </a:cxn>
                  <a:cxn ang="0">
                    <a:pos x="735" y="640"/>
                  </a:cxn>
                  <a:cxn ang="0">
                    <a:pos x="713" y="640"/>
                  </a:cxn>
                  <a:cxn ang="0">
                    <a:pos x="696" y="640"/>
                  </a:cxn>
                  <a:cxn ang="0">
                    <a:pos x="678" y="640"/>
                  </a:cxn>
                  <a:cxn ang="0">
                    <a:pos x="461" y="370"/>
                  </a:cxn>
                  <a:cxn ang="0">
                    <a:pos x="891" y="458"/>
                  </a:cxn>
                  <a:cxn ang="0">
                    <a:pos x="904" y="454"/>
                  </a:cxn>
                  <a:cxn ang="0">
                    <a:pos x="917" y="454"/>
                  </a:cxn>
                  <a:cxn ang="0">
                    <a:pos x="935" y="441"/>
                  </a:cxn>
                  <a:cxn ang="0">
                    <a:pos x="948" y="428"/>
                  </a:cxn>
                  <a:cxn ang="0">
                    <a:pos x="953" y="410"/>
                  </a:cxn>
                  <a:cxn ang="0">
                    <a:pos x="957" y="388"/>
                  </a:cxn>
                  <a:cxn ang="0">
                    <a:pos x="953" y="366"/>
                  </a:cxn>
                  <a:cxn ang="0">
                    <a:pos x="944" y="348"/>
                  </a:cxn>
                  <a:cxn ang="0">
                    <a:pos x="931" y="335"/>
                  </a:cxn>
                  <a:cxn ang="0">
                    <a:pos x="913" y="322"/>
                  </a:cxn>
                  <a:cxn ang="0">
                    <a:pos x="900" y="317"/>
                  </a:cxn>
                  <a:cxn ang="0">
                    <a:pos x="607" y="317"/>
                  </a:cxn>
                  <a:cxn ang="0">
                    <a:pos x="553" y="207"/>
                  </a:cxn>
                  <a:cxn ang="0">
                    <a:pos x="558" y="180"/>
                  </a:cxn>
                  <a:cxn ang="0">
                    <a:pos x="562" y="150"/>
                  </a:cxn>
                  <a:cxn ang="0">
                    <a:pos x="562" y="119"/>
                  </a:cxn>
                  <a:cxn ang="0">
                    <a:pos x="553" y="92"/>
                  </a:cxn>
                  <a:cxn ang="0">
                    <a:pos x="545" y="75"/>
                  </a:cxn>
                  <a:cxn ang="0">
                    <a:pos x="531" y="52"/>
                  </a:cxn>
                  <a:cxn ang="0">
                    <a:pos x="509" y="35"/>
                  </a:cxn>
                  <a:cxn ang="0">
                    <a:pos x="487" y="17"/>
                  </a:cxn>
                  <a:cxn ang="0">
                    <a:pos x="461" y="4"/>
                  </a:cxn>
                  <a:cxn ang="0">
                    <a:pos x="430" y="0"/>
                  </a:cxn>
                  <a:cxn ang="0">
                    <a:pos x="403" y="0"/>
                  </a:cxn>
                  <a:cxn ang="0">
                    <a:pos x="372" y="4"/>
                  </a:cxn>
                  <a:cxn ang="0">
                    <a:pos x="340" y="13"/>
                  </a:cxn>
                  <a:cxn ang="0">
                    <a:pos x="310" y="30"/>
                  </a:cxn>
                  <a:cxn ang="0">
                    <a:pos x="292" y="57"/>
                  </a:cxn>
                  <a:cxn ang="0">
                    <a:pos x="274" y="83"/>
                  </a:cxn>
                  <a:cxn ang="0">
                    <a:pos x="261" y="110"/>
                  </a:cxn>
                </a:cxnLst>
                <a:rect l="0" t="0" r="r" b="b"/>
                <a:pathLst>
                  <a:path w="958" h="1463">
                    <a:moveTo>
                      <a:pt x="261" y="110"/>
                    </a:moveTo>
                    <a:lnTo>
                      <a:pt x="8" y="676"/>
                    </a:lnTo>
                    <a:lnTo>
                      <a:pt x="4" y="684"/>
                    </a:lnTo>
                    <a:lnTo>
                      <a:pt x="4" y="693"/>
                    </a:lnTo>
                    <a:lnTo>
                      <a:pt x="0" y="702"/>
                    </a:lnTo>
                    <a:lnTo>
                      <a:pt x="0" y="720"/>
                    </a:lnTo>
                    <a:lnTo>
                      <a:pt x="0" y="729"/>
                    </a:lnTo>
                    <a:lnTo>
                      <a:pt x="0" y="742"/>
                    </a:lnTo>
                    <a:lnTo>
                      <a:pt x="4" y="755"/>
                    </a:lnTo>
                    <a:lnTo>
                      <a:pt x="8" y="768"/>
                    </a:lnTo>
                    <a:lnTo>
                      <a:pt x="13" y="777"/>
                    </a:lnTo>
                    <a:lnTo>
                      <a:pt x="22" y="790"/>
                    </a:lnTo>
                    <a:lnTo>
                      <a:pt x="30" y="799"/>
                    </a:lnTo>
                    <a:lnTo>
                      <a:pt x="39" y="808"/>
                    </a:lnTo>
                    <a:lnTo>
                      <a:pt x="52" y="812"/>
                    </a:lnTo>
                    <a:lnTo>
                      <a:pt x="61" y="821"/>
                    </a:lnTo>
                    <a:lnTo>
                      <a:pt x="66" y="821"/>
                    </a:lnTo>
                    <a:lnTo>
                      <a:pt x="75" y="821"/>
                    </a:lnTo>
                    <a:lnTo>
                      <a:pt x="88" y="821"/>
                    </a:lnTo>
                    <a:lnTo>
                      <a:pt x="101" y="821"/>
                    </a:lnTo>
                    <a:lnTo>
                      <a:pt x="625" y="821"/>
                    </a:lnTo>
                    <a:lnTo>
                      <a:pt x="625" y="1462"/>
                    </a:lnTo>
                    <a:lnTo>
                      <a:pt x="788" y="1462"/>
                    </a:lnTo>
                    <a:lnTo>
                      <a:pt x="788" y="702"/>
                    </a:lnTo>
                    <a:lnTo>
                      <a:pt x="788" y="693"/>
                    </a:lnTo>
                    <a:lnTo>
                      <a:pt x="784" y="684"/>
                    </a:lnTo>
                    <a:lnTo>
                      <a:pt x="779" y="676"/>
                    </a:lnTo>
                    <a:lnTo>
                      <a:pt x="779" y="671"/>
                    </a:lnTo>
                    <a:lnTo>
                      <a:pt x="775" y="667"/>
                    </a:lnTo>
                    <a:lnTo>
                      <a:pt x="766" y="658"/>
                    </a:lnTo>
                    <a:lnTo>
                      <a:pt x="762" y="654"/>
                    </a:lnTo>
                    <a:lnTo>
                      <a:pt x="753" y="649"/>
                    </a:lnTo>
                    <a:lnTo>
                      <a:pt x="744" y="645"/>
                    </a:lnTo>
                    <a:lnTo>
                      <a:pt x="735" y="640"/>
                    </a:lnTo>
                    <a:lnTo>
                      <a:pt x="727" y="640"/>
                    </a:lnTo>
                    <a:lnTo>
                      <a:pt x="713" y="640"/>
                    </a:lnTo>
                    <a:lnTo>
                      <a:pt x="704" y="640"/>
                    </a:lnTo>
                    <a:lnTo>
                      <a:pt x="696" y="640"/>
                    </a:lnTo>
                    <a:lnTo>
                      <a:pt x="687" y="640"/>
                    </a:lnTo>
                    <a:lnTo>
                      <a:pt x="678" y="640"/>
                    </a:lnTo>
                    <a:lnTo>
                      <a:pt x="377" y="623"/>
                    </a:lnTo>
                    <a:lnTo>
                      <a:pt x="461" y="370"/>
                    </a:lnTo>
                    <a:lnTo>
                      <a:pt x="522" y="458"/>
                    </a:lnTo>
                    <a:lnTo>
                      <a:pt x="891" y="458"/>
                    </a:lnTo>
                    <a:lnTo>
                      <a:pt x="900" y="454"/>
                    </a:lnTo>
                    <a:lnTo>
                      <a:pt x="904" y="454"/>
                    </a:lnTo>
                    <a:lnTo>
                      <a:pt x="913" y="454"/>
                    </a:lnTo>
                    <a:lnTo>
                      <a:pt x="917" y="454"/>
                    </a:lnTo>
                    <a:lnTo>
                      <a:pt x="926" y="445"/>
                    </a:lnTo>
                    <a:lnTo>
                      <a:pt x="935" y="441"/>
                    </a:lnTo>
                    <a:lnTo>
                      <a:pt x="939" y="432"/>
                    </a:lnTo>
                    <a:lnTo>
                      <a:pt x="948" y="428"/>
                    </a:lnTo>
                    <a:lnTo>
                      <a:pt x="953" y="419"/>
                    </a:lnTo>
                    <a:lnTo>
                      <a:pt x="953" y="410"/>
                    </a:lnTo>
                    <a:lnTo>
                      <a:pt x="957" y="401"/>
                    </a:lnTo>
                    <a:lnTo>
                      <a:pt x="957" y="388"/>
                    </a:lnTo>
                    <a:lnTo>
                      <a:pt x="957" y="375"/>
                    </a:lnTo>
                    <a:lnTo>
                      <a:pt x="953" y="366"/>
                    </a:lnTo>
                    <a:lnTo>
                      <a:pt x="948" y="357"/>
                    </a:lnTo>
                    <a:lnTo>
                      <a:pt x="944" y="348"/>
                    </a:lnTo>
                    <a:lnTo>
                      <a:pt x="935" y="339"/>
                    </a:lnTo>
                    <a:lnTo>
                      <a:pt x="931" y="335"/>
                    </a:lnTo>
                    <a:lnTo>
                      <a:pt x="922" y="326"/>
                    </a:lnTo>
                    <a:lnTo>
                      <a:pt x="913" y="322"/>
                    </a:lnTo>
                    <a:lnTo>
                      <a:pt x="909" y="317"/>
                    </a:lnTo>
                    <a:lnTo>
                      <a:pt x="900" y="317"/>
                    </a:lnTo>
                    <a:lnTo>
                      <a:pt x="891" y="317"/>
                    </a:lnTo>
                    <a:lnTo>
                      <a:pt x="607" y="317"/>
                    </a:lnTo>
                    <a:lnTo>
                      <a:pt x="545" y="216"/>
                    </a:lnTo>
                    <a:lnTo>
                      <a:pt x="553" y="207"/>
                    </a:lnTo>
                    <a:lnTo>
                      <a:pt x="558" y="194"/>
                    </a:lnTo>
                    <a:lnTo>
                      <a:pt x="558" y="180"/>
                    </a:lnTo>
                    <a:lnTo>
                      <a:pt x="562" y="167"/>
                    </a:lnTo>
                    <a:lnTo>
                      <a:pt x="562" y="150"/>
                    </a:lnTo>
                    <a:lnTo>
                      <a:pt x="562" y="136"/>
                    </a:lnTo>
                    <a:lnTo>
                      <a:pt x="562" y="119"/>
                    </a:lnTo>
                    <a:lnTo>
                      <a:pt x="558" y="105"/>
                    </a:lnTo>
                    <a:lnTo>
                      <a:pt x="553" y="92"/>
                    </a:lnTo>
                    <a:lnTo>
                      <a:pt x="549" y="88"/>
                    </a:lnTo>
                    <a:lnTo>
                      <a:pt x="545" y="75"/>
                    </a:lnTo>
                    <a:lnTo>
                      <a:pt x="540" y="66"/>
                    </a:lnTo>
                    <a:lnTo>
                      <a:pt x="531" y="52"/>
                    </a:lnTo>
                    <a:lnTo>
                      <a:pt x="522" y="44"/>
                    </a:lnTo>
                    <a:lnTo>
                      <a:pt x="509" y="35"/>
                    </a:lnTo>
                    <a:lnTo>
                      <a:pt x="500" y="26"/>
                    </a:lnTo>
                    <a:lnTo>
                      <a:pt x="487" y="17"/>
                    </a:lnTo>
                    <a:lnTo>
                      <a:pt x="474" y="13"/>
                    </a:lnTo>
                    <a:lnTo>
                      <a:pt x="461" y="4"/>
                    </a:lnTo>
                    <a:lnTo>
                      <a:pt x="443" y="4"/>
                    </a:lnTo>
                    <a:lnTo>
                      <a:pt x="430" y="0"/>
                    </a:lnTo>
                    <a:lnTo>
                      <a:pt x="421" y="0"/>
                    </a:lnTo>
                    <a:lnTo>
                      <a:pt x="403" y="0"/>
                    </a:lnTo>
                    <a:lnTo>
                      <a:pt x="390" y="0"/>
                    </a:lnTo>
                    <a:lnTo>
                      <a:pt x="372" y="4"/>
                    </a:lnTo>
                    <a:lnTo>
                      <a:pt x="358" y="8"/>
                    </a:lnTo>
                    <a:lnTo>
                      <a:pt x="340" y="13"/>
                    </a:lnTo>
                    <a:lnTo>
                      <a:pt x="327" y="22"/>
                    </a:lnTo>
                    <a:lnTo>
                      <a:pt x="310" y="30"/>
                    </a:lnTo>
                    <a:lnTo>
                      <a:pt x="301" y="44"/>
                    </a:lnTo>
                    <a:lnTo>
                      <a:pt x="292" y="57"/>
                    </a:lnTo>
                    <a:lnTo>
                      <a:pt x="283" y="66"/>
                    </a:lnTo>
                    <a:lnTo>
                      <a:pt x="274" y="83"/>
                    </a:lnTo>
                    <a:lnTo>
                      <a:pt x="265" y="92"/>
                    </a:lnTo>
                    <a:lnTo>
                      <a:pt x="261" y="110"/>
                    </a:lnTo>
                  </a:path>
                </a:pathLst>
              </a:custGeom>
              <a:solidFill>
                <a:srgbClr val="FC0128"/>
              </a:solidFill>
              <a:ln w="9525">
                <a:noFill/>
                <a:round/>
                <a:headEnd/>
                <a:tailEnd/>
              </a:ln>
            </p:spPr>
            <p:txBody>
              <a:bodyPr wrap="none" anchor="ctr"/>
              <a:lstStyle/>
              <a:p>
                <a:endParaRPr lang="en-US"/>
              </a:p>
            </p:txBody>
          </p:sp>
        </p:grpSp>
      </p:grpSp>
      <p:grpSp>
        <p:nvGrpSpPr>
          <p:cNvPr id="28" name="Group 25"/>
          <p:cNvGrpSpPr>
            <a:grpSpLocks/>
          </p:cNvGrpSpPr>
          <p:nvPr/>
        </p:nvGrpSpPr>
        <p:grpSpPr bwMode="auto">
          <a:xfrm>
            <a:off x="7861300" y="3429000"/>
            <a:ext cx="671513" cy="798512"/>
            <a:chOff x="4020" y="1580"/>
            <a:chExt cx="423" cy="503"/>
          </a:xfrm>
        </p:grpSpPr>
        <p:grpSp>
          <p:nvGrpSpPr>
            <p:cNvPr id="29" name="Group 26"/>
            <p:cNvGrpSpPr>
              <a:grpSpLocks/>
            </p:cNvGrpSpPr>
            <p:nvPr/>
          </p:nvGrpSpPr>
          <p:grpSpPr bwMode="auto">
            <a:xfrm>
              <a:off x="4020" y="1580"/>
              <a:ext cx="424" cy="504"/>
              <a:chOff x="4020" y="1580"/>
              <a:chExt cx="424" cy="504"/>
            </a:xfrm>
          </p:grpSpPr>
          <p:grpSp>
            <p:nvGrpSpPr>
              <p:cNvPr id="31" name="Group 30"/>
              <p:cNvGrpSpPr>
                <a:grpSpLocks/>
              </p:cNvGrpSpPr>
              <p:nvPr/>
            </p:nvGrpSpPr>
            <p:grpSpPr bwMode="auto">
              <a:xfrm>
                <a:off x="4020" y="1580"/>
                <a:ext cx="424" cy="504"/>
                <a:chOff x="4020" y="1580"/>
                <a:chExt cx="424" cy="504"/>
              </a:xfrm>
            </p:grpSpPr>
            <p:grpSp>
              <p:nvGrpSpPr>
                <p:cNvPr id="33" name="Group 28"/>
                <p:cNvGrpSpPr>
                  <a:grpSpLocks/>
                </p:cNvGrpSpPr>
                <p:nvPr/>
              </p:nvGrpSpPr>
              <p:grpSpPr bwMode="auto">
                <a:xfrm>
                  <a:off x="4020" y="1660"/>
                  <a:ext cx="424" cy="424"/>
                  <a:chOff x="4020" y="1660"/>
                  <a:chExt cx="424" cy="424"/>
                </a:xfrm>
              </p:grpSpPr>
              <p:sp>
                <p:nvSpPr>
                  <p:cNvPr id="38" name="Freeform 29"/>
                  <p:cNvSpPr>
                    <a:spLocks noChangeArrowheads="1"/>
                  </p:cNvSpPr>
                  <p:nvPr/>
                </p:nvSpPr>
                <p:spPr bwMode="auto">
                  <a:xfrm>
                    <a:off x="4020" y="1660"/>
                    <a:ext cx="424" cy="424"/>
                  </a:xfrm>
                  <a:custGeom>
                    <a:avLst/>
                    <a:gdLst/>
                    <a:ahLst/>
                    <a:cxnLst>
                      <a:cxn ang="0">
                        <a:pos x="0" y="1870"/>
                      </a:cxn>
                      <a:cxn ang="0">
                        <a:pos x="0" y="466"/>
                      </a:cxn>
                      <a:cxn ang="0">
                        <a:pos x="466" y="0"/>
                      </a:cxn>
                      <a:cxn ang="0">
                        <a:pos x="1870" y="0"/>
                      </a:cxn>
                      <a:cxn ang="0">
                        <a:pos x="1870" y="1402"/>
                      </a:cxn>
                      <a:cxn ang="0">
                        <a:pos x="1402" y="1870"/>
                      </a:cxn>
                      <a:cxn ang="0">
                        <a:pos x="0" y="1870"/>
                      </a:cxn>
                    </a:cxnLst>
                    <a:rect l="0" t="0" r="r" b="b"/>
                    <a:pathLst>
                      <a:path w="1871" h="1871">
                        <a:moveTo>
                          <a:pt x="0" y="1870"/>
                        </a:moveTo>
                        <a:lnTo>
                          <a:pt x="0" y="466"/>
                        </a:lnTo>
                        <a:lnTo>
                          <a:pt x="466" y="0"/>
                        </a:lnTo>
                        <a:lnTo>
                          <a:pt x="1870" y="0"/>
                        </a:lnTo>
                        <a:lnTo>
                          <a:pt x="1870" y="1402"/>
                        </a:lnTo>
                        <a:lnTo>
                          <a:pt x="1402" y="1870"/>
                        </a:lnTo>
                        <a:lnTo>
                          <a:pt x="0" y="1870"/>
                        </a:lnTo>
                      </a:path>
                    </a:pathLst>
                  </a:custGeom>
                  <a:solidFill>
                    <a:srgbClr val="F6BF69"/>
                  </a:solidFill>
                  <a:ln w="12600">
                    <a:solidFill>
                      <a:srgbClr val="000000"/>
                    </a:solidFill>
                    <a:round/>
                    <a:headEnd/>
                    <a:tailEnd/>
                  </a:ln>
                </p:spPr>
                <p:txBody>
                  <a:bodyPr wrap="none" anchor="ctr"/>
                  <a:lstStyle/>
                  <a:p>
                    <a:endParaRPr lang="en-US"/>
                  </a:p>
                </p:txBody>
              </p:sp>
              <p:sp>
                <p:nvSpPr>
                  <p:cNvPr id="39" name="Freeform 30"/>
                  <p:cNvSpPr>
                    <a:spLocks noChangeArrowheads="1"/>
                  </p:cNvSpPr>
                  <p:nvPr/>
                </p:nvSpPr>
                <p:spPr bwMode="auto">
                  <a:xfrm>
                    <a:off x="4020" y="1660"/>
                    <a:ext cx="424" cy="106"/>
                  </a:xfrm>
                  <a:custGeom>
                    <a:avLst/>
                    <a:gdLst/>
                    <a:ahLst/>
                    <a:cxnLst>
                      <a:cxn ang="0">
                        <a:pos x="0" y="466"/>
                      </a:cxn>
                      <a:cxn ang="0">
                        <a:pos x="466" y="0"/>
                      </a:cxn>
                      <a:cxn ang="0">
                        <a:pos x="1870" y="0"/>
                      </a:cxn>
                      <a:cxn ang="0">
                        <a:pos x="1402" y="466"/>
                      </a:cxn>
                      <a:cxn ang="0">
                        <a:pos x="0" y="466"/>
                      </a:cxn>
                    </a:cxnLst>
                    <a:rect l="0" t="0" r="r" b="b"/>
                    <a:pathLst>
                      <a:path w="1871" h="467">
                        <a:moveTo>
                          <a:pt x="0" y="466"/>
                        </a:moveTo>
                        <a:lnTo>
                          <a:pt x="466" y="0"/>
                        </a:lnTo>
                        <a:lnTo>
                          <a:pt x="1870" y="0"/>
                        </a:lnTo>
                        <a:lnTo>
                          <a:pt x="1402" y="466"/>
                        </a:lnTo>
                        <a:lnTo>
                          <a:pt x="0" y="466"/>
                        </a:lnTo>
                      </a:path>
                    </a:pathLst>
                  </a:custGeom>
                  <a:solidFill>
                    <a:srgbClr val="FFD072"/>
                  </a:solidFill>
                  <a:ln w="12600">
                    <a:solidFill>
                      <a:srgbClr val="000000"/>
                    </a:solidFill>
                    <a:round/>
                    <a:headEnd/>
                    <a:tailEnd/>
                  </a:ln>
                </p:spPr>
                <p:txBody>
                  <a:bodyPr wrap="none" anchor="ctr"/>
                  <a:lstStyle/>
                  <a:p>
                    <a:endParaRPr lang="en-US"/>
                  </a:p>
                </p:txBody>
              </p:sp>
              <p:sp>
                <p:nvSpPr>
                  <p:cNvPr id="40" name="Freeform 31"/>
                  <p:cNvSpPr>
                    <a:spLocks noChangeArrowheads="1"/>
                  </p:cNvSpPr>
                  <p:nvPr/>
                </p:nvSpPr>
                <p:spPr bwMode="auto">
                  <a:xfrm>
                    <a:off x="4338" y="1660"/>
                    <a:ext cx="106" cy="424"/>
                  </a:xfrm>
                  <a:custGeom>
                    <a:avLst/>
                    <a:gdLst/>
                    <a:ahLst/>
                    <a:cxnLst>
                      <a:cxn ang="0">
                        <a:pos x="0" y="1870"/>
                      </a:cxn>
                      <a:cxn ang="0">
                        <a:pos x="0" y="466"/>
                      </a:cxn>
                      <a:cxn ang="0">
                        <a:pos x="468" y="0"/>
                      </a:cxn>
                      <a:cxn ang="0">
                        <a:pos x="468" y="1402"/>
                      </a:cxn>
                      <a:cxn ang="0">
                        <a:pos x="0" y="1870"/>
                      </a:cxn>
                    </a:cxnLst>
                    <a:rect l="0" t="0" r="r" b="b"/>
                    <a:pathLst>
                      <a:path w="469" h="1871">
                        <a:moveTo>
                          <a:pt x="0" y="1870"/>
                        </a:moveTo>
                        <a:lnTo>
                          <a:pt x="0" y="466"/>
                        </a:lnTo>
                        <a:lnTo>
                          <a:pt x="468" y="0"/>
                        </a:lnTo>
                        <a:lnTo>
                          <a:pt x="468" y="1402"/>
                        </a:lnTo>
                        <a:lnTo>
                          <a:pt x="0" y="1870"/>
                        </a:lnTo>
                      </a:path>
                    </a:pathLst>
                  </a:custGeom>
                  <a:solidFill>
                    <a:srgbClr val="D3A45A"/>
                  </a:solidFill>
                  <a:ln w="12600">
                    <a:solidFill>
                      <a:srgbClr val="000000"/>
                    </a:solidFill>
                    <a:round/>
                    <a:headEnd/>
                    <a:tailEnd/>
                  </a:ln>
                </p:spPr>
                <p:txBody>
                  <a:bodyPr wrap="none" anchor="ctr"/>
                  <a:lstStyle/>
                  <a:p>
                    <a:endParaRPr lang="en-US"/>
                  </a:p>
                </p:txBody>
              </p:sp>
            </p:grpSp>
            <p:grpSp>
              <p:nvGrpSpPr>
                <p:cNvPr id="34" name="Group 32"/>
                <p:cNvGrpSpPr>
                  <a:grpSpLocks/>
                </p:cNvGrpSpPr>
                <p:nvPr/>
              </p:nvGrpSpPr>
              <p:grpSpPr bwMode="auto">
                <a:xfrm>
                  <a:off x="4116" y="1580"/>
                  <a:ext cx="328" cy="88"/>
                  <a:chOff x="4116" y="1580"/>
                  <a:chExt cx="328" cy="88"/>
                </a:xfrm>
              </p:grpSpPr>
              <p:sp>
                <p:nvSpPr>
                  <p:cNvPr id="35" name="Freeform 33"/>
                  <p:cNvSpPr>
                    <a:spLocks noChangeArrowheads="1"/>
                  </p:cNvSpPr>
                  <p:nvPr/>
                </p:nvSpPr>
                <p:spPr bwMode="auto">
                  <a:xfrm>
                    <a:off x="4116" y="1580"/>
                    <a:ext cx="328" cy="88"/>
                  </a:xfrm>
                  <a:custGeom>
                    <a:avLst/>
                    <a:gdLst/>
                    <a:ahLst/>
                    <a:cxnLst>
                      <a:cxn ang="0">
                        <a:pos x="0" y="388"/>
                      </a:cxn>
                      <a:cxn ang="0">
                        <a:pos x="0" y="96"/>
                      </a:cxn>
                      <a:cxn ang="0">
                        <a:pos x="96" y="0"/>
                      </a:cxn>
                      <a:cxn ang="0">
                        <a:pos x="1447" y="0"/>
                      </a:cxn>
                      <a:cxn ang="0">
                        <a:pos x="1447" y="290"/>
                      </a:cxn>
                      <a:cxn ang="0">
                        <a:pos x="1349" y="388"/>
                      </a:cxn>
                      <a:cxn ang="0">
                        <a:pos x="0" y="388"/>
                      </a:cxn>
                    </a:cxnLst>
                    <a:rect l="0" t="0" r="r" b="b"/>
                    <a:pathLst>
                      <a:path w="1448" h="389">
                        <a:moveTo>
                          <a:pt x="0" y="388"/>
                        </a:moveTo>
                        <a:lnTo>
                          <a:pt x="0" y="96"/>
                        </a:lnTo>
                        <a:lnTo>
                          <a:pt x="96" y="0"/>
                        </a:lnTo>
                        <a:lnTo>
                          <a:pt x="1447" y="0"/>
                        </a:lnTo>
                        <a:lnTo>
                          <a:pt x="1447" y="290"/>
                        </a:lnTo>
                        <a:lnTo>
                          <a:pt x="1349" y="388"/>
                        </a:lnTo>
                        <a:lnTo>
                          <a:pt x="0" y="388"/>
                        </a:lnTo>
                      </a:path>
                    </a:pathLst>
                  </a:custGeom>
                  <a:solidFill>
                    <a:srgbClr val="F6BF69"/>
                  </a:solidFill>
                  <a:ln w="12600">
                    <a:solidFill>
                      <a:srgbClr val="000000"/>
                    </a:solidFill>
                    <a:round/>
                    <a:headEnd/>
                    <a:tailEnd/>
                  </a:ln>
                </p:spPr>
                <p:txBody>
                  <a:bodyPr wrap="none" anchor="ctr"/>
                  <a:lstStyle/>
                  <a:p>
                    <a:endParaRPr lang="en-US"/>
                  </a:p>
                </p:txBody>
              </p:sp>
              <p:sp>
                <p:nvSpPr>
                  <p:cNvPr id="36" name="Freeform 34"/>
                  <p:cNvSpPr>
                    <a:spLocks noChangeArrowheads="1"/>
                  </p:cNvSpPr>
                  <p:nvPr/>
                </p:nvSpPr>
                <p:spPr bwMode="auto">
                  <a:xfrm>
                    <a:off x="4116" y="1580"/>
                    <a:ext cx="328" cy="22"/>
                  </a:xfrm>
                  <a:custGeom>
                    <a:avLst/>
                    <a:gdLst/>
                    <a:ahLst/>
                    <a:cxnLst>
                      <a:cxn ang="0">
                        <a:pos x="0" y="96"/>
                      </a:cxn>
                      <a:cxn ang="0">
                        <a:pos x="96" y="0"/>
                      </a:cxn>
                      <a:cxn ang="0">
                        <a:pos x="1447" y="0"/>
                      </a:cxn>
                      <a:cxn ang="0">
                        <a:pos x="1349" y="96"/>
                      </a:cxn>
                      <a:cxn ang="0">
                        <a:pos x="0" y="96"/>
                      </a:cxn>
                    </a:cxnLst>
                    <a:rect l="0" t="0" r="r" b="b"/>
                    <a:pathLst>
                      <a:path w="1448" h="97">
                        <a:moveTo>
                          <a:pt x="0" y="96"/>
                        </a:moveTo>
                        <a:lnTo>
                          <a:pt x="96" y="0"/>
                        </a:lnTo>
                        <a:lnTo>
                          <a:pt x="1447" y="0"/>
                        </a:lnTo>
                        <a:lnTo>
                          <a:pt x="1349" y="96"/>
                        </a:lnTo>
                        <a:lnTo>
                          <a:pt x="0" y="96"/>
                        </a:lnTo>
                      </a:path>
                    </a:pathLst>
                  </a:custGeom>
                  <a:solidFill>
                    <a:srgbClr val="FFD072"/>
                  </a:solidFill>
                  <a:ln w="12600">
                    <a:solidFill>
                      <a:srgbClr val="000000"/>
                    </a:solidFill>
                    <a:round/>
                    <a:headEnd/>
                    <a:tailEnd/>
                  </a:ln>
                </p:spPr>
                <p:txBody>
                  <a:bodyPr wrap="none" anchor="ctr"/>
                  <a:lstStyle/>
                  <a:p>
                    <a:endParaRPr lang="en-US"/>
                  </a:p>
                </p:txBody>
              </p:sp>
              <p:sp>
                <p:nvSpPr>
                  <p:cNvPr id="37" name="Freeform 35"/>
                  <p:cNvSpPr>
                    <a:spLocks noChangeArrowheads="1"/>
                  </p:cNvSpPr>
                  <p:nvPr/>
                </p:nvSpPr>
                <p:spPr bwMode="auto">
                  <a:xfrm>
                    <a:off x="4422" y="1580"/>
                    <a:ext cx="22" cy="88"/>
                  </a:xfrm>
                  <a:custGeom>
                    <a:avLst/>
                    <a:gdLst/>
                    <a:ahLst/>
                    <a:cxnLst>
                      <a:cxn ang="0">
                        <a:pos x="0" y="388"/>
                      </a:cxn>
                      <a:cxn ang="0">
                        <a:pos x="0" y="96"/>
                      </a:cxn>
                      <a:cxn ang="0">
                        <a:pos x="98" y="0"/>
                      </a:cxn>
                      <a:cxn ang="0">
                        <a:pos x="98" y="290"/>
                      </a:cxn>
                      <a:cxn ang="0">
                        <a:pos x="0" y="388"/>
                      </a:cxn>
                    </a:cxnLst>
                    <a:rect l="0" t="0" r="r" b="b"/>
                    <a:pathLst>
                      <a:path w="99" h="389">
                        <a:moveTo>
                          <a:pt x="0" y="388"/>
                        </a:moveTo>
                        <a:lnTo>
                          <a:pt x="0" y="96"/>
                        </a:lnTo>
                        <a:lnTo>
                          <a:pt x="98" y="0"/>
                        </a:lnTo>
                        <a:lnTo>
                          <a:pt x="98" y="290"/>
                        </a:lnTo>
                        <a:lnTo>
                          <a:pt x="0" y="388"/>
                        </a:lnTo>
                      </a:path>
                    </a:pathLst>
                  </a:custGeom>
                  <a:solidFill>
                    <a:srgbClr val="D3A45A"/>
                  </a:solidFill>
                  <a:ln w="12600">
                    <a:solidFill>
                      <a:srgbClr val="000000"/>
                    </a:solidFill>
                    <a:round/>
                    <a:headEnd/>
                    <a:tailEnd/>
                  </a:ln>
                </p:spPr>
                <p:txBody>
                  <a:bodyPr wrap="none" anchor="ctr"/>
                  <a:lstStyle/>
                  <a:p>
                    <a:endParaRPr lang="en-US"/>
                  </a:p>
                </p:txBody>
              </p:sp>
            </p:grpSp>
          </p:grpSp>
          <p:sp>
            <p:nvSpPr>
              <p:cNvPr id="32" name="Freeform 36"/>
              <p:cNvSpPr>
                <a:spLocks noChangeArrowheads="1"/>
              </p:cNvSpPr>
              <p:nvPr/>
            </p:nvSpPr>
            <p:spPr bwMode="auto">
              <a:xfrm>
                <a:off x="4104" y="1696"/>
                <a:ext cx="224" cy="32"/>
              </a:xfrm>
              <a:custGeom>
                <a:avLst/>
                <a:gdLst/>
                <a:ahLst/>
                <a:cxnLst>
                  <a:cxn ang="0">
                    <a:pos x="245" y="0"/>
                  </a:cxn>
                  <a:cxn ang="0">
                    <a:pos x="987" y="0"/>
                  </a:cxn>
                  <a:cxn ang="0">
                    <a:pos x="740" y="141"/>
                  </a:cxn>
                  <a:cxn ang="0">
                    <a:pos x="0" y="141"/>
                  </a:cxn>
                  <a:cxn ang="0">
                    <a:pos x="245" y="0"/>
                  </a:cxn>
                </a:cxnLst>
                <a:rect l="0" t="0" r="r" b="b"/>
                <a:pathLst>
                  <a:path w="988" h="142">
                    <a:moveTo>
                      <a:pt x="245" y="0"/>
                    </a:moveTo>
                    <a:lnTo>
                      <a:pt x="987" y="0"/>
                    </a:lnTo>
                    <a:lnTo>
                      <a:pt x="740" y="141"/>
                    </a:lnTo>
                    <a:lnTo>
                      <a:pt x="0" y="141"/>
                    </a:lnTo>
                    <a:lnTo>
                      <a:pt x="245" y="0"/>
                    </a:lnTo>
                  </a:path>
                </a:pathLst>
              </a:custGeom>
              <a:solidFill>
                <a:srgbClr val="F6BF69"/>
              </a:solidFill>
              <a:ln w="25560">
                <a:solidFill>
                  <a:srgbClr val="000000"/>
                </a:solidFill>
                <a:round/>
                <a:headEnd/>
                <a:tailEnd/>
              </a:ln>
            </p:spPr>
            <p:txBody>
              <a:bodyPr wrap="none" anchor="ctr"/>
              <a:lstStyle/>
              <a:p>
                <a:endParaRPr lang="en-US"/>
              </a:p>
            </p:txBody>
          </p:sp>
        </p:grpSp>
        <p:sp>
          <p:nvSpPr>
            <p:cNvPr id="30" name="Oval 37"/>
            <p:cNvSpPr>
              <a:spLocks noChangeArrowheads="1"/>
            </p:cNvSpPr>
            <p:nvPr/>
          </p:nvSpPr>
          <p:spPr bwMode="auto">
            <a:xfrm>
              <a:off x="4348" y="1620"/>
              <a:ext cx="56" cy="32"/>
            </a:xfrm>
            <a:prstGeom prst="ellipse">
              <a:avLst/>
            </a:prstGeom>
            <a:solidFill>
              <a:srgbClr val="FFFFFF"/>
            </a:solidFill>
            <a:ln w="12600">
              <a:solidFill>
                <a:srgbClr val="000000"/>
              </a:solidFill>
              <a:round/>
              <a:headEnd/>
              <a:tailEnd/>
            </a:ln>
          </p:spPr>
          <p:txBody>
            <a:bodyPr wrap="none" anchor="ctr"/>
            <a:lstStyle/>
            <a:p>
              <a:endParaRPr lang="en-US"/>
            </a:p>
          </p:txBody>
        </p:sp>
      </p:grpSp>
      <p:grpSp>
        <p:nvGrpSpPr>
          <p:cNvPr id="41" name="Group 38"/>
          <p:cNvGrpSpPr>
            <a:grpSpLocks/>
          </p:cNvGrpSpPr>
          <p:nvPr/>
        </p:nvGrpSpPr>
        <p:grpSpPr bwMode="auto">
          <a:xfrm>
            <a:off x="7302500" y="2627312"/>
            <a:ext cx="2224088" cy="609600"/>
            <a:chOff x="3668" y="964"/>
            <a:chExt cx="1401" cy="384"/>
          </a:xfrm>
        </p:grpSpPr>
        <p:grpSp>
          <p:nvGrpSpPr>
            <p:cNvPr id="42" name="Group 39"/>
            <p:cNvGrpSpPr>
              <a:grpSpLocks/>
            </p:cNvGrpSpPr>
            <p:nvPr/>
          </p:nvGrpSpPr>
          <p:grpSpPr bwMode="auto">
            <a:xfrm>
              <a:off x="3668" y="964"/>
              <a:ext cx="329" cy="384"/>
              <a:chOff x="3668" y="964"/>
              <a:chExt cx="329" cy="384"/>
            </a:xfrm>
          </p:grpSpPr>
          <p:sp>
            <p:nvSpPr>
              <p:cNvPr id="52" name="Freeform 40"/>
              <p:cNvSpPr>
                <a:spLocks noChangeArrowheads="1"/>
              </p:cNvSpPr>
              <p:nvPr/>
            </p:nvSpPr>
            <p:spPr bwMode="auto">
              <a:xfrm>
                <a:off x="3668" y="964"/>
                <a:ext cx="329" cy="294"/>
              </a:xfrm>
              <a:custGeom>
                <a:avLst/>
                <a:gdLst/>
                <a:ahLst/>
                <a:cxnLst>
                  <a:cxn ang="0">
                    <a:pos x="411" y="61"/>
                  </a:cxn>
                  <a:cxn ang="0">
                    <a:pos x="690" y="70"/>
                  </a:cxn>
                  <a:cxn ang="0">
                    <a:pos x="991" y="0"/>
                  </a:cxn>
                  <a:cxn ang="0">
                    <a:pos x="1350" y="0"/>
                  </a:cxn>
                  <a:cxn ang="0">
                    <a:pos x="951" y="370"/>
                  </a:cxn>
                  <a:cxn ang="0">
                    <a:pos x="1057" y="392"/>
                  </a:cxn>
                  <a:cxn ang="0">
                    <a:pos x="1163" y="436"/>
                  </a:cxn>
                  <a:cxn ang="0">
                    <a:pos x="1260" y="489"/>
                  </a:cxn>
                  <a:cxn ang="0">
                    <a:pos x="1336" y="556"/>
                  </a:cxn>
                  <a:cxn ang="0">
                    <a:pos x="1398" y="635"/>
                  </a:cxn>
                  <a:cxn ang="0">
                    <a:pos x="1438" y="728"/>
                  </a:cxn>
                  <a:cxn ang="0">
                    <a:pos x="1451" y="824"/>
                  </a:cxn>
                  <a:cxn ang="0">
                    <a:pos x="1433" y="925"/>
                  </a:cxn>
                  <a:cxn ang="0">
                    <a:pos x="1403" y="1005"/>
                  </a:cxn>
                  <a:cxn ang="0">
                    <a:pos x="1341" y="1089"/>
                  </a:cxn>
                  <a:cxn ang="0">
                    <a:pos x="1238" y="1177"/>
                  </a:cxn>
                  <a:cxn ang="0">
                    <a:pos x="1137" y="1230"/>
                  </a:cxn>
                  <a:cxn ang="0">
                    <a:pos x="1044" y="1265"/>
                  </a:cxn>
                  <a:cxn ang="0">
                    <a:pos x="951" y="1287"/>
                  </a:cxn>
                  <a:cxn ang="0">
                    <a:pos x="836" y="1296"/>
                  </a:cxn>
                  <a:cxn ang="0">
                    <a:pos x="539" y="1292"/>
                  </a:cxn>
                  <a:cxn ang="0">
                    <a:pos x="398" y="1265"/>
                  </a:cxn>
                  <a:cxn ang="0">
                    <a:pos x="248" y="1199"/>
                  </a:cxn>
                  <a:cxn ang="0">
                    <a:pos x="132" y="1115"/>
                  </a:cxn>
                  <a:cxn ang="0">
                    <a:pos x="57" y="1022"/>
                  </a:cxn>
                  <a:cxn ang="0">
                    <a:pos x="17" y="925"/>
                  </a:cxn>
                  <a:cxn ang="0">
                    <a:pos x="0" y="841"/>
                  </a:cxn>
                  <a:cxn ang="0">
                    <a:pos x="13" y="745"/>
                  </a:cxn>
                  <a:cxn ang="0">
                    <a:pos x="61" y="622"/>
                  </a:cxn>
                  <a:cxn ang="0">
                    <a:pos x="154" y="520"/>
                  </a:cxn>
                  <a:cxn ang="0">
                    <a:pos x="279" y="436"/>
                  </a:cxn>
                  <a:cxn ang="0">
                    <a:pos x="451" y="379"/>
                  </a:cxn>
                  <a:cxn ang="0">
                    <a:pos x="176" y="17"/>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US"/>
              </a:p>
            </p:txBody>
          </p:sp>
          <p:sp>
            <p:nvSpPr>
              <p:cNvPr id="53" name="Text Box 41"/>
              <p:cNvSpPr txBox="1">
                <a:spLocks noChangeArrowheads="1"/>
              </p:cNvSpPr>
              <p:nvPr/>
            </p:nvSpPr>
            <p:spPr bwMode="auto">
              <a:xfrm>
                <a:off x="3719" y="1011"/>
                <a:ext cx="253" cy="337"/>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t>A</a:t>
                </a:r>
              </a:p>
            </p:txBody>
          </p:sp>
        </p:grpSp>
        <p:grpSp>
          <p:nvGrpSpPr>
            <p:cNvPr id="43" name="Group 42"/>
            <p:cNvGrpSpPr>
              <a:grpSpLocks/>
            </p:cNvGrpSpPr>
            <p:nvPr/>
          </p:nvGrpSpPr>
          <p:grpSpPr bwMode="auto">
            <a:xfrm>
              <a:off x="4028" y="964"/>
              <a:ext cx="329" cy="384"/>
              <a:chOff x="4028" y="964"/>
              <a:chExt cx="329" cy="384"/>
            </a:xfrm>
          </p:grpSpPr>
          <p:sp>
            <p:nvSpPr>
              <p:cNvPr id="50" name="Freeform 43"/>
              <p:cNvSpPr>
                <a:spLocks noChangeArrowheads="1"/>
              </p:cNvSpPr>
              <p:nvPr/>
            </p:nvSpPr>
            <p:spPr bwMode="auto">
              <a:xfrm>
                <a:off x="4028" y="964"/>
                <a:ext cx="329" cy="294"/>
              </a:xfrm>
              <a:custGeom>
                <a:avLst/>
                <a:gdLst/>
                <a:ahLst/>
                <a:cxnLst>
                  <a:cxn ang="0">
                    <a:pos x="411" y="61"/>
                  </a:cxn>
                  <a:cxn ang="0">
                    <a:pos x="690" y="70"/>
                  </a:cxn>
                  <a:cxn ang="0">
                    <a:pos x="991" y="0"/>
                  </a:cxn>
                  <a:cxn ang="0">
                    <a:pos x="1350" y="0"/>
                  </a:cxn>
                  <a:cxn ang="0">
                    <a:pos x="951" y="370"/>
                  </a:cxn>
                  <a:cxn ang="0">
                    <a:pos x="1057" y="392"/>
                  </a:cxn>
                  <a:cxn ang="0">
                    <a:pos x="1163" y="436"/>
                  </a:cxn>
                  <a:cxn ang="0">
                    <a:pos x="1260" y="489"/>
                  </a:cxn>
                  <a:cxn ang="0">
                    <a:pos x="1336" y="556"/>
                  </a:cxn>
                  <a:cxn ang="0">
                    <a:pos x="1398" y="635"/>
                  </a:cxn>
                  <a:cxn ang="0">
                    <a:pos x="1438" y="728"/>
                  </a:cxn>
                  <a:cxn ang="0">
                    <a:pos x="1451" y="824"/>
                  </a:cxn>
                  <a:cxn ang="0">
                    <a:pos x="1433" y="925"/>
                  </a:cxn>
                  <a:cxn ang="0">
                    <a:pos x="1403" y="1005"/>
                  </a:cxn>
                  <a:cxn ang="0">
                    <a:pos x="1341" y="1089"/>
                  </a:cxn>
                  <a:cxn ang="0">
                    <a:pos x="1238" y="1177"/>
                  </a:cxn>
                  <a:cxn ang="0">
                    <a:pos x="1137" y="1230"/>
                  </a:cxn>
                  <a:cxn ang="0">
                    <a:pos x="1044" y="1265"/>
                  </a:cxn>
                  <a:cxn ang="0">
                    <a:pos x="951" y="1287"/>
                  </a:cxn>
                  <a:cxn ang="0">
                    <a:pos x="836" y="1296"/>
                  </a:cxn>
                  <a:cxn ang="0">
                    <a:pos x="539" y="1292"/>
                  </a:cxn>
                  <a:cxn ang="0">
                    <a:pos x="398" y="1265"/>
                  </a:cxn>
                  <a:cxn ang="0">
                    <a:pos x="248" y="1199"/>
                  </a:cxn>
                  <a:cxn ang="0">
                    <a:pos x="132" y="1115"/>
                  </a:cxn>
                  <a:cxn ang="0">
                    <a:pos x="57" y="1022"/>
                  </a:cxn>
                  <a:cxn ang="0">
                    <a:pos x="17" y="925"/>
                  </a:cxn>
                  <a:cxn ang="0">
                    <a:pos x="0" y="841"/>
                  </a:cxn>
                  <a:cxn ang="0">
                    <a:pos x="13" y="745"/>
                  </a:cxn>
                  <a:cxn ang="0">
                    <a:pos x="61" y="622"/>
                  </a:cxn>
                  <a:cxn ang="0">
                    <a:pos x="154" y="520"/>
                  </a:cxn>
                  <a:cxn ang="0">
                    <a:pos x="279" y="436"/>
                  </a:cxn>
                  <a:cxn ang="0">
                    <a:pos x="451" y="379"/>
                  </a:cxn>
                  <a:cxn ang="0">
                    <a:pos x="176" y="17"/>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US"/>
              </a:p>
            </p:txBody>
          </p:sp>
          <p:sp>
            <p:nvSpPr>
              <p:cNvPr id="51" name="Text Box 44"/>
              <p:cNvSpPr txBox="1">
                <a:spLocks noChangeArrowheads="1"/>
              </p:cNvSpPr>
              <p:nvPr/>
            </p:nvSpPr>
            <p:spPr bwMode="auto">
              <a:xfrm>
                <a:off x="4079" y="1011"/>
                <a:ext cx="253" cy="337"/>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t>B</a:t>
                </a:r>
              </a:p>
            </p:txBody>
          </p:sp>
        </p:grpSp>
        <p:grpSp>
          <p:nvGrpSpPr>
            <p:cNvPr id="44" name="Group 45"/>
            <p:cNvGrpSpPr>
              <a:grpSpLocks/>
            </p:cNvGrpSpPr>
            <p:nvPr/>
          </p:nvGrpSpPr>
          <p:grpSpPr bwMode="auto">
            <a:xfrm>
              <a:off x="4388" y="964"/>
              <a:ext cx="329" cy="384"/>
              <a:chOff x="4388" y="964"/>
              <a:chExt cx="329" cy="384"/>
            </a:xfrm>
          </p:grpSpPr>
          <p:sp>
            <p:nvSpPr>
              <p:cNvPr id="48" name="Freeform 46"/>
              <p:cNvSpPr>
                <a:spLocks noChangeArrowheads="1"/>
              </p:cNvSpPr>
              <p:nvPr/>
            </p:nvSpPr>
            <p:spPr bwMode="auto">
              <a:xfrm>
                <a:off x="4388" y="964"/>
                <a:ext cx="329" cy="294"/>
              </a:xfrm>
              <a:custGeom>
                <a:avLst/>
                <a:gdLst/>
                <a:ahLst/>
                <a:cxnLst>
                  <a:cxn ang="0">
                    <a:pos x="411" y="61"/>
                  </a:cxn>
                  <a:cxn ang="0">
                    <a:pos x="690" y="70"/>
                  </a:cxn>
                  <a:cxn ang="0">
                    <a:pos x="991" y="0"/>
                  </a:cxn>
                  <a:cxn ang="0">
                    <a:pos x="1350" y="0"/>
                  </a:cxn>
                  <a:cxn ang="0">
                    <a:pos x="951" y="370"/>
                  </a:cxn>
                  <a:cxn ang="0">
                    <a:pos x="1057" y="392"/>
                  </a:cxn>
                  <a:cxn ang="0">
                    <a:pos x="1163" y="436"/>
                  </a:cxn>
                  <a:cxn ang="0">
                    <a:pos x="1260" y="489"/>
                  </a:cxn>
                  <a:cxn ang="0">
                    <a:pos x="1336" y="556"/>
                  </a:cxn>
                  <a:cxn ang="0">
                    <a:pos x="1398" y="635"/>
                  </a:cxn>
                  <a:cxn ang="0">
                    <a:pos x="1438" y="728"/>
                  </a:cxn>
                  <a:cxn ang="0">
                    <a:pos x="1451" y="824"/>
                  </a:cxn>
                  <a:cxn ang="0">
                    <a:pos x="1433" y="925"/>
                  </a:cxn>
                  <a:cxn ang="0">
                    <a:pos x="1403" y="1005"/>
                  </a:cxn>
                  <a:cxn ang="0">
                    <a:pos x="1341" y="1089"/>
                  </a:cxn>
                  <a:cxn ang="0">
                    <a:pos x="1238" y="1177"/>
                  </a:cxn>
                  <a:cxn ang="0">
                    <a:pos x="1137" y="1230"/>
                  </a:cxn>
                  <a:cxn ang="0">
                    <a:pos x="1044" y="1265"/>
                  </a:cxn>
                  <a:cxn ang="0">
                    <a:pos x="951" y="1287"/>
                  </a:cxn>
                  <a:cxn ang="0">
                    <a:pos x="836" y="1296"/>
                  </a:cxn>
                  <a:cxn ang="0">
                    <a:pos x="539" y="1292"/>
                  </a:cxn>
                  <a:cxn ang="0">
                    <a:pos x="398" y="1265"/>
                  </a:cxn>
                  <a:cxn ang="0">
                    <a:pos x="248" y="1199"/>
                  </a:cxn>
                  <a:cxn ang="0">
                    <a:pos x="132" y="1115"/>
                  </a:cxn>
                  <a:cxn ang="0">
                    <a:pos x="57" y="1022"/>
                  </a:cxn>
                  <a:cxn ang="0">
                    <a:pos x="17" y="925"/>
                  </a:cxn>
                  <a:cxn ang="0">
                    <a:pos x="0" y="841"/>
                  </a:cxn>
                  <a:cxn ang="0">
                    <a:pos x="13" y="745"/>
                  </a:cxn>
                  <a:cxn ang="0">
                    <a:pos x="61" y="622"/>
                  </a:cxn>
                  <a:cxn ang="0">
                    <a:pos x="154" y="520"/>
                  </a:cxn>
                  <a:cxn ang="0">
                    <a:pos x="279" y="436"/>
                  </a:cxn>
                  <a:cxn ang="0">
                    <a:pos x="451" y="379"/>
                  </a:cxn>
                  <a:cxn ang="0">
                    <a:pos x="176" y="17"/>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US"/>
              </a:p>
            </p:txBody>
          </p:sp>
          <p:sp>
            <p:nvSpPr>
              <p:cNvPr id="49" name="Text Box 47"/>
              <p:cNvSpPr txBox="1">
                <a:spLocks noChangeArrowheads="1"/>
              </p:cNvSpPr>
              <p:nvPr/>
            </p:nvSpPr>
            <p:spPr bwMode="auto">
              <a:xfrm>
                <a:off x="4439" y="1011"/>
                <a:ext cx="253" cy="337"/>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t>C</a:t>
                </a:r>
              </a:p>
            </p:txBody>
          </p:sp>
        </p:grpSp>
        <p:grpSp>
          <p:nvGrpSpPr>
            <p:cNvPr id="45" name="Group 48"/>
            <p:cNvGrpSpPr>
              <a:grpSpLocks/>
            </p:cNvGrpSpPr>
            <p:nvPr/>
          </p:nvGrpSpPr>
          <p:grpSpPr bwMode="auto">
            <a:xfrm>
              <a:off x="4740" y="964"/>
              <a:ext cx="329" cy="384"/>
              <a:chOff x="4740" y="964"/>
              <a:chExt cx="329" cy="384"/>
            </a:xfrm>
          </p:grpSpPr>
          <p:sp>
            <p:nvSpPr>
              <p:cNvPr id="46" name="Freeform 49"/>
              <p:cNvSpPr>
                <a:spLocks noChangeArrowheads="1"/>
              </p:cNvSpPr>
              <p:nvPr/>
            </p:nvSpPr>
            <p:spPr bwMode="auto">
              <a:xfrm>
                <a:off x="4740" y="964"/>
                <a:ext cx="329" cy="294"/>
              </a:xfrm>
              <a:custGeom>
                <a:avLst/>
                <a:gdLst/>
                <a:ahLst/>
                <a:cxnLst>
                  <a:cxn ang="0">
                    <a:pos x="411" y="61"/>
                  </a:cxn>
                  <a:cxn ang="0">
                    <a:pos x="690" y="70"/>
                  </a:cxn>
                  <a:cxn ang="0">
                    <a:pos x="991" y="0"/>
                  </a:cxn>
                  <a:cxn ang="0">
                    <a:pos x="1350" y="0"/>
                  </a:cxn>
                  <a:cxn ang="0">
                    <a:pos x="951" y="370"/>
                  </a:cxn>
                  <a:cxn ang="0">
                    <a:pos x="1057" y="392"/>
                  </a:cxn>
                  <a:cxn ang="0">
                    <a:pos x="1163" y="436"/>
                  </a:cxn>
                  <a:cxn ang="0">
                    <a:pos x="1260" y="489"/>
                  </a:cxn>
                  <a:cxn ang="0">
                    <a:pos x="1336" y="556"/>
                  </a:cxn>
                  <a:cxn ang="0">
                    <a:pos x="1398" y="635"/>
                  </a:cxn>
                  <a:cxn ang="0">
                    <a:pos x="1438" y="728"/>
                  </a:cxn>
                  <a:cxn ang="0">
                    <a:pos x="1451" y="824"/>
                  </a:cxn>
                  <a:cxn ang="0">
                    <a:pos x="1433" y="925"/>
                  </a:cxn>
                  <a:cxn ang="0">
                    <a:pos x="1403" y="1005"/>
                  </a:cxn>
                  <a:cxn ang="0">
                    <a:pos x="1341" y="1089"/>
                  </a:cxn>
                  <a:cxn ang="0">
                    <a:pos x="1238" y="1177"/>
                  </a:cxn>
                  <a:cxn ang="0">
                    <a:pos x="1137" y="1230"/>
                  </a:cxn>
                  <a:cxn ang="0">
                    <a:pos x="1044" y="1265"/>
                  </a:cxn>
                  <a:cxn ang="0">
                    <a:pos x="951" y="1287"/>
                  </a:cxn>
                  <a:cxn ang="0">
                    <a:pos x="836" y="1296"/>
                  </a:cxn>
                  <a:cxn ang="0">
                    <a:pos x="539" y="1292"/>
                  </a:cxn>
                  <a:cxn ang="0">
                    <a:pos x="398" y="1265"/>
                  </a:cxn>
                  <a:cxn ang="0">
                    <a:pos x="248" y="1199"/>
                  </a:cxn>
                  <a:cxn ang="0">
                    <a:pos x="132" y="1115"/>
                  </a:cxn>
                  <a:cxn ang="0">
                    <a:pos x="57" y="1022"/>
                  </a:cxn>
                  <a:cxn ang="0">
                    <a:pos x="17" y="925"/>
                  </a:cxn>
                  <a:cxn ang="0">
                    <a:pos x="0" y="841"/>
                  </a:cxn>
                  <a:cxn ang="0">
                    <a:pos x="13" y="745"/>
                  </a:cxn>
                  <a:cxn ang="0">
                    <a:pos x="61" y="622"/>
                  </a:cxn>
                  <a:cxn ang="0">
                    <a:pos x="154" y="520"/>
                  </a:cxn>
                  <a:cxn ang="0">
                    <a:pos x="279" y="436"/>
                  </a:cxn>
                  <a:cxn ang="0">
                    <a:pos x="451" y="379"/>
                  </a:cxn>
                  <a:cxn ang="0">
                    <a:pos x="176" y="17"/>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US"/>
              </a:p>
            </p:txBody>
          </p:sp>
          <p:sp>
            <p:nvSpPr>
              <p:cNvPr id="47" name="Text Box 50"/>
              <p:cNvSpPr txBox="1">
                <a:spLocks noChangeArrowheads="1"/>
              </p:cNvSpPr>
              <p:nvPr/>
            </p:nvSpPr>
            <p:spPr bwMode="auto">
              <a:xfrm>
                <a:off x="4791" y="1011"/>
                <a:ext cx="253" cy="337"/>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t>D</a:t>
                </a:r>
              </a:p>
            </p:txBody>
          </p:sp>
        </p:grpSp>
      </p:grpSp>
      <p:sp>
        <p:nvSpPr>
          <p:cNvPr id="54" name="Rectangle 53"/>
          <p:cNvSpPr/>
          <p:nvPr/>
        </p:nvSpPr>
        <p:spPr>
          <a:xfrm>
            <a:off x="8534400" y="6019800"/>
            <a:ext cx="3180679" cy="261610"/>
          </a:xfrm>
          <a:prstGeom prst="rect">
            <a:avLst/>
          </a:prstGeom>
        </p:spPr>
        <p:txBody>
          <a:bodyPr wrap="none">
            <a:spAutoFit/>
          </a:bodyPr>
          <a:lstStyle/>
          <a:p>
            <a:r>
              <a:rPr lang="en-US" sz="1100" dirty="0">
                <a:solidFill>
                  <a:schemeClr val="accent1"/>
                </a:solidFill>
                <a:latin typeface="Museo 300" pitchFamily="50" charset="0"/>
              </a:rPr>
              <a:t>https://images.app.goo.gl/6fCBqzFyQ8BfLYhy5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47</a:t>
            </a:fld>
            <a:endParaRPr lang="en-US" dirty="0"/>
          </a:p>
        </p:txBody>
      </p:sp>
      <p:sp>
        <p:nvSpPr>
          <p:cNvPr id="5" name="Rectangle 2"/>
          <p:cNvSpPr txBox="1">
            <a:spLocks noChangeArrowheads="1"/>
          </p:cNvSpPr>
          <p:nvPr/>
        </p:nvSpPr>
        <p:spPr>
          <a:xfrm>
            <a:off x="2286000" y="0"/>
            <a:ext cx="9372600"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Traditional Pipeline Concept continue…</a:t>
            </a:r>
          </a:p>
        </p:txBody>
      </p:sp>
      <p:sp>
        <p:nvSpPr>
          <p:cNvPr id="6" name="Rectangle 3"/>
          <p:cNvSpPr txBox="1">
            <a:spLocks noChangeArrowheads="1"/>
          </p:cNvSpPr>
          <p:nvPr/>
        </p:nvSpPr>
        <p:spPr>
          <a:xfrm>
            <a:off x="6477000" y="3200400"/>
            <a:ext cx="5410200" cy="1143000"/>
          </a:xfrm>
          <a:prstGeom prst="rect">
            <a:avLst/>
          </a:prstGeom>
          <a:ln/>
        </p:spPr>
        <p:txBody>
          <a:bodyPr vert="horz" lIns="63360" tIns="25560" rIns="63360" bIns="25560" rtlCol="0">
            <a:noAutofit/>
          </a:bodyPr>
          <a:lstStyle/>
          <a:p>
            <a:pPr marL="201613" marR="0" lvl="0" indent="-201613" algn="just" defTabSz="449263" rtl="0" eaLnBrk="1" fontAlgn="auto" latinLnBrk="0" hangingPunct="1">
              <a:lnSpc>
                <a:spcPct val="17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Sequential laundry takes 6 hours for 4 loads</a:t>
            </a:r>
          </a:p>
          <a:p>
            <a:pPr marL="201613" marR="0" lvl="0" indent="-201613" algn="just" defTabSz="449263" rtl="0" eaLnBrk="1" fontAlgn="auto" latinLnBrk="0" hangingPunct="1">
              <a:lnSpc>
                <a:spcPct val="170000"/>
              </a:lnSpc>
              <a:spcBef>
                <a:spcPts val="1000"/>
              </a:spcBef>
              <a:spcAft>
                <a:spcPts val="0"/>
              </a:spcAft>
              <a:buClrTx/>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If they learned pipelining, how long would  laundry take? </a:t>
            </a:r>
          </a:p>
        </p:txBody>
      </p:sp>
      <p:grpSp>
        <p:nvGrpSpPr>
          <p:cNvPr id="7" name="Group 4"/>
          <p:cNvGrpSpPr>
            <a:grpSpLocks/>
          </p:cNvGrpSpPr>
          <p:nvPr/>
        </p:nvGrpSpPr>
        <p:grpSpPr bwMode="auto">
          <a:xfrm>
            <a:off x="1352550" y="3308350"/>
            <a:ext cx="522288" cy="498475"/>
            <a:chOff x="441" y="1529"/>
            <a:chExt cx="329" cy="314"/>
          </a:xfrm>
        </p:grpSpPr>
        <p:sp>
          <p:nvSpPr>
            <p:cNvPr id="8" name="Freeform 5"/>
            <p:cNvSpPr>
              <a:spLocks noChangeArrowheads="1"/>
            </p:cNvSpPr>
            <p:nvPr/>
          </p:nvSpPr>
          <p:spPr bwMode="auto">
            <a:xfrm>
              <a:off x="441" y="1529"/>
              <a:ext cx="329" cy="294"/>
            </a:xfrm>
            <a:custGeom>
              <a:avLst/>
              <a:gdLst/>
              <a:ahLst/>
              <a:cxnLst>
                <a:cxn ang="0">
                  <a:pos x="411" y="61"/>
                </a:cxn>
                <a:cxn ang="0">
                  <a:pos x="689" y="70"/>
                </a:cxn>
                <a:cxn ang="0">
                  <a:pos x="990" y="0"/>
                </a:cxn>
                <a:cxn ang="0">
                  <a:pos x="1349" y="0"/>
                </a:cxn>
                <a:cxn ang="0">
                  <a:pos x="950" y="370"/>
                </a:cxn>
                <a:cxn ang="0">
                  <a:pos x="1056" y="392"/>
                </a:cxn>
                <a:cxn ang="0">
                  <a:pos x="1162" y="436"/>
                </a:cxn>
                <a:cxn ang="0">
                  <a:pos x="1260" y="489"/>
                </a:cxn>
                <a:cxn ang="0">
                  <a:pos x="1335" y="556"/>
                </a:cxn>
                <a:cxn ang="0">
                  <a:pos x="1397" y="635"/>
                </a:cxn>
                <a:cxn ang="0">
                  <a:pos x="1437" y="728"/>
                </a:cxn>
                <a:cxn ang="0">
                  <a:pos x="1450" y="824"/>
                </a:cxn>
                <a:cxn ang="0">
                  <a:pos x="1432" y="925"/>
                </a:cxn>
                <a:cxn ang="0">
                  <a:pos x="1402" y="1005"/>
                </a:cxn>
                <a:cxn ang="0">
                  <a:pos x="1340" y="1089"/>
                </a:cxn>
                <a:cxn ang="0">
                  <a:pos x="1238" y="1177"/>
                </a:cxn>
                <a:cxn ang="0">
                  <a:pos x="1136" y="1230"/>
                </a:cxn>
                <a:cxn ang="0">
                  <a:pos x="1043" y="1265"/>
                </a:cxn>
                <a:cxn ang="0">
                  <a:pos x="950" y="1287"/>
                </a:cxn>
                <a:cxn ang="0">
                  <a:pos x="836" y="1296"/>
                </a:cxn>
                <a:cxn ang="0">
                  <a:pos x="539" y="1292"/>
                </a:cxn>
                <a:cxn ang="0">
                  <a:pos x="398" y="1265"/>
                </a:cxn>
                <a:cxn ang="0">
                  <a:pos x="248" y="1199"/>
                </a:cxn>
                <a:cxn ang="0">
                  <a:pos x="132" y="1115"/>
                </a:cxn>
                <a:cxn ang="0">
                  <a:pos x="57" y="1022"/>
                </a:cxn>
                <a:cxn ang="0">
                  <a:pos x="17" y="925"/>
                </a:cxn>
                <a:cxn ang="0">
                  <a:pos x="0" y="841"/>
                </a:cxn>
                <a:cxn ang="0">
                  <a:pos x="13" y="744"/>
                </a:cxn>
                <a:cxn ang="0">
                  <a:pos x="61" y="622"/>
                </a:cxn>
                <a:cxn ang="0">
                  <a:pos x="154" y="520"/>
                </a:cxn>
                <a:cxn ang="0">
                  <a:pos x="279" y="436"/>
                </a:cxn>
                <a:cxn ang="0">
                  <a:pos x="451" y="379"/>
                </a:cxn>
                <a:cxn ang="0">
                  <a:pos x="176" y="17"/>
                </a:cxn>
              </a:cxnLst>
              <a:rect l="0" t="0" r="r" b="b"/>
              <a:pathLst>
                <a:path w="1451" h="1297">
                  <a:moveTo>
                    <a:pt x="176" y="17"/>
                  </a:moveTo>
                  <a:lnTo>
                    <a:pt x="411" y="61"/>
                  </a:lnTo>
                  <a:lnTo>
                    <a:pt x="407" y="0"/>
                  </a:lnTo>
                  <a:lnTo>
                    <a:pt x="689" y="70"/>
                  </a:lnTo>
                  <a:lnTo>
                    <a:pt x="689" y="0"/>
                  </a:lnTo>
                  <a:lnTo>
                    <a:pt x="990" y="0"/>
                  </a:lnTo>
                  <a:lnTo>
                    <a:pt x="986" y="66"/>
                  </a:lnTo>
                  <a:lnTo>
                    <a:pt x="1349" y="0"/>
                  </a:lnTo>
                  <a:lnTo>
                    <a:pt x="906" y="366"/>
                  </a:lnTo>
                  <a:lnTo>
                    <a:pt x="950" y="370"/>
                  </a:lnTo>
                  <a:lnTo>
                    <a:pt x="999" y="379"/>
                  </a:lnTo>
                  <a:lnTo>
                    <a:pt x="1056" y="392"/>
                  </a:lnTo>
                  <a:lnTo>
                    <a:pt x="1105" y="410"/>
                  </a:lnTo>
                  <a:lnTo>
                    <a:pt x="1162" y="436"/>
                  </a:lnTo>
                  <a:lnTo>
                    <a:pt x="1212" y="459"/>
                  </a:lnTo>
                  <a:lnTo>
                    <a:pt x="1260"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8" y="1177"/>
                  </a:lnTo>
                  <a:lnTo>
                    <a:pt x="1184" y="1208"/>
                  </a:lnTo>
                  <a:lnTo>
                    <a:pt x="1136" y="1230"/>
                  </a:lnTo>
                  <a:lnTo>
                    <a:pt x="1087" y="1252"/>
                  </a:lnTo>
                  <a:lnTo>
                    <a:pt x="1043" y="1265"/>
                  </a:lnTo>
                  <a:lnTo>
                    <a:pt x="990" y="1278"/>
                  </a:lnTo>
                  <a:lnTo>
                    <a:pt x="950" y="1287"/>
                  </a:lnTo>
                  <a:lnTo>
                    <a:pt x="889" y="1292"/>
                  </a:lnTo>
                  <a:lnTo>
                    <a:pt x="836" y="1296"/>
                  </a:lnTo>
                  <a:lnTo>
                    <a:pt x="587"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4" y="520"/>
                  </a:lnTo>
                  <a:lnTo>
                    <a:pt x="216"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US"/>
            </a:p>
          </p:txBody>
        </p:sp>
        <p:sp>
          <p:nvSpPr>
            <p:cNvPr id="9" name="Text Box 6"/>
            <p:cNvSpPr txBox="1">
              <a:spLocks noChangeArrowheads="1"/>
            </p:cNvSpPr>
            <p:nvPr/>
          </p:nvSpPr>
          <p:spPr bwMode="auto">
            <a:xfrm>
              <a:off x="509" y="1576"/>
              <a:ext cx="218" cy="267"/>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A</a:t>
              </a:r>
            </a:p>
          </p:txBody>
        </p:sp>
      </p:grpSp>
      <p:grpSp>
        <p:nvGrpSpPr>
          <p:cNvPr id="10" name="Group 7"/>
          <p:cNvGrpSpPr>
            <a:grpSpLocks/>
          </p:cNvGrpSpPr>
          <p:nvPr/>
        </p:nvGrpSpPr>
        <p:grpSpPr bwMode="auto">
          <a:xfrm>
            <a:off x="1339850" y="4133850"/>
            <a:ext cx="522288" cy="498475"/>
            <a:chOff x="433" y="2049"/>
            <a:chExt cx="329" cy="314"/>
          </a:xfrm>
        </p:grpSpPr>
        <p:sp>
          <p:nvSpPr>
            <p:cNvPr id="11" name="Freeform 8"/>
            <p:cNvSpPr>
              <a:spLocks noChangeArrowheads="1"/>
            </p:cNvSpPr>
            <p:nvPr/>
          </p:nvSpPr>
          <p:spPr bwMode="auto">
            <a:xfrm>
              <a:off x="433" y="2049"/>
              <a:ext cx="329" cy="294"/>
            </a:xfrm>
            <a:custGeom>
              <a:avLst/>
              <a:gdLst/>
              <a:ahLst/>
              <a:cxnLst>
                <a:cxn ang="0">
                  <a:pos x="411" y="61"/>
                </a:cxn>
                <a:cxn ang="0">
                  <a:pos x="690" y="70"/>
                </a:cxn>
                <a:cxn ang="0">
                  <a:pos x="990" y="0"/>
                </a:cxn>
                <a:cxn ang="0">
                  <a:pos x="1350" y="0"/>
                </a:cxn>
                <a:cxn ang="0">
                  <a:pos x="951" y="369"/>
                </a:cxn>
                <a:cxn ang="0">
                  <a:pos x="1058" y="391"/>
                </a:cxn>
                <a:cxn ang="0">
                  <a:pos x="1163" y="435"/>
                </a:cxn>
                <a:cxn ang="0">
                  <a:pos x="1260" y="488"/>
                </a:cxn>
                <a:cxn ang="0">
                  <a:pos x="1336" y="555"/>
                </a:cxn>
                <a:cxn ang="0">
                  <a:pos x="1398" y="634"/>
                </a:cxn>
                <a:cxn ang="0">
                  <a:pos x="1438" y="727"/>
                </a:cxn>
                <a:cxn ang="0">
                  <a:pos x="1451" y="824"/>
                </a:cxn>
                <a:cxn ang="0">
                  <a:pos x="1433" y="925"/>
                </a:cxn>
                <a:cxn ang="0">
                  <a:pos x="1403" y="1005"/>
                </a:cxn>
                <a:cxn ang="0">
                  <a:pos x="1341" y="1089"/>
                </a:cxn>
                <a:cxn ang="0">
                  <a:pos x="1238" y="1176"/>
                </a:cxn>
                <a:cxn ang="0">
                  <a:pos x="1137" y="1229"/>
                </a:cxn>
                <a:cxn ang="0">
                  <a:pos x="1044" y="1264"/>
                </a:cxn>
                <a:cxn ang="0">
                  <a:pos x="951" y="1286"/>
                </a:cxn>
                <a:cxn ang="0">
                  <a:pos x="836" y="1295"/>
                </a:cxn>
                <a:cxn ang="0">
                  <a:pos x="540" y="1291"/>
                </a:cxn>
                <a:cxn ang="0">
                  <a:pos x="397" y="1264"/>
                </a:cxn>
                <a:cxn ang="0">
                  <a:pos x="247" y="1198"/>
                </a:cxn>
                <a:cxn ang="0">
                  <a:pos x="132" y="1114"/>
                </a:cxn>
                <a:cxn ang="0">
                  <a:pos x="57" y="1022"/>
                </a:cxn>
                <a:cxn ang="0">
                  <a:pos x="17" y="925"/>
                </a:cxn>
                <a:cxn ang="0">
                  <a:pos x="0" y="841"/>
                </a:cxn>
                <a:cxn ang="0">
                  <a:pos x="13" y="744"/>
                </a:cxn>
                <a:cxn ang="0">
                  <a:pos x="61" y="621"/>
                </a:cxn>
                <a:cxn ang="0">
                  <a:pos x="155" y="519"/>
                </a:cxn>
                <a:cxn ang="0">
                  <a:pos x="278" y="435"/>
                </a:cxn>
                <a:cxn ang="0">
                  <a:pos x="451" y="378"/>
                </a:cxn>
                <a:cxn ang="0">
                  <a:pos x="177" y="17"/>
                </a:cxn>
              </a:cxnLst>
              <a:rect l="0" t="0" r="r" b="b"/>
              <a:pathLst>
                <a:path w="1452" h="1296">
                  <a:moveTo>
                    <a:pt x="177" y="17"/>
                  </a:moveTo>
                  <a:lnTo>
                    <a:pt x="411" y="61"/>
                  </a:lnTo>
                  <a:lnTo>
                    <a:pt x="406" y="0"/>
                  </a:lnTo>
                  <a:lnTo>
                    <a:pt x="690" y="70"/>
                  </a:lnTo>
                  <a:lnTo>
                    <a:pt x="690" y="0"/>
                  </a:lnTo>
                  <a:lnTo>
                    <a:pt x="990" y="0"/>
                  </a:lnTo>
                  <a:lnTo>
                    <a:pt x="986" y="66"/>
                  </a:lnTo>
                  <a:lnTo>
                    <a:pt x="1350" y="0"/>
                  </a:lnTo>
                  <a:lnTo>
                    <a:pt x="907" y="366"/>
                  </a:lnTo>
                  <a:lnTo>
                    <a:pt x="951" y="369"/>
                  </a:lnTo>
                  <a:lnTo>
                    <a:pt x="999" y="378"/>
                  </a:lnTo>
                  <a:lnTo>
                    <a:pt x="1058" y="391"/>
                  </a:lnTo>
                  <a:lnTo>
                    <a:pt x="1106" y="409"/>
                  </a:lnTo>
                  <a:lnTo>
                    <a:pt x="1163" y="435"/>
                  </a:lnTo>
                  <a:lnTo>
                    <a:pt x="1212" y="458"/>
                  </a:lnTo>
                  <a:lnTo>
                    <a:pt x="1260" y="488"/>
                  </a:lnTo>
                  <a:lnTo>
                    <a:pt x="1300" y="524"/>
                  </a:lnTo>
                  <a:lnTo>
                    <a:pt x="1336" y="555"/>
                  </a:lnTo>
                  <a:lnTo>
                    <a:pt x="1367" y="594"/>
                  </a:lnTo>
                  <a:lnTo>
                    <a:pt x="1398" y="634"/>
                  </a:lnTo>
                  <a:lnTo>
                    <a:pt x="1420" y="683"/>
                  </a:lnTo>
                  <a:lnTo>
                    <a:pt x="1438" y="727"/>
                  </a:lnTo>
                  <a:lnTo>
                    <a:pt x="1447" y="766"/>
                  </a:lnTo>
                  <a:lnTo>
                    <a:pt x="1451" y="824"/>
                  </a:lnTo>
                  <a:lnTo>
                    <a:pt x="1447" y="881"/>
                  </a:lnTo>
                  <a:lnTo>
                    <a:pt x="1433" y="925"/>
                  </a:lnTo>
                  <a:lnTo>
                    <a:pt x="1420" y="969"/>
                  </a:lnTo>
                  <a:lnTo>
                    <a:pt x="1403" y="1005"/>
                  </a:lnTo>
                  <a:lnTo>
                    <a:pt x="1376" y="1045"/>
                  </a:lnTo>
                  <a:lnTo>
                    <a:pt x="1341" y="1089"/>
                  </a:lnTo>
                  <a:lnTo>
                    <a:pt x="1291" y="1136"/>
                  </a:lnTo>
                  <a:lnTo>
                    <a:pt x="1238" y="1176"/>
                  </a:lnTo>
                  <a:lnTo>
                    <a:pt x="1185" y="1207"/>
                  </a:lnTo>
                  <a:lnTo>
                    <a:pt x="1137" y="1229"/>
                  </a:lnTo>
                  <a:lnTo>
                    <a:pt x="1088" y="1251"/>
                  </a:lnTo>
                  <a:lnTo>
                    <a:pt x="1044" y="1264"/>
                  </a:lnTo>
                  <a:lnTo>
                    <a:pt x="990" y="1277"/>
                  </a:lnTo>
                  <a:lnTo>
                    <a:pt x="951" y="1286"/>
                  </a:lnTo>
                  <a:lnTo>
                    <a:pt x="889" y="1291"/>
                  </a:lnTo>
                  <a:lnTo>
                    <a:pt x="836" y="1295"/>
                  </a:lnTo>
                  <a:lnTo>
                    <a:pt x="588" y="1295"/>
                  </a:lnTo>
                  <a:lnTo>
                    <a:pt x="540" y="1291"/>
                  </a:lnTo>
                  <a:lnTo>
                    <a:pt x="478" y="1282"/>
                  </a:lnTo>
                  <a:lnTo>
                    <a:pt x="397" y="1264"/>
                  </a:lnTo>
                  <a:lnTo>
                    <a:pt x="322" y="1233"/>
                  </a:lnTo>
                  <a:lnTo>
                    <a:pt x="247" y="1198"/>
                  </a:lnTo>
                  <a:lnTo>
                    <a:pt x="181" y="1154"/>
                  </a:lnTo>
                  <a:lnTo>
                    <a:pt x="132" y="1114"/>
                  </a:lnTo>
                  <a:lnTo>
                    <a:pt x="92" y="1075"/>
                  </a:lnTo>
                  <a:lnTo>
                    <a:pt x="57" y="1022"/>
                  </a:lnTo>
                  <a:lnTo>
                    <a:pt x="30" y="965"/>
                  </a:lnTo>
                  <a:lnTo>
                    <a:pt x="17" y="925"/>
                  </a:lnTo>
                  <a:lnTo>
                    <a:pt x="4" y="886"/>
                  </a:lnTo>
                  <a:lnTo>
                    <a:pt x="0" y="841"/>
                  </a:lnTo>
                  <a:lnTo>
                    <a:pt x="4" y="806"/>
                  </a:lnTo>
                  <a:lnTo>
                    <a:pt x="13" y="744"/>
                  </a:lnTo>
                  <a:lnTo>
                    <a:pt x="30" y="687"/>
                  </a:lnTo>
                  <a:lnTo>
                    <a:pt x="61" y="621"/>
                  </a:lnTo>
                  <a:lnTo>
                    <a:pt x="105" y="568"/>
                  </a:lnTo>
                  <a:lnTo>
                    <a:pt x="155" y="519"/>
                  </a:lnTo>
                  <a:lnTo>
                    <a:pt x="217" y="471"/>
                  </a:lnTo>
                  <a:lnTo>
                    <a:pt x="278" y="435"/>
                  </a:lnTo>
                  <a:lnTo>
                    <a:pt x="362" y="400"/>
                  </a:lnTo>
                  <a:lnTo>
                    <a:pt x="451" y="378"/>
                  </a:lnTo>
                  <a:lnTo>
                    <a:pt x="509" y="366"/>
                  </a:lnTo>
                  <a:lnTo>
                    <a:pt x="177" y="17"/>
                  </a:lnTo>
                </a:path>
              </a:pathLst>
            </a:custGeom>
            <a:solidFill>
              <a:srgbClr val="D49FFF"/>
            </a:solidFill>
            <a:ln w="12600">
              <a:solidFill>
                <a:srgbClr val="000000"/>
              </a:solidFill>
              <a:round/>
              <a:headEnd/>
              <a:tailEnd/>
            </a:ln>
          </p:spPr>
          <p:txBody>
            <a:bodyPr wrap="none" anchor="ctr"/>
            <a:lstStyle/>
            <a:p>
              <a:endParaRPr lang="en-US"/>
            </a:p>
          </p:txBody>
        </p:sp>
        <p:sp>
          <p:nvSpPr>
            <p:cNvPr id="12" name="Text Box 9"/>
            <p:cNvSpPr txBox="1">
              <a:spLocks noChangeArrowheads="1"/>
            </p:cNvSpPr>
            <p:nvPr/>
          </p:nvSpPr>
          <p:spPr bwMode="auto">
            <a:xfrm>
              <a:off x="501" y="2096"/>
              <a:ext cx="218" cy="267"/>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B</a:t>
              </a:r>
            </a:p>
          </p:txBody>
        </p:sp>
      </p:grpSp>
      <p:grpSp>
        <p:nvGrpSpPr>
          <p:cNvPr id="13" name="Group 10"/>
          <p:cNvGrpSpPr>
            <a:grpSpLocks/>
          </p:cNvGrpSpPr>
          <p:nvPr/>
        </p:nvGrpSpPr>
        <p:grpSpPr bwMode="auto">
          <a:xfrm>
            <a:off x="1314450" y="4870450"/>
            <a:ext cx="522288" cy="498475"/>
            <a:chOff x="417" y="2513"/>
            <a:chExt cx="329" cy="314"/>
          </a:xfrm>
        </p:grpSpPr>
        <p:sp>
          <p:nvSpPr>
            <p:cNvPr id="14" name="Freeform 11"/>
            <p:cNvSpPr>
              <a:spLocks noChangeArrowheads="1"/>
            </p:cNvSpPr>
            <p:nvPr/>
          </p:nvSpPr>
          <p:spPr bwMode="auto">
            <a:xfrm>
              <a:off x="417" y="2513"/>
              <a:ext cx="329" cy="294"/>
            </a:xfrm>
            <a:custGeom>
              <a:avLst/>
              <a:gdLst/>
              <a:ahLst/>
              <a:cxnLst>
                <a:cxn ang="0">
                  <a:pos x="411" y="61"/>
                </a:cxn>
                <a:cxn ang="0">
                  <a:pos x="690" y="70"/>
                </a:cxn>
                <a:cxn ang="0">
                  <a:pos x="991" y="0"/>
                </a:cxn>
                <a:cxn ang="0">
                  <a:pos x="1350" y="0"/>
                </a:cxn>
                <a:cxn ang="0">
                  <a:pos x="951" y="369"/>
                </a:cxn>
                <a:cxn ang="0">
                  <a:pos x="1057" y="391"/>
                </a:cxn>
                <a:cxn ang="0">
                  <a:pos x="1163" y="435"/>
                </a:cxn>
                <a:cxn ang="0">
                  <a:pos x="1260" y="488"/>
                </a:cxn>
                <a:cxn ang="0">
                  <a:pos x="1336" y="555"/>
                </a:cxn>
                <a:cxn ang="0">
                  <a:pos x="1398" y="634"/>
                </a:cxn>
                <a:cxn ang="0">
                  <a:pos x="1438" y="727"/>
                </a:cxn>
                <a:cxn ang="0">
                  <a:pos x="1451" y="824"/>
                </a:cxn>
                <a:cxn ang="0">
                  <a:pos x="1433" y="925"/>
                </a:cxn>
                <a:cxn ang="0">
                  <a:pos x="1403" y="1005"/>
                </a:cxn>
                <a:cxn ang="0">
                  <a:pos x="1341" y="1089"/>
                </a:cxn>
                <a:cxn ang="0">
                  <a:pos x="1238" y="1176"/>
                </a:cxn>
                <a:cxn ang="0">
                  <a:pos x="1137" y="1229"/>
                </a:cxn>
                <a:cxn ang="0">
                  <a:pos x="1044" y="1264"/>
                </a:cxn>
                <a:cxn ang="0">
                  <a:pos x="951" y="1286"/>
                </a:cxn>
                <a:cxn ang="0">
                  <a:pos x="836" y="1295"/>
                </a:cxn>
                <a:cxn ang="0">
                  <a:pos x="539" y="1291"/>
                </a:cxn>
                <a:cxn ang="0">
                  <a:pos x="398" y="1264"/>
                </a:cxn>
                <a:cxn ang="0">
                  <a:pos x="248" y="1198"/>
                </a:cxn>
                <a:cxn ang="0">
                  <a:pos x="132" y="1114"/>
                </a:cxn>
                <a:cxn ang="0">
                  <a:pos x="57" y="1022"/>
                </a:cxn>
                <a:cxn ang="0">
                  <a:pos x="17" y="925"/>
                </a:cxn>
                <a:cxn ang="0">
                  <a:pos x="0" y="841"/>
                </a:cxn>
                <a:cxn ang="0">
                  <a:pos x="13" y="744"/>
                </a:cxn>
                <a:cxn ang="0">
                  <a:pos x="61" y="621"/>
                </a:cxn>
                <a:cxn ang="0">
                  <a:pos x="154" y="519"/>
                </a:cxn>
                <a:cxn ang="0">
                  <a:pos x="279" y="435"/>
                </a:cxn>
                <a:cxn ang="0">
                  <a:pos x="451" y="378"/>
                </a:cxn>
                <a:cxn ang="0">
                  <a:pos x="176" y="17"/>
                </a:cxn>
              </a:cxnLst>
              <a:rect l="0" t="0" r="r" b="b"/>
              <a:pathLst>
                <a:path w="1452" h="1296">
                  <a:moveTo>
                    <a:pt x="176" y="17"/>
                  </a:moveTo>
                  <a:lnTo>
                    <a:pt x="411" y="61"/>
                  </a:lnTo>
                  <a:lnTo>
                    <a:pt x="407" y="0"/>
                  </a:lnTo>
                  <a:lnTo>
                    <a:pt x="690" y="70"/>
                  </a:lnTo>
                  <a:lnTo>
                    <a:pt x="690" y="0"/>
                  </a:lnTo>
                  <a:lnTo>
                    <a:pt x="991" y="0"/>
                  </a:lnTo>
                  <a:lnTo>
                    <a:pt x="987" y="66"/>
                  </a:lnTo>
                  <a:lnTo>
                    <a:pt x="1350" y="0"/>
                  </a:lnTo>
                  <a:lnTo>
                    <a:pt x="906" y="366"/>
                  </a:lnTo>
                  <a:lnTo>
                    <a:pt x="951" y="369"/>
                  </a:lnTo>
                  <a:lnTo>
                    <a:pt x="1000" y="378"/>
                  </a:lnTo>
                  <a:lnTo>
                    <a:pt x="1057" y="391"/>
                  </a:lnTo>
                  <a:lnTo>
                    <a:pt x="1106" y="409"/>
                  </a:lnTo>
                  <a:lnTo>
                    <a:pt x="1163" y="435"/>
                  </a:lnTo>
                  <a:lnTo>
                    <a:pt x="1212" y="458"/>
                  </a:lnTo>
                  <a:lnTo>
                    <a:pt x="1260" y="488"/>
                  </a:lnTo>
                  <a:lnTo>
                    <a:pt x="1301" y="524"/>
                  </a:lnTo>
                  <a:lnTo>
                    <a:pt x="1336" y="555"/>
                  </a:lnTo>
                  <a:lnTo>
                    <a:pt x="1367" y="594"/>
                  </a:lnTo>
                  <a:lnTo>
                    <a:pt x="1398" y="634"/>
                  </a:lnTo>
                  <a:lnTo>
                    <a:pt x="1420" y="683"/>
                  </a:lnTo>
                  <a:lnTo>
                    <a:pt x="1438" y="727"/>
                  </a:lnTo>
                  <a:lnTo>
                    <a:pt x="1447" y="766"/>
                  </a:lnTo>
                  <a:lnTo>
                    <a:pt x="1451" y="824"/>
                  </a:lnTo>
                  <a:lnTo>
                    <a:pt x="1447" y="881"/>
                  </a:lnTo>
                  <a:lnTo>
                    <a:pt x="1433" y="925"/>
                  </a:lnTo>
                  <a:lnTo>
                    <a:pt x="1420" y="969"/>
                  </a:lnTo>
                  <a:lnTo>
                    <a:pt x="1403" y="1005"/>
                  </a:lnTo>
                  <a:lnTo>
                    <a:pt x="1376" y="1045"/>
                  </a:lnTo>
                  <a:lnTo>
                    <a:pt x="1341" y="1089"/>
                  </a:lnTo>
                  <a:lnTo>
                    <a:pt x="1292" y="1136"/>
                  </a:lnTo>
                  <a:lnTo>
                    <a:pt x="1238" y="1176"/>
                  </a:lnTo>
                  <a:lnTo>
                    <a:pt x="1185" y="1207"/>
                  </a:lnTo>
                  <a:lnTo>
                    <a:pt x="1137" y="1229"/>
                  </a:lnTo>
                  <a:lnTo>
                    <a:pt x="1088" y="1251"/>
                  </a:lnTo>
                  <a:lnTo>
                    <a:pt x="1044" y="1264"/>
                  </a:lnTo>
                  <a:lnTo>
                    <a:pt x="991" y="1277"/>
                  </a:lnTo>
                  <a:lnTo>
                    <a:pt x="951" y="1286"/>
                  </a:lnTo>
                  <a:lnTo>
                    <a:pt x="889" y="1291"/>
                  </a:lnTo>
                  <a:lnTo>
                    <a:pt x="836" y="1295"/>
                  </a:lnTo>
                  <a:lnTo>
                    <a:pt x="588" y="1295"/>
                  </a:lnTo>
                  <a:lnTo>
                    <a:pt x="539" y="1291"/>
                  </a:lnTo>
                  <a:lnTo>
                    <a:pt x="477" y="1282"/>
                  </a:lnTo>
                  <a:lnTo>
                    <a:pt x="398" y="1264"/>
                  </a:lnTo>
                  <a:lnTo>
                    <a:pt x="323" y="1233"/>
                  </a:lnTo>
                  <a:lnTo>
                    <a:pt x="248" y="1198"/>
                  </a:lnTo>
                  <a:lnTo>
                    <a:pt x="180" y="1154"/>
                  </a:lnTo>
                  <a:lnTo>
                    <a:pt x="132" y="1114"/>
                  </a:lnTo>
                  <a:lnTo>
                    <a:pt x="92" y="1075"/>
                  </a:lnTo>
                  <a:lnTo>
                    <a:pt x="57" y="1022"/>
                  </a:lnTo>
                  <a:lnTo>
                    <a:pt x="30" y="965"/>
                  </a:lnTo>
                  <a:lnTo>
                    <a:pt x="17" y="925"/>
                  </a:lnTo>
                  <a:lnTo>
                    <a:pt x="4" y="886"/>
                  </a:lnTo>
                  <a:lnTo>
                    <a:pt x="0" y="841"/>
                  </a:lnTo>
                  <a:lnTo>
                    <a:pt x="4" y="806"/>
                  </a:lnTo>
                  <a:lnTo>
                    <a:pt x="13" y="744"/>
                  </a:lnTo>
                  <a:lnTo>
                    <a:pt x="30" y="687"/>
                  </a:lnTo>
                  <a:lnTo>
                    <a:pt x="61" y="621"/>
                  </a:lnTo>
                  <a:lnTo>
                    <a:pt x="105" y="568"/>
                  </a:lnTo>
                  <a:lnTo>
                    <a:pt x="154" y="519"/>
                  </a:lnTo>
                  <a:lnTo>
                    <a:pt x="217" y="471"/>
                  </a:lnTo>
                  <a:lnTo>
                    <a:pt x="279" y="435"/>
                  </a:lnTo>
                  <a:lnTo>
                    <a:pt x="362" y="400"/>
                  </a:lnTo>
                  <a:lnTo>
                    <a:pt x="451" y="378"/>
                  </a:lnTo>
                  <a:lnTo>
                    <a:pt x="508" y="366"/>
                  </a:lnTo>
                  <a:lnTo>
                    <a:pt x="176" y="17"/>
                  </a:lnTo>
                </a:path>
              </a:pathLst>
            </a:custGeom>
            <a:solidFill>
              <a:srgbClr val="D49FFF"/>
            </a:solidFill>
            <a:ln w="12600">
              <a:solidFill>
                <a:srgbClr val="000000"/>
              </a:solidFill>
              <a:round/>
              <a:headEnd/>
              <a:tailEnd/>
            </a:ln>
          </p:spPr>
          <p:txBody>
            <a:bodyPr wrap="none" anchor="ctr"/>
            <a:lstStyle/>
            <a:p>
              <a:endParaRPr lang="en-US"/>
            </a:p>
          </p:txBody>
        </p:sp>
        <p:sp>
          <p:nvSpPr>
            <p:cNvPr id="15" name="Text Box 12"/>
            <p:cNvSpPr txBox="1">
              <a:spLocks noChangeArrowheads="1"/>
            </p:cNvSpPr>
            <p:nvPr/>
          </p:nvSpPr>
          <p:spPr bwMode="auto">
            <a:xfrm>
              <a:off x="486" y="2560"/>
              <a:ext cx="218" cy="267"/>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C</a:t>
              </a:r>
            </a:p>
          </p:txBody>
        </p:sp>
      </p:grpSp>
      <p:grpSp>
        <p:nvGrpSpPr>
          <p:cNvPr id="16" name="Group 13"/>
          <p:cNvGrpSpPr>
            <a:grpSpLocks/>
          </p:cNvGrpSpPr>
          <p:nvPr/>
        </p:nvGrpSpPr>
        <p:grpSpPr bwMode="auto">
          <a:xfrm>
            <a:off x="1301750" y="5619750"/>
            <a:ext cx="522288" cy="498475"/>
            <a:chOff x="409" y="2985"/>
            <a:chExt cx="329" cy="314"/>
          </a:xfrm>
        </p:grpSpPr>
        <p:sp>
          <p:nvSpPr>
            <p:cNvPr id="17" name="Freeform 14"/>
            <p:cNvSpPr>
              <a:spLocks noChangeArrowheads="1"/>
            </p:cNvSpPr>
            <p:nvPr/>
          </p:nvSpPr>
          <p:spPr bwMode="auto">
            <a:xfrm>
              <a:off x="409" y="2985"/>
              <a:ext cx="329" cy="294"/>
            </a:xfrm>
            <a:custGeom>
              <a:avLst/>
              <a:gdLst/>
              <a:ahLst/>
              <a:cxnLst>
                <a:cxn ang="0">
                  <a:pos x="411" y="61"/>
                </a:cxn>
                <a:cxn ang="0">
                  <a:pos x="689" y="70"/>
                </a:cxn>
                <a:cxn ang="0">
                  <a:pos x="990" y="0"/>
                </a:cxn>
                <a:cxn ang="0">
                  <a:pos x="1349" y="0"/>
                </a:cxn>
                <a:cxn ang="0">
                  <a:pos x="950" y="370"/>
                </a:cxn>
                <a:cxn ang="0">
                  <a:pos x="1056" y="392"/>
                </a:cxn>
                <a:cxn ang="0">
                  <a:pos x="1162" y="436"/>
                </a:cxn>
                <a:cxn ang="0">
                  <a:pos x="1260" y="489"/>
                </a:cxn>
                <a:cxn ang="0">
                  <a:pos x="1335" y="556"/>
                </a:cxn>
                <a:cxn ang="0">
                  <a:pos x="1397" y="635"/>
                </a:cxn>
                <a:cxn ang="0">
                  <a:pos x="1437" y="728"/>
                </a:cxn>
                <a:cxn ang="0">
                  <a:pos x="1450" y="824"/>
                </a:cxn>
                <a:cxn ang="0">
                  <a:pos x="1432" y="925"/>
                </a:cxn>
                <a:cxn ang="0">
                  <a:pos x="1402" y="1005"/>
                </a:cxn>
                <a:cxn ang="0">
                  <a:pos x="1340" y="1089"/>
                </a:cxn>
                <a:cxn ang="0">
                  <a:pos x="1238" y="1177"/>
                </a:cxn>
                <a:cxn ang="0">
                  <a:pos x="1136" y="1230"/>
                </a:cxn>
                <a:cxn ang="0">
                  <a:pos x="1043" y="1265"/>
                </a:cxn>
                <a:cxn ang="0">
                  <a:pos x="950" y="1287"/>
                </a:cxn>
                <a:cxn ang="0">
                  <a:pos x="836" y="1296"/>
                </a:cxn>
                <a:cxn ang="0">
                  <a:pos x="539" y="1292"/>
                </a:cxn>
                <a:cxn ang="0">
                  <a:pos x="398" y="1265"/>
                </a:cxn>
                <a:cxn ang="0">
                  <a:pos x="248" y="1199"/>
                </a:cxn>
                <a:cxn ang="0">
                  <a:pos x="132" y="1115"/>
                </a:cxn>
                <a:cxn ang="0">
                  <a:pos x="57" y="1022"/>
                </a:cxn>
                <a:cxn ang="0">
                  <a:pos x="17" y="925"/>
                </a:cxn>
                <a:cxn ang="0">
                  <a:pos x="0" y="841"/>
                </a:cxn>
                <a:cxn ang="0">
                  <a:pos x="13" y="744"/>
                </a:cxn>
                <a:cxn ang="0">
                  <a:pos x="61" y="622"/>
                </a:cxn>
                <a:cxn ang="0">
                  <a:pos x="154" y="520"/>
                </a:cxn>
                <a:cxn ang="0">
                  <a:pos x="279" y="436"/>
                </a:cxn>
                <a:cxn ang="0">
                  <a:pos x="451" y="379"/>
                </a:cxn>
                <a:cxn ang="0">
                  <a:pos x="176" y="17"/>
                </a:cxn>
              </a:cxnLst>
              <a:rect l="0" t="0" r="r" b="b"/>
              <a:pathLst>
                <a:path w="1451" h="1297">
                  <a:moveTo>
                    <a:pt x="176" y="17"/>
                  </a:moveTo>
                  <a:lnTo>
                    <a:pt x="411" y="61"/>
                  </a:lnTo>
                  <a:lnTo>
                    <a:pt x="407" y="0"/>
                  </a:lnTo>
                  <a:lnTo>
                    <a:pt x="689" y="70"/>
                  </a:lnTo>
                  <a:lnTo>
                    <a:pt x="689" y="0"/>
                  </a:lnTo>
                  <a:lnTo>
                    <a:pt x="990" y="0"/>
                  </a:lnTo>
                  <a:lnTo>
                    <a:pt x="986" y="66"/>
                  </a:lnTo>
                  <a:lnTo>
                    <a:pt x="1349" y="0"/>
                  </a:lnTo>
                  <a:lnTo>
                    <a:pt x="906" y="366"/>
                  </a:lnTo>
                  <a:lnTo>
                    <a:pt x="950" y="370"/>
                  </a:lnTo>
                  <a:lnTo>
                    <a:pt x="999" y="379"/>
                  </a:lnTo>
                  <a:lnTo>
                    <a:pt x="1056" y="392"/>
                  </a:lnTo>
                  <a:lnTo>
                    <a:pt x="1105" y="410"/>
                  </a:lnTo>
                  <a:lnTo>
                    <a:pt x="1162" y="436"/>
                  </a:lnTo>
                  <a:lnTo>
                    <a:pt x="1212" y="459"/>
                  </a:lnTo>
                  <a:lnTo>
                    <a:pt x="1260"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8" y="1177"/>
                  </a:lnTo>
                  <a:lnTo>
                    <a:pt x="1184" y="1208"/>
                  </a:lnTo>
                  <a:lnTo>
                    <a:pt x="1136" y="1230"/>
                  </a:lnTo>
                  <a:lnTo>
                    <a:pt x="1087" y="1252"/>
                  </a:lnTo>
                  <a:lnTo>
                    <a:pt x="1043" y="1265"/>
                  </a:lnTo>
                  <a:lnTo>
                    <a:pt x="990" y="1278"/>
                  </a:lnTo>
                  <a:lnTo>
                    <a:pt x="950" y="1287"/>
                  </a:lnTo>
                  <a:lnTo>
                    <a:pt x="889" y="1292"/>
                  </a:lnTo>
                  <a:lnTo>
                    <a:pt x="836" y="1296"/>
                  </a:lnTo>
                  <a:lnTo>
                    <a:pt x="587"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4" y="520"/>
                  </a:lnTo>
                  <a:lnTo>
                    <a:pt x="216"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US"/>
            </a:p>
          </p:txBody>
        </p:sp>
        <p:sp>
          <p:nvSpPr>
            <p:cNvPr id="18" name="Text Box 15"/>
            <p:cNvSpPr txBox="1">
              <a:spLocks noChangeArrowheads="1"/>
            </p:cNvSpPr>
            <p:nvPr/>
          </p:nvSpPr>
          <p:spPr bwMode="auto">
            <a:xfrm>
              <a:off x="477" y="3032"/>
              <a:ext cx="218" cy="267"/>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D</a:t>
              </a:r>
            </a:p>
          </p:txBody>
        </p:sp>
      </p:grpSp>
      <p:sp>
        <p:nvSpPr>
          <p:cNvPr id="19" name="Text Box 16"/>
          <p:cNvSpPr txBox="1">
            <a:spLocks noChangeArrowheads="1"/>
          </p:cNvSpPr>
          <p:nvPr/>
        </p:nvSpPr>
        <p:spPr bwMode="auto">
          <a:xfrm>
            <a:off x="20288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30</a:t>
            </a:r>
          </a:p>
        </p:txBody>
      </p:sp>
      <p:grpSp>
        <p:nvGrpSpPr>
          <p:cNvPr id="20" name="Group 17"/>
          <p:cNvGrpSpPr>
            <a:grpSpLocks/>
          </p:cNvGrpSpPr>
          <p:nvPr/>
        </p:nvGrpSpPr>
        <p:grpSpPr bwMode="auto">
          <a:xfrm>
            <a:off x="2019300" y="2806700"/>
            <a:ext cx="1497013" cy="0"/>
            <a:chOff x="2019300" y="2806700"/>
            <a:chExt cx="1497013" cy="0"/>
          </a:xfrm>
        </p:grpSpPr>
        <p:sp>
          <p:nvSpPr>
            <p:cNvPr id="21" name="Line 18"/>
            <p:cNvSpPr>
              <a:spLocks noChangeShapeType="1"/>
            </p:cNvSpPr>
            <p:nvPr/>
          </p:nvSpPr>
          <p:spPr bwMode="auto">
            <a:xfrm>
              <a:off x="861" y="1213"/>
              <a:ext cx="288" cy="1"/>
            </a:xfrm>
            <a:prstGeom prst="line">
              <a:avLst/>
            </a:prstGeom>
            <a:noFill/>
            <a:ln w="50760">
              <a:solidFill>
                <a:srgbClr val="F6BF69"/>
              </a:solidFill>
              <a:round/>
              <a:headEnd/>
              <a:tailEnd/>
            </a:ln>
          </p:spPr>
          <p:txBody>
            <a:bodyPr/>
            <a:lstStyle/>
            <a:p>
              <a:endParaRPr lang="en-US"/>
            </a:p>
          </p:txBody>
        </p:sp>
        <p:sp>
          <p:nvSpPr>
            <p:cNvPr id="22" name="Line 19"/>
            <p:cNvSpPr>
              <a:spLocks noChangeShapeType="1"/>
            </p:cNvSpPr>
            <p:nvPr/>
          </p:nvSpPr>
          <p:spPr bwMode="auto">
            <a:xfrm>
              <a:off x="1189" y="1213"/>
              <a:ext cx="360" cy="1"/>
            </a:xfrm>
            <a:prstGeom prst="line">
              <a:avLst/>
            </a:prstGeom>
            <a:noFill/>
            <a:ln w="50760">
              <a:solidFill>
                <a:srgbClr val="A2C1FE"/>
              </a:solidFill>
              <a:round/>
              <a:headEnd/>
              <a:tailEnd/>
            </a:ln>
          </p:spPr>
          <p:txBody>
            <a:bodyPr/>
            <a:lstStyle/>
            <a:p>
              <a:endParaRPr lang="en-US"/>
            </a:p>
          </p:txBody>
        </p:sp>
        <p:sp>
          <p:nvSpPr>
            <p:cNvPr id="23" name="Line 20"/>
            <p:cNvSpPr>
              <a:spLocks noChangeShapeType="1"/>
            </p:cNvSpPr>
            <p:nvPr/>
          </p:nvSpPr>
          <p:spPr bwMode="auto">
            <a:xfrm>
              <a:off x="1589" y="1213"/>
              <a:ext cx="216" cy="1"/>
            </a:xfrm>
            <a:prstGeom prst="line">
              <a:avLst/>
            </a:prstGeom>
            <a:noFill/>
            <a:ln w="50760">
              <a:solidFill>
                <a:srgbClr val="00DFCA"/>
              </a:solidFill>
              <a:round/>
              <a:headEnd/>
              <a:tailEnd/>
            </a:ln>
          </p:spPr>
          <p:txBody>
            <a:bodyPr/>
            <a:lstStyle/>
            <a:p>
              <a:endParaRPr lang="en-US"/>
            </a:p>
          </p:txBody>
        </p:sp>
      </p:grpSp>
      <p:sp>
        <p:nvSpPr>
          <p:cNvPr id="24" name="Text Box 21"/>
          <p:cNvSpPr txBox="1">
            <a:spLocks noChangeArrowheads="1"/>
          </p:cNvSpPr>
          <p:nvPr/>
        </p:nvSpPr>
        <p:spPr bwMode="auto">
          <a:xfrm>
            <a:off x="26130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40</a:t>
            </a:r>
          </a:p>
        </p:txBody>
      </p:sp>
      <p:sp>
        <p:nvSpPr>
          <p:cNvPr id="25" name="Text Box 22"/>
          <p:cNvSpPr txBox="1">
            <a:spLocks noChangeArrowheads="1"/>
          </p:cNvSpPr>
          <p:nvPr/>
        </p:nvSpPr>
        <p:spPr bwMode="auto">
          <a:xfrm>
            <a:off x="31337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20</a:t>
            </a:r>
          </a:p>
        </p:txBody>
      </p:sp>
      <p:sp>
        <p:nvSpPr>
          <p:cNvPr id="26" name="Line 23"/>
          <p:cNvSpPr>
            <a:spLocks noChangeShapeType="1"/>
          </p:cNvSpPr>
          <p:nvPr/>
        </p:nvSpPr>
        <p:spPr bwMode="auto">
          <a:xfrm>
            <a:off x="2514600" y="2635250"/>
            <a:ext cx="1588" cy="304800"/>
          </a:xfrm>
          <a:prstGeom prst="line">
            <a:avLst/>
          </a:prstGeom>
          <a:noFill/>
          <a:ln w="12600">
            <a:solidFill>
              <a:srgbClr val="000000"/>
            </a:solidFill>
            <a:round/>
            <a:headEnd/>
            <a:tailEnd/>
          </a:ln>
        </p:spPr>
        <p:txBody>
          <a:bodyPr/>
          <a:lstStyle/>
          <a:p>
            <a:endParaRPr lang="en-US"/>
          </a:p>
        </p:txBody>
      </p:sp>
      <p:sp>
        <p:nvSpPr>
          <p:cNvPr id="27" name="Line 24"/>
          <p:cNvSpPr>
            <a:spLocks noChangeShapeType="1"/>
          </p:cNvSpPr>
          <p:nvPr/>
        </p:nvSpPr>
        <p:spPr bwMode="auto">
          <a:xfrm>
            <a:off x="3149600" y="2635250"/>
            <a:ext cx="1588" cy="304800"/>
          </a:xfrm>
          <a:prstGeom prst="line">
            <a:avLst/>
          </a:prstGeom>
          <a:noFill/>
          <a:ln w="12600">
            <a:solidFill>
              <a:srgbClr val="000000"/>
            </a:solidFill>
            <a:round/>
            <a:headEnd/>
            <a:tailEnd/>
          </a:ln>
        </p:spPr>
        <p:txBody>
          <a:bodyPr/>
          <a:lstStyle/>
          <a:p>
            <a:endParaRPr lang="en-US"/>
          </a:p>
        </p:txBody>
      </p:sp>
      <p:sp>
        <p:nvSpPr>
          <p:cNvPr id="28" name="Line 25"/>
          <p:cNvSpPr>
            <a:spLocks noChangeShapeType="1"/>
          </p:cNvSpPr>
          <p:nvPr/>
        </p:nvSpPr>
        <p:spPr bwMode="auto">
          <a:xfrm>
            <a:off x="3556000" y="2635250"/>
            <a:ext cx="1588" cy="304800"/>
          </a:xfrm>
          <a:prstGeom prst="line">
            <a:avLst/>
          </a:prstGeom>
          <a:noFill/>
          <a:ln w="12600">
            <a:solidFill>
              <a:srgbClr val="000000"/>
            </a:solidFill>
            <a:round/>
            <a:headEnd/>
            <a:tailEnd/>
          </a:ln>
        </p:spPr>
        <p:txBody>
          <a:bodyPr/>
          <a:lstStyle/>
          <a:p>
            <a:endParaRPr lang="en-US"/>
          </a:p>
        </p:txBody>
      </p:sp>
      <p:sp>
        <p:nvSpPr>
          <p:cNvPr id="29" name="Text Box 26"/>
          <p:cNvSpPr txBox="1">
            <a:spLocks noChangeArrowheads="1"/>
          </p:cNvSpPr>
          <p:nvPr/>
        </p:nvSpPr>
        <p:spPr bwMode="auto">
          <a:xfrm>
            <a:off x="36036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30</a:t>
            </a:r>
          </a:p>
        </p:txBody>
      </p:sp>
      <p:grpSp>
        <p:nvGrpSpPr>
          <p:cNvPr id="30" name="Group 27"/>
          <p:cNvGrpSpPr>
            <a:grpSpLocks/>
          </p:cNvGrpSpPr>
          <p:nvPr/>
        </p:nvGrpSpPr>
        <p:grpSpPr bwMode="auto">
          <a:xfrm>
            <a:off x="3594100" y="2806700"/>
            <a:ext cx="1497013" cy="0"/>
            <a:chOff x="3594100" y="2806700"/>
            <a:chExt cx="1497013" cy="0"/>
          </a:xfrm>
        </p:grpSpPr>
        <p:sp>
          <p:nvSpPr>
            <p:cNvPr id="31" name="Line 28"/>
            <p:cNvSpPr>
              <a:spLocks noChangeShapeType="1"/>
            </p:cNvSpPr>
            <p:nvPr/>
          </p:nvSpPr>
          <p:spPr bwMode="auto">
            <a:xfrm>
              <a:off x="1853" y="1213"/>
              <a:ext cx="288" cy="1"/>
            </a:xfrm>
            <a:prstGeom prst="line">
              <a:avLst/>
            </a:prstGeom>
            <a:noFill/>
            <a:ln w="50760">
              <a:solidFill>
                <a:srgbClr val="F6BF69"/>
              </a:solidFill>
              <a:round/>
              <a:headEnd/>
              <a:tailEnd/>
            </a:ln>
          </p:spPr>
          <p:txBody>
            <a:bodyPr/>
            <a:lstStyle/>
            <a:p>
              <a:endParaRPr lang="en-US"/>
            </a:p>
          </p:txBody>
        </p:sp>
        <p:sp>
          <p:nvSpPr>
            <p:cNvPr id="32" name="Line 29"/>
            <p:cNvSpPr>
              <a:spLocks noChangeShapeType="1"/>
            </p:cNvSpPr>
            <p:nvPr/>
          </p:nvSpPr>
          <p:spPr bwMode="auto">
            <a:xfrm>
              <a:off x="2181" y="1213"/>
              <a:ext cx="360" cy="1"/>
            </a:xfrm>
            <a:prstGeom prst="line">
              <a:avLst/>
            </a:prstGeom>
            <a:noFill/>
            <a:ln w="50760">
              <a:solidFill>
                <a:srgbClr val="A2C1FE"/>
              </a:solidFill>
              <a:round/>
              <a:headEnd/>
              <a:tailEnd/>
            </a:ln>
          </p:spPr>
          <p:txBody>
            <a:bodyPr/>
            <a:lstStyle/>
            <a:p>
              <a:endParaRPr lang="en-US"/>
            </a:p>
          </p:txBody>
        </p:sp>
        <p:sp>
          <p:nvSpPr>
            <p:cNvPr id="33" name="Line 30"/>
            <p:cNvSpPr>
              <a:spLocks noChangeShapeType="1"/>
            </p:cNvSpPr>
            <p:nvPr/>
          </p:nvSpPr>
          <p:spPr bwMode="auto">
            <a:xfrm>
              <a:off x="2581" y="1213"/>
              <a:ext cx="216" cy="1"/>
            </a:xfrm>
            <a:prstGeom prst="line">
              <a:avLst/>
            </a:prstGeom>
            <a:noFill/>
            <a:ln w="50760">
              <a:solidFill>
                <a:srgbClr val="00DFCA"/>
              </a:solidFill>
              <a:round/>
              <a:headEnd/>
              <a:tailEnd/>
            </a:ln>
          </p:spPr>
          <p:txBody>
            <a:bodyPr/>
            <a:lstStyle/>
            <a:p>
              <a:endParaRPr lang="en-US"/>
            </a:p>
          </p:txBody>
        </p:sp>
      </p:grpSp>
      <p:sp>
        <p:nvSpPr>
          <p:cNvPr id="34" name="Text Box 31"/>
          <p:cNvSpPr txBox="1">
            <a:spLocks noChangeArrowheads="1"/>
          </p:cNvSpPr>
          <p:nvPr/>
        </p:nvSpPr>
        <p:spPr bwMode="auto">
          <a:xfrm>
            <a:off x="41878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40</a:t>
            </a:r>
          </a:p>
        </p:txBody>
      </p:sp>
      <p:sp>
        <p:nvSpPr>
          <p:cNvPr id="35" name="Text Box 32"/>
          <p:cNvSpPr txBox="1">
            <a:spLocks noChangeArrowheads="1"/>
          </p:cNvSpPr>
          <p:nvPr/>
        </p:nvSpPr>
        <p:spPr bwMode="auto">
          <a:xfrm>
            <a:off x="47085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20</a:t>
            </a:r>
          </a:p>
        </p:txBody>
      </p:sp>
      <p:sp>
        <p:nvSpPr>
          <p:cNvPr id="36" name="Line 33"/>
          <p:cNvSpPr>
            <a:spLocks noChangeShapeType="1"/>
          </p:cNvSpPr>
          <p:nvPr/>
        </p:nvSpPr>
        <p:spPr bwMode="auto">
          <a:xfrm>
            <a:off x="4089400" y="2635250"/>
            <a:ext cx="1588" cy="304800"/>
          </a:xfrm>
          <a:prstGeom prst="line">
            <a:avLst/>
          </a:prstGeom>
          <a:noFill/>
          <a:ln w="12600">
            <a:solidFill>
              <a:srgbClr val="000000"/>
            </a:solidFill>
            <a:round/>
            <a:headEnd/>
            <a:tailEnd/>
          </a:ln>
        </p:spPr>
        <p:txBody>
          <a:bodyPr/>
          <a:lstStyle/>
          <a:p>
            <a:endParaRPr lang="en-US"/>
          </a:p>
        </p:txBody>
      </p:sp>
      <p:sp>
        <p:nvSpPr>
          <p:cNvPr id="37" name="Line 34"/>
          <p:cNvSpPr>
            <a:spLocks noChangeShapeType="1"/>
          </p:cNvSpPr>
          <p:nvPr/>
        </p:nvSpPr>
        <p:spPr bwMode="auto">
          <a:xfrm>
            <a:off x="4724400" y="2635250"/>
            <a:ext cx="1588" cy="304800"/>
          </a:xfrm>
          <a:prstGeom prst="line">
            <a:avLst/>
          </a:prstGeom>
          <a:noFill/>
          <a:ln w="12600">
            <a:solidFill>
              <a:srgbClr val="000000"/>
            </a:solidFill>
            <a:round/>
            <a:headEnd/>
            <a:tailEnd/>
          </a:ln>
        </p:spPr>
        <p:txBody>
          <a:bodyPr/>
          <a:lstStyle/>
          <a:p>
            <a:endParaRPr lang="en-US"/>
          </a:p>
        </p:txBody>
      </p:sp>
      <p:sp>
        <p:nvSpPr>
          <p:cNvPr id="38" name="Line 35"/>
          <p:cNvSpPr>
            <a:spLocks noChangeShapeType="1"/>
          </p:cNvSpPr>
          <p:nvPr/>
        </p:nvSpPr>
        <p:spPr bwMode="auto">
          <a:xfrm>
            <a:off x="5130800" y="2635250"/>
            <a:ext cx="1588" cy="304800"/>
          </a:xfrm>
          <a:prstGeom prst="line">
            <a:avLst/>
          </a:prstGeom>
          <a:noFill/>
          <a:ln w="12600">
            <a:solidFill>
              <a:srgbClr val="000000"/>
            </a:solidFill>
            <a:round/>
            <a:headEnd/>
            <a:tailEnd/>
          </a:ln>
        </p:spPr>
        <p:txBody>
          <a:bodyPr/>
          <a:lstStyle/>
          <a:p>
            <a:endParaRPr lang="en-US"/>
          </a:p>
        </p:txBody>
      </p:sp>
      <p:sp>
        <p:nvSpPr>
          <p:cNvPr id="39" name="Text Box 36"/>
          <p:cNvSpPr txBox="1">
            <a:spLocks noChangeArrowheads="1"/>
          </p:cNvSpPr>
          <p:nvPr/>
        </p:nvSpPr>
        <p:spPr bwMode="auto">
          <a:xfrm>
            <a:off x="51784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30</a:t>
            </a:r>
          </a:p>
        </p:txBody>
      </p:sp>
      <p:grpSp>
        <p:nvGrpSpPr>
          <p:cNvPr id="40" name="Group 37"/>
          <p:cNvGrpSpPr>
            <a:grpSpLocks/>
          </p:cNvGrpSpPr>
          <p:nvPr/>
        </p:nvGrpSpPr>
        <p:grpSpPr bwMode="auto">
          <a:xfrm>
            <a:off x="5168900" y="2806700"/>
            <a:ext cx="1497013" cy="0"/>
            <a:chOff x="5168900" y="2806700"/>
            <a:chExt cx="1497013" cy="0"/>
          </a:xfrm>
        </p:grpSpPr>
        <p:sp>
          <p:nvSpPr>
            <p:cNvPr id="41" name="Line 38"/>
            <p:cNvSpPr>
              <a:spLocks noChangeShapeType="1"/>
            </p:cNvSpPr>
            <p:nvPr/>
          </p:nvSpPr>
          <p:spPr bwMode="auto">
            <a:xfrm>
              <a:off x="2845" y="1213"/>
              <a:ext cx="288" cy="1"/>
            </a:xfrm>
            <a:prstGeom prst="line">
              <a:avLst/>
            </a:prstGeom>
            <a:noFill/>
            <a:ln w="50760">
              <a:solidFill>
                <a:srgbClr val="F6BF69"/>
              </a:solidFill>
              <a:round/>
              <a:headEnd/>
              <a:tailEnd/>
            </a:ln>
          </p:spPr>
          <p:txBody>
            <a:bodyPr/>
            <a:lstStyle/>
            <a:p>
              <a:endParaRPr lang="en-US"/>
            </a:p>
          </p:txBody>
        </p:sp>
        <p:sp>
          <p:nvSpPr>
            <p:cNvPr id="42" name="Line 39"/>
            <p:cNvSpPr>
              <a:spLocks noChangeShapeType="1"/>
            </p:cNvSpPr>
            <p:nvPr/>
          </p:nvSpPr>
          <p:spPr bwMode="auto">
            <a:xfrm>
              <a:off x="3173" y="1213"/>
              <a:ext cx="360" cy="1"/>
            </a:xfrm>
            <a:prstGeom prst="line">
              <a:avLst/>
            </a:prstGeom>
            <a:noFill/>
            <a:ln w="50760">
              <a:solidFill>
                <a:srgbClr val="A2C1FE"/>
              </a:solidFill>
              <a:round/>
              <a:headEnd/>
              <a:tailEnd/>
            </a:ln>
          </p:spPr>
          <p:txBody>
            <a:bodyPr/>
            <a:lstStyle/>
            <a:p>
              <a:endParaRPr lang="en-US"/>
            </a:p>
          </p:txBody>
        </p:sp>
        <p:sp>
          <p:nvSpPr>
            <p:cNvPr id="43" name="Line 40"/>
            <p:cNvSpPr>
              <a:spLocks noChangeShapeType="1"/>
            </p:cNvSpPr>
            <p:nvPr/>
          </p:nvSpPr>
          <p:spPr bwMode="auto">
            <a:xfrm>
              <a:off x="3573" y="1213"/>
              <a:ext cx="216" cy="1"/>
            </a:xfrm>
            <a:prstGeom prst="line">
              <a:avLst/>
            </a:prstGeom>
            <a:noFill/>
            <a:ln w="50760">
              <a:solidFill>
                <a:srgbClr val="00DFCA"/>
              </a:solidFill>
              <a:round/>
              <a:headEnd/>
              <a:tailEnd/>
            </a:ln>
          </p:spPr>
          <p:txBody>
            <a:bodyPr/>
            <a:lstStyle/>
            <a:p>
              <a:endParaRPr lang="en-US"/>
            </a:p>
          </p:txBody>
        </p:sp>
      </p:grpSp>
      <p:sp>
        <p:nvSpPr>
          <p:cNvPr id="44" name="Text Box 41"/>
          <p:cNvSpPr txBox="1">
            <a:spLocks noChangeArrowheads="1"/>
          </p:cNvSpPr>
          <p:nvPr/>
        </p:nvSpPr>
        <p:spPr bwMode="auto">
          <a:xfrm>
            <a:off x="57626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40</a:t>
            </a:r>
          </a:p>
        </p:txBody>
      </p:sp>
      <p:sp>
        <p:nvSpPr>
          <p:cNvPr id="45" name="Text Box 42"/>
          <p:cNvSpPr txBox="1">
            <a:spLocks noChangeArrowheads="1"/>
          </p:cNvSpPr>
          <p:nvPr/>
        </p:nvSpPr>
        <p:spPr bwMode="auto">
          <a:xfrm>
            <a:off x="62833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20</a:t>
            </a:r>
          </a:p>
        </p:txBody>
      </p:sp>
      <p:sp>
        <p:nvSpPr>
          <p:cNvPr id="46" name="Line 43"/>
          <p:cNvSpPr>
            <a:spLocks noChangeShapeType="1"/>
          </p:cNvSpPr>
          <p:nvPr/>
        </p:nvSpPr>
        <p:spPr bwMode="auto">
          <a:xfrm>
            <a:off x="5664200" y="2635250"/>
            <a:ext cx="1588" cy="304800"/>
          </a:xfrm>
          <a:prstGeom prst="line">
            <a:avLst/>
          </a:prstGeom>
          <a:noFill/>
          <a:ln w="12600">
            <a:solidFill>
              <a:srgbClr val="000000"/>
            </a:solidFill>
            <a:round/>
            <a:headEnd/>
            <a:tailEnd/>
          </a:ln>
        </p:spPr>
        <p:txBody>
          <a:bodyPr/>
          <a:lstStyle/>
          <a:p>
            <a:endParaRPr lang="en-US"/>
          </a:p>
        </p:txBody>
      </p:sp>
      <p:sp>
        <p:nvSpPr>
          <p:cNvPr id="47" name="Line 44"/>
          <p:cNvSpPr>
            <a:spLocks noChangeShapeType="1"/>
          </p:cNvSpPr>
          <p:nvPr/>
        </p:nvSpPr>
        <p:spPr bwMode="auto">
          <a:xfrm>
            <a:off x="6299200" y="2635250"/>
            <a:ext cx="1588" cy="304800"/>
          </a:xfrm>
          <a:prstGeom prst="line">
            <a:avLst/>
          </a:prstGeom>
          <a:noFill/>
          <a:ln w="12600">
            <a:solidFill>
              <a:srgbClr val="000000"/>
            </a:solidFill>
            <a:round/>
            <a:headEnd/>
            <a:tailEnd/>
          </a:ln>
        </p:spPr>
        <p:txBody>
          <a:bodyPr/>
          <a:lstStyle/>
          <a:p>
            <a:endParaRPr lang="en-US"/>
          </a:p>
        </p:txBody>
      </p:sp>
      <p:sp>
        <p:nvSpPr>
          <p:cNvPr id="48" name="Line 45"/>
          <p:cNvSpPr>
            <a:spLocks noChangeShapeType="1"/>
          </p:cNvSpPr>
          <p:nvPr/>
        </p:nvSpPr>
        <p:spPr bwMode="auto">
          <a:xfrm>
            <a:off x="6705600" y="2635250"/>
            <a:ext cx="1588" cy="304800"/>
          </a:xfrm>
          <a:prstGeom prst="line">
            <a:avLst/>
          </a:prstGeom>
          <a:noFill/>
          <a:ln w="12600">
            <a:solidFill>
              <a:srgbClr val="000000"/>
            </a:solidFill>
            <a:round/>
            <a:headEnd/>
            <a:tailEnd/>
          </a:ln>
        </p:spPr>
        <p:txBody>
          <a:bodyPr/>
          <a:lstStyle/>
          <a:p>
            <a:endParaRPr lang="en-US"/>
          </a:p>
        </p:txBody>
      </p:sp>
      <p:sp>
        <p:nvSpPr>
          <p:cNvPr id="49" name="Text Box 46"/>
          <p:cNvSpPr txBox="1">
            <a:spLocks noChangeArrowheads="1"/>
          </p:cNvSpPr>
          <p:nvPr/>
        </p:nvSpPr>
        <p:spPr bwMode="auto">
          <a:xfrm>
            <a:off x="67532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30</a:t>
            </a:r>
          </a:p>
        </p:txBody>
      </p:sp>
      <p:grpSp>
        <p:nvGrpSpPr>
          <p:cNvPr id="50" name="Group 47"/>
          <p:cNvGrpSpPr>
            <a:grpSpLocks/>
          </p:cNvGrpSpPr>
          <p:nvPr/>
        </p:nvGrpSpPr>
        <p:grpSpPr bwMode="auto">
          <a:xfrm>
            <a:off x="6743700" y="2806700"/>
            <a:ext cx="1497013" cy="0"/>
            <a:chOff x="6743700" y="2806700"/>
            <a:chExt cx="1497013" cy="0"/>
          </a:xfrm>
        </p:grpSpPr>
        <p:sp>
          <p:nvSpPr>
            <p:cNvPr id="51" name="Line 48"/>
            <p:cNvSpPr>
              <a:spLocks noChangeShapeType="1"/>
            </p:cNvSpPr>
            <p:nvPr/>
          </p:nvSpPr>
          <p:spPr bwMode="auto">
            <a:xfrm>
              <a:off x="3837" y="1213"/>
              <a:ext cx="288" cy="1"/>
            </a:xfrm>
            <a:prstGeom prst="line">
              <a:avLst/>
            </a:prstGeom>
            <a:noFill/>
            <a:ln w="50760">
              <a:solidFill>
                <a:srgbClr val="F6BF69"/>
              </a:solidFill>
              <a:round/>
              <a:headEnd/>
              <a:tailEnd/>
            </a:ln>
          </p:spPr>
          <p:txBody>
            <a:bodyPr/>
            <a:lstStyle/>
            <a:p>
              <a:endParaRPr lang="en-US"/>
            </a:p>
          </p:txBody>
        </p:sp>
        <p:sp>
          <p:nvSpPr>
            <p:cNvPr id="52" name="Line 49"/>
            <p:cNvSpPr>
              <a:spLocks noChangeShapeType="1"/>
            </p:cNvSpPr>
            <p:nvPr/>
          </p:nvSpPr>
          <p:spPr bwMode="auto">
            <a:xfrm>
              <a:off x="4165" y="1213"/>
              <a:ext cx="360" cy="1"/>
            </a:xfrm>
            <a:prstGeom prst="line">
              <a:avLst/>
            </a:prstGeom>
            <a:noFill/>
            <a:ln w="50760">
              <a:solidFill>
                <a:srgbClr val="A2C1FE"/>
              </a:solidFill>
              <a:round/>
              <a:headEnd/>
              <a:tailEnd/>
            </a:ln>
          </p:spPr>
          <p:txBody>
            <a:bodyPr/>
            <a:lstStyle/>
            <a:p>
              <a:endParaRPr lang="en-US"/>
            </a:p>
          </p:txBody>
        </p:sp>
        <p:sp>
          <p:nvSpPr>
            <p:cNvPr id="53" name="Line 50"/>
            <p:cNvSpPr>
              <a:spLocks noChangeShapeType="1"/>
            </p:cNvSpPr>
            <p:nvPr/>
          </p:nvSpPr>
          <p:spPr bwMode="auto">
            <a:xfrm>
              <a:off x="4565" y="1213"/>
              <a:ext cx="216" cy="1"/>
            </a:xfrm>
            <a:prstGeom prst="line">
              <a:avLst/>
            </a:prstGeom>
            <a:noFill/>
            <a:ln w="50760">
              <a:solidFill>
                <a:srgbClr val="00DFCA"/>
              </a:solidFill>
              <a:round/>
              <a:headEnd/>
              <a:tailEnd/>
            </a:ln>
          </p:spPr>
          <p:txBody>
            <a:bodyPr/>
            <a:lstStyle/>
            <a:p>
              <a:endParaRPr lang="en-US"/>
            </a:p>
          </p:txBody>
        </p:sp>
      </p:grpSp>
      <p:sp>
        <p:nvSpPr>
          <p:cNvPr id="54" name="Text Box 51"/>
          <p:cNvSpPr txBox="1">
            <a:spLocks noChangeArrowheads="1"/>
          </p:cNvSpPr>
          <p:nvPr/>
        </p:nvSpPr>
        <p:spPr bwMode="auto">
          <a:xfrm>
            <a:off x="73374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40</a:t>
            </a:r>
          </a:p>
        </p:txBody>
      </p:sp>
      <p:sp>
        <p:nvSpPr>
          <p:cNvPr id="55" name="Text Box 52"/>
          <p:cNvSpPr txBox="1">
            <a:spLocks noChangeArrowheads="1"/>
          </p:cNvSpPr>
          <p:nvPr/>
        </p:nvSpPr>
        <p:spPr bwMode="auto">
          <a:xfrm>
            <a:off x="7858125" y="2811462"/>
            <a:ext cx="4349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20</a:t>
            </a:r>
          </a:p>
        </p:txBody>
      </p:sp>
      <p:sp>
        <p:nvSpPr>
          <p:cNvPr id="56" name="Line 53"/>
          <p:cNvSpPr>
            <a:spLocks noChangeShapeType="1"/>
          </p:cNvSpPr>
          <p:nvPr/>
        </p:nvSpPr>
        <p:spPr bwMode="auto">
          <a:xfrm>
            <a:off x="7239000" y="2635250"/>
            <a:ext cx="1588" cy="304800"/>
          </a:xfrm>
          <a:prstGeom prst="line">
            <a:avLst/>
          </a:prstGeom>
          <a:noFill/>
          <a:ln w="12600">
            <a:solidFill>
              <a:srgbClr val="000000"/>
            </a:solidFill>
            <a:round/>
            <a:headEnd/>
            <a:tailEnd/>
          </a:ln>
        </p:spPr>
        <p:txBody>
          <a:bodyPr/>
          <a:lstStyle/>
          <a:p>
            <a:endParaRPr lang="en-US"/>
          </a:p>
        </p:txBody>
      </p:sp>
      <p:sp>
        <p:nvSpPr>
          <p:cNvPr id="57" name="Line 54"/>
          <p:cNvSpPr>
            <a:spLocks noChangeShapeType="1"/>
          </p:cNvSpPr>
          <p:nvPr/>
        </p:nvSpPr>
        <p:spPr bwMode="auto">
          <a:xfrm>
            <a:off x="7874000" y="2635250"/>
            <a:ext cx="1588" cy="304800"/>
          </a:xfrm>
          <a:prstGeom prst="line">
            <a:avLst/>
          </a:prstGeom>
          <a:noFill/>
          <a:ln w="12600">
            <a:solidFill>
              <a:srgbClr val="000000"/>
            </a:solidFill>
            <a:round/>
            <a:headEnd/>
            <a:tailEnd/>
          </a:ln>
        </p:spPr>
        <p:txBody>
          <a:bodyPr/>
          <a:lstStyle/>
          <a:p>
            <a:endParaRPr lang="en-US"/>
          </a:p>
        </p:txBody>
      </p:sp>
      <p:sp>
        <p:nvSpPr>
          <p:cNvPr id="58" name="Line 55"/>
          <p:cNvSpPr>
            <a:spLocks noChangeShapeType="1"/>
          </p:cNvSpPr>
          <p:nvPr/>
        </p:nvSpPr>
        <p:spPr bwMode="auto">
          <a:xfrm>
            <a:off x="8280400" y="2635250"/>
            <a:ext cx="1588" cy="304800"/>
          </a:xfrm>
          <a:prstGeom prst="line">
            <a:avLst/>
          </a:prstGeom>
          <a:noFill/>
          <a:ln w="12600">
            <a:solidFill>
              <a:srgbClr val="000000"/>
            </a:solidFill>
            <a:round/>
            <a:headEnd/>
            <a:tailEnd/>
          </a:ln>
        </p:spPr>
        <p:txBody>
          <a:bodyPr/>
          <a:lstStyle/>
          <a:p>
            <a:endParaRPr lang="en-US"/>
          </a:p>
        </p:txBody>
      </p:sp>
      <p:grpSp>
        <p:nvGrpSpPr>
          <p:cNvPr id="59" name="Group 56"/>
          <p:cNvGrpSpPr>
            <a:grpSpLocks/>
          </p:cNvGrpSpPr>
          <p:nvPr/>
        </p:nvGrpSpPr>
        <p:grpSpPr bwMode="auto">
          <a:xfrm>
            <a:off x="2000250" y="3206750"/>
            <a:ext cx="1533525" cy="709612"/>
            <a:chOff x="849" y="1465"/>
            <a:chExt cx="966" cy="447"/>
          </a:xfrm>
        </p:grpSpPr>
        <p:grpSp>
          <p:nvGrpSpPr>
            <p:cNvPr id="60" name="Group 57"/>
            <p:cNvGrpSpPr>
              <a:grpSpLocks/>
            </p:cNvGrpSpPr>
            <p:nvPr/>
          </p:nvGrpSpPr>
          <p:grpSpPr bwMode="auto">
            <a:xfrm>
              <a:off x="849" y="1465"/>
              <a:ext cx="306" cy="448"/>
              <a:chOff x="849" y="1465"/>
              <a:chExt cx="306" cy="448"/>
            </a:xfrm>
          </p:grpSpPr>
          <p:grpSp>
            <p:nvGrpSpPr>
              <p:cNvPr id="80" name="Group 58"/>
              <p:cNvGrpSpPr>
                <a:grpSpLocks/>
              </p:cNvGrpSpPr>
              <p:nvPr/>
            </p:nvGrpSpPr>
            <p:grpSpPr bwMode="auto">
              <a:xfrm>
                <a:off x="849" y="1465"/>
                <a:ext cx="306" cy="448"/>
                <a:chOff x="849" y="1465"/>
                <a:chExt cx="306" cy="448"/>
              </a:xfrm>
            </p:grpSpPr>
            <p:grpSp>
              <p:nvGrpSpPr>
                <p:cNvPr id="82" name="Group 59"/>
                <p:cNvGrpSpPr>
                  <a:grpSpLocks/>
                </p:cNvGrpSpPr>
                <p:nvPr/>
              </p:nvGrpSpPr>
              <p:grpSpPr bwMode="auto">
                <a:xfrm>
                  <a:off x="849" y="1536"/>
                  <a:ext cx="306" cy="377"/>
                  <a:chOff x="849" y="1536"/>
                  <a:chExt cx="306" cy="377"/>
                </a:xfrm>
              </p:grpSpPr>
              <p:sp>
                <p:nvSpPr>
                  <p:cNvPr id="87" name="Freeform 60"/>
                  <p:cNvSpPr>
                    <a:spLocks noChangeArrowheads="1"/>
                  </p:cNvSpPr>
                  <p:nvPr/>
                </p:nvSpPr>
                <p:spPr bwMode="auto">
                  <a:xfrm>
                    <a:off x="849" y="1536"/>
                    <a:ext cx="305" cy="377"/>
                  </a:xfrm>
                  <a:custGeom>
                    <a:avLst/>
                    <a:gdLst/>
                    <a:ahLst/>
                    <a:cxnLst>
                      <a:cxn ang="0">
                        <a:pos x="0" y="1663"/>
                      </a:cxn>
                      <a:cxn ang="0">
                        <a:pos x="0" y="336"/>
                      </a:cxn>
                      <a:cxn ang="0">
                        <a:pos x="335" y="0"/>
                      </a:cxn>
                      <a:cxn ang="0">
                        <a:pos x="1345" y="0"/>
                      </a:cxn>
                      <a:cxn ang="0">
                        <a:pos x="1345" y="1327"/>
                      </a:cxn>
                      <a:cxn ang="0">
                        <a:pos x="1008" y="1663"/>
                      </a:cxn>
                      <a:cxn ang="0">
                        <a:pos x="0" y="1663"/>
                      </a:cxn>
                    </a:cxnLst>
                    <a:rect l="0" t="0" r="r" b="b"/>
                    <a:pathLst>
                      <a:path w="1346" h="1664">
                        <a:moveTo>
                          <a:pt x="0" y="1663"/>
                        </a:moveTo>
                        <a:lnTo>
                          <a:pt x="0" y="336"/>
                        </a:lnTo>
                        <a:lnTo>
                          <a:pt x="335" y="0"/>
                        </a:lnTo>
                        <a:lnTo>
                          <a:pt x="1345" y="0"/>
                        </a:lnTo>
                        <a:lnTo>
                          <a:pt x="1345" y="1327"/>
                        </a:lnTo>
                        <a:lnTo>
                          <a:pt x="1008" y="1663"/>
                        </a:lnTo>
                        <a:lnTo>
                          <a:pt x="0" y="1663"/>
                        </a:lnTo>
                      </a:path>
                    </a:pathLst>
                  </a:custGeom>
                  <a:solidFill>
                    <a:srgbClr val="F6BF69"/>
                  </a:solidFill>
                  <a:ln w="12600">
                    <a:solidFill>
                      <a:srgbClr val="000000"/>
                    </a:solidFill>
                    <a:round/>
                    <a:headEnd/>
                    <a:tailEnd/>
                  </a:ln>
                </p:spPr>
                <p:txBody>
                  <a:bodyPr wrap="none" anchor="ctr"/>
                  <a:lstStyle/>
                  <a:p>
                    <a:endParaRPr lang="en-US"/>
                  </a:p>
                </p:txBody>
              </p:sp>
              <p:sp>
                <p:nvSpPr>
                  <p:cNvPr id="88" name="Freeform 61"/>
                  <p:cNvSpPr>
                    <a:spLocks noChangeArrowheads="1"/>
                  </p:cNvSpPr>
                  <p:nvPr/>
                </p:nvSpPr>
                <p:spPr bwMode="auto">
                  <a:xfrm>
                    <a:off x="849" y="1536"/>
                    <a:ext cx="305" cy="76"/>
                  </a:xfrm>
                  <a:custGeom>
                    <a:avLst/>
                    <a:gdLst/>
                    <a:ahLst/>
                    <a:cxnLst>
                      <a:cxn ang="0">
                        <a:pos x="0" y="336"/>
                      </a:cxn>
                      <a:cxn ang="0">
                        <a:pos x="335" y="0"/>
                      </a:cxn>
                      <a:cxn ang="0">
                        <a:pos x="1345" y="0"/>
                      </a:cxn>
                      <a:cxn ang="0">
                        <a:pos x="1008" y="336"/>
                      </a:cxn>
                      <a:cxn ang="0">
                        <a:pos x="0" y="336"/>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US"/>
                  </a:p>
                </p:txBody>
              </p:sp>
              <p:sp>
                <p:nvSpPr>
                  <p:cNvPr id="89" name="Freeform 62"/>
                  <p:cNvSpPr>
                    <a:spLocks noChangeArrowheads="1"/>
                  </p:cNvSpPr>
                  <p:nvPr/>
                </p:nvSpPr>
                <p:spPr bwMode="auto">
                  <a:xfrm>
                    <a:off x="1078" y="1536"/>
                    <a:ext cx="77" cy="377"/>
                  </a:xfrm>
                  <a:custGeom>
                    <a:avLst/>
                    <a:gdLst/>
                    <a:ahLst/>
                    <a:cxnLst>
                      <a:cxn ang="0">
                        <a:pos x="0" y="1663"/>
                      </a:cxn>
                      <a:cxn ang="0">
                        <a:pos x="0" y="336"/>
                      </a:cxn>
                      <a:cxn ang="0">
                        <a:pos x="337" y="0"/>
                      </a:cxn>
                      <a:cxn ang="0">
                        <a:pos x="337" y="1327"/>
                      </a:cxn>
                      <a:cxn ang="0">
                        <a:pos x="0" y="1663"/>
                      </a:cxn>
                    </a:cxnLst>
                    <a:rect l="0" t="0" r="r" b="b"/>
                    <a:pathLst>
                      <a:path w="338" h="1664">
                        <a:moveTo>
                          <a:pt x="0" y="1663"/>
                        </a:moveTo>
                        <a:lnTo>
                          <a:pt x="0" y="336"/>
                        </a:lnTo>
                        <a:lnTo>
                          <a:pt x="337" y="0"/>
                        </a:lnTo>
                        <a:lnTo>
                          <a:pt x="337" y="1327"/>
                        </a:lnTo>
                        <a:lnTo>
                          <a:pt x="0" y="1663"/>
                        </a:lnTo>
                      </a:path>
                    </a:pathLst>
                  </a:custGeom>
                  <a:solidFill>
                    <a:srgbClr val="D3A45A"/>
                  </a:solidFill>
                  <a:ln w="12600">
                    <a:solidFill>
                      <a:srgbClr val="000000"/>
                    </a:solidFill>
                    <a:round/>
                    <a:headEnd/>
                    <a:tailEnd/>
                  </a:ln>
                </p:spPr>
                <p:txBody>
                  <a:bodyPr wrap="none" anchor="ctr"/>
                  <a:lstStyle/>
                  <a:p>
                    <a:endParaRPr lang="en-US"/>
                  </a:p>
                </p:txBody>
              </p:sp>
            </p:grpSp>
            <p:grpSp>
              <p:nvGrpSpPr>
                <p:cNvPr id="83" name="Group 63"/>
                <p:cNvGrpSpPr>
                  <a:grpSpLocks/>
                </p:cNvGrpSpPr>
                <p:nvPr/>
              </p:nvGrpSpPr>
              <p:grpSpPr bwMode="auto">
                <a:xfrm>
                  <a:off x="919" y="1465"/>
                  <a:ext cx="235" cy="78"/>
                  <a:chOff x="919" y="1465"/>
                  <a:chExt cx="235" cy="78"/>
                </a:xfrm>
              </p:grpSpPr>
              <p:sp>
                <p:nvSpPr>
                  <p:cNvPr id="84" name="Freeform 64"/>
                  <p:cNvSpPr>
                    <a:spLocks noChangeArrowheads="1"/>
                  </p:cNvSpPr>
                  <p:nvPr/>
                </p:nvSpPr>
                <p:spPr bwMode="auto">
                  <a:xfrm>
                    <a:off x="919" y="1465"/>
                    <a:ext cx="235" cy="78"/>
                  </a:xfrm>
                  <a:custGeom>
                    <a:avLst/>
                    <a:gdLst/>
                    <a:ahLst/>
                    <a:cxnLst>
                      <a:cxn ang="0">
                        <a:pos x="0" y="344"/>
                      </a:cxn>
                      <a:cxn ang="0">
                        <a:pos x="0" y="85"/>
                      </a:cxn>
                      <a:cxn ang="0">
                        <a:pos x="85" y="0"/>
                      </a:cxn>
                      <a:cxn ang="0">
                        <a:pos x="1036" y="0"/>
                      </a:cxn>
                      <a:cxn ang="0">
                        <a:pos x="1036" y="257"/>
                      </a:cxn>
                      <a:cxn ang="0">
                        <a:pos x="949" y="344"/>
                      </a:cxn>
                      <a:cxn ang="0">
                        <a:pos x="0" y="344"/>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US"/>
                  </a:p>
                </p:txBody>
              </p:sp>
              <p:sp>
                <p:nvSpPr>
                  <p:cNvPr id="85" name="Freeform 65"/>
                  <p:cNvSpPr>
                    <a:spLocks noChangeArrowheads="1"/>
                  </p:cNvSpPr>
                  <p:nvPr/>
                </p:nvSpPr>
                <p:spPr bwMode="auto">
                  <a:xfrm>
                    <a:off x="919" y="1465"/>
                    <a:ext cx="235" cy="20"/>
                  </a:xfrm>
                  <a:custGeom>
                    <a:avLst/>
                    <a:gdLst/>
                    <a:ahLst/>
                    <a:cxnLst>
                      <a:cxn ang="0">
                        <a:pos x="0" y="85"/>
                      </a:cxn>
                      <a:cxn ang="0">
                        <a:pos x="85" y="0"/>
                      </a:cxn>
                      <a:cxn ang="0">
                        <a:pos x="1036" y="0"/>
                      </a:cxn>
                      <a:cxn ang="0">
                        <a:pos x="949" y="85"/>
                      </a:cxn>
                      <a:cxn ang="0">
                        <a:pos x="0" y="85"/>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US"/>
                  </a:p>
                </p:txBody>
              </p:sp>
              <p:sp>
                <p:nvSpPr>
                  <p:cNvPr id="86" name="Freeform 66"/>
                  <p:cNvSpPr>
                    <a:spLocks noChangeArrowheads="1"/>
                  </p:cNvSpPr>
                  <p:nvPr/>
                </p:nvSpPr>
                <p:spPr bwMode="auto">
                  <a:xfrm>
                    <a:off x="1134" y="1465"/>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US"/>
                  </a:p>
                </p:txBody>
              </p:sp>
            </p:grpSp>
          </p:grpSp>
          <p:sp>
            <p:nvSpPr>
              <p:cNvPr id="81" name="Freeform 67"/>
              <p:cNvSpPr>
                <a:spLocks noChangeArrowheads="1"/>
              </p:cNvSpPr>
              <p:nvPr/>
            </p:nvSpPr>
            <p:spPr bwMode="auto">
              <a:xfrm>
                <a:off x="911" y="1569"/>
                <a:ext cx="158" cy="27"/>
              </a:xfrm>
              <a:custGeom>
                <a:avLst/>
                <a:gdLst/>
                <a:ahLst/>
                <a:cxnLst>
                  <a:cxn ang="0">
                    <a:pos x="174" y="0"/>
                  </a:cxn>
                  <a:cxn ang="0">
                    <a:pos x="696" y="0"/>
                  </a:cxn>
                  <a:cxn ang="0">
                    <a:pos x="522" y="120"/>
                  </a:cxn>
                  <a:cxn ang="0">
                    <a:pos x="0" y="120"/>
                  </a:cxn>
                  <a:cxn ang="0">
                    <a:pos x="174" y="0"/>
                  </a:cxn>
                </a:cxnLst>
                <a:rect l="0" t="0" r="r" b="b"/>
                <a:pathLst>
                  <a:path w="697" h="121">
                    <a:moveTo>
                      <a:pt x="174" y="0"/>
                    </a:moveTo>
                    <a:lnTo>
                      <a:pt x="696" y="0"/>
                    </a:lnTo>
                    <a:lnTo>
                      <a:pt x="522" y="120"/>
                    </a:lnTo>
                    <a:lnTo>
                      <a:pt x="0" y="120"/>
                    </a:lnTo>
                    <a:lnTo>
                      <a:pt x="174" y="0"/>
                    </a:lnTo>
                  </a:path>
                </a:pathLst>
              </a:custGeom>
              <a:solidFill>
                <a:srgbClr val="F6BF69"/>
              </a:solidFill>
              <a:ln w="25560">
                <a:solidFill>
                  <a:srgbClr val="000000"/>
                </a:solidFill>
                <a:round/>
                <a:headEnd/>
                <a:tailEnd/>
              </a:ln>
            </p:spPr>
            <p:txBody>
              <a:bodyPr wrap="none" anchor="ctr"/>
              <a:lstStyle/>
              <a:p>
                <a:endParaRPr lang="en-US"/>
              </a:p>
            </p:txBody>
          </p:sp>
        </p:grpSp>
        <p:grpSp>
          <p:nvGrpSpPr>
            <p:cNvPr id="61" name="Group 68"/>
            <p:cNvGrpSpPr>
              <a:grpSpLocks/>
            </p:cNvGrpSpPr>
            <p:nvPr/>
          </p:nvGrpSpPr>
          <p:grpSpPr bwMode="auto">
            <a:xfrm>
              <a:off x="1150" y="1465"/>
              <a:ext cx="379" cy="448"/>
              <a:chOff x="1150" y="1465"/>
              <a:chExt cx="379" cy="448"/>
            </a:xfrm>
          </p:grpSpPr>
          <p:grpSp>
            <p:nvGrpSpPr>
              <p:cNvPr id="69" name="Group 69"/>
              <p:cNvGrpSpPr>
                <a:grpSpLocks/>
              </p:cNvGrpSpPr>
              <p:nvPr/>
            </p:nvGrpSpPr>
            <p:grpSpPr bwMode="auto">
              <a:xfrm>
                <a:off x="1150" y="1465"/>
                <a:ext cx="379" cy="448"/>
                <a:chOff x="1150" y="1465"/>
                <a:chExt cx="379" cy="448"/>
              </a:xfrm>
            </p:grpSpPr>
            <p:grpSp>
              <p:nvGrpSpPr>
                <p:cNvPr id="72" name="Group 70"/>
                <p:cNvGrpSpPr>
                  <a:grpSpLocks/>
                </p:cNvGrpSpPr>
                <p:nvPr/>
              </p:nvGrpSpPr>
              <p:grpSpPr bwMode="auto">
                <a:xfrm>
                  <a:off x="1150" y="1536"/>
                  <a:ext cx="379" cy="377"/>
                  <a:chOff x="1150" y="1536"/>
                  <a:chExt cx="379" cy="377"/>
                </a:xfrm>
              </p:grpSpPr>
              <p:sp>
                <p:nvSpPr>
                  <p:cNvPr id="77" name="Freeform 71"/>
                  <p:cNvSpPr>
                    <a:spLocks noChangeArrowheads="1"/>
                  </p:cNvSpPr>
                  <p:nvPr/>
                </p:nvSpPr>
                <p:spPr bwMode="auto">
                  <a:xfrm>
                    <a:off x="1150" y="1536"/>
                    <a:ext cx="378" cy="377"/>
                  </a:xfrm>
                  <a:custGeom>
                    <a:avLst/>
                    <a:gdLst/>
                    <a:ahLst/>
                    <a:cxnLst>
                      <a:cxn ang="0">
                        <a:pos x="0" y="1663"/>
                      </a:cxn>
                      <a:cxn ang="0">
                        <a:pos x="0" y="415"/>
                      </a:cxn>
                      <a:cxn ang="0">
                        <a:pos x="414" y="0"/>
                      </a:cxn>
                      <a:cxn ang="0">
                        <a:pos x="1667" y="0"/>
                      </a:cxn>
                      <a:cxn ang="0">
                        <a:pos x="1667" y="1248"/>
                      </a:cxn>
                      <a:cxn ang="0">
                        <a:pos x="1251" y="1663"/>
                      </a:cxn>
                      <a:cxn ang="0">
                        <a:pos x="0" y="1663"/>
                      </a:cxn>
                    </a:cxnLst>
                    <a:rect l="0" t="0" r="r" b="b"/>
                    <a:pathLst>
                      <a:path w="1668" h="1664">
                        <a:moveTo>
                          <a:pt x="0" y="1663"/>
                        </a:moveTo>
                        <a:lnTo>
                          <a:pt x="0" y="415"/>
                        </a:lnTo>
                        <a:lnTo>
                          <a:pt x="414" y="0"/>
                        </a:lnTo>
                        <a:lnTo>
                          <a:pt x="1667" y="0"/>
                        </a:lnTo>
                        <a:lnTo>
                          <a:pt x="1667" y="1248"/>
                        </a:lnTo>
                        <a:lnTo>
                          <a:pt x="1251" y="1663"/>
                        </a:lnTo>
                        <a:lnTo>
                          <a:pt x="0" y="1663"/>
                        </a:lnTo>
                      </a:path>
                    </a:pathLst>
                  </a:custGeom>
                  <a:solidFill>
                    <a:srgbClr val="A2C1FE"/>
                  </a:solidFill>
                  <a:ln w="12600">
                    <a:solidFill>
                      <a:srgbClr val="000000"/>
                    </a:solidFill>
                    <a:round/>
                    <a:headEnd/>
                    <a:tailEnd/>
                  </a:ln>
                </p:spPr>
                <p:txBody>
                  <a:bodyPr wrap="none" anchor="ctr"/>
                  <a:lstStyle/>
                  <a:p>
                    <a:endParaRPr lang="en-US"/>
                  </a:p>
                </p:txBody>
              </p:sp>
              <p:sp>
                <p:nvSpPr>
                  <p:cNvPr id="78" name="Freeform 72"/>
                  <p:cNvSpPr>
                    <a:spLocks noChangeArrowheads="1"/>
                  </p:cNvSpPr>
                  <p:nvPr/>
                </p:nvSpPr>
                <p:spPr bwMode="auto">
                  <a:xfrm>
                    <a:off x="1150" y="1536"/>
                    <a:ext cx="378" cy="94"/>
                  </a:xfrm>
                  <a:custGeom>
                    <a:avLst/>
                    <a:gdLst/>
                    <a:ahLst/>
                    <a:cxnLst>
                      <a:cxn ang="0">
                        <a:pos x="0" y="415"/>
                      </a:cxn>
                      <a:cxn ang="0">
                        <a:pos x="414" y="0"/>
                      </a:cxn>
                      <a:cxn ang="0">
                        <a:pos x="1667" y="0"/>
                      </a:cxn>
                      <a:cxn ang="0">
                        <a:pos x="1251" y="415"/>
                      </a:cxn>
                      <a:cxn ang="0">
                        <a:pos x="0" y="415"/>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US"/>
                  </a:p>
                </p:txBody>
              </p:sp>
              <p:sp>
                <p:nvSpPr>
                  <p:cNvPr id="79" name="Freeform 73"/>
                  <p:cNvSpPr>
                    <a:spLocks noChangeArrowheads="1"/>
                  </p:cNvSpPr>
                  <p:nvPr/>
                </p:nvSpPr>
                <p:spPr bwMode="auto">
                  <a:xfrm>
                    <a:off x="1434" y="1536"/>
                    <a:ext cx="95" cy="377"/>
                  </a:xfrm>
                  <a:custGeom>
                    <a:avLst/>
                    <a:gdLst/>
                    <a:ahLst/>
                    <a:cxnLst>
                      <a:cxn ang="0">
                        <a:pos x="0" y="1663"/>
                      </a:cxn>
                      <a:cxn ang="0">
                        <a:pos x="0" y="415"/>
                      </a:cxn>
                      <a:cxn ang="0">
                        <a:pos x="416" y="0"/>
                      </a:cxn>
                      <a:cxn ang="0">
                        <a:pos x="416" y="1248"/>
                      </a:cxn>
                      <a:cxn ang="0">
                        <a:pos x="0" y="1663"/>
                      </a:cxn>
                    </a:cxnLst>
                    <a:rect l="0" t="0" r="r" b="b"/>
                    <a:pathLst>
                      <a:path w="417" h="1664">
                        <a:moveTo>
                          <a:pt x="0" y="1663"/>
                        </a:moveTo>
                        <a:lnTo>
                          <a:pt x="0" y="415"/>
                        </a:lnTo>
                        <a:lnTo>
                          <a:pt x="416" y="0"/>
                        </a:lnTo>
                        <a:lnTo>
                          <a:pt x="416" y="1248"/>
                        </a:lnTo>
                        <a:lnTo>
                          <a:pt x="0" y="1663"/>
                        </a:lnTo>
                      </a:path>
                    </a:pathLst>
                  </a:custGeom>
                  <a:solidFill>
                    <a:srgbClr val="8BA5DA"/>
                  </a:solidFill>
                  <a:ln w="12600">
                    <a:solidFill>
                      <a:srgbClr val="000000"/>
                    </a:solidFill>
                    <a:round/>
                    <a:headEnd/>
                    <a:tailEnd/>
                  </a:ln>
                </p:spPr>
                <p:txBody>
                  <a:bodyPr wrap="none" anchor="ctr"/>
                  <a:lstStyle/>
                  <a:p>
                    <a:endParaRPr lang="en-US"/>
                  </a:p>
                </p:txBody>
              </p:sp>
            </p:grpSp>
            <p:grpSp>
              <p:nvGrpSpPr>
                <p:cNvPr id="73" name="Group 74"/>
                <p:cNvGrpSpPr>
                  <a:grpSpLocks/>
                </p:cNvGrpSpPr>
                <p:nvPr/>
              </p:nvGrpSpPr>
              <p:grpSpPr bwMode="auto">
                <a:xfrm>
                  <a:off x="1236" y="1465"/>
                  <a:ext cx="292" cy="78"/>
                  <a:chOff x="1236" y="1465"/>
                  <a:chExt cx="292" cy="78"/>
                </a:xfrm>
              </p:grpSpPr>
              <p:sp>
                <p:nvSpPr>
                  <p:cNvPr id="74" name="Freeform 75"/>
                  <p:cNvSpPr>
                    <a:spLocks noChangeArrowheads="1"/>
                  </p:cNvSpPr>
                  <p:nvPr/>
                </p:nvSpPr>
                <p:spPr bwMode="auto">
                  <a:xfrm>
                    <a:off x="1236" y="1465"/>
                    <a:ext cx="292" cy="78"/>
                  </a:xfrm>
                  <a:custGeom>
                    <a:avLst/>
                    <a:gdLst/>
                    <a:ahLst/>
                    <a:cxnLst>
                      <a:cxn ang="0">
                        <a:pos x="0" y="344"/>
                      </a:cxn>
                      <a:cxn ang="0">
                        <a:pos x="0" y="85"/>
                      </a:cxn>
                      <a:cxn ang="0">
                        <a:pos x="85" y="0"/>
                      </a:cxn>
                      <a:cxn ang="0">
                        <a:pos x="1287" y="0"/>
                      </a:cxn>
                      <a:cxn ang="0">
                        <a:pos x="1287" y="257"/>
                      </a:cxn>
                      <a:cxn ang="0">
                        <a:pos x="1200" y="344"/>
                      </a:cxn>
                      <a:cxn ang="0">
                        <a:pos x="0" y="344"/>
                      </a:cxn>
                    </a:cxnLst>
                    <a:rect l="0" t="0" r="r" b="b"/>
                    <a:pathLst>
                      <a:path w="1288" h="345">
                        <a:moveTo>
                          <a:pt x="0" y="344"/>
                        </a:moveTo>
                        <a:lnTo>
                          <a:pt x="0" y="85"/>
                        </a:lnTo>
                        <a:lnTo>
                          <a:pt x="85" y="0"/>
                        </a:lnTo>
                        <a:lnTo>
                          <a:pt x="1287" y="0"/>
                        </a:lnTo>
                        <a:lnTo>
                          <a:pt x="1287" y="257"/>
                        </a:lnTo>
                        <a:lnTo>
                          <a:pt x="1200" y="344"/>
                        </a:lnTo>
                        <a:lnTo>
                          <a:pt x="0" y="344"/>
                        </a:lnTo>
                      </a:path>
                    </a:pathLst>
                  </a:custGeom>
                  <a:solidFill>
                    <a:srgbClr val="A2C1FE"/>
                  </a:solidFill>
                  <a:ln w="12600">
                    <a:solidFill>
                      <a:srgbClr val="000000"/>
                    </a:solidFill>
                    <a:round/>
                    <a:headEnd/>
                    <a:tailEnd/>
                  </a:ln>
                </p:spPr>
                <p:txBody>
                  <a:bodyPr wrap="none" anchor="ctr"/>
                  <a:lstStyle/>
                  <a:p>
                    <a:endParaRPr lang="en-US"/>
                  </a:p>
                </p:txBody>
              </p:sp>
              <p:sp>
                <p:nvSpPr>
                  <p:cNvPr id="75" name="Freeform 76"/>
                  <p:cNvSpPr>
                    <a:spLocks noChangeArrowheads="1"/>
                  </p:cNvSpPr>
                  <p:nvPr/>
                </p:nvSpPr>
                <p:spPr bwMode="auto">
                  <a:xfrm>
                    <a:off x="1236" y="1465"/>
                    <a:ext cx="292" cy="20"/>
                  </a:xfrm>
                  <a:custGeom>
                    <a:avLst/>
                    <a:gdLst/>
                    <a:ahLst/>
                    <a:cxnLst>
                      <a:cxn ang="0">
                        <a:pos x="0" y="85"/>
                      </a:cxn>
                      <a:cxn ang="0">
                        <a:pos x="85" y="0"/>
                      </a:cxn>
                      <a:cxn ang="0">
                        <a:pos x="1287" y="0"/>
                      </a:cxn>
                      <a:cxn ang="0">
                        <a:pos x="1200" y="85"/>
                      </a:cxn>
                      <a:cxn ang="0">
                        <a:pos x="0" y="85"/>
                      </a:cxn>
                    </a:cxnLst>
                    <a:rect l="0" t="0" r="r" b="b"/>
                    <a:pathLst>
                      <a:path w="1288" h="86">
                        <a:moveTo>
                          <a:pt x="0" y="85"/>
                        </a:moveTo>
                        <a:lnTo>
                          <a:pt x="85" y="0"/>
                        </a:lnTo>
                        <a:lnTo>
                          <a:pt x="1287" y="0"/>
                        </a:lnTo>
                        <a:lnTo>
                          <a:pt x="1200" y="85"/>
                        </a:lnTo>
                        <a:lnTo>
                          <a:pt x="0" y="85"/>
                        </a:lnTo>
                      </a:path>
                    </a:pathLst>
                  </a:custGeom>
                  <a:solidFill>
                    <a:srgbClr val="B1D3FF"/>
                  </a:solidFill>
                  <a:ln w="12600">
                    <a:solidFill>
                      <a:srgbClr val="000000"/>
                    </a:solidFill>
                    <a:round/>
                    <a:headEnd/>
                    <a:tailEnd/>
                  </a:ln>
                </p:spPr>
                <p:txBody>
                  <a:bodyPr wrap="none" anchor="ctr"/>
                  <a:lstStyle/>
                  <a:p>
                    <a:endParaRPr lang="en-US"/>
                  </a:p>
                </p:txBody>
              </p:sp>
              <p:sp>
                <p:nvSpPr>
                  <p:cNvPr id="76" name="Freeform 77"/>
                  <p:cNvSpPr>
                    <a:spLocks noChangeArrowheads="1"/>
                  </p:cNvSpPr>
                  <p:nvPr/>
                </p:nvSpPr>
                <p:spPr bwMode="auto">
                  <a:xfrm>
                    <a:off x="1508" y="1465"/>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US"/>
                  </a:p>
                </p:txBody>
              </p:sp>
            </p:grpSp>
          </p:grpSp>
          <p:sp>
            <p:nvSpPr>
              <p:cNvPr id="70" name="Oval 78"/>
              <p:cNvSpPr>
                <a:spLocks noChangeArrowheads="1"/>
              </p:cNvSpPr>
              <p:nvPr/>
            </p:nvSpPr>
            <p:spPr bwMode="auto">
              <a:xfrm>
                <a:off x="1265" y="1501"/>
                <a:ext cx="49" cy="27"/>
              </a:xfrm>
              <a:prstGeom prst="ellipse">
                <a:avLst/>
              </a:prstGeom>
              <a:solidFill>
                <a:srgbClr val="FFFFFF"/>
              </a:solidFill>
              <a:ln w="12600">
                <a:solidFill>
                  <a:srgbClr val="000000"/>
                </a:solidFill>
                <a:round/>
                <a:headEnd/>
                <a:tailEnd/>
              </a:ln>
            </p:spPr>
            <p:txBody>
              <a:bodyPr wrap="none" anchor="ctr"/>
              <a:lstStyle/>
              <a:p>
                <a:endParaRPr lang="en-US"/>
              </a:p>
            </p:txBody>
          </p:sp>
          <p:sp>
            <p:nvSpPr>
              <p:cNvPr id="71" name="Freeform 79"/>
              <p:cNvSpPr>
                <a:spLocks noChangeArrowheads="1"/>
              </p:cNvSpPr>
              <p:nvPr/>
            </p:nvSpPr>
            <p:spPr bwMode="auto">
              <a:xfrm>
                <a:off x="1197" y="1711"/>
                <a:ext cx="198" cy="84"/>
              </a:xfrm>
              <a:custGeom>
                <a:avLst/>
                <a:gdLst/>
                <a:ahLst/>
                <a:cxnLst>
                  <a:cxn ang="0">
                    <a:pos x="107" y="0"/>
                  </a:cxn>
                  <a:cxn ang="0">
                    <a:pos x="764" y="0"/>
                  </a:cxn>
                  <a:cxn ang="0">
                    <a:pos x="873" y="108"/>
                  </a:cxn>
                  <a:cxn ang="0">
                    <a:pos x="873" y="262"/>
                  </a:cxn>
                  <a:cxn ang="0">
                    <a:pos x="764" y="370"/>
                  </a:cxn>
                  <a:cxn ang="0">
                    <a:pos x="107" y="370"/>
                  </a:cxn>
                  <a:cxn ang="0">
                    <a:pos x="0" y="262"/>
                  </a:cxn>
                  <a:cxn ang="0">
                    <a:pos x="0" y="108"/>
                  </a:cxn>
                  <a:cxn ang="0">
                    <a:pos x="107" y="0"/>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US"/>
              </a:p>
            </p:txBody>
          </p:sp>
        </p:grpSp>
        <p:sp>
          <p:nvSpPr>
            <p:cNvPr id="62" name="Freeform 80"/>
            <p:cNvSpPr>
              <a:spLocks noChangeArrowheads="1"/>
            </p:cNvSpPr>
            <p:nvPr/>
          </p:nvSpPr>
          <p:spPr bwMode="auto">
            <a:xfrm>
              <a:off x="1714" y="1694"/>
              <a:ext cx="85" cy="191"/>
            </a:xfrm>
            <a:custGeom>
              <a:avLst/>
              <a:gdLst/>
              <a:ahLst/>
              <a:cxnLst>
                <a:cxn ang="0">
                  <a:pos x="273" y="0"/>
                </a:cxn>
                <a:cxn ang="0">
                  <a:pos x="375" y="0"/>
                </a:cxn>
                <a:cxn ang="0">
                  <a:pos x="101" y="842"/>
                </a:cxn>
                <a:cxn ang="0">
                  <a:pos x="0" y="842"/>
                </a:cxn>
                <a:cxn ang="0">
                  <a:pos x="273" y="0"/>
                </a:cxn>
              </a:cxnLst>
              <a:rect l="0" t="0" r="r" b="b"/>
              <a:pathLst>
                <a:path w="376" h="843">
                  <a:moveTo>
                    <a:pt x="273" y="0"/>
                  </a:moveTo>
                  <a:lnTo>
                    <a:pt x="375" y="0"/>
                  </a:lnTo>
                  <a:lnTo>
                    <a:pt x="101" y="842"/>
                  </a:lnTo>
                  <a:lnTo>
                    <a:pt x="0" y="842"/>
                  </a:lnTo>
                  <a:lnTo>
                    <a:pt x="273" y="0"/>
                  </a:lnTo>
                </a:path>
              </a:pathLst>
            </a:custGeom>
            <a:solidFill>
              <a:srgbClr val="FC0128"/>
            </a:solidFill>
            <a:ln w="9525">
              <a:noFill/>
              <a:round/>
              <a:headEnd/>
              <a:tailEnd/>
            </a:ln>
          </p:spPr>
          <p:txBody>
            <a:bodyPr wrap="none" anchor="ctr"/>
            <a:lstStyle/>
            <a:p>
              <a:endParaRPr lang="en-US"/>
            </a:p>
          </p:txBody>
        </p:sp>
        <p:sp>
          <p:nvSpPr>
            <p:cNvPr id="63" name="AutoShape 81"/>
            <p:cNvSpPr>
              <a:spLocks noChangeArrowheads="1"/>
            </p:cNvSpPr>
            <p:nvPr/>
          </p:nvSpPr>
          <p:spPr bwMode="auto">
            <a:xfrm>
              <a:off x="1710" y="1694"/>
              <a:ext cx="106"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64" name="AutoShape 82"/>
            <p:cNvSpPr>
              <a:spLocks noChangeArrowheads="1"/>
            </p:cNvSpPr>
            <p:nvPr/>
          </p:nvSpPr>
          <p:spPr bwMode="auto">
            <a:xfrm>
              <a:off x="1717" y="1775"/>
              <a:ext cx="82"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65" name="AutoShape 83"/>
            <p:cNvSpPr>
              <a:spLocks noChangeArrowheads="1"/>
            </p:cNvSpPr>
            <p:nvPr/>
          </p:nvSpPr>
          <p:spPr bwMode="auto">
            <a:xfrm>
              <a:off x="1534" y="1775"/>
              <a:ext cx="103" cy="11"/>
            </a:xfrm>
            <a:prstGeom prst="roundRect">
              <a:avLst>
                <a:gd name="adj" fmla="val 10000"/>
              </a:avLst>
            </a:prstGeom>
            <a:solidFill>
              <a:srgbClr val="FC0128"/>
            </a:solidFill>
            <a:ln w="9525">
              <a:noFill/>
              <a:round/>
              <a:headEnd/>
              <a:tailEnd/>
            </a:ln>
          </p:spPr>
          <p:txBody>
            <a:bodyPr wrap="none" anchor="ctr"/>
            <a:lstStyle/>
            <a:p>
              <a:endParaRPr lang="en-US"/>
            </a:p>
          </p:txBody>
        </p:sp>
        <p:grpSp>
          <p:nvGrpSpPr>
            <p:cNvPr id="66" name="Group 84"/>
            <p:cNvGrpSpPr>
              <a:grpSpLocks/>
            </p:cNvGrpSpPr>
            <p:nvPr/>
          </p:nvGrpSpPr>
          <p:grpSpPr bwMode="auto">
            <a:xfrm>
              <a:off x="1532" y="1522"/>
              <a:ext cx="194" cy="364"/>
              <a:chOff x="1532" y="1522"/>
              <a:chExt cx="194" cy="364"/>
            </a:xfrm>
          </p:grpSpPr>
          <p:sp>
            <p:nvSpPr>
              <p:cNvPr id="67" name="Oval 85"/>
              <p:cNvSpPr>
                <a:spLocks noChangeArrowheads="1"/>
              </p:cNvSpPr>
              <p:nvPr/>
            </p:nvSpPr>
            <p:spPr bwMode="auto">
              <a:xfrm>
                <a:off x="1608" y="1522"/>
                <a:ext cx="49" cy="49"/>
              </a:xfrm>
              <a:prstGeom prst="ellipse">
                <a:avLst/>
              </a:prstGeom>
              <a:solidFill>
                <a:srgbClr val="FC0128"/>
              </a:solidFill>
              <a:ln w="12600">
                <a:solidFill>
                  <a:srgbClr val="000000"/>
                </a:solidFill>
                <a:round/>
                <a:headEnd/>
                <a:tailEnd/>
              </a:ln>
            </p:spPr>
            <p:txBody>
              <a:bodyPr wrap="none" anchor="ctr"/>
              <a:lstStyle/>
              <a:p>
                <a:endParaRPr lang="en-US"/>
              </a:p>
            </p:txBody>
          </p:sp>
          <p:sp>
            <p:nvSpPr>
              <p:cNvPr id="68" name="Freeform 86"/>
              <p:cNvSpPr>
                <a:spLocks noChangeArrowheads="1"/>
              </p:cNvSpPr>
              <p:nvPr/>
            </p:nvSpPr>
            <p:spPr bwMode="auto">
              <a:xfrm>
                <a:off x="1532" y="1590"/>
                <a:ext cx="194" cy="296"/>
              </a:xfrm>
              <a:custGeom>
                <a:avLst/>
                <a:gdLst/>
                <a:ahLst/>
                <a:cxnLst>
                  <a:cxn ang="0">
                    <a:pos x="8" y="606"/>
                  </a:cxn>
                  <a:cxn ang="0">
                    <a:pos x="4" y="619"/>
                  </a:cxn>
                  <a:cxn ang="0">
                    <a:pos x="0" y="641"/>
                  </a:cxn>
                  <a:cxn ang="0">
                    <a:pos x="0" y="663"/>
                  </a:cxn>
                  <a:cxn ang="0">
                    <a:pos x="8" y="685"/>
                  </a:cxn>
                  <a:cxn ang="0">
                    <a:pos x="17" y="704"/>
                  </a:cxn>
                  <a:cxn ang="0">
                    <a:pos x="35" y="722"/>
                  </a:cxn>
                  <a:cxn ang="0">
                    <a:pos x="52" y="731"/>
                  </a:cxn>
                  <a:cxn ang="0">
                    <a:pos x="70" y="735"/>
                  </a:cxn>
                  <a:cxn ang="0">
                    <a:pos x="92" y="735"/>
                  </a:cxn>
                  <a:cxn ang="0">
                    <a:pos x="558" y="1305"/>
                  </a:cxn>
                  <a:cxn ang="0">
                    <a:pos x="704" y="628"/>
                  </a:cxn>
                  <a:cxn ang="0">
                    <a:pos x="704" y="610"/>
                  </a:cxn>
                  <a:cxn ang="0">
                    <a:pos x="695" y="602"/>
                  </a:cxn>
                  <a:cxn ang="0">
                    <a:pos x="682" y="588"/>
                  </a:cxn>
                  <a:cxn ang="0">
                    <a:pos x="673" y="579"/>
                  </a:cxn>
                  <a:cxn ang="0">
                    <a:pos x="656" y="575"/>
                  </a:cxn>
                  <a:cxn ang="0">
                    <a:pos x="638" y="571"/>
                  </a:cxn>
                  <a:cxn ang="0">
                    <a:pos x="620" y="571"/>
                  </a:cxn>
                  <a:cxn ang="0">
                    <a:pos x="607" y="571"/>
                  </a:cxn>
                  <a:cxn ang="0">
                    <a:pos x="412" y="331"/>
                  </a:cxn>
                  <a:cxn ang="0">
                    <a:pos x="793" y="411"/>
                  </a:cxn>
                  <a:cxn ang="0">
                    <a:pos x="811" y="406"/>
                  </a:cxn>
                  <a:cxn ang="0">
                    <a:pos x="820" y="402"/>
                  </a:cxn>
                  <a:cxn ang="0">
                    <a:pos x="837" y="393"/>
                  </a:cxn>
                  <a:cxn ang="0">
                    <a:pos x="846" y="380"/>
                  </a:cxn>
                  <a:cxn ang="0">
                    <a:pos x="851" y="367"/>
                  </a:cxn>
                  <a:cxn ang="0">
                    <a:pos x="855" y="345"/>
                  </a:cxn>
                  <a:cxn ang="0">
                    <a:pos x="851" y="327"/>
                  </a:cxn>
                  <a:cxn ang="0">
                    <a:pos x="842" y="309"/>
                  </a:cxn>
                  <a:cxn ang="0">
                    <a:pos x="833" y="300"/>
                  </a:cxn>
                  <a:cxn ang="0">
                    <a:pos x="815" y="286"/>
                  </a:cxn>
                  <a:cxn ang="0">
                    <a:pos x="802" y="282"/>
                  </a:cxn>
                  <a:cxn ang="0">
                    <a:pos x="541" y="282"/>
                  </a:cxn>
                  <a:cxn ang="0">
                    <a:pos x="496" y="185"/>
                  </a:cxn>
                  <a:cxn ang="0">
                    <a:pos x="500" y="163"/>
                  </a:cxn>
                  <a:cxn ang="0">
                    <a:pos x="505" y="132"/>
                  </a:cxn>
                  <a:cxn ang="0">
                    <a:pos x="505" y="105"/>
                  </a:cxn>
                  <a:cxn ang="0">
                    <a:pos x="496" y="83"/>
                  </a:cxn>
                  <a:cxn ang="0">
                    <a:pos x="487" y="66"/>
                  </a:cxn>
                  <a:cxn ang="0">
                    <a:pos x="474" y="44"/>
                  </a:cxn>
                  <a:cxn ang="0">
                    <a:pos x="456" y="30"/>
                  </a:cxn>
                  <a:cxn ang="0">
                    <a:pos x="434" y="13"/>
                  </a:cxn>
                  <a:cxn ang="0">
                    <a:pos x="412" y="4"/>
                  </a:cxn>
                  <a:cxn ang="0">
                    <a:pos x="385" y="0"/>
                  </a:cxn>
                  <a:cxn ang="0">
                    <a:pos x="359" y="0"/>
                  </a:cxn>
                  <a:cxn ang="0">
                    <a:pos x="332" y="4"/>
                  </a:cxn>
                  <a:cxn ang="0">
                    <a:pos x="305" y="13"/>
                  </a:cxn>
                  <a:cxn ang="0">
                    <a:pos x="278" y="26"/>
                  </a:cxn>
                  <a:cxn ang="0">
                    <a:pos x="261" y="48"/>
                  </a:cxn>
                  <a:cxn ang="0">
                    <a:pos x="243" y="75"/>
                  </a:cxn>
                  <a:cxn ang="0">
                    <a:pos x="234" y="101"/>
                  </a:cxn>
                </a:cxnLst>
                <a:rect l="0" t="0" r="r" b="b"/>
                <a:pathLst>
                  <a:path w="856" h="1306">
                    <a:moveTo>
                      <a:pt x="234" y="101"/>
                    </a:moveTo>
                    <a:lnTo>
                      <a:pt x="8" y="606"/>
                    </a:lnTo>
                    <a:lnTo>
                      <a:pt x="4" y="610"/>
                    </a:lnTo>
                    <a:lnTo>
                      <a:pt x="4" y="619"/>
                    </a:lnTo>
                    <a:lnTo>
                      <a:pt x="0" y="628"/>
                    </a:lnTo>
                    <a:lnTo>
                      <a:pt x="0" y="641"/>
                    </a:lnTo>
                    <a:lnTo>
                      <a:pt x="0" y="650"/>
                    </a:lnTo>
                    <a:lnTo>
                      <a:pt x="0" y="663"/>
                    </a:lnTo>
                    <a:lnTo>
                      <a:pt x="4" y="672"/>
                    </a:lnTo>
                    <a:lnTo>
                      <a:pt x="8" y="685"/>
                    </a:lnTo>
                    <a:lnTo>
                      <a:pt x="13" y="694"/>
                    </a:lnTo>
                    <a:lnTo>
                      <a:pt x="17" y="704"/>
                    </a:lnTo>
                    <a:lnTo>
                      <a:pt x="26" y="713"/>
                    </a:lnTo>
                    <a:lnTo>
                      <a:pt x="35" y="722"/>
                    </a:lnTo>
                    <a:lnTo>
                      <a:pt x="44" y="726"/>
                    </a:lnTo>
                    <a:lnTo>
                      <a:pt x="52" y="731"/>
                    </a:lnTo>
                    <a:lnTo>
                      <a:pt x="61" y="731"/>
                    </a:lnTo>
                    <a:lnTo>
                      <a:pt x="70" y="735"/>
                    </a:lnTo>
                    <a:lnTo>
                      <a:pt x="79" y="735"/>
                    </a:lnTo>
                    <a:lnTo>
                      <a:pt x="92" y="735"/>
                    </a:lnTo>
                    <a:lnTo>
                      <a:pt x="558" y="735"/>
                    </a:lnTo>
                    <a:lnTo>
                      <a:pt x="558" y="1305"/>
                    </a:lnTo>
                    <a:lnTo>
                      <a:pt x="704" y="1305"/>
                    </a:lnTo>
                    <a:lnTo>
                      <a:pt x="704" y="628"/>
                    </a:lnTo>
                    <a:lnTo>
                      <a:pt x="704" y="619"/>
                    </a:lnTo>
                    <a:lnTo>
                      <a:pt x="704" y="610"/>
                    </a:lnTo>
                    <a:lnTo>
                      <a:pt x="700" y="606"/>
                    </a:lnTo>
                    <a:lnTo>
                      <a:pt x="695" y="602"/>
                    </a:lnTo>
                    <a:lnTo>
                      <a:pt x="691" y="597"/>
                    </a:lnTo>
                    <a:lnTo>
                      <a:pt x="682" y="588"/>
                    </a:lnTo>
                    <a:lnTo>
                      <a:pt x="678" y="584"/>
                    </a:lnTo>
                    <a:lnTo>
                      <a:pt x="673" y="579"/>
                    </a:lnTo>
                    <a:lnTo>
                      <a:pt x="664" y="579"/>
                    </a:lnTo>
                    <a:lnTo>
                      <a:pt x="656" y="575"/>
                    </a:lnTo>
                    <a:lnTo>
                      <a:pt x="647" y="575"/>
                    </a:lnTo>
                    <a:lnTo>
                      <a:pt x="638" y="571"/>
                    </a:lnTo>
                    <a:lnTo>
                      <a:pt x="629" y="571"/>
                    </a:lnTo>
                    <a:lnTo>
                      <a:pt x="620" y="571"/>
                    </a:lnTo>
                    <a:lnTo>
                      <a:pt x="616" y="571"/>
                    </a:lnTo>
                    <a:lnTo>
                      <a:pt x="607" y="571"/>
                    </a:lnTo>
                    <a:lnTo>
                      <a:pt x="337" y="553"/>
                    </a:lnTo>
                    <a:lnTo>
                      <a:pt x="412" y="331"/>
                    </a:lnTo>
                    <a:lnTo>
                      <a:pt x="465" y="411"/>
                    </a:lnTo>
                    <a:lnTo>
                      <a:pt x="793" y="411"/>
                    </a:lnTo>
                    <a:lnTo>
                      <a:pt x="802" y="406"/>
                    </a:lnTo>
                    <a:lnTo>
                      <a:pt x="811" y="406"/>
                    </a:lnTo>
                    <a:lnTo>
                      <a:pt x="815" y="402"/>
                    </a:lnTo>
                    <a:lnTo>
                      <a:pt x="820" y="402"/>
                    </a:lnTo>
                    <a:lnTo>
                      <a:pt x="829" y="398"/>
                    </a:lnTo>
                    <a:lnTo>
                      <a:pt x="837" y="393"/>
                    </a:lnTo>
                    <a:lnTo>
                      <a:pt x="842" y="384"/>
                    </a:lnTo>
                    <a:lnTo>
                      <a:pt x="846" y="380"/>
                    </a:lnTo>
                    <a:lnTo>
                      <a:pt x="851" y="371"/>
                    </a:lnTo>
                    <a:lnTo>
                      <a:pt x="851" y="367"/>
                    </a:lnTo>
                    <a:lnTo>
                      <a:pt x="855" y="358"/>
                    </a:lnTo>
                    <a:lnTo>
                      <a:pt x="855" y="345"/>
                    </a:lnTo>
                    <a:lnTo>
                      <a:pt x="855" y="336"/>
                    </a:lnTo>
                    <a:lnTo>
                      <a:pt x="851" y="327"/>
                    </a:lnTo>
                    <a:lnTo>
                      <a:pt x="846" y="318"/>
                    </a:lnTo>
                    <a:lnTo>
                      <a:pt x="842" y="309"/>
                    </a:lnTo>
                    <a:lnTo>
                      <a:pt x="837" y="305"/>
                    </a:lnTo>
                    <a:lnTo>
                      <a:pt x="833" y="300"/>
                    </a:lnTo>
                    <a:lnTo>
                      <a:pt x="824" y="291"/>
                    </a:lnTo>
                    <a:lnTo>
                      <a:pt x="815" y="286"/>
                    </a:lnTo>
                    <a:lnTo>
                      <a:pt x="815" y="282"/>
                    </a:lnTo>
                    <a:lnTo>
                      <a:pt x="802" y="282"/>
                    </a:lnTo>
                    <a:lnTo>
                      <a:pt x="793" y="282"/>
                    </a:lnTo>
                    <a:lnTo>
                      <a:pt x="541" y="282"/>
                    </a:lnTo>
                    <a:lnTo>
                      <a:pt x="487" y="194"/>
                    </a:lnTo>
                    <a:lnTo>
                      <a:pt x="496" y="185"/>
                    </a:lnTo>
                    <a:lnTo>
                      <a:pt x="500" y="172"/>
                    </a:lnTo>
                    <a:lnTo>
                      <a:pt x="500" y="163"/>
                    </a:lnTo>
                    <a:lnTo>
                      <a:pt x="505" y="150"/>
                    </a:lnTo>
                    <a:lnTo>
                      <a:pt x="505" y="132"/>
                    </a:lnTo>
                    <a:lnTo>
                      <a:pt x="505" y="123"/>
                    </a:lnTo>
                    <a:lnTo>
                      <a:pt x="505" y="105"/>
                    </a:lnTo>
                    <a:lnTo>
                      <a:pt x="500" y="97"/>
                    </a:lnTo>
                    <a:lnTo>
                      <a:pt x="496" y="83"/>
                    </a:lnTo>
                    <a:lnTo>
                      <a:pt x="491" y="75"/>
                    </a:lnTo>
                    <a:lnTo>
                      <a:pt x="487" y="66"/>
                    </a:lnTo>
                    <a:lnTo>
                      <a:pt x="482" y="57"/>
                    </a:lnTo>
                    <a:lnTo>
                      <a:pt x="474" y="44"/>
                    </a:lnTo>
                    <a:lnTo>
                      <a:pt x="465" y="39"/>
                    </a:lnTo>
                    <a:lnTo>
                      <a:pt x="456" y="30"/>
                    </a:lnTo>
                    <a:lnTo>
                      <a:pt x="447" y="22"/>
                    </a:lnTo>
                    <a:lnTo>
                      <a:pt x="434" y="13"/>
                    </a:lnTo>
                    <a:lnTo>
                      <a:pt x="425" y="13"/>
                    </a:lnTo>
                    <a:lnTo>
                      <a:pt x="412" y="4"/>
                    </a:lnTo>
                    <a:lnTo>
                      <a:pt x="399" y="4"/>
                    </a:lnTo>
                    <a:lnTo>
                      <a:pt x="385" y="0"/>
                    </a:lnTo>
                    <a:lnTo>
                      <a:pt x="372" y="0"/>
                    </a:lnTo>
                    <a:lnTo>
                      <a:pt x="359" y="0"/>
                    </a:lnTo>
                    <a:lnTo>
                      <a:pt x="346" y="0"/>
                    </a:lnTo>
                    <a:lnTo>
                      <a:pt x="332" y="4"/>
                    </a:lnTo>
                    <a:lnTo>
                      <a:pt x="318" y="8"/>
                    </a:lnTo>
                    <a:lnTo>
                      <a:pt x="305" y="13"/>
                    </a:lnTo>
                    <a:lnTo>
                      <a:pt x="292" y="17"/>
                    </a:lnTo>
                    <a:lnTo>
                      <a:pt x="278" y="26"/>
                    </a:lnTo>
                    <a:lnTo>
                      <a:pt x="270" y="39"/>
                    </a:lnTo>
                    <a:lnTo>
                      <a:pt x="261" y="48"/>
                    </a:lnTo>
                    <a:lnTo>
                      <a:pt x="252" y="57"/>
                    </a:lnTo>
                    <a:lnTo>
                      <a:pt x="243" y="75"/>
                    </a:lnTo>
                    <a:lnTo>
                      <a:pt x="234" y="83"/>
                    </a:lnTo>
                    <a:lnTo>
                      <a:pt x="234" y="101"/>
                    </a:lnTo>
                  </a:path>
                </a:pathLst>
              </a:custGeom>
              <a:solidFill>
                <a:srgbClr val="FC0128"/>
              </a:solidFill>
              <a:ln w="9525">
                <a:noFill/>
                <a:round/>
                <a:headEnd/>
                <a:tailEnd/>
              </a:ln>
            </p:spPr>
            <p:txBody>
              <a:bodyPr wrap="none" anchor="ctr"/>
              <a:lstStyle/>
              <a:p>
                <a:endParaRPr lang="en-US"/>
              </a:p>
            </p:txBody>
          </p:sp>
        </p:grpSp>
      </p:grpSp>
      <p:sp>
        <p:nvSpPr>
          <p:cNvPr id="90" name="Text Box 87"/>
          <p:cNvSpPr txBox="1">
            <a:spLocks noChangeArrowheads="1"/>
          </p:cNvSpPr>
          <p:nvPr/>
        </p:nvSpPr>
        <p:spPr bwMode="auto">
          <a:xfrm>
            <a:off x="1617663" y="1706562"/>
            <a:ext cx="714375" cy="423863"/>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6 PM</a:t>
            </a:r>
          </a:p>
        </p:txBody>
      </p:sp>
      <p:sp>
        <p:nvSpPr>
          <p:cNvPr id="91" name="Line 88"/>
          <p:cNvSpPr>
            <a:spLocks noChangeShapeType="1"/>
          </p:cNvSpPr>
          <p:nvPr/>
        </p:nvSpPr>
        <p:spPr bwMode="auto">
          <a:xfrm>
            <a:off x="1987550" y="2298700"/>
            <a:ext cx="6324600" cy="1587"/>
          </a:xfrm>
          <a:prstGeom prst="line">
            <a:avLst/>
          </a:prstGeom>
          <a:noFill/>
          <a:ln w="12600">
            <a:solidFill>
              <a:srgbClr val="000000"/>
            </a:solidFill>
            <a:round/>
            <a:headEnd/>
            <a:tailEnd type="triangle" w="lg" len="lg"/>
          </a:ln>
        </p:spPr>
        <p:txBody>
          <a:bodyPr/>
          <a:lstStyle/>
          <a:p>
            <a:endParaRPr lang="en-US"/>
          </a:p>
        </p:txBody>
      </p:sp>
      <p:sp>
        <p:nvSpPr>
          <p:cNvPr id="92" name="Line 89"/>
          <p:cNvSpPr>
            <a:spLocks noChangeShapeType="1"/>
          </p:cNvSpPr>
          <p:nvPr/>
        </p:nvSpPr>
        <p:spPr bwMode="auto">
          <a:xfrm>
            <a:off x="1981200" y="2165350"/>
            <a:ext cx="1588" cy="304800"/>
          </a:xfrm>
          <a:prstGeom prst="line">
            <a:avLst/>
          </a:prstGeom>
          <a:noFill/>
          <a:ln w="12600">
            <a:solidFill>
              <a:srgbClr val="000000"/>
            </a:solidFill>
            <a:round/>
            <a:headEnd/>
            <a:tailEnd/>
          </a:ln>
        </p:spPr>
        <p:txBody>
          <a:bodyPr/>
          <a:lstStyle/>
          <a:p>
            <a:endParaRPr lang="en-US"/>
          </a:p>
        </p:txBody>
      </p:sp>
      <p:sp>
        <p:nvSpPr>
          <p:cNvPr id="93" name="Text Box 90"/>
          <p:cNvSpPr txBox="1">
            <a:spLocks noChangeArrowheads="1"/>
          </p:cNvSpPr>
          <p:nvPr/>
        </p:nvSpPr>
        <p:spPr bwMode="auto">
          <a:xfrm>
            <a:off x="2849563" y="1719262"/>
            <a:ext cx="307975" cy="423863"/>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7</a:t>
            </a:r>
          </a:p>
        </p:txBody>
      </p:sp>
      <p:sp>
        <p:nvSpPr>
          <p:cNvPr id="94" name="Text Box 91"/>
          <p:cNvSpPr txBox="1">
            <a:spLocks noChangeArrowheads="1"/>
          </p:cNvSpPr>
          <p:nvPr/>
        </p:nvSpPr>
        <p:spPr bwMode="auto">
          <a:xfrm>
            <a:off x="3916363" y="1719262"/>
            <a:ext cx="307975" cy="423863"/>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8</a:t>
            </a:r>
          </a:p>
        </p:txBody>
      </p:sp>
      <p:sp>
        <p:nvSpPr>
          <p:cNvPr id="95" name="Text Box 92"/>
          <p:cNvSpPr txBox="1">
            <a:spLocks noChangeArrowheads="1"/>
          </p:cNvSpPr>
          <p:nvPr/>
        </p:nvSpPr>
        <p:spPr bwMode="auto">
          <a:xfrm>
            <a:off x="4932363" y="1719262"/>
            <a:ext cx="307975" cy="423863"/>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9</a:t>
            </a:r>
          </a:p>
        </p:txBody>
      </p:sp>
      <p:sp>
        <p:nvSpPr>
          <p:cNvPr id="96" name="Text Box 93"/>
          <p:cNvSpPr txBox="1">
            <a:spLocks noChangeArrowheads="1"/>
          </p:cNvSpPr>
          <p:nvPr/>
        </p:nvSpPr>
        <p:spPr bwMode="auto">
          <a:xfrm>
            <a:off x="5872163" y="1731962"/>
            <a:ext cx="434975" cy="423863"/>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10</a:t>
            </a:r>
          </a:p>
        </p:txBody>
      </p:sp>
      <p:sp>
        <p:nvSpPr>
          <p:cNvPr id="97" name="Text Box 94"/>
          <p:cNvSpPr txBox="1">
            <a:spLocks noChangeArrowheads="1"/>
          </p:cNvSpPr>
          <p:nvPr/>
        </p:nvSpPr>
        <p:spPr bwMode="auto">
          <a:xfrm>
            <a:off x="6964363" y="1719262"/>
            <a:ext cx="434975" cy="423863"/>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11</a:t>
            </a:r>
          </a:p>
        </p:txBody>
      </p:sp>
      <p:sp>
        <p:nvSpPr>
          <p:cNvPr id="98" name="Text Box 95"/>
          <p:cNvSpPr txBox="1">
            <a:spLocks noChangeArrowheads="1"/>
          </p:cNvSpPr>
          <p:nvPr/>
        </p:nvSpPr>
        <p:spPr bwMode="auto">
          <a:xfrm>
            <a:off x="7802563" y="1706562"/>
            <a:ext cx="1133475" cy="423863"/>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t>Midnight</a:t>
            </a:r>
          </a:p>
        </p:txBody>
      </p:sp>
      <p:grpSp>
        <p:nvGrpSpPr>
          <p:cNvPr id="99" name="Group 96"/>
          <p:cNvGrpSpPr>
            <a:grpSpLocks/>
          </p:cNvGrpSpPr>
          <p:nvPr/>
        </p:nvGrpSpPr>
        <p:grpSpPr bwMode="auto">
          <a:xfrm>
            <a:off x="3524250" y="3943350"/>
            <a:ext cx="1533525" cy="709612"/>
            <a:chOff x="1809" y="1929"/>
            <a:chExt cx="966" cy="447"/>
          </a:xfrm>
        </p:grpSpPr>
        <p:grpSp>
          <p:nvGrpSpPr>
            <p:cNvPr id="100" name="Group 97"/>
            <p:cNvGrpSpPr>
              <a:grpSpLocks/>
            </p:cNvGrpSpPr>
            <p:nvPr/>
          </p:nvGrpSpPr>
          <p:grpSpPr bwMode="auto">
            <a:xfrm>
              <a:off x="1809" y="1929"/>
              <a:ext cx="306" cy="448"/>
              <a:chOff x="1809" y="1929"/>
              <a:chExt cx="306" cy="448"/>
            </a:xfrm>
          </p:grpSpPr>
          <p:grpSp>
            <p:nvGrpSpPr>
              <p:cNvPr id="120" name="Group 98"/>
              <p:cNvGrpSpPr>
                <a:grpSpLocks/>
              </p:cNvGrpSpPr>
              <p:nvPr/>
            </p:nvGrpSpPr>
            <p:grpSpPr bwMode="auto">
              <a:xfrm>
                <a:off x="1809" y="1929"/>
                <a:ext cx="306" cy="448"/>
                <a:chOff x="1809" y="1929"/>
                <a:chExt cx="306" cy="448"/>
              </a:xfrm>
            </p:grpSpPr>
            <p:grpSp>
              <p:nvGrpSpPr>
                <p:cNvPr id="122" name="Group 99"/>
                <p:cNvGrpSpPr>
                  <a:grpSpLocks/>
                </p:cNvGrpSpPr>
                <p:nvPr/>
              </p:nvGrpSpPr>
              <p:grpSpPr bwMode="auto">
                <a:xfrm>
                  <a:off x="1809" y="2000"/>
                  <a:ext cx="306" cy="377"/>
                  <a:chOff x="1809" y="2000"/>
                  <a:chExt cx="306" cy="377"/>
                </a:xfrm>
              </p:grpSpPr>
              <p:sp>
                <p:nvSpPr>
                  <p:cNvPr id="127" name="Freeform 100"/>
                  <p:cNvSpPr>
                    <a:spLocks noChangeArrowheads="1"/>
                  </p:cNvSpPr>
                  <p:nvPr/>
                </p:nvSpPr>
                <p:spPr bwMode="auto">
                  <a:xfrm>
                    <a:off x="1809" y="2000"/>
                    <a:ext cx="305" cy="377"/>
                  </a:xfrm>
                  <a:custGeom>
                    <a:avLst/>
                    <a:gdLst/>
                    <a:ahLst/>
                    <a:cxnLst>
                      <a:cxn ang="0">
                        <a:pos x="0" y="1663"/>
                      </a:cxn>
                      <a:cxn ang="0">
                        <a:pos x="0" y="335"/>
                      </a:cxn>
                      <a:cxn ang="0">
                        <a:pos x="335" y="0"/>
                      </a:cxn>
                      <a:cxn ang="0">
                        <a:pos x="1345" y="0"/>
                      </a:cxn>
                      <a:cxn ang="0">
                        <a:pos x="1345" y="1326"/>
                      </a:cxn>
                      <a:cxn ang="0">
                        <a:pos x="1008" y="1663"/>
                      </a:cxn>
                      <a:cxn ang="0">
                        <a:pos x="0" y="1663"/>
                      </a:cxn>
                    </a:cxnLst>
                    <a:rect l="0" t="0" r="r" b="b"/>
                    <a:pathLst>
                      <a:path w="1346" h="1664">
                        <a:moveTo>
                          <a:pt x="0" y="1663"/>
                        </a:moveTo>
                        <a:lnTo>
                          <a:pt x="0" y="335"/>
                        </a:lnTo>
                        <a:lnTo>
                          <a:pt x="335" y="0"/>
                        </a:lnTo>
                        <a:lnTo>
                          <a:pt x="1345" y="0"/>
                        </a:lnTo>
                        <a:lnTo>
                          <a:pt x="1345" y="1326"/>
                        </a:lnTo>
                        <a:lnTo>
                          <a:pt x="1008" y="1663"/>
                        </a:lnTo>
                        <a:lnTo>
                          <a:pt x="0" y="1663"/>
                        </a:lnTo>
                      </a:path>
                    </a:pathLst>
                  </a:custGeom>
                  <a:solidFill>
                    <a:srgbClr val="F6BF69"/>
                  </a:solidFill>
                  <a:ln w="12600">
                    <a:solidFill>
                      <a:srgbClr val="000000"/>
                    </a:solidFill>
                    <a:round/>
                    <a:headEnd/>
                    <a:tailEnd/>
                  </a:ln>
                </p:spPr>
                <p:txBody>
                  <a:bodyPr wrap="none" anchor="ctr"/>
                  <a:lstStyle/>
                  <a:p>
                    <a:endParaRPr lang="en-US"/>
                  </a:p>
                </p:txBody>
              </p:sp>
              <p:sp>
                <p:nvSpPr>
                  <p:cNvPr id="128" name="Freeform 101"/>
                  <p:cNvSpPr>
                    <a:spLocks noChangeArrowheads="1"/>
                  </p:cNvSpPr>
                  <p:nvPr/>
                </p:nvSpPr>
                <p:spPr bwMode="auto">
                  <a:xfrm>
                    <a:off x="1809" y="2000"/>
                    <a:ext cx="305" cy="76"/>
                  </a:xfrm>
                  <a:custGeom>
                    <a:avLst/>
                    <a:gdLst/>
                    <a:ahLst/>
                    <a:cxnLst>
                      <a:cxn ang="0">
                        <a:pos x="0" y="335"/>
                      </a:cxn>
                      <a:cxn ang="0">
                        <a:pos x="335" y="0"/>
                      </a:cxn>
                      <a:cxn ang="0">
                        <a:pos x="1345" y="0"/>
                      </a:cxn>
                      <a:cxn ang="0">
                        <a:pos x="1008" y="335"/>
                      </a:cxn>
                      <a:cxn ang="0">
                        <a:pos x="0" y="335"/>
                      </a:cxn>
                    </a:cxnLst>
                    <a:rect l="0" t="0" r="r" b="b"/>
                    <a:pathLst>
                      <a:path w="1346" h="336">
                        <a:moveTo>
                          <a:pt x="0" y="335"/>
                        </a:moveTo>
                        <a:lnTo>
                          <a:pt x="335" y="0"/>
                        </a:lnTo>
                        <a:lnTo>
                          <a:pt x="1345" y="0"/>
                        </a:lnTo>
                        <a:lnTo>
                          <a:pt x="1008" y="335"/>
                        </a:lnTo>
                        <a:lnTo>
                          <a:pt x="0" y="335"/>
                        </a:lnTo>
                      </a:path>
                    </a:pathLst>
                  </a:custGeom>
                  <a:solidFill>
                    <a:srgbClr val="FFD072"/>
                  </a:solidFill>
                  <a:ln w="12600">
                    <a:solidFill>
                      <a:srgbClr val="000000"/>
                    </a:solidFill>
                    <a:round/>
                    <a:headEnd/>
                    <a:tailEnd/>
                  </a:ln>
                </p:spPr>
                <p:txBody>
                  <a:bodyPr wrap="none" anchor="ctr"/>
                  <a:lstStyle/>
                  <a:p>
                    <a:endParaRPr lang="en-US"/>
                  </a:p>
                </p:txBody>
              </p:sp>
              <p:sp>
                <p:nvSpPr>
                  <p:cNvPr id="129" name="Freeform 102"/>
                  <p:cNvSpPr>
                    <a:spLocks noChangeArrowheads="1"/>
                  </p:cNvSpPr>
                  <p:nvPr/>
                </p:nvSpPr>
                <p:spPr bwMode="auto">
                  <a:xfrm>
                    <a:off x="2038" y="2000"/>
                    <a:ext cx="77" cy="377"/>
                  </a:xfrm>
                  <a:custGeom>
                    <a:avLst/>
                    <a:gdLst/>
                    <a:ahLst/>
                    <a:cxnLst>
                      <a:cxn ang="0">
                        <a:pos x="0" y="1663"/>
                      </a:cxn>
                      <a:cxn ang="0">
                        <a:pos x="0" y="335"/>
                      </a:cxn>
                      <a:cxn ang="0">
                        <a:pos x="337" y="0"/>
                      </a:cxn>
                      <a:cxn ang="0">
                        <a:pos x="337" y="1326"/>
                      </a:cxn>
                      <a:cxn ang="0">
                        <a:pos x="0" y="1663"/>
                      </a:cxn>
                    </a:cxnLst>
                    <a:rect l="0" t="0" r="r" b="b"/>
                    <a:pathLst>
                      <a:path w="338" h="1664">
                        <a:moveTo>
                          <a:pt x="0" y="1663"/>
                        </a:moveTo>
                        <a:lnTo>
                          <a:pt x="0" y="335"/>
                        </a:lnTo>
                        <a:lnTo>
                          <a:pt x="337" y="0"/>
                        </a:lnTo>
                        <a:lnTo>
                          <a:pt x="337" y="1326"/>
                        </a:lnTo>
                        <a:lnTo>
                          <a:pt x="0" y="1663"/>
                        </a:lnTo>
                      </a:path>
                    </a:pathLst>
                  </a:custGeom>
                  <a:solidFill>
                    <a:srgbClr val="D3A45A"/>
                  </a:solidFill>
                  <a:ln w="12600">
                    <a:solidFill>
                      <a:srgbClr val="000000"/>
                    </a:solidFill>
                    <a:round/>
                    <a:headEnd/>
                    <a:tailEnd/>
                  </a:ln>
                </p:spPr>
                <p:txBody>
                  <a:bodyPr wrap="none" anchor="ctr"/>
                  <a:lstStyle/>
                  <a:p>
                    <a:endParaRPr lang="en-US"/>
                  </a:p>
                </p:txBody>
              </p:sp>
            </p:grpSp>
            <p:grpSp>
              <p:nvGrpSpPr>
                <p:cNvPr id="123" name="Group 103"/>
                <p:cNvGrpSpPr>
                  <a:grpSpLocks/>
                </p:cNvGrpSpPr>
                <p:nvPr/>
              </p:nvGrpSpPr>
              <p:grpSpPr bwMode="auto">
                <a:xfrm>
                  <a:off x="1879" y="1929"/>
                  <a:ext cx="235" cy="78"/>
                  <a:chOff x="1879" y="1929"/>
                  <a:chExt cx="235" cy="78"/>
                </a:xfrm>
              </p:grpSpPr>
              <p:sp>
                <p:nvSpPr>
                  <p:cNvPr id="124" name="Freeform 104"/>
                  <p:cNvSpPr>
                    <a:spLocks noChangeArrowheads="1"/>
                  </p:cNvSpPr>
                  <p:nvPr/>
                </p:nvSpPr>
                <p:spPr bwMode="auto">
                  <a:xfrm>
                    <a:off x="1879" y="1929"/>
                    <a:ext cx="235" cy="78"/>
                  </a:xfrm>
                  <a:custGeom>
                    <a:avLst/>
                    <a:gdLst/>
                    <a:ahLst/>
                    <a:cxnLst>
                      <a:cxn ang="0">
                        <a:pos x="0" y="344"/>
                      </a:cxn>
                      <a:cxn ang="0">
                        <a:pos x="0" y="85"/>
                      </a:cxn>
                      <a:cxn ang="0">
                        <a:pos x="85" y="0"/>
                      </a:cxn>
                      <a:cxn ang="0">
                        <a:pos x="1036" y="0"/>
                      </a:cxn>
                      <a:cxn ang="0">
                        <a:pos x="1036" y="257"/>
                      </a:cxn>
                      <a:cxn ang="0">
                        <a:pos x="949" y="344"/>
                      </a:cxn>
                      <a:cxn ang="0">
                        <a:pos x="0" y="344"/>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US"/>
                  </a:p>
                </p:txBody>
              </p:sp>
              <p:sp>
                <p:nvSpPr>
                  <p:cNvPr id="125" name="Freeform 105"/>
                  <p:cNvSpPr>
                    <a:spLocks noChangeArrowheads="1"/>
                  </p:cNvSpPr>
                  <p:nvPr/>
                </p:nvSpPr>
                <p:spPr bwMode="auto">
                  <a:xfrm>
                    <a:off x="1879" y="1929"/>
                    <a:ext cx="235" cy="20"/>
                  </a:xfrm>
                  <a:custGeom>
                    <a:avLst/>
                    <a:gdLst/>
                    <a:ahLst/>
                    <a:cxnLst>
                      <a:cxn ang="0">
                        <a:pos x="0" y="85"/>
                      </a:cxn>
                      <a:cxn ang="0">
                        <a:pos x="85" y="0"/>
                      </a:cxn>
                      <a:cxn ang="0">
                        <a:pos x="1036" y="0"/>
                      </a:cxn>
                      <a:cxn ang="0">
                        <a:pos x="949" y="85"/>
                      </a:cxn>
                      <a:cxn ang="0">
                        <a:pos x="0" y="85"/>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US"/>
                  </a:p>
                </p:txBody>
              </p:sp>
              <p:sp>
                <p:nvSpPr>
                  <p:cNvPr id="126" name="Freeform 106"/>
                  <p:cNvSpPr>
                    <a:spLocks noChangeArrowheads="1"/>
                  </p:cNvSpPr>
                  <p:nvPr/>
                </p:nvSpPr>
                <p:spPr bwMode="auto">
                  <a:xfrm>
                    <a:off x="2094" y="1929"/>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US"/>
                  </a:p>
                </p:txBody>
              </p:sp>
            </p:grpSp>
          </p:grpSp>
          <p:sp>
            <p:nvSpPr>
              <p:cNvPr id="121" name="Freeform 107"/>
              <p:cNvSpPr>
                <a:spLocks noChangeArrowheads="1"/>
              </p:cNvSpPr>
              <p:nvPr/>
            </p:nvSpPr>
            <p:spPr bwMode="auto">
              <a:xfrm>
                <a:off x="1871" y="2033"/>
                <a:ext cx="158" cy="27"/>
              </a:xfrm>
              <a:custGeom>
                <a:avLst/>
                <a:gdLst/>
                <a:ahLst/>
                <a:cxnLst>
                  <a:cxn ang="0">
                    <a:pos x="173" y="0"/>
                  </a:cxn>
                  <a:cxn ang="0">
                    <a:pos x="697" y="0"/>
                  </a:cxn>
                  <a:cxn ang="0">
                    <a:pos x="522" y="119"/>
                  </a:cxn>
                  <a:cxn ang="0">
                    <a:pos x="0" y="119"/>
                  </a:cxn>
                  <a:cxn ang="0">
                    <a:pos x="173" y="0"/>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US"/>
              </a:p>
            </p:txBody>
          </p:sp>
        </p:grpSp>
        <p:grpSp>
          <p:nvGrpSpPr>
            <p:cNvPr id="101" name="Group 108"/>
            <p:cNvGrpSpPr>
              <a:grpSpLocks/>
            </p:cNvGrpSpPr>
            <p:nvPr/>
          </p:nvGrpSpPr>
          <p:grpSpPr bwMode="auto">
            <a:xfrm>
              <a:off x="2110" y="1929"/>
              <a:ext cx="379" cy="448"/>
              <a:chOff x="2110" y="1929"/>
              <a:chExt cx="379" cy="448"/>
            </a:xfrm>
          </p:grpSpPr>
          <p:grpSp>
            <p:nvGrpSpPr>
              <p:cNvPr id="109" name="Group 109"/>
              <p:cNvGrpSpPr>
                <a:grpSpLocks/>
              </p:cNvGrpSpPr>
              <p:nvPr/>
            </p:nvGrpSpPr>
            <p:grpSpPr bwMode="auto">
              <a:xfrm>
                <a:off x="2110" y="1929"/>
                <a:ext cx="379" cy="448"/>
                <a:chOff x="2110" y="1929"/>
                <a:chExt cx="379" cy="448"/>
              </a:xfrm>
            </p:grpSpPr>
            <p:grpSp>
              <p:nvGrpSpPr>
                <p:cNvPr id="112" name="Group 110"/>
                <p:cNvGrpSpPr>
                  <a:grpSpLocks/>
                </p:cNvGrpSpPr>
                <p:nvPr/>
              </p:nvGrpSpPr>
              <p:grpSpPr bwMode="auto">
                <a:xfrm>
                  <a:off x="2110" y="2000"/>
                  <a:ext cx="379" cy="377"/>
                  <a:chOff x="2110" y="2000"/>
                  <a:chExt cx="379" cy="377"/>
                </a:xfrm>
              </p:grpSpPr>
              <p:sp>
                <p:nvSpPr>
                  <p:cNvPr id="117" name="Freeform 111"/>
                  <p:cNvSpPr>
                    <a:spLocks noChangeArrowheads="1"/>
                  </p:cNvSpPr>
                  <p:nvPr/>
                </p:nvSpPr>
                <p:spPr bwMode="auto">
                  <a:xfrm>
                    <a:off x="2110" y="2000"/>
                    <a:ext cx="378" cy="377"/>
                  </a:xfrm>
                  <a:custGeom>
                    <a:avLst/>
                    <a:gdLst/>
                    <a:ahLst/>
                    <a:cxnLst>
                      <a:cxn ang="0">
                        <a:pos x="0" y="1663"/>
                      </a:cxn>
                      <a:cxn ang="0">
                        <a:pos x="0" y="414"/>
                      </a:cxn>
                      <a:cxn ang="0">
                        <a:pos x="414" y="0"/>
                      </a:cxn>
                      <a:cxn ang="0">
                        <a:pos x="1666" y="0"/>
                      </a:cxn>
                      <a:cxn ang="0">
                        <a:pos x="1666" y="1247"/>
                      </a:cxn>
                      <a:cxn ang="0">
                        <a:pos x="1250" y="1663"/>
                      </a:cxn>
                      <a:cxn ang="0">
                        <a:pos x="0" y="1663"/>
                      </a:cxn>
                    </a:cxnLst>
                    <a:rect l="0" t="0" r="r" b="b"/>
                    <a:pathLst>
                      <a:path w="1667" h="1664">
                        <a:moveTo>
                          <a:pt x="0" y="1663"/>
                        </a:moveTo>
                        <a:lnTo>
                          <a:pt x="0" y="414"/>
                        </a:lnTo>
                        <a:lnTo>
                          <a:pt x="414" y="0"/>
                        </a:lnTo>
                        <a:lnTo>
                          <a:pt x="1666" y="0"/>
                        </a:lnTo>
                        <a:lnTo>
                          <a:pt x="1666" y="1247"/>
                        </a:lnTo>
                        <a:lnTo>
                          <a:pt x="1250" y="1663"/>
                        </a:lnTo>
                        <a:lnTo>
                          <a:pt x="0" y="1663"/>
                        </a:lnTo>
                      </a:path>
                    </a:pathLst>
                  </a:custGeom>
                  <a:solidFill>
                    <a:srgbClr val="A2C1FE"/>
                  </a:solidFill>
                  <a:ln w="12600">
                    <a:solidFill>
                      <a:srgbClr val="000000"/>
                    </a:solidFill>
                    <a:round/>
                    <a:headEnd/>
                    <a:tailEnd/>
                  </a:ln>
                </p:spPr>
                <p:txBody>
                  <a:bodyPr wrap="none" anchor="ctr"/>
                  <a:lstStyle/>
                  <a:p>
                    <a:endParaRPr lang="en-US"/>
                  </a:p>
                </p:txBody>
              </p:sp>
              <p:sp>
                <p:nvSpPr>
                  <p:cNvPr id="118" name="Freeform 112"/>
                  <p:cNvSpPr>
                    <a:spLocks noChangeArrowheads="1"/>
                  </p:cNvSpPr>
                  <p:nvPr/>
                </p:nvSpPr>
                <p:spPr bwMode="auto">
                  <a:xfrm>
                    <a:off x="2110" y="2000"/>
                    <a:ext cx="378" cy="94"/>
                  </a:xfrm>
                  <a:custGeom>
                    <a:avLst/>
                    <a:gdLst/>
                    <a:ahLst/>
                    <a:cxnLst>
                      <a:cxn ang="0">
                        <a:pos x="0" y="414"/>
                      </a:cxn>
                      <a:cxn ang="0">
                        <a:pos x="414" y="0"/>
                      </a:cxn>
                      <a:cxn ang="0">
                        <a:pos x="1666" y="0"/>
                      </a:cxn>
                      <a:cxn ang="0">
                        <a:pos x="1250" y="414"/>
                      </a:cxn>
                      <a:cxn ang="0">
                        <a:pos x="0" y="414"/>
                      </a:cxn>
                    </a:cxnLst>
                    <a:rect l="0" t="0" r="r" b="b"/>
                    <a:pathLst>
                      <a:path w="1667" h="415">
                        <a:moveTo>
                          <a:pt x="0" y="414"/>
                        </a:moveTo>
                        <a:lnTo>
                          <a:pt x="414" y="0"/>
                        </a:lnTo>
                        <a:lnTo>
                          <a:pt x="1666" y="0"/>
                        </a:lnTo>
                        <a:lnTo>
                          <a:pt x="1250" y="414"/>
                        </a:lnTo>
                        <a:lnTo>
                          <a:pt x="0" y="414"/>
                        </a:lnTo>
                      </a:path>
                    </a:pathLst>
                  </a:custGeom>
                  <a:solidFill>
                    <a:srgbClr val="B1D3FF"/>
                  </a:solidFill>
                  <a:ln w="12600">
                    <a:solidFill>
                      <a:srgbClr val="000000"/>
                    </a:solidFill>
                    <a:round/>
                    <a:headEnd/>
                    <a:tailEnd/>
                  </a:ln>
                </p:spPr>
                <p:txBody>
                  <a:bodyPr wrap="none" anchor="ctr"/>
                  <a:lstStyle/>
                  <a:p>
                    <a:endParaRPr lang="en-US"/>
                  </a:p>
                </p:txBody>
              </p:sp>
              <p:sp>
                <p:nvSpPr>
                  <p:cNvPr id="119" name="Freeform 113"/>
                  <p:cNvSpPr>
                    <a:spLocks noChangeArrowheads="1"/>
                  </p:cNvSpPr>
                  <p:nvPr/>
                </p:nvSpPr>
                <p:spPr bwMode="auto">
                  <a:xfrm>
                    <a:off x="2394" y="2000"/>
                    <a:ext cx="95" cy="377"/>
                  </a:xfrm>
                  <a:custGeom>
                    <a:avLst/>
                    <a:gdLst/>
                    <a:ahLst/>
                    <a:cxnLst>
                      <a:cxn ang="0">
                        <a:pos x="0" y="1663"/>
                      </a:cxn>
                      <a:cxn ang="0">
                        <a:pos x="0" y="414"/>
                      </a:cxn>
                      <a:cxn ang="0">
                        <a:pos x="416" y="0"/>
                      </a:cxn>
                      <a:cxn ang="0">
                        <a:pos x="416" y="1247"/>
                      </a:cxn>
                      <a:cxn ang="0">
                        <a:pos x="0" y="1663"/>
                      </a:cxn>
                    </a:cxnLst>
                    <a:rect l="0" t="0" r="r" b="b"/>
                    <a:pathLst>
                      <a:path w="417" h="1664">
                        <a:moveTo>
                          <a:pt x="0" y="1663"/>
                        </a:moveTo>
                        <a:lnTo>
                          <a:pt x="0" y="414"/>
                        </a:lnTo>
                        <a:lnTo>
                          <a:pt x="416" y="0"/>
                        </a:lnTo>
                        <a:lnTo>
                          <a:pt x="416" y="1247"/>
                        </a:lnTo>
                        <a:lnTo>
                          <a:pt x="0" y="1663"/>
                        </a:lnTo>
                      </a:path>
                    </a:pathLst>
                  </a:custGeom>
                  <a:solidFill>
                    <a:srgbClr val="8BA5DA"/>
                  </a:solidFill>
                  <a:ln w="12600">
                    <a:solidFill>
                      <a:srgbClr val="000000"/>
                    </a:solidFill>
                    <a:round/>
                    <a:headEnd/>
                    <a:tailEnd/>
                  </a:ln>
                </p:spPr>
                <p:txBody>
                  <a:bodyPr wrap="none" anchor="ctr"/>
                  <a:lstStyle/>
                  <a:p>
                    <a:endParaRPr lang="en-US"/>
                  </a:p>
                </p:txBody>
              </p:sp>
            </p:grpSp>
            <p:grpSp>
              <p:nvGrpSpPr>
                <p:cNvPr id="113" name="Group 114"/>
                <p:cNvGrpSpPr>
                  <a:grpSpLocks/>
                </p:cNvGrpSpPr>
                <p:nvPr/>
              </p:nvGrpSpPr>
              <p:grpSpPr bwMode="auto">
                <a:xfrm>
                  <a:off x="2196" y="1929"/>
                  <a:ext cx="292" cy="78"/>
                  <a:chOff x="2196" y="1929"/>
                  <a:chExt cx="292" cy="78"/>
                </a:xfrm>
              </p:grpSpPr>
              <p:sp>
                <p:nvSpPr>
                  <p:cNvPr id="114" name="Freeform 115"/>
                  <p:cNvSpPr>
                    <a:spLocks noChangeArrowheads="1"/>
                  </p:cNvSpPr>
                  <p:nvPr/>
                </p:nvSpPr>
                <p:spPr bwMode="auto">
                  <a:xfrm>
                    <a:off x="2196" y="1929"/>
                    <a:ext cx="292" cy="78"/>
                  </a:xfrm>
                  <a:custGeom>
                    <a:avLst/>
                    <a:gdLst/>
                    <a:ahLst/>
                    <a:cxnLst>
                      <a:cxn ang="0">
                        <a:pos x="0" y="344"/>
                      </a:cxn>
                      <a:cxn ang="0">
                        <a:pos x="0" y="85"/>
                      </a:cxn>
                      <a:cxn ang="0">
                        <a:pos x="85" y="0"/>
                      </a:cxn>
                      <a:cxn ang="0">
                        <a:pos x="1287" y="0"/>
                      </a:cxn>
                      <a:cxn ang="0">
                        <a:pos x="1287" y="257"/>
                      </a:cxn>
                      <a:cxn ang="0">
                        <a:pos x="1200" y="344"/>
                      </a:cxn>
                      <a:cxn ang="0">
                        <a:pos x="0" y="344"/>
                      </a:cxn>
                    </a:cxnLst>
                    <a:rect l="0" t="0" r="r" b="b"/>
                    <a:pathLst>
                      <a:path w="1288" h="345">
                        <a:moveTo>
                          <a:pt x="0" y="344"/>
                        </a:moveTo>
                        <a:lnTo>
                          <a:pt x="0" y="85"/>
                        </a:lnTo>
                        <a:lnTo>
                          <a:pt x="85" y="0"/>
                        </a:lnTo>
                        <a:lnTo>
                          <a:pt x="1287" y="0"/>
                        </a:lnTo>
                        <a:lnTo>
                          <a:pt x="1287" y="257"/>
                        </a:lnTo>
                        <a:lnTo>
                          <a:pt x="1200" y="344"/>
                        </a:lnTo>
                        <a:lnTo>
                          <a:pt x="0" y="344"/>
                        </a:lnTo>
                      </a:path>
                    </a:pathLst>
                  </a:custGeom>
                  <a:solidFill>
                    <a:srgbClr val="A2C1FE"/>
                  </a:solidFill>
                  <a:ln w="12600">
                    <a:solidFill>
                      <a:srgbClr val="000000"/>
                    </a:solidFill>
                    <a:round/>
                    <a:headEnd/>
                    <a:tailEnd/>
                  </a:ln>
                </p:spPr>
                <p:txBody>
                  <a:bodyPr wrap="none" anchor="ctr"/>
                  <a:lstStyle/>
                  <a:p>
                    <a:endParaRPr lang="en-US"/>
                  </a:p>
                </p:txBody>
              </p:sp>
              <p:sp>
                <p:nvSpPr>
                  <p:cNvPr id="115" name="Freeform 116"/>
                  <p:cNvSpPr>
                    <a:spLocks noChangeArrowheads="1"/>
                  </p:cNvSpPr>
                  <p:nvPr/>
                </p:nvSpPr>
                <p:spPr bwMode="auto">
                  <a:xfrm>
                    <a:off x="2196" y="1929"/>
                    <a:ext cx="292" cy="20"/>
                  </a:xfrm>
                  <a:custGeom>
                    <a:avLst/>
                    <a:gdLst/>
                    <a:ahLst/>
                    <a:cxnLst>
                      <a:cxn ang="0">
                        <a:pos x="0" y="85"/>
                      </a:cxn>
                      <a:cxn ang="0">
                        <a:pos x="85" y="0"/>
                      </a:cxn>
                      <a:cxn ang="0">
                        <a:pos x="1287" y="0"/>
                      </a:cxn>
                      <a:cxn ang="0">
                        <a:pos x="1200" y="85"/>
                      </a:cxn>
                      <a:cxn ang="0">
                        <a:pos x="0" y="85"/>
                      </a:cxn>
                    </a:cxnLst>
                    <a:rect l="0" t="0" r="r" b="b"/>
                    <a:pathLst>
                      <a:path w="1288" h="86">
                        <a:moveTo>
                          <a:pt x="0" y="85"/>
                        </a:moveTo>
                        <a:lnTo>
                          <a:pt x="85" y="0"/>
                        </a:lnTo>
                        <a:lnTo>
                          <a:pt x="1287" y="0"/>
                        </a:lnTo>
                        <a:lnTo>
                          <a:pt x="1200" y="85"/>
                        </a:lnTo>
                        <a:lnTo>
                          <a:pt x="0" y="85"/>
                        </a:lnTo>
                      </a:path>
                    </a:pathLst>
                  </a:custGeom>
                  <a:solidFill>
                    <a:srgbClr val="B1D3FF"/>
                  </a:solidFill>
                  <a:ln w="12600">
                    <a:solidFill>
                      <a:srgbClr val="000000"/>
                    </a:solidFill>
                    <a:round/>
                    <a:headEnd/>
                    <a:tailEnd/>
                  </a:ln>
                </p:spPr>
                <p:txBody>
                  <a:bodyPr wrap="none" anchor="ctr"/>
                  <a:lstStyle/>
                  <a:p>
                    <a:endParaRPr lang="en-US"/>
                  </a:p>
                </p:txBody>
              </p:sp>
              <p:sp>
                <p:nvSpPr>
                  <p:cNvPr id="116" name="Freeform 117"/>
                  <p:cNvSpPr>
                    <a:spLocks noChangeArrowheads="1"/>
                  </p:cNvSpPr>
                  <p:nvPr/>
                </p:nvSpPr>
                <p:spPr bwMode="auto">
                  <a:xfrm>
                    <a:off x="2468" y="1929"/>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US"/>
                  </a:p>
                </p:txBody>
              </p:sp>
            </p:grpSp>
          </p:grpSp>
          <p:sp>
            <p:nvSpPr>
              <p:cNvPr id="110" name="Oval 118"/>
              <p:cNvSpPr>
                <a:spLocks noChangeArrowheads="1"/>
              </p:cNvSpPr>
              <p:nvPr/>
            </p:nvSpPr>
            <p:spPr bwMode="auto">
              <a:xfrm>
                <a:off x="2225" y="1965"/>
                <a:ext cx="49" cy="27"/>
              </a:xfrm>
              <a:prstGeom prst="ellipse">
                <a:avLst/>
              </a:prstGeom>
              <a:solidFill>
                <a:srgbClr val="FFFFFF"/>
              </a:solidFill>
              <a:ln w="12600">
                <a:solidFill>
                  <a:srgbClr val="000000"/>
                </a:solidFill>
                <a:round/>
                <a:headEnd/>
                <a:tailEnd/>
              </a:ln>
            </p:spPr>
            <p:txBody>
              <a:bodyPr wrap="none" anchor="ctr"/>
              <a:lstStyle/>
              <a:p>
                <a:endParaRPr lang="en-US"/>
              </a:p>
            </p:txBody>
          </p:sp>
          <p:sp>
            <p:nvSpPr>
              <p:cNvPr id="111" name="Freeform 119"/>
              <p:cNvSpPr>
                <a:spLocks noChangeArrowheads="1"/>
              </p:cNvSpPr>
              <p:nvPr/>
            </p:nvSpPr>
            <p:spPr bwMode="auto">
              <a:xfrm>
                <a:off x="2157" y="2175"/>
                <a:ext cx="198" cy="84"/>
              </a:xfrm>
              <a:custGeom>
                <a:avLst/>
                <a:gdLst/>
                <a:ahLst/>
                <a:cxnLst>
                  <a:cxn ang="0">
                    <a:pos x="107" y="0"/>
                  </a:cxn>
                  <a:cxn ang="0">
                    <a:pos x="763" y="0"/>
                  </a:cxn>
                  <a:cxn ang="0">
                    <a:pos x="872" y="108"/>
                  </a:cxn>
                  <a:cxn ang="0">
                    <a:pos x="872" y="262"/>
                  </a:cxn>
                  <a:cxn ang="0">
                    <a:pos x="763" y="370"/>
                  </a:cxn>
                  <a:cxn ang="0">
                    <a:pos x="107" y="370"/>
                  </a:cxn>
                  <a:cxn ang="0">
                    <a:pos x="0" y="262"/>
                  </a:cxn>
                  <a:cxn ang="0">
                    <a:pos x="0" y="108"/>
                  </a:cxn>
                  <a:cxn ang="0">
                    <a:pos x="107" y="0"/>
                  </a:cxn>
                </a:cxnLst>
                <a:rect l="0" t="0" r="r" b="b"/>
                <a:pathLst>
                  <a:path w="873" h="371">
                    <a:moveTo>
                      <a:pt x="107" y="0"/>
                    </a:moveTo>
                    <a:lnTo>
                      <a:pt x="763" y="0"/>
                    </a:lnTo>
                    <a:lnTo>
                      <a:pt x="872" y="108"/>
                    </a:lnTo>
                    <a:lnTo>
                      <a:pt x="872" y="262"/>
                    </a:lnTo>
                    <a:lnTo>
                      <a:pt x="763"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US"/>
              </a:p>
            </p:txBody>
          </p:sp>
        </p:grpSp>
        <p:sp>
          <p:nvSpPr>
            <p:cNvPr id="102" name="Freeform 120"/>
            <p:cNvSpPr>
              <a:spLocks noChangeArrowheads="1"/>
            </p:cNvSpPr>
            <p:nvPr/>
          </p:nvSpPr>
          <p:spPr bwMode="auto">
            <a:xfrm>
              <a:off x="2674" y="2158"/>
              <a:ext cx="85" cy="191"/>
            </a:xfrm>
            <a:custGeom>
              <a:avLst/>
              <a:gdLst/>
              <a:ahLst/>
              <a:cxnLst>
                <a:cxn ang="0">
                  <a:pos x="273" y="0"/>
                </a:cxn>
                <a:cxn ang="0">
                  <a:pos x="375" y="0"/>
                </a:cxn>
                <a:cxn ang="0">
                  <a:pos x="101" y="842"/>
                </a:cxn>
                <a:cxn ang="0">
                  <a:pos x="0" y="842"/>
                </a:cxn>
                <a:cxn ang="0">
                  <a:pos x="273" y="0"/>
                </a:cxn>
              </a:cxnLst>
              <a:rect l="0" t="0" r="r" b="b"/>
              <a:pathLst>
                <a:path w="376" h="843">
                  <a:moveTo>
                    <a:pt x="273" y="0"/>
                  </a:moveTo>
                  <a:lnTo>
                    <a:pt x="375" y="0"/>
                  </a:lnTo>
                  <a:lnTo>
                    <a:pt x="101" y="842"/>
                  </a:lnTo>
                  <a:lnTo>
                    <a:pt x="0" y="842"/>
                  </a:lnTo>
                  <a:lnTo>
                    <a:pt x="273" y="0"/>
                  </a:lnTo>
                </a:path>
              </a:pathLst>
            </a:custGeom>
            <a:solidFill>
              <a:srgbClr val="FC0128"/>
            </a:solidFill>
            <a:ln w="9525">
              <a:noFill/>
              <a:round/>
              <a:headEnd/>
              <a:tailEnd/>
            </a:ln>
          </p:spPr>
          <p:txBody>
            <a:bodyPr wrap="none" anchor="ctr"/>
            <a:lstStyle/>
            <a:p>
              <a:endParaRPr lang="en-US"/>
            </a:p>
          </p:txBody>
        </p:sp>
        <p:sp>
          <p:nvSpPr>
            <p:cNvPr id="103" name="AutoShape 121"/>
            <p:cNvSpPr>
              <a:spLocks noChangeArrowheads="1"/>
            </p:cNvSpPr>
            <p:nvPr/>
          </p:nvSpPr>
          <p:spPr bwMode="auto">
            <a:xfrm>
              <a:off x="2670" y="2158"/>
              <a:ext cx="106"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104" name="AutoShape 122"/>
            <p:cNvSpPr>
              <a:spLocks noChangeArrowheads="1"/>
            </p:cNvSpPr>
            <p:nvPr/>
          </p:nvSpPr>
          <p:spPr bwMode="auto">
            <a:xfrm>
              <a:off x="2677" y="2239"/>
              <a:ext cx="82"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105" name="AutoShape 123"/>
            <p:cNvSpPr>
              <a:spLocks noChangeArrowheads="1"/>
            </p:cNvSpPr>
            <p:nvPr/>
          </p:nvSpPr>
          <p:spPr bwMode="auto">
            <a:xfrm>
              <a:off x="2494" y="2239"/>
              <a:ext cx="103" cy="11"/>
            </a:xfrm>
            <a:prstGeom prst="roundRect">
              <a:avLst>
                <a:gd name="adj" fmla="val 10000"/>
              </a:avLst>
            </a:prstGeom>
            <a:solidFill>
              <a:srgbClr val="FC0128"/>
            </a:solidFill>
            <a:ln w="9525">
              <a:noFill/>
              <a:round/>
              <a:headEnd/>
              <a:tailEnd/>
            </a:ln>
          </p:spPr>
          <p:txBody>
            <a:bodyPr wrap="none" anchor="ctr"/>
            <a:lstStyle/>
            <a:p>
              <a:endParaRPr lang="en-US"/>
            </a:p>
          </p:txBody>
        </p:sp>
        <p:grpSp>
          <p:nvGrpSpPr>
            <p:cNvPr id="106" name="Group 124"/>
            <p:cNvGrpSpPr>
              <a:grpSpLocks/>
            </p:cNvGrpSpPr>
            <p:nvPr/>
          </p:nvGrpSpPr>
          <p:grpSpPr bwMode="auto">
            <a:xfrm>
              <a:off x="2492" y="1986"/>
              <a:ext cx="194" cy="364"/>
              <a:chOff x="2492" y="1986"/>
              <a:chExt cx="194" cy="364"/>
            </a:xfrm>
          </p:grpSpPr>
          <p:sp>
            <p:nvSpPr>
              <p:cNvPr id="107" name="Oval 125"/>
              <p:cNvSpPr>
                <a:spLocks noChangeArrowheads="1"/>
              </p:cNvSpPr>
              <p:nvPr/>
            </p:nvSpPr>
            <p:spPr bwMode="auto">
              <a:xfrm>
                <a:off x="2568" y="1986"/>
                <a:ext cx="49" cy="49"/>
              </a:xfrm>
              <a:prstGeom prst="ellipse">
                <a:avLst/>
              </a:prstGeom>
              <a:solidFill>
                <a:srgbClr val="FC0128"/>
              </a:solidFill>
              <a:ln w="12600">
                <a:solidFill>
                  <a:srgbClr val="000000"/>
                </a:solidFill>
                <a:round/>
                <a:headEnd/>
                <a:tailEnd/>
              </a:ln>
            </p:spPr>
            <p:txBody>
              <a:bodyPr wrap="none" anchor="ctr"/>
              <a:lstStyle/>
              <a:p>
                <a:endParaRPr lang="en-US"/>
              </a:p>
            </p:txBody>
          </p:sp>
          <p:sp>
            <p:nvSpPr>
              <p:cNvPr id="108" name="Freeform 126"/>
              <p:cNvSpPr>
                <a:spLocks noChangeArrowheads="1"/>
              </p:cNvSpPr>
              <p:nvPr/>
            </p:nvSpPr>
            <p:spPr bwMode="auto">
              <a:xfrm>
                <a:off x="2492" y="2054"/>
                <a:ext cx="194" cy="296"/>
              </a:xfrm>
              <a:custGeom>
                <a:avLst/>
                <a:gdLst/>
                <a:ahLst/>
                <a:cxnLst>
                  <a:cxn ang="0">
                    <a:pos x="8" y="605"/>
                  </a:cxn>
                  <a:cxn ang="0">
                    <a:pos x="4" y="618"/>
                  </a:cxn>
                  <a:cxn ang="0">
                    <a:pos x="0" y="640"/>
                  </a:cxn>
                  <a:cxn ang="0">
                    <a:pos x="0" y="662"/>
                  </a:cxn>
                  <a:cxn ang="0">
                    <a:pos x="8" y="684"/>
                  </a:cxn>
                  <a:cxn ang="0">
                    <a:pos x="17" y="703"/>
                  </a:cxn>
                  <a:cxn ang="0">
                    <a:pos x="35" y="721"/>
                  </a:cxn>
                  <a:cxn ang="0">
                    <a:pos x="53" y="730"/>
                  </a:cxn>
                  <a:cxn ang="0">
                    <a:pos x="70" y="734"/>
                  </a:cxn>
                  <a:cxn ang="0">
                    <a:pos x="92" y="734"/>
                  </a:cxn>
                  <a:cxn ang="0">
                    <a:pos x="559" y="1304"/>
                  </a:cxn>
                  <a:cxn ang="0">
                    <a:pos x="705" y="627"/>
                  </a:cxn>
                  <a:cxn ang="0">
                    <a:pos x="705" y="609"/>
                  </a:cxn>
                  <a:cxn ang="0">
                    <a:pos x="696" y="601"/>
                  </a:cxn>
                  <a:cxn ang="0">
                    <a:pos x="683" y="587"/>
                  </a:cxn>
                  <a:cxn ang="0">
                    <a:pos x="674" y="578"/>
                  </a:cxn>
                  <a:cxn ang="0">
                    <a:pos x="656" y="574"/>
                  </a:cxn>
                  <a:cxn ang="0">
                    <a:pos x="639" y="570"/>
                  </a:cxn>
                  <a:cxn ang="0">
                    <a:pos x="621" y="570"/>
                  </a:cxn>
                  <a:cxn ang="0">
                    <a:pos x="608" y="570"/>
                  </a:cxn>
                  <a:cxn ang="0">
                    <a:pos x="412" y="331"/>
                  </a:cxn>
                  <a:cxn ang="0">
                    <a:pos x="794" y="411"/>
                  </a:cxn>
                  <a:cxn ang="0">
                    <a:pos x="812" y="406"/>
                  </a:cxn>
                  <a:cxn ang="0">
                    <a:pos x="821" y="402"/>
                  </a:cxn>
                  <a:cxn ang="0">
                    <a:pos x="838" y="393"/>
                  </a:cxn>
                  <a:cxn ang="0">
                    <a:pos x="847" y="380"/>
                  </a:cxn>
                  <a:cxn ang="0">
                    <a:pos x="852" y="367"/>
                  </a:cxn>
                  <a:cxn ang="0">
                    <a:pos x="856" y="345"/>
                  </a:cxn>
                  <a:cxn ang="0">
                    <a:pos x="852" y="327"/>
                  </a:cxn>
                  <a:cxn ang="0">
                    <a:pos x="843" y="309"/>
                  </a:cxn>
                  <a:cxn ang="0">
                    <a:pos x="834" y="300"/>
                  </a:cxn>
                  <a:cxn ang="0">
                    <a:pos x="816" y="286"/>
                  </a:cxn>
                  <a:cxn ang="0">
                    <a:pos x="803" y="282"/>
                  </a:cxn>
                  <a:cxn ang="0">
                    <a:pos x="541" y="282"/>
                  </a:cxn>
                  <a:cxn ang="0">
                    <a:pos x="496" y="185"/>
                  </a:cxn>
                  <a:cxn ang="0">
                    <a:pos x="501" y="163"/>
                  </a:cxn>
                  <a:cxn ang="0">
                    <a:pos x="505" y="132"/>
                  </a:cxn>
                  <a:cxn ang="0">
                    <a:pos x="505" y="105"/>
                  </a:cxn>
                  <a:cxn ang="0">
                    <a:pos x="496" y="83"/>
                  </a:cxn>
                  <a:cxn ang="0">
                    <a:pos x="487" y="66"/>
                  </a:cxn>
                  <a:cxn ang="0">
                    <a:pos x="474" y="44"/>
                  </a:cxn>
                  <a:cxn ang="0">
                    <a:pos x="457" y="30"/>
                  </a:cxn>
                  <a:cxn ang="0">
                    <a:pos x="434" y="13"/>
                  </a:cxn>
                  <a:cxn ang="0">
                    <a:pos x="412" y="4"/>
                  </a:cxn>
                  <a:cxn ang="0">
                    <a:pos x="386" y="0"/>
                  </a:cxn>
                  <a:cxn ang="0">
                    <a:pos x="359" y="0"/>
                  </a:cxn>
                  <a:cxn ang="0">
                    <a:pos x="333" y="4"/>
                  </a:cxn>
                  <a:cxn ang="0">
                    <a:pos x="305" y="13"/>
                  </a:cxn>
                  <a:cxn ang="0">
                    <a:pos x="279" y="26"/>
                  </a:cxn>
                  <a:cxn ang="0">
                    <a:pos x="261" y="48"/>
                  </a:cxn>
                  <a:cxn ang="0">
                    <a:pos x="243" y="75"/>
                  </a:cxn>
                  <a:cxn ang="0">
                    <a:pos x="235" y="101"/>
                  </a:cxn>
                </a:cxnLst>
                <a:rect l="0" t="0" r="r" b="b"/>
                <a:pathLst>
                  <a:path w="857" h="1305">
                    <a:moveTo>
                      <a:pt x="235"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3" y="730"/>
                    </a:lnTo>
                    <a:lnTo>
                      <a:pt x="61" y="730"/>
                    </a:lnTo>
                    <a:lnTo>
                      <a:pt x="70" y="734"/>
                    </a:lnTo>
                    <a:lnTo>
                      <a:pt x="79" y="734"/>
                    </a:lnTo>
                    <a:lnTo>
                      <a:pt x="92" y="734"/>
                    </a:lnTo>
                    <a:lnTo>
                      <a:pt x="559" y="734"/>
                    </a:lnTo>
                    <a:lnTo>
                      <a:pt x="559" y="1304"/>
                    </a:lnTo>
                    <a:lnTo>
                      <a:pt x="705" y="1304"/>
                    </a:lnTo>
                    <a:lnTo>
                      <a:pt x="705" y="627"/>
                    </a:lnTo>
                    <a:lnTo>
                      <a:pt x="705" y="618"/>
                    </a:lnTo>
                    <a:lnTo>
                      <a:pt x="705" y="609"/>
                    </a:lnTo>
                    <a:lnTo>
                      <a:pt x="700" y="605"/>
                    </a:lnTo>
                    <a:lnTo>
                      <a:pt x="696" y="601"/>
                    </a:lnTo>
                    <a:lnTo>
                      <a:pt x="692" y="596"/>
                    </a:lnTo>
                    <a:lnTo>
                      <a:pt x="683" y="587"/>
                    </a:lnTo>
                    <a:lnTo>
                      <a:pt x="678" y="583"/>
                    </a:lnTo>
                    <a:lnTo>
                      <a:pt x="674" y="578"/>
                    </a:lnTo>
                    <a:lnTo>
                      <a:pt x="665" y="578"/>
                    </a:lnTo>
                    <a:lnTo>
                      <a:pt x="656" y="574"/>
                    </a:lnTo>
                    <a:lnTo>
                      <a:pt x="647" y="574"/>
                    </a:lnTo>
                    <a:lnTo>
                      <a:pt x="639" y="570"/>
                    </a:lnTo>
                    <a:lnTo>
                      <a:pt x="630" y="570"/>
                    </a:lnTo>
                    <a:lnTo>
                      <a:pt x="621" y="570"/>
                    </a:lnTo>
                    <a:lnTo>
                      <a:pt x="617" y="570"/>
                    </a:lnTo>
                    <a:lnTo>
                      <a:pt x="608" y="570"/>
                    </a:lnTo>
                    <a:lnTo>
                      <a:pt x="337" y="552"/>
                    </a:lnTo>
                    <a:lnTo>
                      <a:pt x="412" y="331"/>
                    </a:lnTo>
                    <a:lnTo>
                      <a:pt x="465" y="411"/>
                    </a:lnTo>
                    <a:lnTo>
                      <a:pt x="794" y="411"/>
                    </a:lnTo>
                    <a:lnTo>
                      <a:pt x="803" y="406"/>
                    </a:lnTo>
                    <a:lnTo>
                      <a:pt x="812" y="406"/>
                    </a:lnTo>
                    <a:lnTo>
                      <a:pt x="816" y="402"/>
                    </a:lnTo>
                    <a:lnTo>
                      <a:pt x="821" y="402"/>
                    </a:lnTo>
                    <a:lnTo>
                      <a:pt x="830" y="398"/>
                    </a:lnTo>
                    <a:lnTo>
                      <a:pt x="838" y="393"/>
                    </a:lnTo>
                    <a:lnTo>
                      <a:pt x="843" y="384"/>
                    </a:lnTo>
                    <a:lnTo>
                      <a:pt x="847" y="380"/>
                    </a:lnTo>
                    <a:lnTo>
                      <a:pt x="852" y="371"/>
                    </a:lnTo>
                    <a:lnTo>
                      <a:pt x="852" y="367"/>
                    </a:lnTo>
                    <a:lnTo>
                      <a:pt x="856" y="358"/>
                    </a:lnTo>
                    <a:lnTo>
                      <a:pt x="856" y="345"/>
                    </a:lnTo>
                    <a:lnTo>
                      <a:pt x="856" y="336"/>
                    </a:lnTo>
                    <a:lnTo>
                      <a:pt x="852" y="327"/>
                    </a:lnTo>
                    <a:lnTo>
                      <a:pt x="847" y="318"/>
                    </a:lnTo>
                    <a:lnTo>
                      <a:pt x="843" y="309"/>
                    </a:lnTo>
                    <a:lnTo>
                      <a:pt x="838" y="305"/>
                    </a:lnTo>
                    <a:lnTo>
                      <a:pt x="834" y="300"/>
                    </a:lnTo>
                    <a:lnTo>
                      <a:pt x="825" y="291"/>
                    </a:lnTo>
                    <a:lnTo>
                      <a:pt x="816" y="286"/>
                    </a:lnTo>
                    <a:lnTo>
                      <a:pt x="816" y="282"/>
                    </a:lnTo>
                    <a:lnTo>
                      <a:pt x="803" y="282"/>
                    </a:lnTo>
                    <a:lnTo>
                      <a:pt x="794" y="282"/>
                    </a:lnTo>
                    <a:lnTo>
                      <a:pt x="541" y="282"/>
                    </a:lnTo>
                    <a:lnTo>
                      <a:pt x="487" y="194"/>
                    </a:lnTo>
                    <a:lnTo>
                      <a:pt x="496" y="185"/>
                    </a:lnTo>
                    <a:lnTo>
                      <a:pt x="501" y="172"/>
                    </a:lnTo>
                    <a:lnTo>
                      <a:pt x="501" y="163"/>
                    </a:lnTo>
                    <a:lnTo>
                      <a:pt x="505" y="150"/>
                    </a:lnTo>
                    <a:lnTo>
                      <a:pt x="505" y="132"/>
                    </a:lnTo>
                    <a:lnTo>
                      <a:pt x="505" y="123"/>
                    </a:lnTo>
                    <a:lnTo>
                      <a:pt x="505" y="105"/>
                    </a:lnTo>
                    <a:lnTo>
                      <a:pt x="501" y="97"/>
                    </a:lnTo>
                    <a:lnTo>
                      <a:pt x="496" y="83"/>
                    </a:lnTo>
                    <a:lnTo>
                      <a:pt x="492" y="75"/>
                    </a:lnTo>
                    <a:lnTo>
                      <a:pt x="487" y="66"/>
                    </a:lnTo>
                    <a:lnTo>
                      <a:pt x="483" y="57"/>
                    </a:lnTo>
                    <a:lnTo>
                      <a:pt x="474" y="44"/>
                    </a:lnTo>
                    <a:lnTo>
                      <a:pt x="465" y="39"/>
                    </a:lnTo>
                    <a:lnTo>
                      <a:pt x="457" y="30"/>
                    </a:lnTo>
                    <a:lnTo>
                      <a:pt x="448" y="22"/>
                    </a:lnTo>
                    <a:lnTo>
                      <a:pt x="434" y="13"/>
                    </a:lnTo>
                    <a:lnTo>
                      <a:pt x="426" y="13"/>
                    </a:lnTo>
                    <a:lnTo>
                      <a:pt x="412" y="4"/>
                    </a:lnTo>
                    <a:lnTo>
                      <a:pt x="399" y="4"/>
                    </a:lnTo>
                    <a:lnTo>
                      <a:pt x="386" y="0"/>
                    </a:lnTo>
                    <a:lnTo>
                      <a:pt x="373" y="0"/>
                    </a:lnTo>
                    <a:lnTo>
                      <a:pt x="359" y="0"/>
                    </a:lnTo>
                    <a:lnTo>
                      <a:pt x="346" y="0"/>
                    </a:lnTo>
                    <a:lnTo>
                      <a:pt x="333" y="4"/>
                    </a:lnTo>
                    <a:lnTo>
                      <a:pt x="319" y="8"/>
                    </a:lnTo>
                    <a:lnTo>
                      <a:pt x="305" y="13"/>
                    </a:lnTo>
                    <a:lnTo>
                      <a:pt x="292" y="17"/>
                    </a:lnTo>
                    <a:lnTo>
                      <a:pt x="279" y="26"/>
                    </a:lnTo>
                    <a:lnTo>
                      <a:pt x="270" y="39"/>
                    </a:lnTo>
                    <a:lnTo>
                      <a:pt x="261" y="48"/>
                    </a:lnTo>
                    <a:lnTo>
                      <a:pt x="252" y="57"/>
                    </a:lnTo>
                    <a:lnTo>
                      <a:pt x="243" y="75"/>
                    </a:lnTo>
                    <a:lnTo>
                      <a:pt x="235" y="83"/>
                    </a:lnTo>
                    <a:lnTo>
                      <a:pt x="235" y="101"/>
                    </a:lnTo>
                  </a:path>
                </a:pathLst>
              </a:custGeom>
              <a:solidFill>
                <a:srgbClr val="FC0128"/>
              </a:solidFill>
              <a:ln w="9525">
                <a:noFill/>
                <a:round/>
                <a:headEnd/>
                <a:tailEnd/>
              </a:ln>
            </p:spPr>
            <p:txBody>
              <a:bodyPr wrap="none" anchor="ctr"/>
              <a:lstStyle/>
              <a:p>
                <a:endParaRPr lang="en-US"/>
              </a:p>
            </p:txBody>
          </p:sp>
        </p:grpSp>
      </p:grpSp>
      <p:grpSp>
        <p:nvGrpSpPr>
          <p:cNvPr id="130" name="Group 127"/>
          <p:cNvGrpSpPr>
            <a:grpSpLocks/>
          </p:cNvGrpSpPr>
          <p:nvPr/>
        </p:nvGrpSpPr>
        <p:grpSpPr bwMode="auto">
          <a:xfrm>
            <a:off x="4972050" y="4654550"/>
            <a:ext cx="1533525" cy="709612"/>
            <a:chOff x="2721" y="2377"/>
            <a:chExt cx="966" cy="447"/>
          </a:xfrm>
        </p:grpSpPr>
        <p:grpSp>
          <p:nvGrpSpPr>
            <p:cNvPr id="131" name="Group 128"/>
            <p:cNvGrpSpPr>
              <a:grpSpLocks/>
            </p:cNvGrpSpPr>
            <p:nvPr/>
          </p:nvGrpSpPr>
          <p:grpSpPr bwMode="auto">
            <a:xfrm>
              <a:off x="2721" y="2377"/>
              <a:ext cx="306" cy="448"/>
              <a:chOff x="2721" y="2377"/>
              <a:chExt cx="306" cy="448"/>
            </a:xfrm>
          </p:grpSpPr>
          <p:grpSp>
            <p:nvGrpSpPr>
              <p:cNvPr id="151" name="Group 129"/>
              <p:cNvGrpSpPr>
                <a:grpSpLocks/>
              </p:cNvGrpSpPr>
              <p:nvPr/>
            </p:nvGrpSpPr>
            <p:grpSpPr bwMode="auto">
              <a:xfrm>
                <a:off x="2721" y="2377"/>
                <a:ext cx="306" cy="448"/>
                <a:chOff x="2721" y="2377"/>
                <a:chExt cx="306" cy="448"/>
              </a:xfrm>
            </p:grpSpPr>
            <p:grpSp>
              <p:nvGrpSpPr>
                <p:cNvPr id="153" name="Group 130"/>
                <p:cNvGrpSpPr>
                  <a:grpSpLocks/>
                </p:cNvGrpSpPr>
                <p:nvPr/>
              </p:nvGrpSpPr>
              <p:grpSpPr bwMode="auto">
                <a:xfrm>
                  <a:off x="2721" y="2448"/>
                  <a:ext cx="306" cy="377"/>
                  <a:chOff x="2721" y="2448"/>
                  <a:chExt cx="306" cy="377"/>
                </a:xfrm>
              </p:grpSpPr>
              <p:sp>
                <p:nvSpPr>
                  <p:cNvPr id="158" name="Freeform 131"/>
                  <p:cNvSpPr>
                    <a:spLocks noChangeArrowheads="1"/>
                  </p:cNvSpPr>
                  <p:nvPr/>
                </p:nvSpPr>
                <p:spPr bwMode="auto">
                  <a:xfrm>
                    <a:off x="2721" y="2448"/>
                    <a:ext cx="305" cy="377"/>
                  </a:xfrm>
                  <a:custGeom>
                    <a:avLst/>
                    <a:gdLst/>
                    <a:ahLst/>
                    <a:cxnLst>
                      <a:cxn ang="0">
                        <a:pos x="0" y="1662"/>
                      </a:cxn>
                      <a:cxn ang="0">
                        <a:pos x="0" y="336"/>
                      </a:cxn>
                      <a:cxn ang="0">
                        <a:pos x="335" y="0"/>
                      </a:cxn>
                      <a:cxn ang="0">
                        <a:pos x="1345" y="0"/>
                      </a:cxn>
                      <a:cxn ang="0">
                        <a:pos x="1345" y="1326"/>
                      </a:cxn>
                      <a:cxn ang="0">
                        <a:pos x="1008" y="1662"/>
                      </a:cxn>
                      <a:cxn ang="0">
                        <a:pos x="0" y="1662"/>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US"/>
                  </a:p>
                </p:txBody>
              </p:sp>
              <p:sp>
                <p:nvSpPr>
                  <p:cNvPr id="159" name="Freeform 132"/>
                  <p:cNvSpPr>
                    <a:spLocks noChangeArrowheads="1"/>
                  </p:cNvSpPr>
                  <p:nvPr/>
                </p:nvSpPr>
                <p:spPr bwMode="auto">
                  <a:xfrm>
                    <a:off x="2721" y="2448"/>
                    <a:ext cx="305" cy="76"/>
                  </a:xfrm>
                  <a:custGeom>
                    <a:avLst/>
                    <a:gdLst/>
                    <a:ahLst/>
                    <a:cxnLst>
                      <a:cxn ang="0">
                        <a:pos x="0" y="336"/>
                      </a:cxn>
                      <a:cxn ang="0">
                        <a:pos x="335" y="0"/>
                      </a:cxn>
                      <a:cxn ang="0">
                        <a:pos x="1345" y="0"/>
                      </a:cxn>
                      <a:cxn ang="0">
                        <a:pos x="1008" y="336"/>
                      </a:cxn>
                      <a:cxn ang="0">
                        <a:pos x="0" y="336"/>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US"/>
                  </a:p>
                </p:txBody>
              </p:sp>
              <p:sp>
                <p:nvSpPr>
                  <p:cNvPr id="160" name="Freeform 133"/>
                  <p:cNvSpPr>
                    <a:spLocks noChangeArrowheads="1"/>
                  </p:cNvSpPr>
                  <p:nvPr/>
                </p:nvSpPr>
                <p:spPr bwMode="auto">
                  <a:xfrm>
                    <a:off x="2950" y="2448"/>
                    <a:ext cx="77" cy="377"/>
                  </a:xfrm>
                  <a:custGeom>
                    <a:avLst/>
                    <a:gdLst/>
                    <a:ahLst/>
                    <a:cxnLst>
                      <a:cxn ang="0">
                        <a:pos x="0" y="1662"/>
                      </a:cxn>
                      <a:cxn ang="0">
                        <a:pos x="0" y="336"/>
                      </a:cxn>
                      <a:cxn ang="0">
                        <a:pos x="337" y="0"/>
                      </a:cxn>
                      <a:cxn ang="0">
                        <a:pos x="337" y="1326"/>
                      </a:cxn>
                      <a:cxn ang="0">
                        <a:pos x="0" y="1662"/>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US"/>
                  </a:p>
                </p:txBody>
              </p:sp>
            </p:grpSp>
            <p:grpSp>
              <p:nvGrpSpPr>
                <p:cNvPr id="154" name="Group 134"/>
                <p:cNvGrpSpPr>
                  <a:grpSpLocks/>
                </p:cNvGrpSpPr>
                <p:nvPr/>
              </p:nvGrpSpPr>
              <p:grpSpPr bwMode="auto">
                <a:xfrm>
                  <a:off x="2791" y="2377"/>
                  <a:ext cx="236" cy="78"/>
                  <a:chOff x="2791" y="2377"/>
                  <a:chExt cx="236" cy="78"/>
                </a:xfrm>
              </p:grpSpPr>
              <p:sp>
                <p:nvSpPr>
                  <p:cNvPr id="155" name="Freeform 135"/>
                  <p:cNvSpPr>
                    <a:spLocks noChangeArrowheads="1"/>
                  </p:cNvSpPr>
                  <p:nvPr/>
                </p:nvSpPr>
                <p:spPr bwMode="auto">
                  <a:xfrm>
                    <a:off x="2791" y="2377"/>
                    <a:ext cx="235" cy="78"/>
                  </a:xfrm>
                  <a:custGeom>
                    <a:avLst/>
                    <a:gdLst/>
                    <a:ahLst/>
                    <a:cxnLst>
                      <a:cxn ang="0">
                        <a:pos x="0" y="343"/>
                      </a:cxn>
                      <a:cxn ang="0">
                        <a:pos x="0" y="84"/>
                      </a:cxn>
                      <a:cxn ang="0">
                        <a:pos x="84" y="0"/>
                      </a:cxn>
                      <a:cxn ang="0">
                        <a:pos x="1036" y="0"/>
                      </a:cxn>
                      <a:cxn ang="0">
                        <a:pos x="1036" y="257"/>
                      </a:cxn>
                      <a:cxn ang="0">
                        <a:pos x="950" y="343"/>
                      </a:cxn>
                      <a:cxn ang="0">
                        <a:pos x="0" y="343"/>
                      </a:cxn>
                    </a:cxnLst>
                    <a:rect l="0" t="0" r="r" b="b"/>
                    <a:pathLst>
                      <a:path w="1037" h="344">
                        <a:moveTo>
                          <a:pt x="0" y="343"/>
                        </a:moveTo>
                        <a:lnTo>
                          <a:pt x="0" y="84"/>
                        </a:lnTo>
                        <a:lnTo>
                          <a:pt x="84" y="0"/>
                        </a:lnTo>
                        <a:lnTo>
                          <a:pt x="1036" y="0"/>
                        </a:lnTo>
                        <a:lnTo>
                          <a:pt x="1036" y="257"/>
                        </a:lnTo>
                        <a:lnTo>
                          <a:pt x="950" y="343"/>
                        </a:lnTo>
                        <a:lnTo>
                          <a:pt x="0" y="343"/>
                        </a:lnTo>
                      </a:path>
                    </a:pathLst>
                  </a:custGeom>
                  <a:solidFill>
                    <a:srgbClr val="F6BF69"/>
                  </a:solidFill>
                  <a:ln w="12600">
                    <a:solidFill>
                      <a:srgbClr val="000000"/>
                    </a:solidFill>
                    <a:round/>
                    <a:headEnd/>
                    <a:tailEnd/>
                  </a:ln>
                </p:spPr>
                <p:txBody>
                  <a:bodyPr wrap="none" anchor="ctr"/>
                  <a:lstStyle/>
                  <a:p>
                    <a:endParaRPr lang="en-US"/>
                  </a:p>
                </p:txBody>
              </p:sp>
              <p:sp>
                <p:nvSpPr>
                  <p:cNvPr id="156" name="Freeform 136"/>
                  <p:cNvSpPr>
                    <a:spLocks noChangeArrowheads="1"/>
                  </p:cNvSpPr>
                  <p:nvPr/>
                </p:nvSpPr>
                <p:spPr bwMode="auto">
                  <a:xfrm>
                    <a:off x="2791" y="2377"/>
                    <a:ext cx="235" cy="19"/>
                  </a:xfrm>
                  <a:custGeom>
                    <a:avLst/>
                    <a:gdLst/>
                    <a:ahLst/>
                    <a:cxnLst>
                      <a:cxn ang="0">
                        <a:pos x="0" y="84"/>
                      </a:cxn>
                      <a:cxn ang="0">
                        <a:pos x="84" y="0"/>
                      </a:cxn>
                      <a:cxn ang="0">
                        <a:pos x="1036" y="0"/>
                      </a:cxn>
                      <a:cxn ang="0">
                        <a:pos x="950" y="84"/>
                      </a:cxn>
                      <a:cxn ang="0">
                        <a:pos x="0" y="84"/>
                      </a:cxn>
                    </a:cxnLst>
                    <a:rect l="0" t="0" r="r" b="b"/>
                    <a:pathLst>
                      <a:path w="1037" h="85">
                        <a:moveTo>
                          <a:pt x="0" y="84"/>
                        </a:moveTo>
                        <a:lnTo>
                          <a:pt x="84" y="0"/>
                        </a:lnTo>
                        <a:lnTo>
                          <a:pt x="1036" y="0"/>
                        </a:lnTo>
                        <a:lnTo>
                          <a:pt x="950" y="84"/>
                        </a:lnTo>
                        <a:lnTo>
                          <a:pt x="0" y="84"/>
                        </a:lnTo>
                      </a:path>
                    </a:pathLst>
                  </a:custGeom>
                  <a:solidFill>
                    <a:srgbClr val="FFD072"/>
                  </a:solidFill>
                  <a:ln w="12600">
                    <a:solidFill>
                      <a:srgbClr val="000000"/>
                    </a:solidFill>
                    <a:round/>
                    <a:headEnd/>
                    <a:tailEnd/>
                  </a:ln>
                </p:spPr>
                <p:txBody>
                  <a:bodyPr wrap="none" anchor="ctr"/>
                  <a:lstStyle/>
                  <a:p>
                    <a:endParaRPr lang="en-US"/>
                  </a:p>
                </p:txBody>
              </p:sp>
              <p:sp>
                <p:nvSpPr>
                  <p:cNvPr id="157" name="Freeform 137"/>
                  <p:cNvSpPr>
                    <a:spLocks noChangeArrowheads="1"/>
                  </p:cNvSpPr>
                  <p:nvPr/>
                </p:nvSpPr>
                <p:spPr bwMode="auto">
                  <a:xfrm>
                    <a:off x="3007" y="2377"/>
                    <a:ext cx="20" cy="78"/>
                  </a:xfrm>
                  <a:custGeom>
                    <a:avLst/>
                    <a:gdLst/>
                    <a:ahLst/>
                    <a:cxnLst>
                      <a:cxn ang="0">
                        <a:pos x="0" y="343"/>
                      </a:cxn>
                      <a:cxn ang="0">
                        <a:pos x="0" y="84"/>
                      </a:cxn>
                      <a:cxn ang="0">
                        <a:pos x="86" y="0"/>
                      </a:cxn>
                      <a:cxn ang="0">
                        <a:pos x="86" y="257"/>
                      </a:cxn>
                      <a:cxn ang="0">
                        <a:pos x="0" y="343"/>
                      </a:cxn>
                    </a:cxnLst>
                    <a:rect l="0" t="0" r="r" b="b"/>
                    <a:pathLst>
                      <a:path w="87" h="344">
                        <a:moveTo>
                          <a:pt x="0" y="343"/>
                        </a:moveTo>
                        <a:lnTo>
                          <a:pt x="0" y="84"/>
                        </a:lnTo>
                        <a:lnTo>
                          <a:pt x="86" y="0"/>
                        </a:lnTo>
                        <a:lnTo>
                          <a:pt x="86" y="257"/>
                        </a:lnTo>
                        <a:lnTo>
                          <a:pt x="0" y="343"/>
                        </a:lnTo>
                      </a:path>
                    </a:pathLst>
                  </a:custGeom>
                  <a:solidFill>
                    <a:srgbClr val="D3A45A"/>
                  </a:solidFill>
                  <a:ln w="12600">
                    <a:solidFill>
                      <a:srgbClr val="000000"/>
                    </a:solidFill>
                    <a:round/>
                    <a:headEnd/>
                    <a:tailEnd/>
                  </a:ln>
                </p:spPr>
                <p:txBody>
                  <a:bodyPr wrap="none" anchor="ctr"/>
                  <a:lstStyle/>
                  <a:p>
                    <a:endParaRPr lang="en-US"/>
                  </a:p>
                </p:txBody>
              </p:sp>
            </p:grpSp>
          </p:grpSp>
          <p:sp>
            <p:nvSpPr>
              <p:cNvPr id="152" name="Freeform 138"/>
              <p:cNvSpPr>
                <a:spLocks noChangeArrowheads="1"/>
              </p:cNvSpPr>
              <p:nvPr/>
            </p:nvSpPr>
            <p:spPr bwMode="auto">
              <a:xfrm>
                <a:off x="2783" y="2481"/>
                <a:ext cx="158" cy="27"/>
              </a:xfrm>
              <a:custGeom>
                <a:avLst/>
                <a:gdLst/>
                <a:ahLst/>
                <a:cxnLst>
                  <a:cxn ang="0">
                    <a:pos x="174" y="0"/>
                  </a:cxn>
                  <a:cxn ang="0">
                    <a:pos x="696" y="0"/>
                  </a:cxn>
                  <a:cxn ang="0">
                    <a:pos x="522" y="119"/>
                  </a:cxn>
                  <a:cxn ang="0">
                    <a:pos x="0" y="119"/>
                  </a:cxn>
                  <a:cxn ang="0">
                    <a:pos x="174" y="0"/>
                  </a:cxn>
                </a:cxnLst>
                <a:rect l="0" t="0" r="r" b="b"/>
                <a:pathLst>
                  <a:path w="697" h="120">
                    <a:moveTo>
                      <a:pt x="174" y="0"/>
                    </a:moveTo>
                    <a:lnTo>
                      <a:pt x="696" y="0"/>
                    </a:lnTo>
                    <a:lnTo>
                      <a:pt x="522" y="119"/>
                    </a:lnTo>
                    <a:lnTo>
                      <a:pt x="0" y="119"/>
                    </a:lnTo>
                    <a:lnTo>
                      <a:pt x="174" y="0"/>
                    </a:lnTo>
                  </a:path>
                </a:pathLst>
              </a:custGeom>
              <a:solidFill>
                <a:srgbClr val="F6BF69"/>
              </a:solidFill>
              <a:ln w="25560">
                <a:solidFill>
                  <a:srgbClr val="000000"/>
                </a:solidFill>
                <a:round/>
                <a:headEnd/>
                <a:tailEnd/>
              </a:ln>
            </p:spPr>
            <p:txBody>
              <a:bodyPr wrap="none" anchor="ctr"/>
              <a:lstStyle/>
              <a:p>
                <a:endParaRPr lang="en-US"/>
              </a:p>
            </p:txBody>
          </p:sp>
        </p:grpSp>
        <p:grpSp>
          <p:nvGrpSpPr>
            <p:cNvPr id="132" name="Group 139"/>
            <p:cNvGrpSpPr>
              <a:grpSpLocks/>
            </p:cNvGrpSpPr>
            <p:nvPr/>
          </p:nvGrpSpPr>
          <p:grpSpPr bwMode="auto">
            <a:xfrm>
              <a:off x="3022" y="2377"/>
              <a:ext cx="379" cy="448"/>
              <a:chOff x="3022" y="2377"/>
              <a:chExt cx="379" cy="448"/>
            </a:xfrm>
          </p:grpSpPr>
          <p:grpSp>
            <p:nvGrpSpPr>
              <p:cNvPr id="140" name="Group 140"/>
              <p:cNvGrpSpPr>
                <a:grpSpLocks/>
              </p:cNvGrpSpPr>
              <p:nvPr/>
            </p:nvGrpSpPr>
            <p:grpSpPr bwMode="auto">
              <a:xfrm>
                <a:off x="3022" y="2377"/>
                <a:ext cx="379" cy="448"/>
                <a:chOff x="3022" y="2377"/>
                <a:chExt cx="379" cy="448"/>
              </a:xfrm>
            </p:grpSpPr>
            <p:grpSp>
              <p:nvGrpSpPr>
                <p:cNvPr id="143" name="Group 141"/>
                <p:cNvGrpSpPr>
                  <a:grpSpLocks/>
                </p:cNvGrpSpPr>
                <p:nvPr/>
              </p:nvGrpSpPr>
              <p:grpSpPr bwMode="auto">
                <a:xfrm>
                  <a:off x="3022" y="2448"/>
                  <a:ext cx="379" cy="377"/>
                  <a:chOff x="3022" y="2448"/>
                  <a:chExt cx="379" cy="377"/>
                </a:xfrm>
              </p:grpSpPr>
              <p:sp>
                <p:nvSpPr>
                  <p:cNvPr id="148" name="Freeform 142"/>
                  <p:cNvSpPr>
                    <a:spLocks noChangeArrowheads="1"/>
                  </p:cNvSpPr>
                  <p:nvPr/>
                </p:nvSpPr>
                <p:spPr bwMode="auto">
                  <a:xfrm>
                    <a:off x="3022" y="2448"/>
                    <a:ext cx="378" cy="377"/>
                  </a:xfrm>
                  <a:custGeom>
                    <a:avLst/>
                    <a:gdLst/>
                    <a:ahLst/>
                    <a:cxnLst>
                      <a:cxn ang="0">
                        <a:pos x="0" y="1662"/>
                      </a:cxn>
                      <a:cxn ang="0">
                        <a:pos x="0" y="415"/>
                      </a:cxn>
                      <a:cxn ang="0">
                        <a:pos x="414" y="0"/>
                      </a:cxn>
                      <a:cxn ang="0">
                        <a:pos x="1667" y="0"/>
                      </a:cxn>
                      <a:cxn ang="0">
                        <a:pos x="1667" y="1247"/>
                      </a:cxn>
                      <a:cxn ang="0">
                        <a:pos x="1251" y="1662"/>
                      </a:cxn>
                      <a:cxn ang="0">
                        <a:pos x="0" y="1662"/>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US"/>
                  </a:p>
                </p:txBody>
              </p:sp>
              <p:sp>
                <p:nvSpPr>
                  <p:cNvPr id="149" name="Freeform 143"/>
                  <p:cNvSpPr>
                    <a:spLocks noChangeArrowheads="1"/>
                  </p:cNvSpPr>
                  <p:nvPr/>
                </p:nvSpPr>
                <p:spPr bwMode="auto">
                  <a:xfrm>
                    <a:off x="3022" y="2448"/>
                    <a:ext cx="378" cy="94"/>
                  </a:xfrm>
                  <a:custGeom>
                    <a:avLst/>
                    <a:gdLst/>
                    <a:ahLst/>
                    <a:cxnLst>
                      <a:cxn ang="0">
                        <a:pos x="0" y="415"/>
                      </a:cxn>
                      <a:cxn ang="0">
                        <a:pos x="414" y="0"/>
                      </a:cxn>
                      <a:cxn ang="0">
                        <a:pos x="1667" y="0"/>
                      </a:cxn>
                      <a:cxn ang="0">
                        <a:pos x="1251" y="415"/>
                      </a:cxn>
                      <a:cxn ang="0">
                        <a:pos x="0" y="415"/>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US"/>
                  </a:p>
                </p:txBody>
              </p:sp>
              <p:sp>
                <p:nvSpPr>
                  <p:cNvPr id="150" name="Freeform 144"/>
                  <p:cNvSpPr>
                    <a:spLocks noChangeArrowheads="1"/>
                  </p:cNvSpPr>
                  <p:nvPr/>
                </p:nvSpPr>
                <p:spPr bwMode="auto">
                  <a:xfrm>
                    <a:off x="3306" y="2448"/>
                    <a:ext cx="95" cy="377"/>
                  </a:xfrm>
                  <a:custGeom>
                    <a:avLst/>
                    <a:gdLst/>
                    <a:ahLst/>
                    <a:cxnLst>
                      <a:cxn ang="0">
                        <a:pos x="0" y="1662"/>
                      </a:cxn>
                      <a:cxn ang="0">
                        <a:pos x="0" y="415"/>
                      </a:cxn>
                      <a:cxn ang="0">
                        <a:pos x="416" y="0"/>
                      </a:cxn>
                      <a:cxn ang="0">
                        <a:pos x="416" y="1247"/>
                      </a:cxn>
                      <a:cxn ang="0">
                        <a:pos x="0" y="1662"/>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US"/>
                  </a:p>
                </p:txBody>
              </p:sp>
            </p:grpSp>
            <p:grpSp>
              <p:nvGrpSpPr>
                <p:cNvPr id="144" name="Group 145"/>
                <p:cNvGrpSpPr>
                  <a:grpSpLocks/>
                </p:cNvGrpSpPr>
                <p:nvPr/>
              </p:nvGrpSpPr>
              <p:grpSpPr bwMode="auto">
                <a:xfrm>
                  <a:off x="3108" y="2377"/>
                  <a:ext cx="292" cy="78"/>
                  <a:chOff x="3108" y="2377"/>
                  <a:chExt cx="292" cy="78"/>
                </a:xfrm>
              </p:grpSpPr>
              <p:sp>
                <p:nvSpPr>
                  <p:cNvPr id="145" name="Freeform 146"/>
                  <p:cNvSpPr>
                    <a:spLocks noChangeArrowheads="1"/>
                  </p:cNvSpPr>
                  <p:nvPr/>
                </p:nvSpPr>
                <p:spPr bwMode="auto">
                  <a:xfrm>
                    <a:off x="3108" y="2377"/>
                    <a:ext cx="292" cy="78"/>
                  </a:xfrm>
                  <a:custGeom>
                    <a:avLst/>
                    <a:gdLst/>
                    <a:ahLst/>
                    <a:cxnLst>
                      <a:cxn ang="0">
                        <a:pos x="0" y="343"/>
                      </a:cxn>
                      <a:cxn ang="0">
                        <a:pos x="0" y="84"/>
                      </a:cxn>
                      <a:cxn ang="0">
                        <a:pos x="84" y="0"/>
                      </a:cxn>
                      <a:cxn ang="0">
                        <a:pos x="1287" y="0"/>
                      </a:cxn>
                      <a:cxn ang="0">
                        <a:pos x="1287" y="257"/>
                      </a:cxn>
                      <a:cxn ang="0">
                        <a:pos x="1201" y="343"/>
                      </a:cxn>
                      <a:cxn ang="0">
                        <a:pos x="0" y="343"/>
                      </a:cxn>
                    </a:cxnLst>
                    <a:rect l="0" t="0" r="r" b="b"/>
                    <a:pathLst>
                      <a:path w="1288" h="344">
                        <a:moveTo>
                          <a:pt x="0" y="343"/>
                        </a:moveTo>
                        <a:lnTo>
                          <a:pt x="0" y="84"/>
                        </a:lnTo>
                        <a:lnTo>
                          <a:pt x="84" y="0"/>
                        </a:lnTo>
                        <a:lnTo>
                          <a:pt x="1287" y="0"/>
                        </a:lnTo>
                        <a:lnTo>
                          <a:pt x="1287" y="257"/>
                        </a:lnTo>
                        <a:lnTo>
                          <a:pt x="1201" y="343"/>
                        </a:lnTo>
                        <a:lnTo>
                          <a:pt x="0" y="343"/>
                        </a:lnTo>
                      </a:path>
                    </a:pathLst>
                  </a:custGeom>
                  <a:solidFill>
                    <a:srgbClr val="A2C1FE"/>
                  </a:solidFill>
                  <a:ln w="12600">
                    <a:solidFill>
                      <a:srgbClr val="000000"/>
                    </a:solidFill>
                    <a:round/>
                    <a:headEnd/>
                    <a:tailEnd/>
                  </a:ln>
                </p:spPr>
                <p:txBody>
                  <a:bodyPr wrap="none" anchor="ctr"/>
                  <a:lstStyle/>
                  <a:p>
                    <a:endParaRPr lang="en-US"/>
                  </a:p>
                </p:txBody>
              </p:sp>
              <p:sp>
                <p:nvSpPr>
                  <p:cNvPr id="146" name="Freeform 147"/>
                  <p:cNvSpPr>
                    <a:spLocks noChangeArrowheads="1"/>
                  </p:cNvSpPr>
                  <p:nvPr/>
                </p:nvSpPr>
                <p:spPr bwMode="auto">
                  <a:xfrm>
                    <a:off x="3108" y="2377"/>
                    <a:ext cx="292" cy="19"/>
                  </a:xfrm>
                  <a:custGeom>
                    <a:avLst/>
                    <a:gdLst/>
                    <a:ahLst/>
                    <a:cxnLst>
                      <a:cxn ang="0">
                        <a:pos x="0" y="84"/>
                      </a:cxn>
                      <a:cxn ang="0">
                        <a:pos x="84" y="0"/>
                      </a:cxn>
                      <a:cxn ang="0">
                        <a:pos x="1287" y="0"/>
                      </a:cxn>
                      <a:cxn ang="0">
                        <a:pos x="1201" y="84"/>
                      </a:cxn>
                      <a:cxn ang="0">
                        <a:pos x="0" y="84"/>
                      </a:cxn>
                    </a:cxnLst>
                    <a:rect l="0" t="0" r="r" b="b"/>
                    <a:pathLst>
                      <a:path w="1288" h="85">
                        <a:moveTo>
                          <a:pt x="0" y="84"/>
                        </a:moveTo>
                        <a:lnTo>
                          <a:pt x="84" y="0"/>
                        </a:lnTo>
                        <a:lnTo>
                          <a:pt x="1287" y="0"/>
                        </a:lnTo>
                        <a:lnTo>
                          <a:pt x="1201" y="84"/>
                        </a:lnTo>
                        <a:lnTo>
                          <a:pt x="0" y="84"/>
                        </a:lnTo>
                      </a:path>
                    </a:pathLst>
                  </a:custGeom>
                  <a:solidFill>
                    <a:srgbClr val="B1D3FF"/>
                  </a:solidFill>
                  <a:ln w="12600">
                    <a:solidFill>
                      <a:srgbClr val="000000"/>
                    </a:solidFill>
                    <a:round/>
                    <a:headEnd/>
                    <a:tailEnd/>
                  </a:ln>
                </p:spPr>
                <p:txBody>
                  <a:bodyPr wrap="none" anchor="ctr"/>
                  <a:lstStyle/>
                  <a:p>
                    <a:endParaRPr lang="en-US"/>
                  </a:p>
                </p:txBody>
              </p:sp>
              <p:sp>
                <p:nvSpPr>
                  <p:cNvPr id="147" name="Freeform 148"/>
                  <p:cNvSpPr>
                    <a:spLocks noChangeArrowheads="1"/>
                  </p:cNvSpPr>
                  <p:nvPr/>
                </p:nvSpPr>
                <p:spPr bwMode="auto">
                  <a:xfrm>
                    <a:off x="3380" y="2377"/>
                    <a:ext cx="20" cy="78"/>
                  </a:xfrm>
                  <a:custGeom>
                    <a:avLst/>
                    <a:gdLst/>
                    <a:ahLst/>
                    <a:cxnLst>
                      <a:cxn ang="0">
                        <a:pos x="0" y="343"/>
                      </a:cxn>
                      <a:cxn ang="0">
                        <a:pos x="0" y="84"/>
                      </a:cxn>
                      <a:cxn ang="0">
                        <a:pos x="86" y="0"/>
                      </a:cxn>
                      <a:cxn ang="0">
                        <a:pos x="86" y="257"/>
                      </a:cxn>
                      <a:cxn ang="0">
                        <a:pos x="0" y="343"/>
                      </a:cxn>
                    </a:cxnLst>
                    <a:rect l="0" t="0" r="r" b="b"/>
                    <a:pathLst>
                      <a:path w="87" h="344">
                        <a:moveTo>
                          <a:pt x="0" y="343"/>
                        </a:moveTo>
                        <a:lnTo>
                          <a:pt x="0" y="84"/>
                        </a:lnTo>
                        <a:lnTo>
                          <a:pt x="86" y="0"/>
                        </a:lnTo>
                        <a:lnTo>
                          <a:pt x="86" y="257"/>
                        </a:lnTo>
                        <a:lnTo>
                          <a:pt x="0" y="343"/>
                        </a:lnTo>
                      </a:path>
                    </a:pathLst>
                  </a:custGeom>
                  <a:solidFill>
                    <a:srgbClr val="8BA5DA"/>
                  </a:solidFill>
                  <a:ln w="12600">
                    <a:solidFill>
                      <a:srgbClr val="000000"/>
                    </a:solidFill>
                    <a:round/>
                    <a:headEnd/>
                    <a:tailEnd/>
                  </a:ln>
                </p:spPr>
                <p:txBody>
                  <a:bodyPr wrap="none" anchor="ctr"/>
                  <a:lstStyle/>
                  <a:p>
                    <a:endParaRPr lang="en-US"/>
                  </a:p>
                </p:txBody>
              </p:sp>
            </p:grpSp>
          </p:grpSp>
          <p:sp>
            <p:nvSpPr>
              <p:cNvPr id="141" name="Oval 149"/>
              <p:cNvSpPr>
                <a:spLocks noChangeArrowheads="1"/>
              </p:cNvSpPr>
              <p:nvPr/>
            </p:nvSpPr>
            <p:spPr bwMode="auto">
              <a:xfrm>
                <a:off x="3137" y="2413"/>
                <a:ext cx="49" cy="27"/>
              </a:xfrm>
              <a:prstGeom prst="ellipse">
                <a:avLst/>
              </a:prstGeom>
              <a:solidFill>
                <a:srgbClr val="FFFFFF"/>
              </a:solidFill>
              <a:ln w="12600">
                <a:solidFill>
                  <a:srgbClr val="000000"/>
                </a:solidFill>
                <a:round/>
                <a:headEnd/>
                <a:tailEnd/>
              </a:ln>
            </p:spPr>
            <p:txBody>
              <a:bodyPr wrap="none" anchor="ctr"/>
              <a:lstStyle/>
              <a:p>
                <a:endParaRPr lang="en-US"/>
              </a:p>
            </p:txBody>
          </p:sp>
          <p:sp>
            <p:nvSpPr>
              <p:cNvPr id="142" name="Freeform 150"/>
              <p:cNvSpPr>
                <a:spLocks noChangeArrowheads="1"/>
              </p:cNvSpPr>
              <p:nvPr/>
            </p:nvSpPr>
            <p:spPr bwMode="auto">
              <a:xfrm>
                <a:off x="3069" y="2623"/>
                <a:ext cx="198" cy="84"/>
              </a:xfrm>
              <a:custGeom>
                <a:avLst/>
                <a:gdLst/>
                <a:ahLst/>
                <a:cxnLst>
                  <a:cxn ang="0">
                    <a:pos x="107" y="0"/>
                  </a:cxn>
                  <a:cxn ang="0">
                    <a:pos x="764" y="0"/>
                  </a:cxn>
                  <a:cxn ang="0">
                    <a:pos x="873" y="107"/>
                  </a:cxn>
                  <a:cxn ang="0">
                    <a:pos x="873" y="262"/>
                  </a:cxn>
                  <a:cxn ang="0">
                    <a:pos x="764" y="371"/>
                  </a:cxn>
                  <a:cxn ang="0">
                    <a:pos x="107" y="371"/>
                  </a:cxn>
                  <a:cxn ang="0">
                    <a:pos x="0" y="262"/>
                  </a:cxn>
                  <a:cxn ang="0">
                    <a:pos x="0" y="107"/>
                  </a:cxn>
                  <a:cxn ang="0">
                    <a:pos x="107" y="0"/>
                  </a:cxn>
                </a:cxnLst>
                <a:rect l="0" t="0" r="r" b="b"/>
                <a:pathLst>
                  <a:path w="874" h="372">
                    <a:moveTo>
                      <a:pt x="107" y="0"/>
                    </a:moveTo>
                    <a:lnTo>
                      <a:pt x="764" y="0"/>
                    </a:lnTo>
                    <a:lnTo>
                      <a:pt x="873" y="107"/>
                    </a:lnTo>
                    <a:lnTo>
                      <a:pt x="873" y="262"/>
                    </a:lnTo>
                    <a:lnTo>
                      <a:pt x="764" y="371"/>
                    </a:lnTo>
                    <a:lnTo>
                      <a:pt x="107" y="371"/>
                    </a:lnTo>
                    <a:lnTo>
                      <a:pt x="0" y="262"/>
                    </a:lnTo>
                    <a:lnTo>
                      <a:pt x="0" y="107"/>
                    </a:lnTo>
                    <a:lnTo>
                      <a:pt x="107" y="0"/>
                    </a:lnTo>
                  </a:path>
                </a:pathLst>
              </a:custGeom>
              <a:solidFill>
                <a:srgbClr val="A2C1FE"/>
              </a:solidFill>
              <a:ln w="25560">
                <a:solidFill>
                  <a:srgbClr val="000000"/>
                </a:solidFill>
                <a:round/>
                <a:headEnd/>
                <a:tailEnd/>
              </a:ln>
            </p:spPr>
            <p:txBody>
              <a:bodyPr wrap="none" anchor="ctr"/>
              <a:lstStyle/>
              <a:p>
                <a:endParaRPr lang="en-US"/>
              </a:p>
            </p:txBody>
          </p:sp>
        </p:grpSp>
        <p:sp>
          <p:nvSpPr>
            <p:cNvPr id="133" name="Freeform 151"/>
            <p:cNvSpPr>
              <a:spLocks noChangeArrowheads="1"/>
            </p:cNvSpPr>
            <p:nvPr/>
          </p:nvSpPr>
          <p:spPr bwMode="auto">
            <a:xfrm>
              <a:off x="3586" y="2606"/>
              <a:ext cx="85" cy="191"/>
            </a:xfrm>
            <a:custGeom>
              <a:avLst/>
              <a:gdLst/>
              <a:ahLst/>
              <a:cxnLst>
                <a:cxn ang="0">
                  <a:pos x="273" y="0"/>
                </a:cxn>
                <a:cxn ang="0">
                  <a:pos x="375" y="0"/>
                </a:cxn>
                <a:cxn ang="0">
                  <a:pos x="101" y="843"/>
                </a:cxn>
                <a:cxn ang="0">
                  <a:pos x="0" y="843"/>
                </a:cxn>
                <a:cxn ang="0">
                  <a:pos x="273" y="0"/>
                </a:cxn>
              </a:cxnLst>
              <a:rect l="0" t="0" r="r" b="b"/>
              <a:pathLst>
                <a:path w="376" h="844">
                  <a:moveTo>
                    <a:pt x="273" y="0"/>
                  </a:moveTo>
                  <a:lnTo>
                    <a:pt x="375" y="0"/>
                  </a:lnTo>
                  <a:lnTo>
                    <a:pt x="101" y="843"/>
                  </a:lnTo>
                  <a:lnTo>
                    <a:pt x="0" y="843"/>
                  </a:lnTo>
                  <a:lnTo>
                    <a:pt x="273" y="0"/>
                  </a:lnTo>
                </a:path>
              </a:pathLst>
            </a:custGeom>
            <a:solidFill>
              <a:srgbClr val="FC0128"/>
            </a:solidFill>
            <a:ln w="9525">
              <a:noFill/>
              <a:round/>
              <a:headEnd/>
              <a:tailEnd/>
            </a:ln>
          </p:spPr>
          <p:txBody>
            <a:bodyPr wrap="none" anchor="ctr"/>
            <a:lstStyle/>
            <a:p>
              <a:endParaRPr lang="en-US"/>
            </a:p>
          </p:txBody>
        </p:sp>
        <p:sp>
          <p:nvSpPr>
            <p:cNvPr id="134" name="AutoShape 152"/>
            <p:cNvSpPr>
              <a:spLocks noChangeArrowheads="1"/>
            </p:cNvSpPr>
            <p:nvPr/>
          </p:nvSpPr>
          <p:spPr bwMode="auto">
            <a:xfrm>
              <a:off x="3582" y="2606"/>
              <a:ext cx="106"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135" name="AutoShape 153"/>
            <p:cNvSpPr>
              <a:spLocks noChangeArrowheads="1"/>
            </p:cNvSpPr>
            <p:nvPr/>
          </p:nvSpPr>
          <p:spPr bwMode="auto">
            <a:xfrm>
              <a:off x="3589" y="2687"/>
              <a:ext cx="82"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136" name="AutoShape 154"/>
            <p:cNvSpPr>
              <a:spLocks noChangeArrowheads="1"/>
            </p:cNvSpPr>
            <p:nvPr/>
          </p:nvSpPr>
          <p:spPr bwMode="auto">
            <a:xfrm>
              <a:off x="3406" y="2687"/>
              <a:ext cx="103" cy="11"/>
            </a:xfrm>
            <a:prstGeom prst="roundRect">
              <a:avLst>
                <a:gd name="adj" fmla="val 10000"/>
              </a:avLst>
            </a:prstGeom>
            <a:solidFill>
              <a:srgbClr val="FC0128"/>
            </a:solidFill>
            <a:ln w="9525">
              <a:noFill/>
              <a:round/>
              <a:headEnd/>
              <a:tailEnd/>
            </a:ln>
          </p:spPr>
          <p:txBody>
            <a:bodyPr wrap="none" anchor="ctr"/>
            <a:lstStyle/>
            <a:p>
              <a:endParaRPr lang="en-US"/>
            </a:p>
          </p:txBody>
        </p:sp>
        <p:grpSp>
          <p:nvGrpSpPr>
            <p:cNvPr id="137" name="Group 155"/>
            <p:cNvGrpSpPr>
              <a:grpSpLocks/>
            </p:cNvGrpSpPr>
            <p:nvPr/>
          </p:nvGrpSpPr>
          <p:grpSpPr bwMode="auto">
            <a:xfrm>
              <a:off x="3404" y="2434"/>
              <a:ext cx="194" cy="364"/>
              <a:chOff x="3404" y="2434"/>
              <a:chExt cx="194" cy="364"/>
            </a:xfrm>
          </p:grpSpPr>
          <p:sp>
            <p:nvSpPr>
              <p:cNvPr id="138" name="Oval 156"/>
              <p:cNvSpPr>
                <a:spLocks noChangeArrowheads="1"/>
              </p:cNvSpPr>
              <p:nvPr/>
            </p:nvSpPr>
            <p:spPr bwMode="auto">
              <a:xfrm>
                <a:off x="3480" y="2434"/>
                <a:ext cx="49" cy="49"/>
              </a:xfrm>
              <a:prstGeom prst="ellipse">
                <a:avLst/>
              </a:prstGeom>
              <a:solidFill>
                <a:srgbClr val="FC0128"/>
              </a:solidFill>
              <a:ln w="12600">
                <a:solidFill>
                  <a:srgbClr val="000000"/>
                </a:solidFill>
                <a:round/>
                <a:headEnd/>
                <a:tailEnd/>
              </a:ln>
            </p:spPr>
            <p:txBody>
              <a:bodyPr wrap="none" anchor="ctr"/>
              <a:lstStyle/>
              <a:p>
                <a:endParaRPr lang="en-US"/>
              </a:p>
            </p:txBody>
          </p:sp>
          <p:sp>
            <p:nvSpPr>
              <p:cNvPr id="139" name="Freeform 157"/>
              <p:cNvSpPr>
                <a:spLocks noChangeArrowheads="1"/>
              </p:cNvSpPr>
              <p:nvPr/>
            </p:nvSpPr>
            <p:spPr bwMode="auto">
              <a:xfrm>
                <a:off x="3404" y="2502"/>
                <a:ext cx="194" cy="296"/>
              </a:xfrm>
              <a:custGeom>
                <a:avLst/>
                <a:gdLst/>
                <a:ahLst/>
                <a:cxnLst>
                  <a:cxn ang="0">
                    <a:pos x="8" y="605"/>
                  </a:cxn>
                  <a:cxn ang="0">
                    <a:pos x="4" y="618"/>
                  </a:cxn>
                  <a:cxn ang="0">
                    <a:pos x="0" y="640"/>
                  </a:cxn>
                  <a:cxn ang="0">
                    <a:pos x="0" y="662"/>
                  </a:cxn>
                  <a:cxn ang="0">
                    <a:pos x="8" y="684"/>
                  </a:cxn>
                  <a:cxn ang="0">
                    <a:pos x="17" y="703"/>
                  </a:cxn>
                  <a:cxn ang="0">
                    <a:pos x="35" y="721"/>
                  </a:cxn>
                  <a:cxn ang="0">
                    <a:pos x="52" y="730"/>
                  </a:cxn>
                  <a:cxn ang="0">
                    <a:pos x="70" y="734"/>
                  </a:cxn>
                  <a:cxn ang="0">
                    <a:pos x="92" y="734"/>
                  </a:cxn>
                  <a:cxn ang="0">
                    <a:pos x="558" y="1304"/>
                  </a:cxn>
                  <a:cxn ang="0">
                    <a:pos x="704" y="627"/>
                  </a:cxn>
                  <a:cxn ang="0">
                    <a:pos x="704" y="609"/>
                  </a:cxn>
                  <a:cxn ang="0">
                    <a:pos x="695" y="601"/>
                  </a:cxn>
                  <a:cxn ang="0">
                    <a:pos x="682" y="587"/>
                  </a:cxn>
                  <a:cxn ang="0">
                    <a:pos x="673" y="578"/>
                  </a:cxn>
                  <a:cxn ang="0">
                    <a:pos x="656" y="574"/>
                  </a:cxn>
                  <a:cxn ang="0">
                    <a:pos x="638" y="570"/>
                  </a:cxn>
                  <a:cxn ang="0">
                    <a:pos x="620" y="570"/>
                  </a:cxn>
                  <a:cxn ang="0">
                    <a:pos x="607" y="570"/>
                  </a:cxn>
                  <a:cxn ang="0">
                    <a:pos x="412" y="331"/>
                  </a:cxn>
                  <a:cxn ang="0">
                    <a:pos x="793" y="411"/>
                  </a:cxn>
                  <a:cxn ang="0">
                    <a:pos x="811" y="406"/>
                  </a:cxn>
                  <a:cxn ang="0">
                    <a:pos x="820" y="402"/>
                  </a:cxn>
                  <a:cxn ang="0">
                    <a:pos x="837" y="393"/>
                  </a:cxn>
                  <a:cxn ang="0">
                    <a:pos x="846" y="380"/>
                  </a:cxn>
                  <a:cxn ang="0">
                    <a:pos x="851" y="367"/>
                  </a:cxn>
                  <a:cxn ang="0">
                    <a:pos x="855" y="345"/>
                  </a:cxn>
                  <a:cxn ang="0">
                    <a:pos x="851" y="327"/>
                  </a:cxn>
                  <a:cxn ang="0">
                    <a:pos x="842" y="309"/>
                  </a:cxn>
                  <a:cxn ang="0">
                    <a:pos x="833" y="300"/>
                  </a:cxn>
                  <a:cxn ang="0">
                    <a:pos x="815" y="286"/>
                  </a:cxn>
                  <a:cxn ang="0">
                    <a:pos x="802" y="282"/>
                  </a:cxn>
                  <a:cxn ang="0">
                    <a:pos x="541" y="282"/>
                  </a:cxn>
                  <a:cxn ang="0">
                    <a:pos x="496" y="185"/>
                  </a:cxn>
                  <a:cxn ang="0">
                    <a:pos x="500" y="163"/>
                  </a:cxn>
                  <a:cxn ang="0">
                    <a:pos x="505" y="132"/>
                  </a:cxn>
                  <a:cxn ang="0">
                    <a:pos x="505" y="105"/>
                  </a:cxn>
                  <a:cxn ang="0">
                    <a:pos x="496" y="83"/>
                  </a:cxn>
                  <a:cxn ang="0">
                    <a:pos x="487" y="66"/>
                  </a:cxn>
                  <a:cxn ang="0">
                    <a:pos x="474" y="44"/>
                  </a:cxn>
                  <a:cxn ang="0">
                    <a:pos x="456" y="30"/>
                  </a:cxn>
                  <a:cxn ang="0">
                    <a:pos x="434" y="13"/>
                  </a:cxn>
                  <a:cxn ang="0">
                    <a:pos x="412" y="4"/>
                  </a:cxn>
                  <a:cxn ang="0">
                    <a:pos x="385" y="0"/>
                  </a:cxn>
                  <a:cxn ang="0">
                    <a:pos x="359" y="0"/>
                  </a:cxn>
                  <a:cxn ang="0">
                    <a:pos x="332" y="4"/>
                  </a:cxn>
                  <a:cxn ang="0">
                    <a:pos x="305" y="13"/>
                  </a:cxn>
                  <a:cxn ang="0">
                    <a:pos x="278" y="26"/>
                  </a:cxn>
                  <a:cxn ang="0">
                    <a:pos x="261" y="48"/>
                  </a:cxn>
                  <a:cxn ang="0">
                    <a:pos x="243" y="75"/>
                  </a:cxn>
                  <a:cxn ang="0">
                    <a:pos x="234" y="101"/>
                  </a:cxn>
                </a:cxnLst>
                <a:rect l="0" t="0" r="r" b="b"/>
                <a:pathLst>
                  <a:path w="856" h="1305">
                    <a:moveTo>
                      <a:pt x="234"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2" y="730"/>
                    </a:lnTo>
                    <a:lnTo>
                      <a:pt x="61" y="730"/>
                    </a:lnTo>
                    <a:lnTo>
                      <a:pt x="70" y="734"/>
                    </a:lnTo>
                    <a:lnTo>
                      <a:pt x="79" y="734"/>
                    </a:lnTo>
                    <a:lnTo>
                      <a:pt x="92" y="734"/>
                    </a:lnTo>
                    <a:lnTo>
                      <a:pt x="558" y="734"/>
                    </a:lnTo>
                    <a:lnTo>
                      <a:pt x="558" y="1304"/>
                    </a:lnTo>
                    <a:lnTo>
                      <a:pt x="704" y="1304"/>
                    </a:lnTo>
                    <a:lnTo>
                      <a:pt x="704" y="627"/>
                    </a:lnTo>
                    <a:lnTo>
                      <a:pt x="704" y="618"/>
                    </a:lnTo>
                    <a:lnTo>
                      <a:pt x="704" y="609"/>
                    </a:lnTo>
                    <a:lnTo>
                      <a:pt x="700" y="605"/>
                    </a:lnTo>
                    <a:lnTo>
                      <a:pt x="695" y="601"/>
                    </a:lnTo>
                    <a:lnTo>
                      <a:pt x="691" y="596"/>
                    </a:lnTo>
                    <a:lnTo>
                      <a:pt x="682" y="587"/>
                    </a:lnTo>
                    <a:lnTo>
                      <a:pt x="678" y="583"/>
                    </a:lnTo>
                    <a:lnTo>
                      <a:pt x="673" y="578"/>
                    </a:lnTo>
                    <a:lnTo>
                      <a:pt x="664" y="578"/>
                    </a:lnTo>
                    <a:lnTo>
                      <a:pt x="656" y="574"/>
                    </a:lnTo>
                    <a:lnTo>
                      <a:pt x="647" y="574"/>
                    </a:lnTo>
                    <a:lnTo>
                      <a:pt x="638" y="570"/>
                    </a:lnTo>
                    <a:lnTo>
                      <a:pt x="629" y="570"/>
                    </a:lnTo>
                    <a:lnTo>
                      <a:pt x="620" y="570"/>
                    </a:lnTo>
                    <a:lnTo>
                      <a:pt x="616" y="570"/>
                    </a:lnTo>
                    <a:lnTo>
                      <a:pt x="607" y="570"/>
                    </a:lnTo>
                    <a:lnTo>
                      <a:pt x="337" y="552"/>
                    </a:lnTo>
                    <a:lnTo>
                      <a:pt x="412" y="331"/>
                    </a:lnTo>
                    <a:lnTo>
                      <a:pt x="465" y="411"/>
                    </a:lnTo>
                    <a:lnTo>
                      <a:pt x="793" y="411"/>
                    </a:lnTo>
                    <a:lnTo>
                      <a:pt x="802" y="406"/>
                    </a:lnTo>
                    <a:lnTo>
                      <a:pt x="811" y="406"/>
                    </a:lnTo>
                    <a:lnTo>
                      <a:pt x="815" y="402"/>
                    </a:lnTo>
                    <a:lnTo>
                      <a:pt x="820" y="402"/>
                    </a:lnTo>
                    <a:lnTo>
                      <a:pt x="829" y="398"/>
                    </a:lnTo>
                    <a:lnTo>
                      <a:pt x="837" y="393"/>
                    </a:lnTo>
                    <a:lnTo>
                      <a:pt x="842" y="384"/>
                    </a:lnTo>
                    <a:lnTo>
                      <a:pt x="846" y="380"/>
                    </a:lnTo>
                    <a:lnTo>
                      <a:pt x="851" y="371"/>
                    </a:lnTo>
                    <a:lnTo>
                      <a:pt x="851" y="367"/>
                    </a:lnTo>
                    <a:lnTo>
                      <a:pt x="855" y="358"/>
                    </a:lnTo>
                    <a:lnTo>
                      <a:pt x="855" y="345"/>
                    </a:lnTo>
                    <a:lnTo>
                      <a:pt x="855" y="336"/>
                    </a:lnTo>
                    <a:lnTo>
                      <a:pt x="851" y="327"/>
                    </a:lnTo>
                    <a:lnTo>
                      <a:pt x="846" y="318"/>
                    </a:lnTo>
                    <a:lnTo>
                      <a:pt x="842" y="309"/>
                    </a:lnTo>
                    <a:lnTo>
                      <a:pt x="837" y="305"/>
                    </a:lnTo>
                    <a:lnTo>
                      <a:pt x="833" y="300"/>
                    </a:lnTo>
                    <a:lnTo>
                      <a:pt x="824" y="291"/>
                    </a:lnTo>
                    <a:lnTo>
                      <a:pt x="815" y="286"/>
                    </a:lnTo>
                    <a:lnTo>
                      <a:pt x="815" y="282"/>
                    </a:lnTo>
                    <a:lnTo>
                      <a:pt x="802" y="282"/>
                    </a:lnTo>
                    <a:lnTo>
                      <a:pt x="793" y="282"/>
                    </a:lnTo>
                    <a:lnTo>
                      <a:pt x="541" y="282"/>
                    </a:lnTo>
                    <a:lnTo>
                      <a:pt x="487" y="194"/>
                    </a:lnTo>
                    <a:lnTo>
                      <a:pt x="496" y="185"/>
                    </a:lnTo>
                    <a:lnTo>
                      <a:pt x="500" y="172"/>
                    </a:lnTo>
                    <a:lnTo>
                      <a:pt x="500" y="163"/>
                    </a:lnTo>
                    <a:lnTo>
                      <a:pt x="505" y="150"/>
                    </a:lnTo>
                    <a:lnTo>
                      <a:pt x="505" y="132"/>
                    </a:lnTo>
                    <a:lnTo>
                      <a:pt x="505" y="123"/>
                    </a:lnTo>
                    <a:lnTo>
                      <a:pt x="505" y="105"/>
                    </a:lnTo>
                    <a:lnTo>
                      <a:pt x="500" y="97"/>
                    </a:lnTo>
                    <a:lnTo>
                      <a:pt x="496" y="83"/>
                    </a:lnTo>
                    <a:lnTo>
                      <a:pt x="491" y="75"/>
                    </a:lnTo>
                    <a:lnTo>
                      <a:pt x="487" y="66"/>
                    </a:lnTo>
                    <a:lnTo>
                      <a:pt x="482" y="57"/>
                    </a:lnTo>
                    <a:lnTo>
                      <a:pt x="474" y="44"/>
                    </a:lnTo>
                    <a:lnTo>
                      <a:pt x="465" y="39"/>
                    </a:lnTo>
                    <a:lnTo>
                      <a:pt x="456" y="30"/>
                    </a:lnTo>
                    <a:lnTo>
                      <a:pt x="447" y="22"/>
                    </a:lnTo>
                    <a:lnTo>
                      <a:pt x="434" y="13"/>
                    </a:lnTo>
                    <a:lnTo>
                      <a:pt x="425" y="13"/>
                    </a:lnTo>
                    <a:lnTo>
                      <a:pt x="412" y="4"/>
                    </a:lnTo>
                    <a:lnTo>
                      <a:pt x="399" y="4"/>
                    </a:lnTo>
                    <a:lnTo>
                      <a:pt x="385" y="0"/>
                    </a:lnTo>
                    <a:lnTo>
                      <a:pt x="372" y="0"/>
                    </a:lnTo>
                    <a:lnTo>
                      <a:pt x="359" y="0"/>
                    </a:lnTo>
                    <a:lnTo>
                      <a:pt x="346" y="0"/>
                    </a:lnTo>
                    <a:lnTo>
                      <a:pt x="332" y="4"/>
                    </a:lnTo>
                    <a:lnTo>
                      <a:pt x="318" y="8"/>
                    </a:lnTo>
                    <a:lnTo>
                      <a:pt x="305" y="13"/>
                    </a:lnTo>
                    <a:lnTo>
                      <a:pt x="292" y="17"/>
                    </a:lnTo>
                    <a:lnTo>
                      <a:pt x="278" y="26"/>
                    </a:lnTo>
                    <a:lnTo>
                      <a:pt x="270" y="39"/>
                    </a:lnTo>
                    <a:lnTo>
                      <a:pt x="261" y="48"/>
                    </a:lnTo>
                    <a:lnTo>
                      <a:pt x="252" y="57"/>
                    </a:lnTo>
                    <a:lnTo>
                      <a:pt x="243" y="75"/>
                    </a:lnTo>
                    <a:lnTo>
                      <a:pt x="234" y="83"/>
                    </a:lnTo>
                    <a:lnTo>
                      <a:pt x="234" y="101"/>
                    </a:lnTo>
                  </a:path>
                </a:pathLst>
              </a:custGeom>
              <a:solidFill>
                <a:srgbClr val="FC0128"/>
              </a:solidFill>
              <a:ln w="9525">
                <a:noFill/>
                <a:round/>
                <a:headEnd/>
                <a:tailEnd/>
              </a:ln>
            </p:spPr>
            <p:txBody>
              <a:bodyPr wrap="none" anchor="ctr"/>
              <a:lstStyle/>
              <a:p>
                <a:endParaRPr lang="en-US"/>
              </a:p>
            </p:txBody>
          </p:sp>
        </p:grpSp>
      </p:grpSp>
      <p:grpSp>
        <p:nvGrpSpPr>
          <p:cNvPr id="161" name="Group 158"/>
          <p:cNvGrpSpPr>
            <a:grpSpLocks/>
          </p:cNvGrpSpPr>
          <p:nvPr/>
        </p:nvGrpSpPr>
        <p:grpSpPr bwMode="auto">
          <a:xfrm>
            <a:off x="6623050" y="5441950"/>
            <a:ext cx="1533525" cy="709612"/>
            <a:chOff x="3761" y="2873"/>
            <a:chExt cx="966" cy="447"/>
          </a:xfrm>
        </p:grpSpPr>
        <p:grpSp>
          <p:nvGrpSpPr>
            <p:cNvPr id="162" name="Group 159"/>
            <p:cNvGrpSpPr>
              <a:grpSpLocks/>
            </p:cNvGrpSpPr>
            <p:nvPr/>
          </p:nvGrpSpPr>
          <p:grpSpPr bwMode="auto">
            <a:xfrm>
              <a:off x="3761" y="2873"/>
              <a:ext cx="306" cy="448"/>
              <a:chOff x="3761" y="2873"/>
              <a:chExt cx="306" cy="448"/>
            </a:xfrm>
          </p:grpSpPr>
          <p:grpSp>
            <p:nvGrpSpPr>
              <p:cNvPr id="182" name="Group 160"/>
              <p:cNvGrpSpPr>
                <a:grpSpLocks/>
              </p:cNvGrpSpPr>
              <p:nvPr/>
            </p:nvGrpSpPr>
            <p:grpSpPr bwMode="auto">
              <a:xfrm>
                <a:off x="3761" y="2873"/>
                <a:ext cx="306" cy="448"/>
                <a:chOff x="3761" y="2873"/>
                <a:chExt cx="306" cy="448"/>
              </a:xfrm>
            </p:grpSpPr>
            <p:grpSp>
              <p:nvGrpSpPr>
                <p:cNvPr id="184" name="Group 161"/>
                <p:cNvGrpSpPr>
                  <a:grpSpLocks/>
                </p:cNvGrpSpPr>
                <p:nvPr/>
              </p:nvGrpSpPr>
              <p:grpSpPr bwMode="auto">
                <a:xfrm>
                  <a:off x="3761" y="2944"/>
                  <a:ext cx="306" cy="377"/>
                  <a:chOff x="3761" y="2944"/>
                  <a:chExt cx="306" cy="377"/>
                </a:xfrm>
              </p:grpSpPr>
              <p:sp>
                <p:nvSpPr>
                  <p:cNvPr id="189" name="Freeform 162"/>
                  <p:cNvSpPr>
                    <a:spLocks noChangeArrowheads="1"/>
                  </p:cNvSpPr>
                  <p:nvPr/>
                </p:nvSpPr>
                <p:spPr bwMode="auto">
                  <a:xfrm>
                    <a:off x="3761" y="2944"/>
                    <a:ext cx="305" cy="377"/>
                  </a:xfrm>
                  <a:custGeom>
                    <a:avLst/>
                    <a:gdLst/>
                    <a:ahLst/>
                    <a:cxnLst>
                      <a:cxn ang="0">
                        <a:pos x="0" y="1663"/>
                      </a:cxn>
                      <a:cxn ang="0">
                        <a:pos x="0" y="336"/>
                      </a:cxn>
                      <a:cxn ang="0">
                        <a:pos x="335" y="0"/>
                      </a:cxn>
                      <a:cxn ang="0">
                        <a:pos x="1345" y="0"/>
                      </a:cxn>
                      <a:cxn ang="0">
                        <a:pos x="1345" y="1327"/>
                      </a:cxn>
                      <a:cxn ang="0">
                        <a:pos x="1008" y="1663"/>
                      </a:cxn>
                      <a:cxn ang="0">
                        <a:pos x="0" y="1663"/>
                      </a:cxn>
                    </a:cxnLst>
                    <a:rect l="0" t="0" r="r" b="b"/>
                    <a:pathLst>
                      <a:path w="1346" h="1664">
                        <a:moveTo>
                          <a:pt x="0" y="1663"/>
                        </a:moveTo>
                        <a:lnTo>
                          <a:pt x="0" y="336"/>
                        </a:lnTo>
                        <a:lnTo>
                          <a:pt x="335" y="0"/>
                        </a:lnTo>
                        <a:lnTo>
                          <a:pt x="1345" y="0"/>
                        </a:lnTo>
                        <a:lnTo>
                          <a:pt x="1345" y="1327"/>
                        </a:lnTo>
                        <a:lnTo>
                          <a:pt x="1008" y="1663"/>
                        </a:lnTo>
                        <a:lnTo>
                          <a:pt x="0" y="1663"/>
                        </a:lnTo>
                      </a:path>
                    </a:pathLst>
                  </a:custGeom>
                  <a:solidFill>
                    <a:srgbClr val="F6BF69"/>
                  </a:solidFill>
                  <a:ln w="12600">
                    <a:solidFill>
                      <a:srgbClr val="000000"/>
                    </a:solidFill>
                    <a:round/>
                    <a:headEnd/>
                    <a:tailEnd/>
                  </a:ln>
                </p:spPr>
                <p:txBody>
                  <a:bodyPr wrap="none" anchor="ctr"/>
                  <a:lstStyle/>
                  <a:p>
                    <a:endParaRPr lang="en-US"/>
                  </a:p>
                </p:txBody>
              </p:sp>
              <p:sp>
                <p:nvSpPr>
                  <p:cNvPr id="190" name="Freeform 163"/>
                  <p:cNvSpPr>
                    <a:spLocks noChangeArrowheads="1"/>
                  </p:cNvSpPr>
                  <p:nvPr/>
                </p:nvSpPr>
                <p:spPr bwMode="auto">
                  <a:xfrm>
                    <a:off x="3761" y="2944"/>
                    <a:ext cx="305" cy="76"/>
                  </a:xfrm>
                  <a:custGeom>
                    <a:avLst/>
                    <a:gdLst/>
                    <a:ahLst/>
                    <a:cxnLst>
                      <a:cxn ang="0">
                        <a:pos x="0" y="336"/>
                      </a:cxn>
                      <a:cxn ang="0">
                        <a:pos x="335" y="0"/>
                      </a:cxn>
                      <a:cxn ang="0">
                        <a:pos x="1345" y="0"/>
                      </a:cxn>
                      <a:cxn ang="0">
                        <a:pos x="1008" y="336"/>
                      </a:cxn>
                      <a:cxn ang="0">
                        <a:pos x="0" y="336"/>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US"/>
                  </a:p>
                </p:txBody>
              </p:sp>
              <p:sp>
                <p:nvSpPr>
                  <p:cNvPr id="191" name="Freeform 164"/>
                  <p:cNvSpPr>
                    <a:spLocks noChangeArrowheads="1"/>
                  </p:cNvSpPr>
                  <p:nvPr/>
                </p:nvSpPr>
                <p:spPr bwMode="auto">
                  <a:xfrm>
                    <a:off x="3990" y="2944"/>
                    <a:ext cx="77" cy="377"/>
                  </a:xfrm>
                  <a:custGeom>
                    <a:avLst/>
                    <a:gdLst/>
                    <a:ahLst/>
                    <a:cxnLst>
                      <a:cxn ang="0">
                        <a:pos x="0" y="1663"/>
                      </a:cxn>
                      <a:cxn ang="0">
                        <a:pos x="0" y="336"/>
                      </a:cxn>
                      <a:cxn ang="0">
                        <a:pos x="337" y="0"/>
                      </a:cxn>
                      <a:cxn ang="0">
                        <a:pos x="337" y="1327"/>
                      </a:cxn>
                      <a:cxn ang="0">
                        <a:pos x="0" y="1663"/>
                      </a:cxn>
                    </a:cxnLst>
                    <a:rect l="0" t="0" r="r" b="b"/>
                    <a:pathLst>
                      <a:path w="338" h="1664">
                        <a:moveTo>
                          <a:pt x="0" y="1663"/>
                        </a:moveTo>
                        <a:lnTo>
                          <a:pt x="0" y="336"/>
                        </a:lnTo>
                        <a:lnTo>
                          <a:pt x="337" y="0"/>
                        </a:lnTo>
                        <a:lnTo>
                          <a:pt x="337" y="1327"/>
                        </a:lnTo>
                        <a:lnTo>
                          <a:pt x="0" y="1663"/>
                        </a:lnTo>
                      </a:path>
                    </a:pathLst>
                  </a:custGeom>
                  <a:solidFill>
                    <a:srgbClr val="D3A45A"/>
                  </a:solidFill>
                  <a:ln w="12600">
                    <a:solidFill>
                      <a:srgbClr val="000000"/>
                    </a:solidFill>
                    <a:round/>
                    <a:headEnd/>
                    <a:tailEnd/>
                  </a:ln>
                </p:spPr>
                <p:txBody>
                  <a:bodyPr wrap="none" anchor="ctr"/>
                  <a:lstStyle/>
                  <a:p>
                    <a:endParaRPr lang="en-US"/>
                  </a:p>
                </p:txBody>
              </p:sp>
            </p:grpSp>
            <p:grpSp>
              <p:nvGrpSpPr>
                <p:cNvPr id="185" name="Group 165"/>
                <p:cNvGrpSpPr>
                  <a:grpSpLocks/>
                </p:cNvGrpSpPr>
                <p:nvPr/>
              </p:nvGrpSpPr>
              <p:grpSpPr bwMode="auto">
                <a:xfrm>
                  <a:off x="3831" y="2873"/>
                  <a:ext cx="235" cy="78"/>
                  <a:chOff x="3831" y="2873"/>
                  <a:chExt cx="235" cy="78"/>
                </a:xfrm>
              </p:grpSpPr>
              <p:sp>
                <p:nvSpPr>
                  <p:cNvPr id="186" name="Freeform 166"/>
                  <p:cNvSpPr>
                    <a:spLocks noChangeArrowheads="1"/>
                  </p:cNvSpPr>
                  <p:nvPr/>
                </p:nvSpPr>
                <p:spPr bwMode="auto">
                  <a:xfrm>
                    <a:off x="3831" y="2873"/>
                    <a:ext cx="235" cy="78"/>
                  </a:xfrm>
                  <a:custGeom>
                    <a:avLst/>
                    <a:gdLst/>
                    <a:ahLst/>
                    <a:cxnLst>
                      <a:cxn ang="0">
                        <a:pos x="0" y="344"/>
                      </a:cxn>
                      <a:cxn ang="0">
                        <a:pos x="0" y="85"/>
                      </a:cxn>
                      <a:cxn ang="0">
                        <a:pos x="85" y="0"/>
                      </a:cxn>
                      <a:cxn ang="0">
                        <a:pos x="1036" y="0"/>
                      </a:cxn>
                      <a:cxn ang="0">
                        <a:pos x="1036" y="257"/>
                      </a:cxn>
                      <a:cxn ang="0">
                        <a:pos x="949" y="344"/>
                      </a:cxn>
                      <a:cxn ang="0">
                        <a:pos x="0" y="344"/>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US"/>
                  </a:p>
                </p:txBody>
              </p:sp>
              <p:sp>
                <p:nvSpPr>
                  <p:cNvPr id="187" name="Freeform 167"/>
                  <p:cNvSpPr>
                    <a:spLocks noChangeArrowheads="1"/>
                  </p:cNvSpPr>
                  <p:nvPr/>
                </p:nvSpPr>
                <p:spPr bwMode="auto">
                  <a:xfrm>
                    <a:off x="3831" y="2873"/>
                    <a:ext cx="235" cy="20"/>
                  </a:xfrm>
                  <a:custGeom>
                    <a:avLst/>
                    <a:gdLst/>
                    <a:ahLst/>
                    <a:cxnLst>
                      <a:cxn ang="0">
                        <a:pos x="0" y="85"/>
                      </a:cxn>
                      <a:cxn ang="0">
                        <a:pos x="85" y="0"/>
                      </a:cxn>
                      <a:cxn ang="0">
                        <a:pos x="1036" y="0"/>
                      </a:cxn>
                      <a:cxn ang="0">
                        <a:pos x="949" y="85"/>
                      </a:cxn>
                      <a:cxn ang="0">
                        <a:pos x="0" y="85"/>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US"/>
                  </a:p>
                </p:txBody>
              </p:sp>
              <p:sp>
                <p:nvSpPr>
                  <p:cNvPr id="188" name="Freeform 168"/>
                  <p:cNvSpPr>
                    <a:spLocks noChangeArrowheads="1"/>
                  </p:cNvSpPr>
                  <p:nvPr/>
                </p:nvSpPr>
                <p:spPr bwMode="auto">
                  <a:xfrm>
                    <a:off x="4046" y="2873"/>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US"/>
                  </a:p>
                </p:txBody>
              </p:sp>
            </p:grpSp>
          </p:grpSp>
          <p:sp>
            <p:nvSpPr>
              <p:cNvPr id="183" name="Freeform 169"/>
              <p:cNvSpPr>
                <a:spLocks noChangeArrowheads="1"/>
              </p:cNvSpPr>
              <p:nvPr/>
            </p:nvSpPr>
            <p:spPr bwMode="auto">
              <a:xfrm>
                <a:off x="3823" y="2977"/>
                <a:ext cx="158" cy="27"/>
              </a:xfrm>
              <a:custGeom>
                <a:avLst/>
                <a:gdLst/>
                <a:ahLst/>
                <a:cxnLst>
                  <a:cxn ang="0">
                    <a:pos x="174" y="0"/>
                  </a:cxn>
                  <a:cxn ang="0">
                    <a:pos x="696" y="0"/>
                  </a:cxn>
                  <a:cxn ang="0">
                    <a:pos x="522" y="119"/>
                  </a:cxn>
                  <a:cxn ang="0">
                    <a:pos x="0" y="119"/>
                  </a:cxn>
                  <a:cxn ang="0">
                    <a:pos x="174" y="0"/>
                  </a:cxn>
                </a:cxnLst>
                <a:rect l="0" t="0" r="r" b="b"/>
                <a:pathLst>
                  <a:path w="697" h="120">
                    <a:moveTo>
                      <a:pt x="174" y="0"/>
                    </a:moveTo>
                    <a:lnTo>
                      <a:pt x="696" y="0"/>
                    </a:lnTo>
                    <a:lnTo>
                      <a:pt x="522" y="119"/>
                    </a:lnTo>
                    <a:lnTo>
                      <a:pt x="0" y="119"/>
                    </a:lnTo>
                    <a:lnTo>
                      <a:pt x="174" y="0"/>
                    </a:lnTo>
                  </a:path>
                </a:pathLst>
              </a:custGeom>
              <a:solidFill>
                <a:srgbClr val="F6BF69"/>
              </a:solidFill>
              <a:ln w="25560">
                <a:solidFill>
                  <a:srgbClr val="000000"/>
                </a:solidFill>
                <a:round/>
                <a:headEnd/>
                <a:tailEnd/>
              </a:ln>
            </p:spPr>
            <p:txBody>
              <a:bodyPr wrap="none" anchor="ctr"/>
              <a:lstStyle/>
              <a:p>
                <a:endParaRPr lang="en-US"/>
              </a:p>
            </p:txBody>
          </p:sp>
        </p:grpSp>
        <p:grpSp>
          <p:nvGrpSpPr>
            <p:cNvPr id="163" name="Group 170"/>
            <p:cNvGrpSpPr>
              <a:grpSpLocks/>
            </p:cNvGrpSpPr>
            <p:nvPr/>
          </p:nvGrpSpPr>
          <p:grpSpPr bwMode="auto">
            <a:xfrm>
              <a:off x="4062" y="2873"/>
              <a:ext cx="379" cy="448"/>
              <a:chOff x="4062" y="2873"/>
              <a:chExt cx="379" cy="448"/>
            </a:xfrm>
          </p:grpSpPr>
          <p:grpSp>
            <p:nvGrpSpPr>
              <p:cNvPr id="171" name="Group 171"/>
              <p:cNvGrpSpPr>
                <a:grpSpLocks/>
              </p:cNvGrpSpPr>
              <p:nvPr/>
            </p:nvGrpSpPr>
            <p:grpSpPr bwMode="auto">
              <a:xfrm>
                <a:off x="4062" y="2873"/>
                <a:ext cx="379" cy="448"/>
                <a:chOff x="4062" y="2873"/>
                <a:chExt cx="379" cy="448"/>
              </a:xfrm>
            </p:grpSpPr>
            <p:grpSp>
              <p:nvGrpSpPr>
                <p:cNvPr id="174" name="Group 172"/>
                <p:cNvGrpSpPr>
                  <a:grpSpLocks/>
                </p:cNvGrpSpPr>
                <p:nvPr/>
              </p:nvGrpSpPr>
              <p:grpSpPr bwMode="auto">
                <a:xfrm>
                  <a:off x="4062" y="2944"/>
                  <a:ext cx="379" cy="377"/>
                  <a:chOff x="4062" y="2944"/>
                  <a:chExt cx="379" cy="377"/>
                </a:xfrm>
              </p:grpSpPr>
              <p:sp>
                <p:nvSpPr>
                  <p:cNvPr id="179" name="Freeform 173"/>
                  <p:cNvSpPr>
                    <a:spLocks noChangeArrowheads="1"/>
                  </p:cNvSpPr>
                  <p:nvPr/>
                </p:nvSpPr>
                <p:spPr bwMode="auto">
                  <a:xfrm>
                    <a:off x="4062" y="2944"/>
                    <a:ext cx="378" cy="377"/>
                  </a:xfrm>
                  <a:custGeom>
                    <a:avLst/>
                    <a:gdLst/>
                    <a:ahLst/>
                    <a:cxnLst>
                      <a:cxn ang="0">
                        <a:pos x="0" y="1663"/>
                      </a:cxn>
                      <a:cxn ang="0">
                        <a:pos x="0" y="415"/>
                      </a:cxn>
                      <a:cxn ang="0">
                        <a:pos x="414" y="0"/>
                      </a:cxn>
                      <a:cxn ang="0">
                        <a:pos x="1666" y="0"/>
                      </a:cxn>
                      <a:cxn ang="0">
                        <a:pos x="1666" y="1248"/>
                      </a:cxn>
                      <a:cxn ang="0">
                        <a:pos x="1250" y="1663"/>
                      </a:cxn>
                      <a:cxn ang="0">
                        <a:pos x="0" y="1663"/>
                      </a:cxn>
                    </a:cxnLst>
                    <a:rect l="0" t="0" r="r" b="b"/>
                    <a:pathLst>
                      <a:path w="1667" h="1664">
                        <a:moveTo>
                          <a:pt x="0" y="1663"/>
                        </a:moveTo>
                        <a:lnTo>
                          <a:pt x="0" y="415"/>
                        </a:lnTo>
                        <a:lnTo>
                          <a:pt x="414" y="0"/>
                        </a:lnTo>
                        <a:lnTo>
                          <a:pt x="1666" y="0"/>
                        </a:lnTo>
                        <a:lnTo>
                          <a:pt x="1666" y="1248"/>
                        </a:lnTo>
                        <a:lnTo>
                          <a:pt x="1250" y="1663"/>
                        </a:lnTo>
                        <a:lnTo>
                          <a:pt x="0" y="1663"/>
                        </a:lnTo>
                      </a:path>
                    </a:pathLst>
                  </a:custGeom>
                  <a:solidFill>
                    <a:srgbClr val="A2C1FE"/>
                  </a:solidFill>
                  <a:ln w="12600">
                    <a:solidFill>
                      <a:srgbClr val="000000"/>
                    </a:solidFill>
                    <a:round/>
                    <a:headEnd/>
                    <a:tailEnd/>
                  </a:ln>
                </p:spPr>
                <p:txBody>
                  <a:bodyPr wrap="none" anchor="ctr"/>
                  <a:lstStyle/>
                  <a:p>
                    <a:endParaRPr lang="en-US"/>
                  </a:p>
                </p:txBody>
              </p:sp>
              <p:sp>
                <p:nvSpPr>
                  <p:cNvPr id="180" name="Freeform 174"/>
                  <p:cNvSpPr>
                    <a:spLocks noChangeArrowheads="1"/>
                  </p:cNvSpPr>
                  <p:nvPr/>
                </p:nvSpPr>
                <p:spPr bwMode="auto">
                  <a:xfrm>
                    <a:off x="4062" y="2944"/>
                    <a:ext cx="378" cy="94"/>
                  </a:xfrm>
                  <a:custGeom>
                    <a:avLst/>
                    <a:gdLst/>
                    <a:ahLst/>
                    <a:cxnLst>
                      <a:cxn ang="0">
                        <a:pos x="0" y="415"/>
                      </a:cxn>
                      <a:cxn ang="0">
                        <a:pos x="414" y="0"/>
                      </a:cxn>
                      <a:cxn ang="0">
                        <a:pos x="1666" y="0"/>
                      </a:cxn>
                      <a:cxn ang="0">
                        <a:pos x="1250" y="415"/>
                      </a:cxn>
                      <a:cxn ang="0">
                        <a:pos x="0" y="415"/>
                      </a:cxn>
                    </a:cxnLst>
                    <a:rect l="0" t="0" r="r" b="b"/>
                    <a:pathLst>
                      <a:path w="1667" h="416">
                        <a:moveTo>
                          <a:pt x="0" y="415"/>
                        </a:moveTo>
                        <a:lnTo>
                          <a:pt x="414" y="0"/>
                        </a:lnTo>
                        <a:lnTo>
                          <a:pt x="1666" y="0"/>
                        </a:lnTo>
                        <a:lnTo>
                          <a:pt x="1250" y="415"/>
                        </a:lnTo>
                        <a:lnTo>
                          <a:pt x="0" y="415"/>
                        </a:lnTo>
                      </a:path>
                    </a:pathLst>
                  </a:custGeom>
                  <a:solidFill>
                    <a:srgbClr val="B1D3FF"/>
                  </a:solidFill>
                  <a:ln w="12600">
                    <a:solidFill>
                      <a:srgbClr val="000000"/>
                    </a:solidFill>
                    <a:round/>
                    <a:headEnd/>
                    <a:tailEnd/>
                  </a:ln>
                </p:spPr>
                <p:txBody>
                  <a:bodyPr wrap="none" anchor="ctr"/>
                  <a:lstStyle/>
                  <a:p>
                    <a:endParaRPr lang="en-US"/>
                  </a:p>
                </p:txBody>
              </p:sp>
              <p:sp>
                <p:nvSpPr>
                  <p:cNvPr id="181" name="Freeform 175"/>
                  <p:cNvSpPr>
                    <a:spLocks noChangeArrowheads="1"/>
                  </p:cNvSpPr>
                  <p:nvPr/>
                </p:nvSpPr>
                <p:spPr bwMode="auto">
                  <a:xfrm>
                    <a:off x="4346" y="2944"/>
                    <a:ext cx="95" cy="377"/>
                  </a:xfrm>
                  <a:custGeom>
                    <a:avLst/>
                    <a:gdLst/>
                    <a:ahLst/>
                    <a:cxnLst>
                      <a:cxn ang="0">
                        <a:pos x="0" y="1663"/>
                      </a:cxn>
                      <a:cxn ang="0">
                        <a:pos x="0" y="415"/>
                      </a:cxn>
                      <a:cxn ang="0">
                        <a:pos x="416" y="0"/>
                      </a:cxn>
                      <a:cxn ang="0">
                        <a:pos x="416" y="1248"/>
                      </a:cxn>
                      <a:cxn ang="0">
                        <a:pos x="0" y="1663"/>
                      </a:cxn>
                    </a:cxnLst>
                    <a:rect l="0" t="0" r="r" b="b"/>
                    <a:pathLst>
                      <a:path w="417" h="1664">
                        <a:moveTo>
                          <a:pt x="0" y="1663"/>
                        </a:moveTo>
                        <a:lnTo>
                          <a:pt x="0" y="415"/>
                        </a:lnTo>
                        <a:lnTo>
                          <a:pt x="416" y="0"/>
                        </a:lnTo>
                        <a:lnTo>
                          <a:pt x="416" y="1248"/>
                        </a:lnTo>
                        <a:lnTo>
                          <a:pt x="0" y="1663"/>
                        </a:lnTo>
                      </a:path>
                    </a:pathLst>
                  </a:custGeom>
                  <a:solidFill>
                    <a:srgbClr val="8BA5DA"/>
                  </a:solidFill>
                  <a:ln w="12600">
                    <a:solidFill>
                      <a:srgbClr val="000000"/>
                    </a:solidFill>
                    <a:round/>
                    <a:headEnd/>
                    <a:tailEnd/>
                  </a:ln>
                </p:spPr>
                <p:txBody>
                  <a:bodyPr wrap="none" anchor="ctr"/>
                  <a:lstStyle/>
                  <a:p>
                    <a:endParaRPr lang="en-US"/>
                  </a:p>
                </p:txBody>
              </p:sp>
            </p:grpSp>
            <p:grpSp>
              <p:nvGrpSpPr>
                <p:cNvPr id="175" name="Group 176"/>
                <p:cNvGrpSpPr>
                  <a:grpSpLocks/>
                </p:cNvGrpSpPr>
                <p:nvPr/>
              </p:nvGrpSpPr>
              <p:grpSpPr bwMode="auto">
                <a:xfrm>
                  <a:off x="4148" y="2873"/>
                  <a:ext cx="292" cy="78"/>
                  <a:chOff x="4148" y="2873"/>
                  <a:chExt cx="292" cy="78"/>
                </a:xfrm>
              </p:grpSpPr>
              <p:sp>
                <p:nvSpPr>
                  <p:cNvPr id="176" name="Freeform 177"/>
                  <p:cNvSpPr>
                    <a:spLocks noChangeArrowheads="1"/>
                  </p:cNvSpPr>
                  <p:nvPr/>
                </p:nvSpPr>
                <p:spPr bwMode="auto">
                  <a:xfrm>
                    <a:off x="4148" y="2873"/>
                    <a:ext cx="292" cy="78"/>
                  </a:xfrm>
                  <a:custGeom>
                    <a:avLst/>
                    <a:gdLst/>
                    <a:ahLst/>
                    <a:cxnLst>
                      <a:cxn ang="0">
                        <a:pos x="0" y="344"/>
                      </a:cxn>
                      <a:cxn ang="0">
                        <a:pos x="0" y="85"/>
                      </a:cxn>
                      <a:cxn ang="0">
                        <a:pos x="85" y="0"/>
                      </a:cxn>
                      <a:cxn ang="0">
                        <a:pos x="1287" y="0"/>
                      </a:cxn>
                      <a:cxn ang="0">
                        <a:pos x="1287" y="257"/>
                      </a:cxn>
                      <a:cxn ang="0">
                        <a:pos x="1200" y="344"/>
                      </a:cxn>
                      <a:cxn ang="0">
                        <a:pos x="0" y="344"/>
                      </a:cxn>
                    </a:cxnLst>
                    <a:rect l="0" t="0" r="r" b="b"/>
                    <a:pathLst>
                      <a:path w="1288" h="345">
                        <a:moveTo>
                          <a:pt x="0" y="344"/>
                        </a:moveTo>
                        <a:lnTo>
                          <a:pt x="0" y="85"/>
                        </a:lnTo>
                        <a:lnTo>
                          <a:pt x="85" y="0"/>
                        </a:lnTo>
                        <a:lnTo>
                          <a:pt x="1287" y="0"/>
                        </a:lnTo>
                        <a:lnTo>
                          <a:pt x="1287" y="257"/>
                        </a:lnTo>
                        <a:lnTo>
                          <a:pt x="1200" y="344"/>
                        </a:lnTo>
                        <a:lnTo>
                          <a:pt x="0" y="344"/>
                        </a:lnTo>
                      </a:path>
                    </a:pathLst>
                  </a:custGeom>
                  <a:solidFill>
                    <a:srgbClr val="A2C1FE"/>
                  </a:solidFill>
                  <a:ln w="12600">
                    <a:solidFill>
                      <a:srgbClr val="000000"/>
                    </a:solidFill>
                    <a:round/>
                    <a:headEnd/>
                    <a:tailEnd/>
                  </a:ln>
                </p:spPr>
                <p:txBody>
                  <a:bodyPr wrap="none" anchor="ctr"/>
                  <a:lstStyle/>
                  <a:p>
                    <a:endParaRPr lang="en-US"/>
                  </a:p>
                </p:txBody>
              </p:sp>
              <p:sp>
                <p:nvSpPr>
                  <p:cNvPr id="177" name="Freeform 178"/>
                  <p:cNvSpPr>
                    <a:spLocks noChangeArrowheads="1"/>
                  </p:cNvSpPr>
                  <p:nvPr/>
                </p:nvSpPr>
                <p:spPr bwMode="auto">
                  <a:xfrm>
                    <a:off x="4148" y="2873"/>
                    <a:ext cx="292" cy="20"/>
                  </a:xfrm>
                  <a:custGeom>
                    <a:avLst/>
                    <a:gdLst/>
                    <a:ahLst/>
                    <a:cxnLst>
                      <a:cxn ang="0">
                        <a:pos x="0" y="85"/>
                      </a:cxn>
                      <a:cxn ang="0">
                        <a:pos x="85" y="0"/>
                      </a:cxn>
                      <a:cxn ang="0">
                        <a:pos x="1287" y="0"/>
                      </a:cxn>
                      <a:cxn ang="0">
                        <a:pos x="1200" y="85"/>
                      </a:cxn>
                      <a:cxn ang="0">
                        <a:pos x="0" y="85"/>
                      </a:cxn>
                    </a:cxnLst>
                    <a:rect l="0" t="0" r="r" b="b"/>
                    <a:pathLst>
                      <a:path w="1288" h="86">
                        <a:moveTo>
                          <a:pt x="0" y="85"/>
                        </a:moveTo>
                        <a:lnTo>
                          <a:pt x="85" y="0"/>
                        </a:lnTo>
                        <a:lnTo>
                          <a:pt x="1287" y="0"/>
                        </a:lnTo>
                        <a:lnTo>
                          <a:pt x="1200" y="85"/>
                        </a:lnTo>
                        <a:lnTo>
                          <a:pt x="0" y="85"/>
                        </a:lnTo>
                      </a:path>
                    </a:pathLst>
                  </a:custGeom>
                  <a:solidFill>
                    <a:srgbClr val="B1D3FF"/>
                  </a:solidFill>
                  <a:ln w="12600">
                    <a:solidFill>
                      <a:srgbClr val="000000"/>
                    </a:solidFill>
                    <a:round/>
                    <a:headEnd/>
                    <a:tailEnd/>
                  </a:ln>
                </p:spPr>
                <p:txBody>
                  <a:bodyPr wrap="none" anchor="ctr"/>
                  <a:lstStyle/>
                  <a:p>
                    <a:endParaRPr lang="en-US"/>
                  </a:p>
                </p:txBody>
              </p:sp>
              <p:sp>
                <p:nvSpPr>
                  <p:cNvPr id="178" name="Freeform 179"/>
                  <p:cNvSpPr>
                    <a:spLocks noChangeArrowheads="1"/>
                  </p:cNvSpPr>
                  <p:nvPr/>
                </p:nvSpPr>
                <p:spPr bwMode="auto">
                  <a:xfrm>
                    <a:off x="4420" y="2873"/>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US"/>
                  </a:p>
                </p:txBody>
              </p:sp>
            </p:grpSp>
          </p:grpSp>
          <p:sp>
            <p:nvSpPr>
              <p:cNvPr id="172" name="Oval 180"/>
              <p:cNvSpPr>
                <a:spLocks noChangeArrowheads="1"/>
              </p:cNvSpPr>
              <p:nvPr/>
            </p:nvSpPr>
            <p:spPr bwMode="auto">
              <a:xfrm>
                <a:off x="4177" y="2909"/>
                <a:ext cx="49" cy="27"/>
              </a:xfrm>
              <a:prstGeom prst="ellipse">
                <a:avLst/>
              </a:prstGeom>
              <a:solidFill>
                <a:srgbClr val="FFFFFF"/>
              </a:solidFill>
              <a:ln w="12600">
                <a:solidFill>
                  <a:srgbClr val="000000"/>
                </a:solidFill>
                <a:round/>
                <a:headEnd/>
                <a:tailEnd/>
              </a:ln>
            </p:spPr>
            <p:txBody>
              <a:bodyPr wrap="none" anchor="ctr"/>
              <a:lstStyle/>
              <a:p>
                <a:endParaRPr lang="en-US"/>
              </a:p>
            </p:txBody>
          </p:sp>
          <p:sp>
            <p:nvSpPr>
              <p:cNvPr id="173" name="Freeform 181"/>
              <p:cNvSpPr>
                <a:spLocks noChangeArrowheads="1"/>
              </p:cNvSpPr>
              <p:nvPr/>
            </p:nvSpPr>
            <p:spPr bwMode="auto">
              <a:xfrm>
                <a:off x="4109" y="3119"/>
                <a:ext cx="198" cy="84"/>
              </a:xfrm>
              <a:custGeom>
                <a:avLst/>
                <a:gdLst/>
                <a:ahLst/>
                <a:cxnLst>
                  <a:cxn ang="0">
                    <a:pos x="107" y="0"/>
                  </a:cxn>
                  <a:cxn ang="0">
                    <a:pos x="764" y="0"/>
                  </a:cxn>
                  <a:cxn ang="0">
                    <a:pos x="873" y="108"/>
                  </a:cxn>
                  <a:cxn ang="0">
                    <a:pos x="873" y="262"/>
                  </a:cxn>
                  <a:cxn ang="0">
                    <a:pos x="764" y="370"/>
                  </a:cxn>
                  <a:cxn ang="0">
                    <a:pos x="107" y="370"/>
                  </a:cxn>
                  <a:cxn ang="0">
                    <a:pos x="0" y="262"/>
                  </a:cxn>
                  <a:cxn ang="0">
                    <a:pos x="0" y="108"/>
                  </a:cxn>
                  <a:cxn ang="0">
                    <a:pos x="107" y="0"/>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US"/>
              </a:p>
            </p:txBody>
          </p:sp>
        </p:grpSp>
        <p:sp>
          <p:nvSpPr>
            <p:cNvPr id="164" name="Freeform 182"/>
            <p:cNvSpPr>
              <a:spLocks noChangeArrowheads="1"/>
            </p:cNvSpPr>
            <p:nvPr/>
          </p:nvSpPr>
          <p:spPr bwMode="auto">
            <a:xfrm>
              <a:off x="4626" y="3102"/>
              <a:ext cx="85" cy="191"/>
            </a:xfrm>
            <a:custGeom>
              <a:avLst/>
              <a:gdLst/>
              <a:ahLst/>
              <a:cxnLst>
                <a:cxn ang="0">
                  <a:pos x="273" y="0"/>
                </a:cxn>
                <a:cxn ang="0">
                  <a:pos x="375" y="0"/>
                </a:cxn>
                <a:cxn ang="0">
                  <a:pos x="101" y="842"/>
                </a:cxn>
                <a:cxn ang="0">
                  <a:pos x="0" y="842"/>
                </a:cxn>
                <a:cxn ang="0">
                  <a:pos x="273" y="0"/>
                </a:cxn>
              </a:cxnLst>
              <a:rect l="0" t="0" r="r" b="b"/>
              <a:pathLst>
                <a:path w="376" h="843">
                  <a:moveTo>
                    <a:pt x="273" y="0"/>
                  </a:moveTo>
                  <a:lnTo>
                    <a:pt x="375" y="0"/>
                  </a:lnTo>
                  <a:lnTo>
                    <a:pt x="101" y="842"/>
                  </a:lnTo>
                  <a:lnTo>
                    <a:pt x="0" y="842"/>
                  </a:lnTo>
                  <a:lnTo>
                    <a:pt x="273" y="0"/>
                  </a:lnTo>
                </a:path>
              </a:pathLst>
            </a:custGeom>
            <a:solidFill>
              <a:srgbClr val="FC0128"/>
            </a:solidFill>
            <a:ln w="9525">
              <a:noFill/>
              <a:round/>
              <a:headEnd/>
              <a:tailEnd/>
            </a:ln>
          </p:spPr>
          <p:txBody>
            <a:bodyPr wrap="none" anchor="ctr"/>
            <a:lstStyle/>
            <a:p>
              <a:endParaRPr lang="en-US"/>
            </a:p>
          </p:txBody>
        </p:sp>
        <p:sp>
          <p:nvSpPr>
            <p:cNvPr id="165" name="AutoShape 183"/>
            <p:cNvSpPr>
              <a:spLocks noChangeArrowheads="1"/>
            </p:cNvSpPr>
            <p:nvPr/>
          </p:nvSpPr>
          <p:spPr bwMode="auto">
            <a:xfrm>
              <a:off x="4622" y="3102"/>
              <a:ext cx="106"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166" name="AutoShape 184"/>
            <p:cNvSpPr>
              <a:spLocks noChangeArrowheads="1"/>
            </p:cNvSpPr>
            <p:nvPr/>
          </p:nvSpPr>
          <p:spPr bwMode="auto">
            <a:xfrm>
              <a:off x="4629" y="3183"/>
              <a:ext cx="82"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167" name="AutoShape 185"/>
            <p:cNvSpPr>
              <a:spLocks noChangeArrowheads="1"/>
            </p:cNvSpPr>
            <p:nvPr/>
          </p:nvSpPr>
          <p:spPr bwMode="auto">
            <a:xfrm>
              <a:off x="4446" y="3183"/>
              <a:ext cx="103" cy="11"/>
            </a:xfrm>
            <a:prstGeom prst="roundRect">
              <a:avLst>
                <a:gd name="adj" fmla="val 10000"/>
              </a:avLst>
            </a:prstGeom>
            <a:solidFill>
              <a:srgbClr val="FC0128"/>
            </a:solidFill>
            <a:ln w="9525">
              <a:noFill/>
              <a:round/>
              <a:headEnd/>
              <a:tailEnd/>
            </a:ln>
          </p:spPr>
          <p:txBody>
            <a:bodyPr wrap="none" anchor="ctr"/>
            <a:lstStyle/>
            <a:p>
              <a:endParaRPr lang="en-US"/>
            </a:p>
          </p:txBody>
        </p:sp>
        <p:grpSp>
          <p:nvGrpSpPr>
            <p:cNvPr id="168" name="Group 186"/>
            <p:cNvGrpSpPr>
              <a:grpSpLocks/>
            </p:cNvGrpSpPr>
            <p:nvPr/>
          </p:nvGrpSpPr>
          <p:grpSpPr bwMode="auto">
            <a:xfrm>
              <a:off x="4444" y="2930"/>
              <a:ext cx="194" cy="364"/>
              <a:chOff x="4444" y="2930"/>
              <a:chExt cx="194" cy="364"/>
            </a:xfrm>
          </p:grpSpPr>
          <p:sp>
            <p:nvSpPr>
              <p:cNvPr id="169" name="Oval 187"/>
              <p:cNvSpPr>
                <a:spLocks noChangeArrowheads="1"/>
              </p:cNvSpPr>
              <p:nvPr/>
            </p:nvSpPr>
            <p:spPr bwMode="auto">
              <a:xfrm>
                <a:off x="4520" y="2930"/>
                <a:ext cx="49" cy="49"/>
              </a:xfrm>
              <a:prstGeom prst="ellipse">
                <a:avLst/>
              </a:prstGeom>
              <a:solidFill>
                <a:srgbClr val="FC0128"/>
              </a:solidFill>
              <a:ln w="12600">
                <a:solidFill>
                  <a:srgbClr val="000000"/>
                </a:solidFill>
                <a:round/>
                <a:headEnd/>
                <a:tailEnd/>
              </a:ln>
            </p:spPr>
            <p:txBody>
              <a:bodyPr wrap="none" anchor="ctr"/>
              <a:lstStyle/>
              <a:p>
                <a:endParaRPr lang="en-US"/>
              </a:p>
            </p:txBody>
          </p:sp>
          <p:sp>
            <p:nvSpPr>
              <p:cNvPr id="170" name="Freeform 188"/>
              <p:cNvSpPr>
                <a:spLocks noChangeArrowheads="1"/>
              </p:cNvSpPr>
              <p:nvPr/>
            </p:nvSpPr>
            <p:spPr bwMode="auto">
              <a:xfrm>
                <a:off x="4444" y="2998"/>
                <a:ext cx="194" cy="296"/>
              </a:xfrm>
              <a:custGeom>
                <a:avLst/>
                <a:gdLst/>
                <a:ahLst/>
                <a:cxnLst>
                  <a:cxn ang="0">
                    <a:pos x="8" y="606"/>
                  </a:cxn>
                  <a:cxn ang="0">
                    <a:pos x="4" y="619"/>
                  </a:cxn>
                  <a:cxn ang="0">
                    <a:pos x="0" y="641"/>
                  </a:cxn>
                  <a:cxn ang="0">
                    <a:pos x="0" y="663"/>
                  </a:cxn>
                  <a:cxn ang="0">
                    <a:pos x="8" y="685"/>
                  </a:cxn>
                  <a:cxn ang="0">
                    <a:pos x="17" y="704"/>
                  </a:cxn>
                  <a:cxn ang="0">
                    <a:pos x="35" y="722"/>
                  </a:cxn>
                  <a:cxn ang="0">
                    <a:pos x="53" y="731"/>
                  </a:cxn>
                  <a:cxn ang="0">
                    <a:pos x="70" y="735"/>
                  </a:cxn>
                  <a:cxn ang="0">
                    <a:pos x="92" y="735"/>
                  </a:cxn>
                  <a:cxn ang="0">
                    <a:pos x="559" y="1305"/>
                  </a:cxn>
                  <a:cxn ang="0">
                    <a:pos x="705" y="628"/>
                  </a:cxn>
                  <a:cxn ang="0">
                    <a:pos x="705" y="610"/>
                  </a:cxn>
                  <a:cxn ang="0">
                    <a:pos x="696" y="602"/>
                  </a:cxn>
                  <a:cxn ang="0">
                    <a:pos x="683" y="588"/>
                  </a:cxn>
                  <a:cxn ang="0">
                    <a:pos x="674" y="579"/>
                  </a:cxn>
                  <a:cxn ang="0">
                    <a:pos x="656" y="575"/>
                  </a:cxn>
                  <a:cxn ang="0">
                    <a:pos x="639" y="571"/>
                  </a:cxn>
                  <a:cxn ang="0">
                    <a:pos x="621" y="571"/>
                  </a:cxn>
                  <a:cxn ang="0">
                    <a:pos x="608" y="571"/>
                  </a:cxn>
                  <a:cxn ang="0">
                    <a:pos x="412" y="331"/>
                  </a:cxn>
                  <a:cxn ang="0">
                    <a:pos x="794" y="411"/>
                  </a:cxn>
                  <a:cxn ang="0">
                    <a:pos x="812" y="406"/>
                  </a:cxn>
                  <a:cxn ang="0">
                    <a:pos x="821" y="402"/>
                  </a:cxn>
                  <a:cxn ang="0">
                    <a:pos x="838" y="393"/>
                  </a:cxn>
                  <a:cxn ang="0">
                    <a:pos x="847" y="380"/>
                  </a:cxn>
                  <a:cxn ang="0">
                    <a:pos x="852" y="367"/>
                  </a:cxn>
                  <a:cxn ang="0">
                    <a:pos x="856" y="345"/>
                  </a:cxn>
                  <a:cxn ang="0">
                    <a:pos x="852" y="327"/>
                  </a:cxn>
                  <a:cxn ang="0">
                    <a:pos x="843" y="309"/>
                  </a:cxn>
                  <a:cxn ang="0">
                    <a:pos x="834" y="300"/>
                  </a:cxn>
                  <a:cxn ang="0">
                    <a:pos x="816" y="286"/>
                  </a:cxn>
                  <a:cxn ang="0">
                    <a:pos x="803" y="282"/>
                  </a:cxn>
                  <a:cxn ang="0">
                    <a:pos x="541" y="282"/>
                  </a:cxn>
                  <a:cxn ang="0">
                    <a:pos x="496" y="185"/>
                  </a:cxn>
                  <a:cxn ang="0">
                    <a:pos x="501" y="163"/>
                  </a:cxn>
                  <a:cxn ang="0">
                    <a:pos x="505" y="132"/>
                  </a:cxn>
                  <a:cxn ang="0">
                    <a:pos x="505" y="105"/>
                  </a:cxn>
                  <a:cxn ang="0">
                    <a:pos x="496" y="83"/>
                  </a:cxn>
                  <a:cxn ang="0">
                    <a:pos x="487" y="66"/>
                  </a:cxn>
                  <a:cxn ang="0">
                    <a:pos x="474" y="44"/>
                  </a:cxn>
                  <a:cxn ang="0">
                    <a:pos x="457" y="30"/>
                  </a:cxn>
                  <a:cxn ang="0">
                    <a:pos x="434" y="13"/>
                  </a:cxn>
                  <a:cxn ang="0">
                    <a:pos x="412" y="4"/>
                  </a:cxn>
                  <a:cxn ang="0">
                    <a:pos x="386" y="0"/>
                  </a:cxn>
                  <a:cxn ang="0">
                    <a:pos x="359" y="0"/>
                  </a:cxn>
                  <a:cxn ang="0">
                    <a:pos x="333" y="4"/>
                  </a:cxn>
                  <a:cxn ang="0">
                    <a:pos x="305" y="13"/>
                  </a:cxn>
                  <a:cxn ang="0">
                    <a:pos x="279" y="26"/>
                  </a:cxn>
                  <a:cxn ang="0">
                    <a:pos x="261" y="48"/>
                  </a:cxn>
                  <a:cxn ang="0">
                    <a:pos x="243" y="75"/>
                  </a:cxn>
                  <a:cxn ang="0">
                    <a:pos x="235" y="101"/>
                  </a:cxn>
                </a:cxnLst>
                <a:rect l="0" t="0" r="r" b="b"/>
                <a:pathLst>
                  <a:path w="857" h="1306">
                    <a:moveTo>
                      <a:pt x="235" y="101"/>
                    </a:moveTo>
                    <a:lnTo>
                      <a:pt x="8" y="606"/>
                    </a:lnTo>
                    <a:lnTo>
                      <a:pt x="4" y="610"/>
                    </a:lnTo>
                    <a:lnTo>
                      <a:pt x="4" y="619"/>
                    </a:lnTo>
                    <a:lnTo>
                      <a:pt x="0" y="628"/>
                    </a:lnTo>
                    <a:lnTo>
                      <a:pt x="0" y="641"/>
                    </a:lnTo>
                    <a:lnTo>
                      <a:pt x="0" y="650"/>
                    </a:lnTo>
                    <a:lnTo>
                      <a:pt x="0" y="663"/>
                    </a:lnTo>
                    <a:lnTo>
                      <a:pt x="4" y="672"/>
                    </a:lnTo>
                    <a:lnTo>
                      <a:pt x="8" y="685"/>
                    </a:lnTo>
                    <a:lnTo>
                      <a:pt x="13" y="694"/>
                    </a:lnTo>
                    <a:lnTo>
                      <a:pt x="17" y="704"/>
                    </a:lnTo>
                    <a:lnTo>
                      <a:pt x="26" y="713"/>
                    </a:lnTo>
                    <a:lnTo>
                      <a:pt x="35" y="722"/>
                    </a:lnTo>
                    <a:lnTo>
                      <a:pt x="44" y="726"/>
                    </a:lnTo>
                    <a:lnTo>
                      <a:pt x="53" y="731"/>
                    </a:lnTo>
                    <a:lnTo>
                      <a:pt x="61" y="731"/>
                    </a:lnTo>
                    <a:lnTo>
                      <a:pt x="70" y="735"/>
                    </a:lnTo>
                    <a:lnTo>
                      <a:pt x="79" y="735"/>
                    </a:lnTo>
                    <a:lnTo>
                      <a:pt x="92" y="735"/>
                    </a:lnTo>
                    <a:lnTo>
                      <a:pt x="559" y="735"/>
                    </a:lnTo>
                    <a:lnTo>
                      <a:pt x="559" y="1305"/>
                    </a:lnTo>
                    <a:lnTo>
                      <a:pt x="705" y="1305"/>
                    </a:lnTo>
                    <a:lnTo>
                      <a:pt x="705" y="628"/>
                    </a:lnTo>
                    <a:lnTo>
                      <a:pt x="705" y="619"/>
                    </a:lnTo>
                    <a:lnTo>
                      <a:pt x="705" y="610"/>
                    </a:lnTo>
                    <a:lnTo>
                      <a:pt x="700" y="606"/>
                    </a:lnTo>
                    <a:lnTo>
                      <a:pt x="696" y="602"/>
                    </a:lnTo>
                    <a:lnTo>
                      <a:pt x="692" y="597"/>
                    </a:lnTo>
                    <a:lnTo>
                      <a:pt x="683" y="588"/>
                    </a:lnTo>
                    <a:lnTo>
                      <a:pt x="678" y="584"/>
                    </a:lnTo>
                    <a:lnTo>
                      <a:pt x="674" y="579"/>
                    </a:lnTo>
                    <a:lnTo>
                      <a:pt x="665" y="579"/>
                    </a:lnTo>
                    <a:lnTo>
                      <a:pt x="656" y="575"/>
                    </a:lnTo>
                    <a:lnTo>
                      <a:pt x="647" y="575"/>
                    </a:lnTo>
                    <a:lnTo>
                      <a:pt x="639" y="571"/>
                    </a:lnTo>
                    <a:lnTo>
                      <a:pt x="630" y="571"/>
                    </a:lnTo>
                    <a:lnTo>
                      <a:pt x="621" y="571"/>
                    </a:lnTo>
                    <a:lnTo>
                      <a:pt x="617" y="571"/>
                    </a:lnTo>
                    <a:lnTo>
                      <a:pt x="608" y="571"/>
                    </a:lnTo>
                    <a:lnTo>
                      <a:pt x="337" y="553"/>
                    </a:lnTo>
                    <a:lnTo>
                      <a:pt x="412" y="331"/>
                    </a:lnTo>
                    <a:lnTo>
                      <a:pt x="465" y="411"/>
                    </a:lnTo>
                    <a:lnTo>
                      <a:pt x="794" y="411"/>
                    </a:lnTo>
                    <a:lnTo>
                      <a:pt x="803" y="406"/>
                    </a:lnTo>
                    <a:lnTo>
                      <a:pt x="812" y="406"/>
                    </a:lnTo>
                    <a:lnTo>
                      <a:pt x="816" y="402"/>
                    </a:lnTo>
                    <a:lnTo>
                      <a:pt x="821" y="402"/>
                    </a:lnTo>
                    <a:lnTo>
                      <a:pt x="830" y="398"/>
                    </a:lnTo>
                    <a:lnTo>
                      <a:pt x="838" y="393"/>
                    </a:lnTo>
                    <a:lnTo>
                      <a:pt x="843" y="384"/>
                    </a:lnTo>
                    <a:lnTo>
                      <a:pt x="847" y="380"/>
                    </a:lnTo>
                    <a:lnTo>
                      <a:pt x="852" y="371"/>
                    </a:lnTo>
                    <a:lnTo>
                      <a:pt x="852" y="367"/>
                    </a:lnTo>
                    <a:lnTo>
                      <a:pt x="856" y="358"/>
                    </a:lnTo>
                    <a:lnTo>
                      <a:pt x="856" y="345"/>
                    </a:lnTo>
                    <a:lnTo>
                      <a:pt x="856" y="336"/>
                    </a:lnTo>
                    <a:lnTo>
                      <a:pt x="852" y="327"/>
                    </a:lnTo>
                    <a:lnTo>
                      <a:pt x="847" y="318"/>
                    </a:lnTo>
                    <a:lnTo>
                      <a:pt x="843" y="309"/>
                    </a:lnTo>
                    <a:lnTo>
                      <a:pt x="838" y="305"/>
                    </a:lnTo>
                    <a:lnTo>
                      <a:pt x="834" y="300"/>
                    </a:lnTo>
                    <a:lnTo>
                      <a:pt x="825" y="291"/>
                    </a:lnTo>
                    <a:lnTo>
                      <a:pt x="816" y="286"/>
                    </a:lnTo>
                    <a:lnTo>
                      <a:pt x="816" y="282"/>
                    </a:lnTo>
                    <a:lnTo>
                      <a:pt x="803" y="282"/>
                    </a:lnTo>
                    <a:lnTo>
                      <a:pt x="794" y="282"/>
                    </a:lnTo>
                    <a:lnTo>
                      <a:pt x="541" y="282"/>
                    </a:lnTo>
                    <a:lnTo>
                      <a:pt x="487" y="194"/>
                    </a:lnTo>
                    <a:lnTo>
                      <a:pt x="496" y="185"/>
                    </a:lnTo>
                    <a:lnTo>
                      <a:pt x="501" y="172"/>
                    </a:lnTo>
                    <a:lnTo>
                      <a:pt x="501" y="163"/>
                    </a:lnTo>
                    <a:lnTo>
                      <a:pt x="505" y="150"/>
                    </a:lnTo>
                    <a:lnTo>
                      <a:pt x="505" y="132"/>
                    </a:lnTo>
                    <a:lnTo>
                      <a:pt x="505" y="123"/>
                    </a:lnTo>
                    <a:lnTo>
                      <a:pt x="505" y="105"/>
                    </a:lnTo>
                    <a:lnTo>
                      <a:pt x="501" y="97"/>
                    </a:lnTo>
                    <a:lnTo>
                      <a:pt x="496" y="83"/>
                    </a:lnTo>
                    <a:lnTo>
                      <a:pt x="492" y="75"/>
                    </a:lnTo>
                    <a:lnTo>
                      <a:pt x="487" y="66"/>
                    </a:lnTo>
                    <a:lnTo>
                      <a:pt x="483" y="57"/>
                    </a:lnTo>
                    <a:lnTo>
                      <a:pt x="474" y="44"/>
                    </a:lnTo>
                    <a:lnTo>
                      <a:pt x="465" y="39"/>
                    </a:lnTo>
                    <a:lnTo>
                      <a:pt x="457" y="30"/>
                    </a:lnTo>
                    <a:lnTo>
                      <a:pt x="448" y="22"/>
                    </a:lnTo>
                    <a:lnTo>
                      <a:pt x="434" y="13"/>
                    </a:lnTo>
                    <a:lnTo>
                      <a:pt x="426" y="13"/>
                    </a:lnTo>
                    <a:lnTo>
                      <a:pt x="412" y="4"/>
                    </a:lnTo>
                    <a:lnTo>
                      <a:pt x="399" y="4"/>
                    </a:lnTo>
                    <a:lnTo>
                      <a:pt x="386" y="0"/>
                    </a:lnTo>
                    <a:lnTo>
                      <a:pt x="373" y="0"/>
                    </a:lnTo>
                    <a:lnTo>
                      <a:pt x="359" y="0"/>
                    </a:lnTo>
                    <a:lnTo>
                      <a:pt x="346" y="0"/>
                    </a:lnTo>
                    <a:lnTo>
                      <a:pt x="333" y="4"/>
                    </a:lnTo>
                    <a:lnTo>
                      <a:pt x="319" y="8"/>
                    </a:lnTo>
                    <a:lnTo>
                      <a:pt x="305" y="13"/>
                    </a:lnTo>
                    <a:lnTo>
                      <a:pt x="292" y="17"/>
                    </a:lnTo>
                    <a:lnTo>
                      <a:pt x="279" y="26"/>
                    </a:lnTo>
                    <a:lnTo>
                      <a:pt x="270" y="39"/>
                    </a:lnTo>
                    <a:lnTo>
                      <a:pt x="261" y="48"/>
                    </a:lnTo>
                    <a:lnTo>
                      <a:pt x="252" y="57"/>
                    </a:lnTo>
                    <a:lnTo>
                      <a:pt x="243" y="75"/>
                    </a:lnTo>
                    <a:lnTo>
                      <a:pt x="235" y="83"/>
                    </a:lnTo>
                    <a:lnTo>
                      <a:pt x="235" y="101"/>
                    </a:lnTo>
                  </a:path>
                </a:pathLst>
              </a:custGeom>
              <a:solidFill>
                <a:srgbClr val="FC0128"/>
              </a:solidFill>
              <a:ln w="9525">
                <a:noFill/>
                <a:round/>
                <a:headEnd/>
                <a:tailEnd/>
              </a:ln>
            </p:spPr>
            <p:txBody>
              <a:bodyPr wrap="none" anchor="ctr"/>
              <a:lstStyle/>
              <a:p>
                <a:endParaRPr lang="en-US"/>
              </a:p>
            </p:txBody>
          </p:sp>
        </p:grpSp>
      </p:grpSp>
      <p:sp>
        <p:nvSpPr>
          <p:cNvPr id="192" name="Line 189"/>
          <p:cNvSpPr>
            <a:spLocks noChangeShapeType="1"/>
          </p:cNvSpPr>
          <p:nvPr/>
        </p:nvSpPr>
        <p:spPr bwMode="auto">
          <a:xfrm>
            <a:off x="1143000" y="3041650"/>
            <a:ext cx="1588" cy="3035300"/>
          </a:xfrm>
          <a:prstGeom prst="line">
            <a:avLst/>
          </a:prstGeom>
          <a:noFill/>
          <a:ln w="12600">
            <a:solidFill>
              <a:srgbClr val="000000"/>
            </a:solidFill>
            <a:round/>
            <a:headEnd/>
            <a:tailEnd type="triangle" w="lg" len="lg"/>
          </a:ln>
        </p:spPr>
        <p:txBody>
          <a:bodyPr/>
          <a:lstStyle/>
          <a:p>
            <a:endParaRPr lang="en-US"/>
          </a:p>
        </p:txBody>
      </p:sp>
      <p:sp>
        <p:nvSpPr>
          <p:cNvPr id="193" name="Text Box 190"/>
          <p:cNvSpPr txBox="1">
            <a:spLocks noChangeArrowheads="1"/>
          </p:cNvSpPr>
          <p:nvPr/>
        </p:nvSpPr>
        <p:spPr bwMode="auto">
          <a:xfrm>
            <a:off x="4627563" y="2257425"/>
            <a:ext cx="688975" cy="423862"/>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i="1"/>
              <a:t>Time</a:t>
            </a:r>
          </a:p>
        </p:txBody>
      </p:sp>
      <p:sp>
        <p:nvSpPr>
          <p:cNvPr id="194" name="Rectangle 193"/>
          <p:cNvSpPr/>
          <p:nvPr/>
        </p:nvSpPr>
        <p:spPr>
          <a:xfrm>
            <a:off x="8458200" y="5943600"/>
            <a:ext cx="3313728" cy="261610"/>
          </a:xfrm>
          <a:prstGeom prst="rect">
            <a:avLst/>
          </a:prstGeom>
        </p:spPr>
        <p:txBody>
          <a:bodyPr wrap="none">
            <a:spAutoFit/>
          </a:bodyPr>
          <a:lstStyle/>
          <a:p>
            <a:r>
              <a:rPr lang="en-US" sz="1100" dirty="0">
                <a:solidFill>
                  <a:schemeClr val="accent1"/>
                </a:solidFill>
                <a:latin typeface="Museo 300" pitchFamily="50" charset="0"/>
              </a:rPr>
              <a:t>https://images.app.goo.gl/s5K2o9SuGbWkUXEU6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 calcmode="lin" valueType="num">
                                      <p:cBhvr additive="base">
                                        <p:cTn id="12" dur="500" fill="hold"/>
                                        <p:tgtEl>
                                          <p:spTgt spid="6">
                                            <p:txEl>
                                              <p:pRg st="1" end="1"/>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48</a:t>
            </a:fld>
            <a:endParaRPr lang="en-US" dirty="0"/>
          </a:p>
        </p:txBody>
      </p:sp>
      <p:sp>
        <p:nvSpPr>
          <p:cNvPr id="5" name="Rectangle 2"/>
          <p:cNvSpPr txBox="1">
            <a:spLocks noChangeArrowheads="1"/>
          </p:cNvSpPr>
          <p:nvPr/>
        </p:nvSpPr>
        <p:spPr>
          <a:xfrm>
            <a:off x="2233612" y="0"/>
            <a:ext cx="8205788"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Traditional Pipeline Concept continue…</a:t>
            </a:r>
          </a:p>
        </p:txBody>
      </p:sp>
      <p:sp>
        <p:nvSpPr>
          <p:cNvPr id="6" name="Rectangle 3"/>
          <p:cNvSpPr txBox="1">
            <a:spLocks noChangeArrowheads="1"/>
          </p:cNvSpPr>
          <p:nvPr/>
        </p:nvSpPr>
        <p:spPr>
          <a:xfrm>
            <a:off x="6705600" y="3687762"/>
            <a:ext cx="4038600" cy="1036638"/>
          </a:xfrm>
          <a:prstGeom prst="rect">
            <a:avLst/>
          </a:prstGeom>
          <a:ln/>
        </p:spPr>
        <p:txBody>
          <a:bodyPr vert="horz" lIns="63360" tIns="25560" rIns="63360" bIns="25560" rtlCol="0">
            <a:normAutofit/>
          </a:bodyPr>
          <a:lstStyle/>
          <a:p>
            <a:pPr marL="201613" marR="0" lvl="0" indent="-201613" algn="l" defTabSz="449263" rtl="0" eaLnBrk="1" fontAlgn="auto" latinLnBrk="0" hangingPunct="1">
              <a:lnSpc>
                <a:spcPct val="150000"/>
              </a:lnSpc>
              <a:spcBef>
                <a:spcPts val="1000"/>
              </a:spcBef>
              <a:spcAft>
                <a:spcPts val="0"/>
              </a:spcAft>
              <a:buClr>
                <a:srgbClr val="FC0128"/>
              </a:buClr>
              <a:buSzTx/>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mn-ea"/>
                <a:cs typeface="+mn-cs"/>
              </a:rPr>
              <a:t>Pipelined laundry takes 3.5 hours for 4 loads </a:t>
            </a:r>
          </a:p>
        </p:txBody>
      </p:sp>
      <p:grpSp>
        <p:nvGrpSpPr>
          <p:cNvPr id="7" name="Group 4"/>
          <p:cNvGrpSpPr>
            <a:grpSpLocks/>
          </p:cNvGrpSpPr>
          <p:nvPr/>
        </p:nvGrpSpPr>
        <p:grpSpPr bwMode="auto">
          <a:xfrm>
            <a:off x="2860675" y="3308350"/>
            <a:ext cx="522287" cy="534987"/>
            <a:chOff x="441" y="1516"/>
            <a:chExt cx="329" cy="337"/>
          </a:xfrm>
        </p:grpSpPr>
        <p:sp>
          <p:nvSpPr>
            <p:cNvPr id="8" name="Freeform 5"/>
            <p:cNvSpPr>
              <a:spLocks noChangeArrowheads="1"/>
            </p:cNvSpPr>
            <p:nvPr/>
          </p:nvSpPr>
          <p:spPr bwMode="auto">
            <a:xfrm>
              <a:off x="441" y="1516"/>
              <a:ext cx="329" cy="294"/>
            </a:xfrm>
            <a:custGeom>
              <a:avLst/>
              <a:gdLst/>
              <a:ahLst/>
              <a:cxnLst>
                <a:cxn ang="0">
                  <a:pos x="411" y="61"/>
                </a:cxn>
                <a:cxn ang="0">
                  <a:pos x="689" y="70"/>
                </a:cxn>
                <a:cxn ang="0">
                  <a:pos x="990" y="0"/>
                </a:cxn>
                <a:cxn ang="0">
                  <a:pos x="1349" y="0"/>
                </a:cxn>
                <a:cxn ang="0">
                  <a:pos x="950" y="370"/>
                </a:cxn>
                <a:cxn ang="0">
                  <a:pos x="1056" y="392"/>
                </a:cxn>
                <a:cxn ang="0">
                  <a:pos x="1162" y="436"/>
                </a:cxn>
                <a:cxn ang="0">
                  <a:pos x="1260" y="489"/>
                </a:cxn>
                <a:cxn ang="0">
                  <a:pos x="1335" y="556"/>
                </a:cxn>
                <a:cxn ang="0">
                  <a:pos x="1397" y="635"/>
                </a:cxn>
                <a:cxn ang="0">
                  <a:pos x="1437" y="728"/>
                </a:cxn>
                <a:cxn ang="0">
                  <a:pos x="1450" y="824"/>
                </a:cxn>
                <a:cxn ang="0">
                  <a:pos x="1432" y="925"/>
                </a:cxn>
                <a:cxn ang="0">
                  <a:pos x="1402" y="1005"/>
                </a:cxn>
                <a:cxn ang="0">
                  <a:pos x="1340" y="1089"/>
                </a:cxn>
                <a:cxn ang="0">
                  <a:pos x="1238" y="1177"/>
                </a:cxn>
                <a:cxn ang="0">
                  <a:pos x="1136" y="1230"/>
                </a:cxn>
                <a:cxn ang="0">
                  <a:pos x="1043" y="1265"/>
                </a:cxn>
                <a:cxn ang="0">
                  <a:pos x="950" y="1287"/>
                </a:cxn>
                <a:cxn ang="0">
                  <a:pos x="836" y="1296"/>
                </a:cxn>
                <a:cxn ang="0">
                  <a:pos x="539" y="1292"/>
                </a:cxn>
                <a:cxn ang="0">
                  <a:pos x="398" y="1265"/>
                </a:cxn>
                <a:cxn ang="0">
                  <a:pos x="248" y="1199"/>
                </a:cxn>
                <a:cxn ang="0">
                  <a:pos x="132" y="1115"/>
                </a:cxn>
                <a:cxn ang="0">
                  <a:pos x="57" y="1022"/>
                </a:cxn>
                <a:cxn ang="0">
                  <a:pos x="17" y="925"/>
                </a:cxn>
                <a:cxn ang="0">
                  <a:pos x="0" y="841"/>
                </a:cxn>
                <a:cxn ang="0">
                  <a:pos x="13" y="744"/>
                </a:cxn>
                <a:cxn ang="0">
                  <a:pos x="61" y="622"/>
                </a:cxn>
                <a:cxn ang="0">
                  <a:pos x="154" y="520"/>
                </a:cxn>
                <a:cxn ang="0">
                  <a:pos x="279" y="436"/>
                </a:cxn>
                <a:cxn ang="0">
                  <a:pos x="451" y="379"/>
                </a:cxn>
                <a:cxn ang="0">
                  <a:pos x="176" y="17"/>
                </a:cxn>
              </a:cxnLst>
              <a:rect l="0" t="0" r="r" b="b"/>
              <a:pathLst>
                <a:path w="1451" h="1297">
                  <a:moveTo>
                    <a:pt x="176" y="17"/>
                  </a:moveTo>
                  <a:lnTo>
                    <a:pt x="411" y="61"/>
                  </a:lnTo>
                  <a:lnTo>
                    <a:pt x="407" y="0"/>
                  </a:lnTo>
                  <a:lnTo>
                    <a:pt x="689" y="70"/>
                  </a:lnTo>
                  <a:lnTo>
                    <a:pt x="689" y="0"/>
                  </a:lnTo>
                  <a:lnTo>
                    <a:pt x="990" y="0"/>
                  </a:lnTo>
                  <a:lnTo>
                    <a:pt x="986" y="66"/>
                  </a:lnTo>
                  <a:lnTo>
                    <a:pt x="1349" y="0"/>
                  </a:lnTo>
                  <a:lnTo>
                    <a:pt x="906" y="366"/>
                  </a:lnTo>
                  <a:lnTo>
                    <a:pt x="950" y="370"/>
                  </a:lnTo>
                  <a:lnTo>
                    <a:pt x="999" y="379"/>
                  </a:lnTo>
                  <a:lnTo>
                    <a:pt x="1056" y="392"/>
                  </a:lnTo>
                  <a:lnTo>
                    <a:pt x="1105" y="410"/>
                  </a:lnTo>
                  <a:lnTo>
                    <a:pt x="1162" y="436"/>
                  </a:lnTo>
                  <a:lnTo>
                    <a:pt x="1212" y="459"/>
                  </a:lnTo>
                  <a:lnTo>
                    <a:pt x="1260"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8" y="1177"/>
                  </a:lnTo>
                  <a:lnTo>
                    <a:pt x="1184" y="1208"/>
                  </a:lnTo>
                  <a:lnTo>
                    <a:pt x="1136" y="1230"/>
                  </a:lnTo>
                  <a:lnTo>
                    <a:pt x="1087" y="1252"/>
                  </a:lnTo>
                  <a:lnTo>
                    <a:pt x="1043" y="1265"/>
                  </a:lnTo>
                  <a:lnTo>
                    <a:pt x="990" y="1278"/>
                  </a:lnTo>
                  <a:lnTo>
                    <a:pt x="950" y="1287"/>
                  </a:lnTo>
                  <a:lnTo>
                    <a:pt x="889" y="1292"/>
                  </a:lnTo>
                  <a:lnTo>
                    <a:pt x="836" y="1296"/>
                  </a:lnTo>
                  <a:lnTo>
                    <a:pt x="587"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4" y="520"/>
                  </a:lnTo>
                  <a:lnTo>
                    <a:pt x="216"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US"/>
            </a:p>
          </p:txBody>
        </p:sp>
        <p:sp>
          <p:nvSpPr>
            <p:cNvPr id="9" name="Text Box 6"/>
            <p:cNvSpPr txBox="1">
              <a:spLocks noChangeArrowheads="1"/>
            </p:cNvSpPr>
            <p:nvPr/>
          </p:nvSpPr>
          <p:spPr bwMode="auto">
            <a:xfrm>
              <a:off x="503" y="1563"/>
              <a:ext cx="230" cy="29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A</a:t>
              </a:r>
            </a:p>
          </p:txBody>
        </p:sp>
      </p:grpSp>
      <p:grpSp>
        <p:nvGrpSpPr>
          <p:cNvPr id="10" name="Group 7"/>
          <p:cNvGrpSpPr>
            <a:grpSpLocks/>
          </p:cNvGrpSpPr>
          <p:nvPr/>
        </p:nvGrpSpPr>
        <p:grpSpPr bwMode="auto">
          <a:xfrm>
            <a:off x="2847975" y="4159250"/>
            <a:ext cx="522287" cy="534987"/>
            <a:chOff x="433" y="2052"/>
            <a:chExt cx="329" cy="337"/>
          </a:xfrm>
        </p:grpSpPr>
        <p:sp>
          <p:nvSpPr>
            <p:cNvPr id="11" name="Freeform 8"/>
            <p:cNvSpPr>
              <a:spLocks noChangeArrowheads="1"/>
            </p:cNvSpPr>
            <p:nvPr/>
          </p:nvSpPr>
          <p:spPr bwMode="auto">
            <a:xfrm>
              <a:off x="433" y="2052"/>
              <a:ext cx="329" cy="294"/>
            </a:xfrm>
            <a:custGeom>
              <a:avLst/>
              <a:gdLst/>
              <a:ahLst/>
              <a:cxnLst>
                <a:cxn ang="0">
                  <a:pos x="411" y="61"/>
                </a:cxn>
                <a:cxn ang="0">
                  <a:pos x="690" y="70"/>
                </a:cxn>
                <a:cxn ang="0">
                  <a:pos x="990" y="0"/>
                </a:cxn>
                <a:cxn ang="0">
                  <a:pos x="1350" y="0"/>
                </a:cxn>
                <a:cxn ang="0">
                  <a:pos x="951" y="370"/>
                </a:cxn>
                <a:cxn ang="0">
                  <a:pos x="1058" y="392"/>
                </a:cxn>
                <a:cxn ang="0">
                  <a:pos x="1163" y="436"/>
                </a:cxn>
                <a:cxn ang="0">
                  <a:pos x="1260" y="489"/>
                </a:cxn>
                <a:cxn ang="0">
                  <a:pos x="1336" y="556"/>
                </a:cxn>
                <a:cxn ang="0">
                  <a:pos x="1398" y="635"/>
                </a:cxn>
                <a:cxn ang="0">
                  <a:pos x="1438" y="728"/>
                </a:cxn>
                <a:cxn ang="0">
                  <a:pos x="1451" y="824"/>
                </a:cxn>
                <a:cxn ang="0">
                  <a:pos x="1433" y="925"/>
                </a:cxn>
                <a:cxn ang="0">
                  <a:pos x="1403" y="1005"/>
                </a:cxn>
                <a:cxn ang="0">
                  <a:pos x="1341" y="1089"/>
                </a:cxn>
                <a:cxn ang="0">
                  <a:pos x="1238" y="1177"/>
                </a:cxn>
                <a:cxn ang="0">
                  <a:pos x="1137" y="1230"/>
                </a:cxn>
                <a:cxn ang="0">
                  <a:pos x="1044" y="1265"/>
                </a:cxn>
                <a:cxn ang="0">
                  <a:pos x="951" y="1287"/>
                </a:cxn>
                <a:cxn ang="0">
                  <a:pos x="836" y="1296"/>
                </a:cxn>
                <a:cxn ang="0">
                  <a:pos x="540" y="1292"/>
                </a:cxn>
                <a:cxn ang="0">
                  <a:pos x="397" y="1265"/>
                </a:cxn>
                <a:cxn ang="0">
                  <a:pos x="247" y="1199"/>
                </a:cxn>
                <a:cxn ang="0">
                  <a:pos x="132" y="1115"/>
                </a:cxn>
                <a:cxn ang="0">
                  <a:pos x="57" y="1022"/>
                </a:cxn>
                <a:cxn ang="0">
                  <a:pos x="17" y="925"/>
                </a:cxn>
                <a:cxn ang="0">
                  <a:pos x="0" y="841"/>
                </a:cxn>
                <a:cxn ang="0">
                  <a:pos x="13" y="744"/>
                </a:cxn>
                <a:cxn ang="0">
                  <a:pos x="61" y="622"/>
                </a:cxn>
                <a:cxn ang="0">
                  <a:pos x="155" y="520"/>
                </a:cxn>
                <a:cxn ang="0">
                  <a:pos x="278" y="436"/>
                </a:cxn>
                <a:cxn ang="0">
                  <a:pos x="451" y="379"/>
                </a:cxn>
                <a:cxn ang="0">
                  <a:pos x="177" y="17"/>
                </a:cxn>
              </a:cxnLst>
              <a:rect l="0" t="0" r="r" b="b"/>
              <a:pathLst>
                <a:path w="1452" h="1297">
                  <a:moveTo>
                    <a:pt x="177" y="17"/>
                  </a:moveTo>
                  <a:lnTo>
                    <a:pt x="411" y="61"/>
                  </a:lnTo>
                  <a:lnTo>
                    <a:pt x="406" y="0"/>
                  </a:lnTo>
                  <a:lnTo>
                    <a:pt x="690" y="70"/>
                  </a:lnTo>
                  <a:lnTo>
                    <a:pt x="690" y="0"/>
                  </a:lnTo>
                  <a:lnTo>
                    <a:pt x="990" y="0"/>
                  </a:lnTo>
                  <a:lnTo>
                    <a:pt x="986" y="66"/>
                  </a:lnTo>
                  <a:lnTo>
                    <a:pt x="1350" y="0"/>
                  </a:lnTo>
                  <a:lnTo>
                    <a:pt x="907" y="366"/>
                  </a:lnTo>
                  <a:lnTo>
                    <a:pt x="951" y="370"/>
                  </a:lnTo>
                  <a:lnTo>
                    <a:pt x="999" y="379"/>
                  </a:lnTo>
                  <a:lnTo>
                    <a:pt x="1058" y="392"/>
                  </a:lnTo>
                  <a:lnTo>
                    <a:pt x="1106" y="410"/>
                  </a:lnTo>
                  <a:lnTo>
                    <a:pt x="1163" y="436"/>
                  </a:lnTo>
                  <a:lnTo>
                    <a:pt x="1212" y="459"/>
                  </a:lnTo>
                  <a:lnTo>
                    <a:pt x="1260" y="489"/>
                  </a:lnTo>
                  <a:lnTo>
                    <a:pt x="1300"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1" y="1137"/>
                  </a:lnTo>
                  <a:lnTo>
                    <a:pt x="1238" y="1177"/>
                  </a:lnTo>
                  <a:lnTo>
                    <a:pt x="1185" y="1208"/>
                  </a:lnTo>
                  <a:lnTo>
                    <a:pt x="1137" y="1230"/>
                  </a:lnTo>
                  <a:lnTo>
                    <a:pt x="1088" y="1252"/>
                  </a:lnTo>
                  <a:lnTo>
                    <a:pt x="1044" y="1265"/>
                  </a:lnTo>
                  <a:lnTo>
                    <a:pt x="990" y="1278"/>
                  </a:lnTo>
                  <a:lnTo>
                    <a:pt x="951" y="1287"/>
                  </a:lnTo>
                  <a:lnTo>
                    <a:pt x="889" y="1292"/>
                  </a:lnTo>
                  <a:lnTo>
                    <a:pt x="836" y="1296"/>
                  </a:lnTo>
                  <a:lnTo>
                    <a:pt x="588" y="1296"/>
                  </a:lnTo>
                  <a:lnTo>
                    <a:pt x="540" y="1292"/>
                  </a:lnTo>
                  <a:lnTo>
                    <a:pt x="478" y="1283"/>
                  </a:lnTo>
                  <a:lnTo>
                    <a:pt x="397" y="1265"/>
                  </a:lnTo>
                  <a:lnTo>
                    <a:pt x="322" y="1234"/>
                  </a:lnTo>
                  <a:lnTo>
                    <a:pt x="247" y="1199"/>
                  </a:lnTo>
                  <a:lnTo>
                    <a:pt x="181"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5" y="520"/>
                  </a:lnTo>
                  <a:lnTo>
                    <a:pt x="217" y="472"/>
                  </a:lnTo>
                  <a:lnTo>
                    <a:pt x="278" y="436"/>
                  </a:lnTo>
                  <a:lnTo>
                    <a:pt x="362" y="401"/>
                  </a:lnTo>
                  <a:lnTo>
                    <a:pt x="451" y="379"/>
                  </a:lnTo>
                  <a:lnTo>
                    <a:pt x="509" y="366"/>
                  </a:lnTo>
                  <a:lnTo>
                    <a:pt x="177" y="17"/>
                  </a:lnTo>
                </a:path>
              </a:pathLst>
            </a:custGeom>
            <a:solidFill>
              <a:srgbClr val="D49FFF"/>
            </a:solidFill>
            <a:ln w="12600">
              <a:solidFill>
                <a:srgbClr val="000000"/>
              </a:solidFill>
              <a:round/>
              <a:headEnd/>
              <a:tailEnd/>
            </a:ln>
          </p:spPr>
          <p:txBody>
            <a:bodyPr wrap="none" anchor="ctr"/>
            <a:lstStyle/>
            <a:p>
              <a:endParaRPr lang="en-US"/>
            </a:p>
          </p:txBody>
        </p:sp>
        <p:sp>
          <p:nvSpPr>
            <p:cNvPr id="12" name="Text Box 9"/>
            <p:cNvSpPr txBox="1">
              <a:spLocks noChangeArrowheads="1"/>
            </p:cNvSpPr>
            <p:nvPr/>
          </p:nvSpPr>
          <p:spPr bwMode="auto">
            <a:xfrm>
              <a:off x="495" y="2099"/>
              <a:ext cx="230" cy="29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B</a:t>
              </a:r>
            </a:p>
          </p:txBody>
        </p:sp>
      </p:grpSp>
      <p:grpSp>
        <p:nvGrpSpPr>
          <p:cNvPr id="13" name="Group 10"/>
          <p:cNvGrpSpPr>
            <a:grpSpLocks/>
          </p:cNvGrpSpPr>
          <p:nvPr/>
        </p:nvGrpSpPr>
        <p:grpSpPr bwMode="auto">
          <a:xfrm>
            <a:off x="2809875" y="4908550"/>
            <a:ext cx="522287" cy="534987"/>
            <a:chOff x="409" y="2524"/>
            <a:chExt cx="329" cy="337"/>
          </a:xfrm>
        </p:grpSpPr>
        <p:sp>
          <p:nvSpPr>
            <p:cNvPr id="14" name="Freeform 11"/>
            <p:cNvSpPr>
              <a:spLocks noChangeArrowheads="1"/>
            </p:cNvSpPr>
            <p:nvPr/>
          </p:nvSpPr>
          <p:spPr bwMode="auto">
            <a:xfrm>
              <a:off x="409" y="2524"/>
              <a:ext cx="329" cy="294"/>
            </a:xfrm>
            <a:custGeom>
              <a:avLst/>
              <a:gdLst/>
              <a:ahLst/>
              <a:cxnLst>
                <a:cxn ang="0">
                  <a:pos x="411" y="61"/>
                </a:cxn>
                <a:cxn ang="0">
                  <a:pos x="689" y="70"/>
                </a:cxn>
                <a:cxn ang="0">
                  <a:pos x="990" y="0"/>
                </a:cxn>
                <a:cxn ang="0">
                  <a:pos x="1349" y="0"/>
                </a:cxn>
                <a:cxn ang="0">
                  <a:pos x="950" y="370"/>
                </a:cxn>
                <a:cxn ang="0">
                  <a:pos x="1056" y="392"/>
                </a:cxn>
                <a:cxn ang="0">
                  <a:pos x="1162" y="436"/>
                </a:cxn>
                <a:cxn ang="0">
                  <a:pos x="1260" y="489"/>
                </a:cxn>
                <a:cxn ang="0">
                  <a:pos x="1335" y="556"/>
                </a:cxn>
                <a:cxn ang="0">
                  <a:pos x="1397" y="635"/>
                </a:cxn>
                <a:cxn ang="0">
                  <a:pos x="1437" y="728"/>
                </a:cxn>
                <a:cxn ang="0">
                  <a:pos x="1450" y="824"/>
                </a:cxn>
                <a:cxn ang="0">
                  <a:pos x="1432" y="925"/>
                </a:cxn>
                <a:cxn ang="0">
                  <a:pos x="1402" y="1005"/>
                </a:cxn>
                <a:cxn ang="0">
                  <a:pos x="1340" y="1089"/>
                </a:cxn>
                <a:cxn ang="0">
                  <a:pos x="1238" y="1177"/>
                </a:cxn>
                <a:cxn ang="0">
                  <a:pos x="1136" y="1230"/>
                </a:cxn>
                <a:cxn ang="0">
                  <a:pos x="1043" y="1265"/>
                </a:cxn>
                <a:cxn ang="0">
                  <a:pos x="950" y="1287"/>
                </a:cxn>
                <a:cxn ang="0">
                  <a:pos x="836" y="1296"/>
                </a:cxn>
                <a:cxn ang="0">
                  <a:pos x="539" y="1292"/>
                </a:cxn>
                <a:cxn ang="0">
                  <a:pos x="398" y="1265"/>
                </a:cxn>
                <a:cxn ang="0">
                  <a:pos x="248" y="1199"/>
                </a:cxn>
                <a:cxn ang="0">
                  <a:pos x="132" y="1115"/>
                </a:cxn>
                <a:cxn ang="0">
                  <a:pos x="57" y="1022"/>
                </a:cxn>
                <a:cxn ang="0">
                  <a:pos x="17" y="925"/>
                </a:cxn>
                <a:cxn ang="0">
                  <a:pos x="0" y="841"/>
                </a:cxn>
                <a:cxn ang="0">
                  <a:pos x="13" y="744"/>
                </a:cxn>
                <a:cxn ang="0">
                  <a:pos x="61" y="622"/>
                </a:cxn>
                <a:cxn ang="0">
                  <a:pos x="154" y="520"/>
                </a:cxn>
                <a:cxn ang="0">
                  <a:pos x="279" y="436"/>
                </a:cxn>
                <a:cxn ang="0">
                  <a:pos x="451" y="379"/>
                </a:cxn>
                <a:cxn ang="0">
                  <a:pos x="176" y="17"/>
                </a:cxn>
              </a:cxnLst>
              <a:rect l="0" t="0" r="r" b="b"/>
              <a:pathLst>
                <a:path w="1451" h="1297">
                  <a:moveTo>
                    <a:pt x="176" y="17"/>
                  </a:moveTo>
                  <a:lnTo>
                    <a:pt x="411" y="61"/>
                  </a:lnTo>
                  <a:lnTo>
                    <a:pt x="407" y="0"/>
                  </a:lnTo>
                  <a:lnTo>
                    <a:pt x="689" y="70"/>
                  </a:lnTo>
                  <a:lnTo>
                    <a:pt x="689" y="0"/>
                  </a:lnTo>
                  <a:lnTo>
                    <a:pt x="990" y="0"/>
                  </a:lnTo>
                  <a:lnTo>
                    <a:pt x="986" y="66"/>
                  </a:lnTo>
                  <a:lnTo>
                    <a:pt x="1349" y="0"/>
                  </a:lnTo>
                  <a:lnTo>
                    <a:pt x="906" y="366"/>
                  </a:lnTo>
                  <a:lnTo>
                    <a:pt x="950" y="370"/>
                  </a:lnTo>
                  <a:lnTo>
                    <a:pt x="999" y="379"/>
                  </a:lnTo>
                  <a:lnTo>
                    <a:pt x="1056" y="392"/>
                  </a:lnTo>
                  <a:lnTo>
                    <a:pt x="1105" y="410"/>
                  </a:lnTo>
                  <a:lnTo>
                    <a:pt x="1162" y="436"/>
                  </a:lnTo>
                  <a:lnTo>
                    <a:pt x="1212" y="459"/>
                  </a:lnTo>
                  <a:lnTo>
                    <a:pt x="1260"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8" y="1177"/>
                  </a:lnTo>
                  <a:lnTo>
                    <a:pt x="1184" y="1208"/>
                  </a:lnTo>
                  <a:lnTo>
                    <a:pt x="1136" y="1230"/>
                  </a:lnTo>
                  <a:lnTo>
                    <a:pt x="1087" y="1252"/>
                  </a:lnTo>
                  <a:lnTo>
                    <a:pt x="1043" y="1265"/>
                  </a:lnTo>
                  <a:lnTo>
                    <a:pt x="990" y="1278"/>
                  </a:lnTo>
                  <a:lnTo>
                    <a:pt x="950" y="1287"/>
                  </a:lnTo>
                  <a:lnTo>
                    <a:pt x="889" y="1292"/>
                  </a:lnTo>
                  <a:lnTo>
                    <a:pt x="836" y="1296"/>
                  </a:lnTo>
                  <a:lnTo>
                    <a:pt x="587"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4" y="520"/>
                  </a:lnTo>
                  <a:lnTo>
                    <a:pt x="216"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US"/>
            </a:p>
          </p:txBody>
        </p:sp>
        <p:sp>
          <p:nvSpPr>
            <p:cNvPr id="15" name="Text Box 12"/>
            <p:cNvSpPr txBox="1">
              <a:spLocks noChangeArrowheads="1"/>
            </p:cNvSpPr>
            <p:nvPr/>
          </p:nvSpPr>
          <p:spPr bwMode="auto">
            <a:xfrm>
              <a:off x="471" y="2571"/>
              <a:ext cx="230" cy="29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C</a:t>
              </a:r>
            </a:p>
          </p:txBody>
        </p:sp>
      </p:grpSp>
      <p:grpSp>
        <p:nvGrpSpPr>
          <p:cNvPr id="16" name="Group 13"/>
          <p:cNvGrpSpPr>
            <a:grpSpLocks/>
          </p:cNvGrpSpPr>
          <p:nvPr/>
        </p:nvGrpSpPr>
        <p:grpSpPr bwMode="auto">
          <a:xfrm>
            <a:off x="2809875" y="5632450"/>
            <a:ext cx="522287" cy="534987"/>
            <a:chOff x="409" y="2980"/>
            <a:chExt cx="329" cy="337"/>
          </a:xfrm>
        </p:grpSpPr>
        <p:sp>
          <p:nvSpPr>
            <p:cNvPr id="17" name="Freeform 14"/>
            <p:cNvSpPr>
              <a:spLocks noChangeArrowheads="1"/>
            </p:cNvSpPr>
            <p:nvPr/>
          </p:nvSpPr>
          <p:spPr bwMode="auto">
            <a:xfrm>
              <a:off x="409" y="2980"/>
              <a:ext cx="329" cy="294"/>
            </a:xfrm>
            <a:custGeom>
              <a:avLst/>
              <a:gdLst/>
              <a:ahLst/>
              <a:cxnLst>
                <a:cxn ang="0">
                  <a:pos x="411" y="61"/>
                </a:cxn>
                <a:cxn ang="0">
                  <a:pos x="689" y="70"/>
                </a:cxn>
                <a:cxn ang="0">
                  <a:pos x="990" y="0"/>
                </a:cxn>
                <a:cxn ang="0">
                  <a:pos x="1349" y="0"/>
                </a:cxn>
                <a:cxn ang="0">
                  <a:pos x="950" y="370"/>
                </a:cxn>
                <a:cxn ang="0">
                  <a:pos x="1056" y="392"/>
                </a:cxn>
                <a:cxn ang="0">
                  <a:pos x="1162" y="436"/>
                </a:cxn>
                <a:cxn ang="0">
                  <a:pos x="1260" y="489"/>
                </a:cxn>
                <a:cxn ang="0">
                  <a:pos x="1335" y="556"/>
                </a:cxn>
                <a:cxn ang="0">
                  <a:pos x="1397" y="635"/>
                </a:cxn>
                <a:cxn ang="0">
                  <a:pos x="1437" y="728"/>
                </a:cxn>
                <a:cxn ang="0">
                  <a:pos x="1450" y="824"/>
                </a:cxn>
                <a:cxn ang="0">
                  <a:pos x="1432" y="925"/>
                </a:cxn>
                <a:cxn ang="0">
                  <a:pos x="1402" y="1005"/>
                </a:cxn>
                <a:cxn ang="0">
                  <a:pos x="1340" y="1089"/>
                </a:cxn>
                <a:cxn ang="0">
                  <a:pos x="1238" y="1177"/>
                </a:cxn>
                <a:cxn ang="0">
                  <a:pos x="1136" y="1230"/>
                </a:cxn>
                <a:cxn ang="0">
                  <a:pos x="1043" y="1265"/>
                </a:cxn>
                <a:cxn ang="0">
                  <a:pos x="950" y="1287"/>
                </a:cxn>
                <a:cxn ang="0">
                  <a:pos x="836" y="1296"/>
                </a:cxn>
                <a:cxn ang="0">
                  <a:pos x="539" y="1292"/>
                </a:cxn>
                <a:cxn ang="0">
                  <a:pos x="398" y="1265"/>
                </a:cxn>
                <a:cxn ang="0">
                  <a:pos x="248" y="1199"/>
                </a:cxn>
                <a:cxn ang="0">
                  <a:pos x="132" y="1115"/>
                </a:cxn>
                <a:cxn ang="0">
                  <a:pos x="57" y="1022"/>
                </a:cxn>
                <a:cxn ang="0">
                  <a:pos x="17" y="925"/>
                </a:cxn>
                <a:cxn ang="0">
                  <a:pos x="0" y="841"/>
                </a:cxn>
                <a:cxn ang="0">
                  <a:pos x="13" y="744"/>
                </a:cxn>
                <a:cxn ang="0">
                  <a:pos x="61" y="622"/>
                </a:cxn>
                <a:cxn ang="0">
                  <a:pos x="154" y="520"/>
                </a:cxn>
                <a:cxn ang="0">
                  <a:pos x="279" y="436"/>
                </a:cxn>
                <a:cxn ang="0">
                  <a:pos x="451" y="379"/>
                </a:cxn>
                <a:cxn ang="0">
                  <a:pos x="176" y="17"/>
                </a:cxn>
              </a:cxnLst>
              <a:rect l="0" t="0" r="r" b="b"/>
              <a:pathLst>
                <a:path w="1451" h="1297">
                  <a:moveTo>
                    <a:pt x="176" y="17"/>
                  </a:moveTo>
                  <a:lnTo>
                    <a:pt x="411" y="61"/>
                  </a:lnTo>
                  <a:lnTo>
                    <a:pt x="407" y="0"/>
                  </a:lnTo>
                  <a:lnTo>
                    <a:pt x="689" y="70"/>
                  </a:lnTo>
                  <a:lnTo>
                    <a:pt x="689" y="0"/>
                  </a:lnTo>
                  <a:lnTo>
                    <a:pt x="990" y="0"/>
                  </a:lnTo>
                  <a:lnTo>
                    <a:pt x="986" y="66"/>
                  </a:lnTo>
                  <a:lnTo>
                    <a:pt x="1349" y="0"/>
                  </a:lnTo>
                  <a:lnTo>
                    <a:pt x="906" y="366"/>
                  </a:lnTo>
                  <a:lnTo>
                    <a:pt x="950" y="370"/>
                  </a:lnTo>
                  <a:lnTo>
                    <a:pt x="999" y="379"/>
                  </a:lnTo>
                  <a:lnTo>
                    <a:pt x="1056" y="392"/>
                  </a:lnTo>
                  <a:lnTo>
                    <a:pt x="1105" y="410"/>
                  </a:lnTo>
                  <a:lnTo>
                    <a:pt x="1162" y="436"/>
                  </a:lnTo>
                  <a:lnTo>
                    <a:pt x="1212" y="459"/>
                  </a:lnTo>
                  <a:lnTo>
                    <a:pt x="1260"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8" y="1177"/>
                  </a:lnTo>
                  <a:lnTo>
                    <a:pt x="1184" y="1208"/>
                  </a:lnTo>
                  <a:lnTo>
                    <a:pt x="1136" y="1230"/>
                  </a:lnTo>
                  <a:lnTo>
                    <a:pt x="1087" y="1252"/>
                  </a:lnTo>
                  <a:lnTo>
                    <a:pt x="1043" y="1265"/>
                  </a:lnTo>
                  <a:lnTo>
                    <a:pt x="990" y="1278"/>
                  </a:lnTo>
                  <a:lnTo>
                    <a:pt x="950" y="1287"/>
                  </a:lnTo>
                  <a:lnTo>
                    <a:pt x="889" y="1292"/>
                  </a:lnTo>
                  <a:lnTo>
                    <a:pt x="836" y="1296"/>
                  </a:lnTo>
                  <a:lnTo>
                    <a:pt x="587"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4" y="520"/>
                  </a:lnTo>
                  <a:lnTo>
                    <a:pt x="216"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US"/>
            </a:p>
          </p:txBody>
        </p:sp>
        <p:sp>
          <p:nvSpPr>
            <p:cNvPr id="18" name="Text Box 15"/>
            <p:cNvSpPr txBox="1">
              <a:spLocks noChangeArrowheads="1"/>
            </p:cNvSpPr>
            <p:nvPr/>
          </p:nvSpPr>
          <p:spPr bwMode="auto">
            <a:xfrm>
              <a:off x="471" y="3027"/>
              <a:ext cx="230" cy="29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D</a:t>
              </a:r>
            </a:p>
          </p:txBody>
        </p:sp>
      </p:grpSp>
      <p:sp>
        <p:nvSpPr>
          <p:cNvPr id="19" name="Text Box 16"/>
          <p:cNvSpPr txBox="1">
            <a:spLocks noChangeArrowheads="1"/>
          </p:cNvSpPr>
          <p:nvPr/>
        </p:nvSpPr>
        <p:spPr bwMode="auto">
          <a:xfrm>
            <a:off x="3125787" y="1706562"/>
            <a:ext cx="773113" cy="460375"/>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6 PM</a:t>
            </a:r>
          </a:p>
        </p:txBody>
      </p:sp>
      <p:sp>
        <p:nvSpPr>
          <p:cNvPr id="20" name="Line 17"/>
          <p:cNvSpPr>
            <a:spLocks noChangeShapeType="1"/>
          </p:cNvSpPr>
          <p:nvPr/>
        </p:nvSpPr>
        <p:spPr bwMode="auto">
          <a:xfrm>
            <a:off x="3495675" y="2298700"/>
            <a:ext cx="6324600" cy="1587"/>
          </a:xfrm>
          <a:prstGeom prst="line">
            <a:avLst/>
          </a:prstGeom>
          <a:noFill/>
          <a:ln w="12600">
            <a:solidFill>
              <a:srgbClr val="000000"/>
            </a:solidFill>
            <a:round/>
            <a:headEnd/>
            <a:tailEnd type="triangle" w="lg" len="lg"/>
          </a:ln>
        </p:spPr>
        <p:txBody>
          <a:bodyPr/>
          <a:lstStyle/>
          <a:p>
            <a:endParaRPr lang="en-US"/>
          </a:p>
        </p:txBody>
      </p:sp>
      <p:sp>
        <p:nvSpPr>
          <p:cNvPr id="21" name="Line 18"/>
          <p:cNvSpPr>
            <a:spLocks noChangeShapeType="1"/>
          </p:cNvSpPr>
          <p:nvPr/>
        </p:nvSpPr>
        <p:spPr bwMode="auto">
          <a:xfrm>
            <a:off x="3489325" y="2165350"/>
            <a:ext cx="1587" cy="304800"/>
          </a:xfrm>
          <a:prstGeom prst="line">
            <a:avLst/>
          </a:prstGeom>
          <a:noFill/>
          <a:ln w="12600">
            <a:solidFill>
              <a:srgbClr val="000000"/>
            </a:solidFill>
            <a:round/>
            <a:headEnd/>
            <a:tailEnd/>
          </a:ln>
        </p:spPr>
        <p:txBody>
          <a:bodyPr/>
          <a:lstStyle/>
          <a:p>
            <a:endParaRPr lang="en-US"/>
          </a:p>
        </p:txBody>
      </p:sp>
      <p:sp>
        <p:nvSpPr>
          <p:cNvPr id="22" name="Text Box 19"/>
          <p:cNvSpPr txBox="1">
            <a:spLocks noChangeArrowheads="1"/>
          </p:cNvSpPr>
          <p:nvPr/>
        </p:nvSpPr>
        <p:spPr bwMode="auto">
          <a:xfrm>
            <a:off x="4357687" y="1719262"/>
            <a:ext cx="322263" cy="460375"/>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7</a:t>
            </a:r>
          </a:p>
        </p:txBody>
      </p:sp>
      <p:sp>
        <p:nvSpPr>
          <p:cNvPr id="23" name="Text Box 20"/>
          <p:cNvSpPr txBox="1">
            <a:spLocks noChangeArrowheads="1"/>
          </p:cNvSpPr>
          <p:nvPr/>
        </p:nvSpPr>
        <p:spPr bwMode="auto">
          <a:xfrm>
            <a:off x="5424487" y="1719262"/>
            <a:ext cx="322263" cy="460375"/>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8</a:t>
            </a:r>
          </a:p>
        </p:txBody>
      </p:sp>
      <p:sp>
        <p:nvSpPr>
          <p:cNvPr id="24" name="Text Box 21"/>
          <p:cNvSpPr txBox="1">
            <a:spLocks noChangeArrowheads="1"/>
          </p:cNvSpPr>
          <p:nvPr/>
        </p:nvSpPr>
        <p:spPr bwMode="auto">
          <a:xfrm>
            <a:off x="6440487" y="1719262"/>
            <a:ext cx="322263" cy="460375"/>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9</a:t>
            </a:r>
          </a:p>
        </p:txBody>
      </p:sp>
      <p:sp>
        <p:nvSpPr>
          <p:cNvPr id="25" name="Text Box 22"/>
          <p:cNvSpPr txBox="1">
            <a:spLocks noChangeArrowheads="1"/>
          </p:cNvSpPr>
          <p:nvPr/>
        </p:nvSpPr>
        <p:spPr bwMode="auto">
          <a:xfrm>
            <a:off x="7380287" y="1731962"/>
            <a:ext cx="463550" cy="460375"/>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10</a:t>
            </a:r>
          </a:p>
        </p:txBody>
      </p:sp>
      <p:sp>
        <p:nvSpPr>
          <p:cNvPr id="26" name="Text Box 23"/>
          <p:cNvSpPr txBox="1">
            <a:spLocks noChangeArrowheads="1"/>
          </p:cNvSpPr>
          <p:nvPr/>
        </p:nvSpPr>
        <p:spPr bwMode="auto">
          <a:xfrm>
            <a:off x="8472487" y="1719262"/>
            <a:ext cx="463550" cy="460375"/>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11</a:t>
            </a:r>
          </a:p>
        </p:txBody>
      </p:sp>
      <p:sp>
        <p:nvSpPr>
          <p:cNvPr id="27" name="Text Box 24"/>
          <p:cNvSpPr txBox="1">
            <a:spLocks noChangeArrowheads="1"/>
          </p:cNvSpPr>
          <p:nvPr/>
        </p:nvSpPr>
        <p:spPr bwMode="auto">
          <a:xfrm>
            <a:off x="9258300" y="1706562"/>
            <a:ext cx="1238250" cy="460375"/>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Midnight</a:t>
            </a:r>
          </a:p>
        </p:txBody>
      </p:sp>
      <p:grpSp>
        <p:nvGrpSpPr>
          <p:cNvPr id="28" name="Group 25"/>
          <p:cNvGrpSpPr>
            <a:grpSpLocks/>
          </p:cNvGrpSpPr>
          <p:nvPr/>
        </p:nvGrpSpPr>
        <p:grpSpPr bwMode="auto">
          <a:xfrm>
            <a:off x="3533775" y="3206750"/>
            <a:ext cx="3489325" cy="2932112"/>
            <a:chOff x="865" y="1452"/>
            <a:chExt cx="2198" cy="1847"/>
          </a:xfrm>
        </p:grpSpPr>
        <p:grpSp>
          <p:nvGrpSpPr>
            <p:cNvPr id="29" name="Group 26"/>
            <p:cNvGrpSpPr>
              <a:grpSpLocks/>
            </p:cNvGrpSpPr>
            <p:nvPr/>
          </p:nvGrpSpPr>
          <p:grpSpPr bwMode="auto">
            <a:xfrm>
              <a:off x="865" y="1452"/>
              <a:ext cx="967" cy="448"/>
              <a:chOff x="865" y="1452"/>
              <a:chExt cx="967" cy="448"/>
            </a:xfrm>
          </p:grpSpPr>
          <p:grpSp>
            <p:nvGrpSpPr>
              <p:cNvPr id="123" name="Group 27"/>
              <p:cNvGrpSpPr>
                <a:grpSpLocks/>
              </p:cNvGrpSpPr>
              <p:nvPr/>
            </p:nvGrpSpPr>
            <p:grpSpPr bwMode="auto">
              <a:xfrm>
                <a:off x="865" y="1452"/>
                <a:ext cx="305" cy="448"/>
                <a:chOff x="865" y="1452"/>
                <a:chExt cx="305" cy="448"/>
              </a:xfrm>
            </p:grpSpPr>
            <p:grpSp>
              <p:nvGrpSpPr>
                <p:cNvPr id="143" name="Group 28"/>
                <p:cNvGrpSpPr>
                  <a:grpSpLocks/>
                </p:cNvGrpSpPr>
                <p:nvPr/>
              </p:nvGrpSpPr>
              <p:grpSpPr bwMode="auto">
                <a:xfrm>
                  <a:off x="865" y="1452"/>
                  <a:ext cx="305" cy="448"/>
                  <a:chOff x="865" y="1452"/>
                  <a:chExt cx="305" cy="448"/>
                </a:xfrm>
              </p:grpSpPr>
              <p:grpSp>
                <p:nvGrpSpPr>
                  <p:cNvPr id="145" name="Group 29"/>
                  <p:cNvGrpSpPr>
                    <a:grpSpLocks/>
                  </p:cNvGrpSpPr>
                  <p:nvPr/>
                </p:nvGrpSpPr>
                <p:grpSpPr bwMode="auto">
                  <a:xfrm>
                    <a:off x="865" y="1523"/>
                    <a:ext cx="305" cy="377"/>
                    <a:chOff x="865" y="1523"/>
                    <a:chExt cx="305" cy="377"/>
                  </a:xfrm>
                </p:grpSpPr>
                <p:sp>
                  <p:nvSpPr>
                    <p:cNvPr id="150" name="Freeform 30"/>
                    <p:cNvSpPr>
                      <a:spLocks noChangeArrowheads="1"/>
                    </p:cNvSpPr>
                    <p:nvPr/>
                  </p:nvSpPr>
                  <p:spPr bwMode="auto">
                    <a:xfrm>
                      <a:off x="865" y="1523"/>
                      <a:ext cx="305" cy="377"/>
                    </a:xfrm>
                    <a:custGeom>
                      <a:avLst/>
                      <a:gdLst/>
                      <a:ahLst/>
                      <a:cxnLst>
                        <a:cxn ang="0">
                          <a:pos x="0" y="1662"/>
                        </a:cxn>
                        <a:cxn ang="0">
                          <a:pos x="0" y="336"/>
                        </a:cxn>
                        <a:cxn ang="0">
                          <a:pos x="335" y="0"/>
                        </a:cxn>
                        <a:cxn ang="0">
                          <a:pos x="1345" y="0"/>
                        </a:cxn>
                        <a:cxn ang="0">
                          <a:pos x="1345" y="1326"/>
                        </a:cxn>
                        <a:cxn ang="0">
                          <a:pos x="1008" y="1662"/>
                        </a:cxn>
                        <a:cxn ang="0">
                          <a:pos x="0" y="1662"/>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US"/>
                    </a:p>
                  </p:txBody>
                </p:sp>
                <p:sp>
                  <p:nvSpPr>
                    <p:cNvPr id="151" name="Freeform 31"/>
                    <p:cNvSpPr>
                      <a:spLocks noChangeArrowheads="1"/>
                    </p:cNvSpPr>
                    <p:nvPr/>
                  </p:nvSpPr>
                  <p:spPr bwMode="auto">
                    <a:xfrm>
                      <a:off x="865" y="1523"/>
                      <a:ext cx="305" cy="76"/>
                    </a:xfrm>
                    <a:custGeom>
                      <a:avLst/>
                      <a:gdLst/>
                      <a:ahLst/>
                      <a:cxnLst>
                        <a:cxn ang="0">
                          <a:pos x="0" y="336"/>
                        </a:cxn>
                        <a:cxn ang="0">
                          <a:pos x="335" y="0"/>
                        </a:cxn>
                        <a:cxn ang="0">
                          <a:pos x="1345" y="0"/>
                        </a:cxn>
                        <a:cxn ang="0">
                          <a:pos x="1008" y="336"/>
                        </a:cxn>
                        <a:cxn ang="0">
                          <a:pos x="0" y="336"/>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US"/>
                    </a:p>
                  </p:txBody>
                </p:sp>
                <p:sp>
                  <p:nvSpPr>
                    <p:cNvPr id="152" name="Freeform 32"/>
                    <p:cNvSpPr>
                      <a:spLocks noChangeArrowheads="1"/>
                    </p:cNvSpPr>
                    <p:nvPr/>
                  </p:nvSpPr>
                  <p:spPr bwMode="auto">
                    <a:xfrm>
                      <a:off x="1093" y="1523"/>
                      <a:ext cx="77" cy="377"/>
                    </a:xfrm>
                    <a:custGeom>
                      <a:avLst/>
                      <a:gdLst/>
                      <a:ahLst/>
                      <a:cxnLst>
                        <a:cxn ang="0">
                          <a:pos x="0" y="1662"/>
                        </a:cxn>
                        <a:cxn ang="0">
                          <a:pos x="0" y="336"/>
                        </a:cxn>
                        <a:cxn ang="0">
                          <a:pos x="337" y="0"/>
                        </a:cxn>
                        <a:cxn ang="0">
                          <a:pos x="337" y="1326"/>
                        </a:cxn>
                        <a:cxn ang="0">
                          <a:pos x="0" y="1662"/>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US"/>
                    </a:p>
                  </p:txBody>
                </p:sp>
              </p:grpSp>
              <p:grpSp>
                <p:nvGrpSpPr>
                  <p:cNvPr id="146" name="Group 33"/>
                  <p:cNvGrpSpPr>
                    <a:grpSpLocks/>
                  </p:cNvGrpSpPr>
                  <p:nvPr/>
                </p:nvGrpSpPr>
                <p:grpSpPr bwMode="auto">
                  <a:xfrm>
                    <a:off x="935" y="1452"/>
                    <a:ext cx="235" cy="78"/>
                    <a:chOff x="935" y="1452"/>
                    <a:chExt cx="235" cy="78"/>
                  </a:xfrm>
                </p:grpSpPr>
                <p:sp>
                  <p:nvSpPr>
                    <p:cNvPr id="147" name="Freeform 34"/>
                    <p:cNvSpPr>
                      <a:spLocks noChangeArrowheads="1"/>
                    </p:cNvSpPr>
                    <p:nvPr/>
                  </p:nvSpPr>
                  <p:spPr bwMode="auto">
                    <a:xfrm>
                      <a:off x="935" y="1452"/>
                      <a:ext cx="235" cy="78"/>
                    </a:xfrm>
                    <a:custGeom>
                      <a:avLst/>
                      <a:gdLst/>
                      <a:ahLst/>
                      <a:cxnLst>
                        <a:cxn ang="0">
                          <a:pos x="0" y="344"/>
                        </a:cxn>
                        <a:cxn ang="0">
                          <a:pos x="0" y="85"/>
                        </a:cxn>
                        <a:cxn ang="0">
                          <a:pos x="85" y="0"/>
                        </a:cxn>
                        <a:cxn ang="0">
                          <a:pos x="1037" y="0"/>
                        </a:cxn>
                        <a:cxn ang="0">
                          <a:pos x="1037" y="257"/>
                        </a:cxn>
                        <a:cxn ang="0">
                          <a:pos x="950" y="344"/>
                        </a:cxn>
                        <a:cxn ang="0">
                          <a:pos x="0" y="344"/>
                        </a:cxn>
                      </a:cxnLst>
                      <a:rect l="0" t="0" r="r" b="b"/>
                      <a:pathLst>
                        <a:path w="1038" h="345">
                          <a:moveTo>
                            <a:pt x="0" y="344"/>
                          </a:moveTo>
                          <a:lnTo>
                            <a:pt x="0" y="85"/>
                          </a:lnTo>
                          <a:lnTo>
                            <a:pt x="85" y="0"/>
                          </a:lnTo>
                          <a:lnTo>
                            <a:pt x="1037" y="0"/>
                          </a:lnTo>
                          <a:lnTo>
                            <a:pt x="1037" y="257"/>
                          </a:lnTo>
                          <a:lnTo>
                            <a:pt x="950" y="344"/>
                          </a:lnTo>
                          <a:lnTo>
                            <a:pt x="0" y="344"/>
                          </a:lnTo>
                        </a:path>
                      </a:pathLst>
                    </a:custGeom>
                    <a:solidFill>
                      <a:srgbClr val="F6BF69"/>
                    </a:solidFill>
                    <a:ln w="12600">
                      <a:solidFill>
                        <a:srgbClr val="000000"/>
                      </a:solidFill>
                      <a:round/>
                      <a:headEnd/>
                      <a:tailEnd/>
                    </a:ln>
                  </p:spPr>
                  <p:txBody>
                    <a:bodyPr wrap="none" anchor="ctr"/>
                    <a:lstStyle/>
                    <a:p>
                      <a:endParaRPr lang="en-US"/>
                    </a:p>
                  </p:txBody>
                </p:sp>
                <p:sp>
                  <p:nvSpPr>
                    <p:cNvPr id="148" name="Freeform 35"/>
                    <p:cNvSpPr>
                      <a:spLocks noChangeArrowheads="1"/>
                    </p:cNvSpPr>
                    <p:nvPr/>
                  </p:nvSpPr>
                  <p:spPr bwMode="auto">
                    <a:xfrm>
                      <a:off x="935" y="1452"/>
                      <a:ext cx="235" cy="20"/>
                    </a:xfrm>
                    <a:custGeom>
                      <a:avLst/>
                      <a:gdLst/>
                      <a:ahLst/>
                      <a:cxnLst>
                        <a:cxn ang="0">
                          <a:pos x="0" y="85"/>
                        </a:cxn>
                        <a:cxn ang="0">
                          <a:pos x="85" y="0"/>
                        </a:cxn>
                        <a:cxn ang="0">
                          <a:pos x="1037" y="0"/>
                        </a:cxn>
                        <a:cxn ang="0">
                          <a:pos x="950" y="85"/>
                        </a:cxn>
                        <a:cxn ang="0">
                          <a:pos x="0" y="85"/>
                        </a:cxn>
                      </a:cxnLst>
                      <a:rect l="0" t="0" r="r" b="b"/>
                      <a:pathLst>
                        <a:path w="1038" h="86">
                          <a:moveTo>
                            <a:pt x="0" y="85"/>
                          </a:moveTo>
                          <a:lnTo>
                            <a:pt x="85" y="0"/>
                          </a:lnTo>
                          <a:lnTo>
                            <a:pt x="1037" y="0"/>
                          </a:lnTo>
                          <a:lnTo>
                            <a:pt x="950" y="85"/>
                          </a:lnTo>
                          <a:lnTo>
                            <a:pt x="0" y="85"/>
                          </a:lnTo>
                        </a:path>
                      </a:pathLst>
                    </a:custGeom>
                    <a:solidFill>
                      <a:srgbClr val="FFD072"/>
                    </a:solidFill>
                    <a:ln w="12600">
                      <a:solidFill>
                        <a:srgbClr val="000000"/>
                      </a:solidFill>
                      <a:round/>
                      <a:headEnd/>
                      <a:tailEnd/>
                    </a:ln>
                  </p:spPr>
                  <p:txBody>
                    <a:bodyPr wrap="none" anchor="ctr"/>
                    <a:lstStyle/>
                    <a:p>
                      <a:endParaRPr lang="en-US"/>
                    </a:p>
                  </p:txBody>
                </p:sp>
                <p:sp>
                  <p:nvSpPr>
                    <p:cNvPr id="149" name="Freeform 36"/>
                    <p:cNvSpPr>
                      <a:spLocks noChangeArrowheads="1"/>
                    </p:cNvSpPr>
                    <p:nvPr/>
                  </p:nvSpPr>
                  <p:spPr bwMode="auto">
                    <a:xfrm>
                      <a:off x="1150" y="1452"/>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US"/>
                    </a:p>
                  </p:txBody>
                </p:sp>
              </p:grpSp>
            </p:grpSp>
            <p:sp>
              <p:nvSpPr>
                <p:cNvPr id="144" name="Freeform 37"/>
                <p:cNvSpPr>
                  <a:spLocks noChangeArrowheads="1"/>
                </p:cNvSpPr>
                <p:nvPr/>
              </p:nvSpPr>
              <p:spPr bwMode="auto">
                <a:xfrm>
                  <a:off x="927" y="1556"/>
                  <a:ext cx="158" cy="27"/>
                </a:xfrm>
                <a:custGeom>
                  <a:avLst/>
                  <a:gdLst/>
                  <a:ahLst/>
                  <a:cxnLst>
                    <a:cxn ang="0">
                      <a:pos x="173" y="0"/>
                    </a:cxn>
                    <a:cxn ang="0">
                      <a:pos x="697" y="0"/>
                    </a:cxn>
                    <a:cxn ang="0">
                      <a:pos x="522" y="120"/>
                    </a:cxn>
                    <a:cxn ang="0">
                      <a:pos x="0" y="120"/>
                    </a:cxn>
                    <a:cxn ang="0">
                      <a:pos x="173" y="0"/>
                    </a:cxn>
                  </a:cxnLst>
                  <a:rect l="0" t="0" r="r" b="b"/>
                  <a:pathLst>
                    <a:path w="698" h="121">
                      <a:moveTo>
                        <a:pt x="173" y="0"/>
                      </a:moveTo>
                      <a:lnTo>
                        <a:pt x="697" y="0"/>
                      </a:lnTo>
                      <a:lnTo>
                        <a:pt x="522" y="120"/>
                      </a:lnTo>
                      <a:lnTo>
                        <a:pt x="0" y="120"/>
                      </a:lnTo>
                      <a:lnTo>
                        <a:pt x="173" y="0"/>
                      </a:lnTo>
                    </a:path>
                  </a:pathLst>
                </a:custGeom>
                <a:solidFill>
                  <a:srgbClr val="F6BF69"/>
                </a:solidFill>
                <a:ln w="25560">
                  <a:solidFill>
                    <a:srgbClr val="000000"/>
                  </a:solidFill>
                  <a:round/>
                  <a:headEnd/>
                  <a:tailEnd/>
                </a:ln>
              </p:spPr>
              <p:txBody>
                <a:bodyPr wrap="none" anchor="ctr"/>
                <a:lstStyle/>
                <a:p>
                  <a:endParaRPr lang="en-US"/>
                </a:p>
              </p:txBody>
            </p:sp>
          </p:grpSp>
          <p:grpSp>
            <p:nvGrpSpPr>
              <p:cNvPr id="124" name="Group 38"/>
              <p:cNvGrpSpPr>
                <a:grpSpLocks/>
              </p:cNvGrpSpPr>
              <p:nvPr/>
            </p:nvGrpSpPr>
            <p:grpSpPr bwMode="auto">
              <a:xfrm>
                <a:off x="1166" y="1452"/>
                <a:ext cx="379" cy="448"/>
                <a:chOff x="1166" y="1452"/>
                <a:chExt cx="379" cy="448"/>
              </a:xfrm>
            </p:grpSpPr>
            <p:grpSp>
              <p:nvGrpSpPr>
                <p:cNvPr id="132" name="Group 39"/>
                <p:cNvGrpSpPr>
                  <a:grpSpLocks/>
                </p:cNvGrpSpPr>
                <p:nvPr/>
              </p:nvGrpSpPr>
              <p:grpSpPr bwMode="auto">
                <a:xfrm>
                  <a:off x="1166" y="1452"/>
                  <a:ext cx="379" cy="448"/>
                  <a:chOff x="1166" y="1452"/>
                  <a:chExt cx="379" cy="448"/>
                </a:xfrm>
              </p:grpSpPr>
              <p:grpSp>
                <p:nvGrpSpPr>
                  <p:cNvPr id="135" name="Group 40"/>
                  <p:cNvGrpSpPr>
                    <a:grpSpLocks/>
                  </p:cNvGrpSpPr>
                  <p:nvPr/>
                </p:nvGrpSpPr>
                <p:grpSpPr bwMode="auto">
                  <a:xfrm>
                    <a:off x="1166" y="1523"/>
                    <a:ext cx="379" cy="377"/>
                    <a:chOff x="1166" y="1523"/>
                    <a:chExt cx="379" cy="377"/>
                  </a:xfrm>
                </p:grpSpPr>
                <p:sp>
                  <p:nvSpPr>
                    <p:cNvPr id="140" name="Freeform 41"/>
                    <p:cNvSpPr>
                      <a:spLocks noChangeArrowheads="1"/>
                    </p:cNvSpPr>
                    <p:nvPr/>
                  </p:nvSpPr>
                  <p:spPr bwMode="auto">
                    <a:xfrm>
                      <a:off x="1166" y="1523"/>
                      <a:ext cx="378" cy="377"/>
                    </a:xfrm>
                    <a:custGeom>
                      <a:avLst/>
                      <a:gdLst/>
                      <a:ahLst/>
                      <a:cxnLst>
                        <a:cxn ang="0">
                          <a:pos x="0" y="1662"/>
                        </a:cxn>
                        <a:cxn ang="0">
                          <a:pos x="0" y="415"/>
                        </a:cxn>
                        <a:cxn ang="0">
                          <a:pos x="414" y="0"/>
                        </a:cxn>
                        <a:cxn ang="0">
                          <a:pos x="1667" y="0"/>
                        </a:cxn>
                        <a:cxn ang="0">
                          <a:pos x="1667" y="1247"/>
                        </a:cxn>
                        <a:cxn ang="0">
                          <a:pos x="1251" y="1662"/>
                        </a:cxn>
                        <a:cxn ang="0">
                          <a:pos x="0" y="1662"/>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US"/>
                    </a:p>
                  </p:txBody>
                </p:sp>
                <p:sp>
                  <p:nvSpPr>
                    <p:cNvPr id="141" name="Freeform 42"/>
                    <p:cNvSpPr>
                      <a:spLocks noChangeArrowheads="1"/>
                    </p:cNvSpPr>
                    <p:nvPr/>
                  </p:nvSpPr>
                  <p:spPr bwMode="auto">
                    <a:xfrm>
                      <a:off x="1166" y="1523"/>
                      <a:ext cx="378" cy="94"/>
                    </a:xfrm>
                    <a:custGeom>
                      <a:avLst/>
                      <a:gdLst/>
                      <a:ahLst/>
                      <a:cxnLst>
                        <a:cxn ang="0">
                          <a:pos x="0" y="415"/>
                        </a:cxn>
                        <a:cxn ang="0">
                          <a:pos x="414" y="0"/>
                        </a:cxn>
                        <a:cxn ang="0">
                          <a:pos x="1667" y="0"/>
                        </a:cxn>
                        <a:cxn ang="0">
                          <a:pos x="1251" y="415"/>
                        </a:cxn>
                        <a:cxn ang="0">
                          <a:pos x="0" y="415"/>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US"/>
                    </a:p>
                  </p:txBody>
                </p:sp>
                <p:sp>
                  <p:nvSpPr>
                    <p:cNvPr id="142" name="Freeform 43"/>
                    <p:cNvSpPr>
                      <a:spLocks noChangeArrowheads="1"/>
                    </p:cNvSpPr>
                    <p:nvPr/>
                  </p:nvSpPr>
                  <p:spPr bwMode="auto">
                    <a:xfrm>
                      <a:off x="1450" y="1523"/>
                      <a:ext cx="95" cy="377"/>
                    </a:xfrm>
                    <a:custGeom>
                      <a:avLst/>
                      <a:gdLst/>
                      <a:ahLst/>
                      <a:cxnLst>
                        <a:cxn ang="0">
                          <a:pos x="0" y="1662"/>
                        </a:cxn>
                        <a:cxn ang="0">
                          <a:pos x="0" y="415"/>
                        </a:cxn>
                        <a:cxn ang="0">
                          <a:pos x="416" y="0"/>
                        </a:cxn>
                        <a:cxn ang="0">
                          <a:pos x="416" y="1247"/>
                        </a:cxn>
                        <a:cxn ang="0">
                          <a:pos x="0" y="1662"/>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US"/>
                    </a:p>
                  </p:txBody>
                </p:sp>
              </p:grpSp>
              <p:grpSp>
                <p:nvGrpSpPr>
                  <p:cNvPr id="136" name="Group 44"/>
                  <p:cNvGrpSpPr>
                    <a:grpSpLocks/>
                  </p:cNvGrpSpPr>
                  <p:nvPr/>
                </p:nvGrpSpPr>
                <p:grpSpPr bwMode="auto">
                  <a:xfrm>
                    <a:off x="1252" y="1452"/>
                    <a:ext cx="292" cy="78"/>
                    <a:chOff x="1252" y="1452"/>
                    <a:chExt cx="292" cy="78"/>
                  </a:xfrm>
                </p:grpSpPr>
                <p:sp>
                  <p:nvSpPr>
                    <p:cNvPr id="137" name="Freeform 45"/>
                    <p:cNvSpPr>
                      <a:spLocks noChangeArrowheads="1"/>
                    </p:cNvSpPr>
                    <p:nvPr/>
                  </p:nvSpPr>
                  <p:spPr bwMode="auto">
                    <a:xfrm>
                      <a:off x="1252" y="1452"/>
                      <a:ext cx="292" cy="78"/>
                    </a:xfrm>
                    <a:custGeom>
                      <a:avLst/>
                      <a:gdLst/>
                      <a:ahLst/>
                      <a:cxnLst>
                        <a:cxn ang="0">
                          <a:pos x="0" y="344"/>
                        </a:cxn>
                        <a:cxn ang="0">
                          <a:pos x="0" y="85"/>
                        </a:cxn>
                        <a:cxn ang="0">
                          <a:pos x="85" y="0"/>
                        </a:cxn>
                        <a:cxn ang="0">
                          <a:pos x="1288" y="0"/>
                        </a:cxn>
                        <a:cxn ang="0">
                          <a:pos x="1288" y="257"/>
                        </a:cxn>
                        <a:cxn ang="0">
                          <a:pos x="1201" y="344"/>
                        </a:cxn>
                        <a:cxn ang="0">
                          <a:pos x="0" y="344"/>
                        </a:cxn>
                      </a:cxnLst>
                      <a:rect l="0" t="0" r="r" b="b"/>
                      <a:pathLst>
                        <a:path w="1289" h="345">
                          <a:moveTo>
                            <a:pt x="0" y="344"/>
                          </a:moveTo>
                          <a:lnTo>
                            <a:pt x="0" y="85"/>
                          </a:lnTo>
                          <a:lnTo>
                            <a:pt x="85" y="0"/>
                          </a:lnTo>
                          <a:lnTo>
                            <a:pt x="1288" y="0"/>
                          </a:lnTo>
                          <a:lnTo>
                            <a:pt x="1288" y="257"/>
                          </a:lnTo>
                          <a:lnTo>
                            <a:pt x="1201" y="344"/>
                          </a:lnTo>
                          <a:lnTo>
                            <a:pt x="0" y="344"/>
                          </a:lnTo>
                        </a:path>
                      </a:pathLst>
                    </a:custGeom>
                    <a:solidFill>
                      <a:srgbClr val="A2C1FE"/>
                    </a:solidFill>
                    <a:ln w="12600">
                      <a:solidFill>
                        <a:srgbClr val="000000"/>
                      </a:solidFill>
                      <a:round/>
                      <a:headEnd/>
                      <a:tailEnd/>
                    </a:ln>
                  </p:spPr>
                  <p:txBody>
                    <a:bodyPr wrap="none" anchor="ctr"/>
                    <a:lstStyle/>
                    <a:p>
                      <a:endParaRPr lang="en-US"/>
                    </a:p>
                  </p:txBody>
                </p:sp>
                <p:sp>
                  <p:nvSpPr>
                    <p:cNvPr id="138" name="Freeform 46"/>
                    <p:cNvSpPr>
                      <a:spLocks noChangeArrowheads="1"/>
                    </p:cNvSpPr>
                    <p:nvPr/>
                  </p:nvSpPr>
                  <p:spPr bwMode="auto">
                    <a:xfrm>
                      <a:off x="1252" y="1452"/>
                      <a:ext cx="292" cy="20"/>
                    </a:xfrm>
                    <a:custGeom>
                      <a:avLst/>
                      <a:gdLst/>
                      <a:ahLst/>
                      <a:cxnLst>
                        <a:cxn ang="0">
                          <a:pos x="0" y="85"/>
                        </a:cxn>
                        <a:cxn ang="0">
                          <a:pos x="85" y="0"/>
                        </a:cxn>
                        <a:cxn ang="0">
                          <a:pos x="1288" y="0"/>
                        </a:cxn>
                        <a:cxn ang="0">
                          <a:pos x="1201" y="85"/>
                        </a:cxn>
                        <a:cxn ang="0">
                          <a:pos x="0" y="85"/>
                        </a:cxn>
                      </a:cxnLst>
                      <a:rect l="0" t="0" r="r" b="b"/>
                      <a:pathLst>
                        <a:path w="1289" h="86">
                          <a:moveTo>
                            <a:pt x="0" y="85"/>
                          </a:moveTo>
                          <a:lnTo>
                            <a:pt x="85" y="0"/>
                          </a:lnTo>
                          <a:lnTo>
                            <a:pt x="1288" y="0"/>
                          </a:lnTo>
                          <a:lnTo>
                            <a:pt x="1201" y="85"/>
                          </a:lnTo>
                          <a:lnTo>
                            <a:pt x="0" y="85"/>
                          </a:lnTo>
                        </a:path>
                      </a:pathLst>
                    </a:custGeom>
                    <a:solidFill>
                      <a:srgbClr val="B1D3FF"/>
                    </a:solidFill>
                    <a:ln w="12600">
                      <a:solidFill>
                        <a:srgbClr val="000000"/>
                      </a:solidFill>
                      <a:round/>
                      <a:headEnd/>
                      <a:tailEnd/>
                    </a:ln>
                  </p:spPr>
                  <p:txBody>
                    <a:bodyPr wrap="none" anchor="ctr"/>
                    <a:lstStyle/>
                    <a:p>
                      <a:endParaRPr lang="en-US"/>
                    </a:p>
                  </p:txBody>
                </p:sp>
                <p:sp>
                  <p:nvSpPr>
                    <p:cNvPr id="139" name="Freeform 47"/>
                    <p:cNvSpPr>
                      <a:spLocks noChangeArrowheads="1"/>
                    </p:cNvSpPr>
                    <p:nvPr/>
                  </p:nvSpPr>
                  <p:spPr bwMode="auto">
                    <a:xfrm>
                      <a:off x="1524" y="1452"/>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US"/>
                    </a:p>
                  </p:txBody>
                </p:sp>
              </p:grpSp>
            </p:grpSp>
            <p:sp>
              <p:nvSpPr>
                <p:cNvPr id="133" name="Oval 48"/>
                <p:cNvSpPr>
                  <a:spLocks noChangeArrowheads="1"/>
                </p:cNvSpPr>
                <p:nvPr/>
              </p:nvSpPr>
              <p:spPr bwMode="auto">
                <a:xfrm>
                  <a:off x="1281" y="1488"/>
                  <a:ext cx="49" cy="27"/>
                </a:xfrm>
                <a:prstGeom prst="ellipse">
                  <a:avLst/>
                </a:prstGeom>
                <a:solidFill>
                  <a:srgbClr val="FFFFFF"/>
                </a:solidFill>
                <a:ln w="12600">
                  <a:solidFill>
                    <a:srgbClr val="000000"/>
                  </a:solidFill>
                  <a:round/>
                  <a:headEnd/>
                  <a:tailEnd/>
                </a:ln>
              </p:spPr>
              <p:txBody>
                <a:bodyPr wrap="none" anchor="ctr"/>
                <a:lstStyle/>
                <a:p>
                  <a:endParaRPr lang="en-US"/>
                </a:p>
              </p:txBody>
            </p:sp>
            <p:sp>
              <p:nvSpPr>
                <p:cNvPr id="134" name="Freeform 49"/>
                <p:cNvSpPr>
                  <a:spLocks noChangeArrowheads="1"/>
                </p:cNvSpPr>
                <p:nvPr/>
              </p:nvSpPr>
              <p:spPr bwMode="auto">
                <a:xfrm>
                  <a:off x="1213" y="1698"/>
                  <a:ext cx="198" cy="84"/>
                </a:xfrm>
                <a:custGeom>
                  <a:avLst/>
                  <a:gdLst/>
                  <a:ahLst/>
                  <a:cxnLst>
                    <a:cxn ang="0">
                      <a:pos x="107" y="0"/>
                    </a:cxn>
                    <a:cxn ang="0">
                      <a:pos x="764" y="0"/>
                    </a:cxn>
                    <a:cxn ang="0">
                      <a:pos x="873" y="108"/>
                    </a:cxn>
                    <a:cxn ang="0">
                      <a:pos x="873" y="262"/>
                    </a:cxn>
                    <a:cxn ang="0">
                      <a:pos x="764" y="370"/>
                    </a:cxn>
                    <a:cxn ang="0">
                      <a:pos x="107" y="370"/>
                    </a:cxn>
                    <a:cxn ang="0">
                      <a:pos x="0" y="262"/>
                    </a:cxn>
                    <a:cxn ang="0">
                      <a:pos x="0" y="108"/>
                    </a:cxn>
                    <a:cxn ang="0">
                      <a:pos x="107" y="0"/>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US"/>
                </a:p>
              </p:txBody>
            </p:sp>
          </p:grpSp>
          <p:sp>
            <p:nvSpPr>
              <p:cNvPr id="125" name="Freeform 50"/>
              <p:cNvSpPr>
                <a:spLocks noChangeArrowheads="1"/>
              </p:cNvSpPr>
              <p:nvPr/>
            </p:nvSpPr>
            <p:spPr bwMode="auto">
              <a:xfrm>
                <a:off x="1730" y="1681"/>
                <a:ext cx="85" cy="191"/>
              </a:xfrm>
              <a:custGeom>
                <a:avLst/>
                <a:gdLst/>
                <a:ahLst/>
                <a:cxnLst>
                  <a:cxn ang="0">
                    <a:pos x="273" y="0"/>
                  </a:cxn>
                  <a:cxn ang="0">
                    <a:pos x="375" y="0"/>
                  </a:cxn>
                  <a:cxn ang="0">
                    <a:pos x="101" y="842"/>
                  </a:cxn>
                  <a:cxn ang="0">
                    <a:pos x="0" y="842"/>
                  </a:cxn>
                  <a:cxn ang="0">
                    <a:pos x="273" y="0"/>
                  </a:cxn>
                </a:cxnLst>
                <a:rect l="0" t="0" r="r" b="b"/>
                <a:pathLst>
                  <a:path w="376" h="843">
                    <a:moveTo>
                      <a:pt x="273" y="0"/>
                    </a:moveTo>
                    <a:lnTo>
                      <a:pt x="375" y="0"/>
                    </a:lnTo>
                    <a:lnTo>
                      <a:pt x="101" y="842"/>
                    </a:lnTo>
                    <a:lnTo>
                      <a:pt x="0" y="842"/>
                    </a:lnTo>
                    <a:lnTo>
                      <a:pt x="273" y="0"/>
                    </a:lnTo>
                  </a:path>
                </a:pathLst>
              </a:custGeom>
              <a:solidFill>
                <a:srgbClr val="FC0128"/>
              </a:solidFill>
              <a:ln w="9525">
                <a:noFill/>
                <a:round/>
                <a:headEnd/>
                <a:tailEnd/>
              </a:ln>
            </p:spPr>
            <p:txBody>
              <a:bodyPr wrap="none" anchor="ctr"/>
              <a:lstStyle/>
              <a:p>
                <a:endParaRPr lang="en-US"/>
              </a:p>
            </p:txBody>
          </p:sp>
          <p:sp>
            <p:nvSpPr>
              <p:cNvPr id="126" name="AutoShape 51"/>
              <p:cNvSpPr>
                <a:spLocks noChangeArrowheads="1"/>
              </p:cNvSpPr>
              <p:nvPr/>
            </p:nvSpPr>
            <p:spPr bwMode="auto">
              <a:xfrm>
                <a:off x="1726" y="1681"/>
                <a:ext cx="106"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127" name="AutoShape 52"/>
              <p:cNvSpPr>
                <a:spLocks noChangeArrowheads="1"/>
              </p:cNvSpPr>
              <p:nvPr/>
            </p:nvSpPr>
            <p:spPr bwMode="auto">
              <a:xfrm>
                <a:off x="1733" y="1762"/>
                <a:ext cx="82"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128" name="AutoShape 53"/>
              <p:cNvSpPr>
                <a:spLocks noChangeArrowheads="1"/>
              </p:cNvSpPr>
              <p:nvPr/>
            </p:nvSpPr>
            <p:spPr bwMode="auto">
              <a:xfrm>
                <a:off x="1550" y="1762"/>
                <a:ext cx="103" cy="11"/>
              </a:xfrm>
              <a:prstGeom prst="roundRect">
                <a:avLst>
                  <a:gd name="adj" fmla="val 10000"/>
                </a:avLst>
              </a:prstGeom>
              <a:solidFill>
                <a:srgbClr val="FC0128"/>
              </a:solidFill>
              <a:ln w="9525">
                <a:noFill/>
                <a:round/>
                <a:headEnd/>
                <a:tailEnd/>
              </a:ln>
            </p:spPr>
            <p:txBody>
              <a:bodyPr wrap="none" anchor="ctr"/>
              <a:lstStyle/>
              <a:p>
                <a:endParaRPr lang="en-US"/>
              </a:p>
            </p:txBody>
          </p:sp>
          <p:grpSp>
            <p:nvGrpSpPr>
              <p:cNvPr id="129" name="Group 54"/>
              <p:cNvGrpSpPr>
                <a:grpSpLocks/>
              </p:cNvGrpSpPr>
              <p:nvPr/>
            </p:nvGrpSpPr>
            <p:grpSpPr bwMode="auto">
              <a:xfrm>
                <a:off x="1548" y="1509"/>
                <a:ext cx="194" cy="364"/>
                <a:chOff x="1548" y="1509"/>
                <a:chExt cx="194" cy="364"/>
              </a:xfrm>
            </p:grpSpPr>
            <p:sp>
              <p:nvSpPr>
                <p:cNvPr id="130" name="Oval 55"/>
                <p:cNvSpPr>
                  <a:spLocks noChangeArrowheads="1"/>
                </p:cNvSpPr>
                <p:nvPr/>
              </p:nvSpPr>
              <p:spPr bwMode="auto">
                <a:xfrm>
                  <a:off x="1624" y="1509"/>
                  <a:ext cx="48" cy="49"/>
                </a:xfrm>
                <a:prstGeom prst="ellipse">
                  <a:avLst/>
                </a:prstGeom>
                <a:solidFill>
                  <a:srgbClr val="FC0128"/>
                </a:solidFill>
                <a:ln w="12600">
                  <a:solidFill>
                    <a:srgbClr val="000000"/>
                  </a:solidFill>
                  <a:round/>
                  <a:headEnd/>
                  <a:tailEnd/>
                </a:ln>
              </p:spPr>
              <p:txBody>
                <a:bodyPr wrap="none" anchor="ctr"/>
                <a:lstStyle/>
                <a:p>
                  <a:endParaRPr lang="en-US"/>
                </a:p>
              </p:txBody>
            </p:sp>
            <p:sp>
              <p:nvSpPr>
                <p:cNvPr id="131" name="Freeform 56"/>
                <p:cNvSpPr>
                  <a:spLocks noChangeArrowheads="1"/>
                </p:cNvSpPr>
                <p:nvPr/>
              </p:nvSpPr>
              <p:spPr bwMode="auto">
                <a:xfrm>
                  <a:off x="1548" y="1577"/>
                  <a:ext cx="194" cy="296"/>
                </a:xfrm>
                <a:custGeom>
                  <a:avLst/>
                  <a:gdLst/>
                  <a:ahLst/>
                  <a:cxnLst>
                    <a:cxn ang="0">
                      <a:pos x="8" y="605"/>
                    </a:cxn>
                    <a:cxn ang="0">
                      <a:pos x="4" y="618"/>
                    </a:cxn>
                    <a:cxn ang="0">
                      <a:pos x="0" y="640"/>
                    </a:cxn>
                    <a:cxn ang="0">
                      <a:pos x="0" y="662"/>
                    </a:cxn>
                    <a:cxn ang="0">
                      <a:pos x="8" y="684"/>
                    </a:cxn>
                    <a:cxn ang="0">
                      <a:pos x="17" y="703"/>
                    </a:cxn>
                    <a:cxn ang="0">
                      <a:pos x="35" y="721"/>
                    </a:cxn>
                    <a:cxn ang="0">
                      <a:pos x="52" y="730"/>
                    </a:cxn>
                    <a:cxn ang="0">
                      <a:pos x="70" y="734"/>
                    </a:cxn>
                    <a:cxn ang="0">
                      <a:pos x="92" y="734"/>
                    </a:cxn>
                    <a:cxn ang="0">
                      <a:pos x="558" y="1304"/>
                    </a:cxn>
                    <a:cxn ang="0">
                      <a:pos x="704" y="627"/>
                    </a:cxn>
                    <a:cxn ang="0">
                      <a:pos x="704" y="609"/>
                    </a:cxn>
                    <a:cxn ang="0">
                      <a:pos x="695" y="601"/>
                    </a:cxn>
                    <a:cxn ang="0">
                      <a:pos x="682" y="587"/>
                    </a:cxn>
                    <a:cxn ang="0">
                      <a:pos x="673" y="578"/>
                    </a:cxn>
                    <a:cxn ang="0">
                      <a:pos x="656" y="574"/>
                    </a:cxn>
                    <a:cxn ang="0">
                      <a:pos x="638" y="570"/>
                    </a:cxn>
                    <a:cxn ang="0">
                      <a:pos x="620" y="570"/>
                    </a:cxn>
                    <a:cxn ang="0">
                      <a:pos x="607" y="570"/>
                    </a:cxn>
                    <a:cxn ang="0">
                      <a:pos x="412" y="331"/>
                    </a:cxn>
                    <a:cxn ang="0">
                      <a:pos x="793" y="411"/>
                    </a:cxn>
                    <a:cxn ang="0">
                      <a:pos x="811" y="406"/>
                    </a:cxn>
                    <a:cxn ang="0">
                      <a:pos x="820" y="402"/>
                    </a:cxn>
                    <a:cxn ang="0">
                      <a:pos x="837" y="393"/>
                    </a:cxn>
                    <a:cxn ang="0">
                      <a:pos x="846" y="380"/>
                    </a:cxn>
                    <a:cxn ang="0">
                      <a:pos x="851" y="367"/>
                    </a:cxn>
                    <a:cxn ang="0">
                      <a:pos x="855" y="345"/>
                    </a:cxn>
                    <a:cxn ang="0">
                      <a:pos x="851" y="327"/>
                    </a:cxn>
                    <a:cxn ang="0">
                      <a:pos x="842" y="309"/>
                    </a:cxn>
                    <a:cxn ang="0">
                      <a:pos x="833" y="300"/>
                    </a:cxn>
                    <a:cxn ang="0">
                      <a:pos x="815" y="286"/>
                    </a:cxn>
                    <a:cxn ang="0">
                      <a:pos x="802" y="282"/>
                    </a:cxn>
                    <a:cxn ang="0">
                      <a:pos x="541" y="282"/>
                    </a:cxn>
                    <a:cxn ang="0">
                      <a:pos x="496" y="185"/>
                    </a:cxn>
                    <a:cxn ang="0">
                      <a:pos x="500" y="163"/>
                    </a:cxn>
                    <a:cxn ang="0">
                      <a:pos x="505" y="132"/>
                    </a:cxn>
                    <a:cxn ang="0">
                      <a:pos x="505" y="105"/>
                    </a:cxn>
                    <a:cxn ang="0">
                      <a:pos x="496" y="83"/>
                    </a:cxn>
                    <a:cxn ang="0">
                      <a:pos x="487" y="66"/>
                    </a:cxn>
                    <a:cxn ang="0">
                      <a:pos x="474" y="44"/>
                    </a:cxn>
                    <a:cxn ang="0">
                      <a:pos x="456" y="30"/>
                    </a:cxn>
                    <a:cxn ang="0">
                      <a:pos x="434" y="13"/>
                    </a:cxn>
                    <a:cxn ang="0">
                      <a:pos x="412" y="4"/>
                    </a:cxn>
                    <a:cxn ang="0">
                      <a:pos x="385" y="0"/>
                    </a:cxn>
                    <a:cxn ang="0">
                      <a:pos x="359" y="0"/>
                    </a:cxn>
                    <a:cxn ang="0">
                      <a:pos x="332" y="4"/>
                    </a:cxn>
                    <a:cxn ang="0">
                      <a:pos x="305" y="13"/>
                    </a:cxn>
                    <a:cxn ang="0">
                      <a:pos x="278" y="26"/>
                    </a:cxn>
                    <a:cxn ang="0">
                      <a:pos x="261" y="48"/>
                    </a:cxn>
                    <a:cxn ang="0">
                      <a:pos x="243" y="75"/>
                    </a:cxn>
                    <a:cxn ang="0">
                      <a:pos x="234" y="101"/>
                    </a:cxn>
                  </a:cxnLst>
                  <a:rect l="0" t="0" r="r" b="b"/>
                  <a:pathLst>
                    <a:path w="856" h="1305">
                      <a:moveTo>
                        <a:pt x="234"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2" y="730"/>
                      </a:lnTo>
                      <a:lnTo>
                        <a:pt x="61" y="730"/>
                      </a:lnTo>
                      <a:lnTo>
                        <a:pt x="70" y="734"/>
                      </a:lnTo>
                      <a:lnTo>
                        <a:pt x="79" y="734"/>
                      </a:lnTo>
                      <a:lnTo>
                        <a:pt x="92" y="734"/>
                      </a:lnTo>
                      <a:lnTo>
                        <a:pt x="558" y="734"/>
                      </a:lnTo>
                      <a:lnTo>
                        <a:pt x="558" y="1304"/>
                      </a:lnTo>
                      <a:lnTo>
                        <a:pt x="704" y="1304"/>
                      </a:lnTo>
                      <a:lnTo>
                        <a:pt x="704" y="627"/>
                      </a:lnTo>
                      <a:lnTo>
                        <a:pt x="704" y="618"/>
                      </a:lnTo>
                      <a:lnTo>
                        <a:pt x="704" y="609"/>
                      </a:lnTo>
                      <a:lnTo>
                        <a:pt x="700" y="605"/>
                      </a:lnTo>
                      <a:lnTo>
                        <a:pt x="695" y="601"/>
                      </a:lnTo>
                      <a:lnTo>
                        <a:pt x="691" y="596"/>
                      </a:lnTo>
                      <a:lnTo>
                        <a:pt x="682" y="587"/>
                      </a:lnTo>
                      <a:lnTo>
                        <a:pt x="678" y="583"/>
                      </a:lnTo>
                      <a:lnTo>
                        <a:pt x="673" y="578"/>
                      </a:lnTo>
                      <a:lnTo>
                        <a:pt x="664" y="578"/>
                      </a:lnTo>
                      <a:lnTo>
                        <a:pt x="656" y="574"/>
                      </a:lnTo>
                      <a:lnTo>
                        <a:pt x="647" y="574"/>
                      </a:lnTo>
                      <a:lnTo>
                        <a:pt x="638" y="570"/>
                      </a:lnTo>
                      <a:lnTo>
                        <a:pt x="629" y="570"/>
                      </a:lnTo>
                      <a:lnTo>
                        <a:pt x="620" y="570"/>
                      </a:lnTo>
                      <a:lnTo>
                        <a:pt x="616" y="570"/>
                      </a:lnTo>
                      <a:lnTo>
                        <a:pt x="607" y="570"/>
                      </a:lnTo>
                      <a:lnTo>
                        <a:pt x="337" y="552"/>
                      </a:lnTo>
                      <a:lnTo>
                        <a:pt x="412" y="331"/>
                      </a:lnTo>
                      <a:lnTo>
                        <a:pt x="465" y="411"/>
                      </a:lnTo>
                      <a:lnTo>
                        <a:pt x="793" y="411"/>
                      </a:lnTo>
                      <a:lnTo>
                        <a:pt x="802" y="406"/>
                      </a:lnTo>
                      <a:lnTo>
                        <a:pt x="811" y="406"/>
                      </a:lnTo>
                      <a:lnTo>
                        <a:pt x="815" y="402"/>
                      </a:lnTo>
                      <a:lnTo>
                        <a:pt x="820" y="402"/>
                      </a:lnTo>
                      <a:lnTo>
                        <a:pt x="829" y="398"/>
                      </a:lnTo>
                      <a:lnTo>
                        <a:pt x="837" y="393"/>
                      </a:lnTo>
                      <a:lnTo>
                        <a:pt x="842" y="384"/>
                      </a:lnTo>
                      <a:lnTo>
                        <a:pt x="846" y="380"/>
                      </a:lnTo>
                      <a:lnTo>
                        <a:pt x="851" y="371"/>
                      </a:lnTo>
                      <a:lnTo>
                        <a:pt x="851" y="367"/>
                      </a:lnTo>
                      <a:lnTo>
                        <a:pt x="855" y="358"/>
                      </a:lnTo>
                      <a:lnTo>
                        <a:pt x="855" y="345"/>
                      </a:lnTo>
                      <a:lnTo>
                        <a:pt x="855" y="336"/>
                      </a:lnTo>
                      <a:lnTo>
                        <a:pt x="851" y="327"/>
                      </a:lnTo>
                      <a:lnTo>
                        <a:pt x="846" y="318"/>
                      </a:lnTo>
                      <a:lnTo>
                        <a:pt x="842" y="309"/>
                      </a:lnTo>
                      <a:lnTo>
                        <a:pt x="837" y="305"/>
                      </a:lnTo>
                      <a:lnTo>
                        <a:pt x="833" y="300"/>
                      </a:lnTo>
                      <a:lnTo>
                        <a:pt x="824" y="291"/>
                      </a:lnTo>
                      <a:lnTo>
                        <a:pt x="815" y="286"/>
                      </a:lnTo>
                      <a:lnTo>
                        <a:pt x="815" y="282"/>
                      </a:lnTo>
                      <a:lnTo>
                        <a:pt x="802" y="282"/>
                      </a:lnTo>
                      <a:lnTo>
                        <a:pt x="793" y="282"/>
                      </a:lnTo>
                      <a:lnTo>
                        <a:pt x="541" y="282"/>
                      </a:lnTo>
                      <a:lnTo>
                        <a:pt x="487" y="194"/>
                      </a:lnTo>
                      <a:lnTo>
                        <a:pt x="496" y="185"/>
                      </a:lnTo>
                      <a:lnTo>
                        <a:pt x="500" y="172"/>
                      </a:lnTo>
                      <a:lnTo>
                        <a:pt x="500" y="163"/>
                      </a:lnTo>
                      <a:lnTo>
                        <a:pt x="505" y="150"/>
                      </a:lnTo>
                      <a:lnTo>
                        <a:pt x="505" y="132"/>
                      </a:lnTo>
                      <a:lnTo>
                        <a:pt x="505" y="123"/>
                      </a:lnTo>
                      <a:lnTo>
                        <a:pt x="505" y="105"/>
                      </a:lnTo>
                      <a:lnTo>
                        <a:pt x="500" y="97"/>
                      </a:lnTo>
                      <a:lnTo>
                        <a:pt x="496" y="83"/>
                      </a:lnTo>
                      <a:lnTo>
                        <a:pt x="491" y="75"/>
                      </a:lnTo>
                      <a:lnTo>
                        <a:pt x="487" y="66"/>
                      </a:lnTo>
                      <a:lnTo>
                        <a:pt x="482" y="57"/>
                      </a:lnTo>
                      <a:lnTo>
                        <a:pt x="474" y="44"/>
                      </a:lnTo>
                      <a:lnTo>
                        <a:pt x="465" y="39"/>
                      </a:lnTo>
                      <a:lnTo>
                        <a:pt x="456" y="30"/>
                      </a:lnTo>
                      <a:lnTo>
                        <a:pt x="447" y="22"/>
                      </a:lnTo>
                      <a:lnTo>
                        <a:pt x="434" y="13"/>
                      </a:lnTo>
                      <a:lnTo>
                        <a:pt x="425" y="13"/>
                      </a:lnTo>
                      <a:lnTo>
                        <a:pt x="412" y="4"/>
                      </a:lnTo>
                      <a:lnTo>
                        <a:pt x="399" y="4"/>
                      </a:lnTo>
                      <a:lnTo>
                        <a:pt x="385" y="0"/>
                      </a:lnTo>
                      <a:lnTo>
                        <a:pt x="372" y="0"/>
                      </a:lnTo>
                      <a:lnTo>
                        <a:pt x="359" y="0"/>
                      </a:lnTo>
                      <a:lnTo>
                        <a:pt x="346" y="0"/>
                      </a:lnTo>
                      <a:lnTo>
                        <a:pt x="332" y="4"/>
                      </a:lnTo>
                      <a:lnTo>
                        <a:pt x="318" y="8"/>
                      </a:lnTo>
                      <a:lnTo>
                        <a:pt x="305" y="13"/>
                      </a:lnTo>
                      <a:lnTo>
                        <a:pt x="292" y="17"/>
                      </a:lnTo>
                      <a:lnTo>
                        <a:pt x="278" y="26"/>
                      </a:lnTo>
                      <a:lnTo>
                        <a:pt x="270" y="39"/>
                      </a:lnTo>
                      <a:lnTo>
                        <a:pt x="261" y="48"/>
                      </a:lnTo>
                      <a:lnTo>
                        <a:pt x="252" y="57"/>
                      </a:lnTo>
                      <a:lnTo>
                        <a:pt x="243" y="75"/>
                      </a:lnTo>
                      <a:lnTo>
                        <a:pt x="234" y="83"/>
                      </a:lnTo>
                      <a:lnTo>
                        <a:pt x="234" y="101"/>
                      </a:lnTo>
                    </a:path>
                  </a:pathLst>
                </a:custGeom>
                <a:solidFill>
                  <a:srgbClr val="FC0128"/>
                </a:solidFill>
                <a:ln w="9525">
                  <a:noFill/>
                  <a:round/>
                  <a:headEnd/>
                  <a:tailEnd/>
                </a:ln>
              </p:spPr>
              <p:txBody>
                <a:bodyPr wrap="none" anchor="ctr"/>
                <a:lstStyle/>
                <a:p>
                  <a:endParaRPr lang="en-US"/>
                </a:p>
              </p:txBody>
            </p:sp>
          </p:grpSp>
        </p:grpSp>
        <p:grpSp>
          <p:nvGrpSpPr>
            <p:cNvPr id="30" name="Group 57"/>
            <p:cNvGrpSpPr>
              <a:grpSpLocks/>
            </p:cNvGrpSpPr>
            <p:nvPr/>
          </p:nvGrpSpPr>
          <p:grpSpPr bwMode="auto">
            <a:xfrm>
              <a:off x="1265" y="1916"/>
              <a:ext cx="967" cy="448"/>
              <a:chOff x="1265" y="1916"/>
              <a:chExt cx="967" cy="448"/>
            </a:xfrm>
          </p:grpSpPr>
          <p:grpSp>
            <p:nvGrpSpPr>
              <p:cNvPr id="93" name="Group 58"/>
              <p:cNvGrpSpPr>
                <a:grpSpLocks/>
              </p:cNvGrpSpPr>
              <p:nvPr/>
            </p:nvGrpSpPr>
            <p:grpSpPr bwMode="auto">
              <a:xfrm>
                <a:off x="1265" y="1916"/>
                <a:ext cx="306" cy="448"/>
                <a:chOff x="1265" y="1916"/>
                <a:chExt cx="306" cy="448"/>
              </a:xfrm>
            </p:grpSpPr>
            <p:grpSp>
              <p:nvGrpSpPr>
                <p:cNvPr id="113" name="Group 59"/>
                <p:cNvGrpSpPr>
                  <a:grpSpLocks/>
                </p:cNvGrpSpPr>
                <p:nvPr/>
              </p:nvGrpSpPr>
              <p:grpSpPr bwMode="auto">
                <a:xfrm>
                  <a:off x="1265" y="1916"/>
                  <a:ext cx="306" cy="448"/>
                  <a:chOff x="1265" y="1916"/>
                  <a:chExt cx="306" cy="448"/>
                </a:xfrm>
              </p:grpSpPr>
              <p:grpSp>
                <p:nvGrpSpPr>
                  <p:cNvPr id="115" name="Group 60"/>
                  <p:cNvGrpSpPr>
                    <a:grpSpLocks/>
                  </p:cNvGrpSpPr>
                  <p:nvPr/>
                </p:nvGrpSpPr>
                <p:grpSpPr bwMode="auto">
                  <a:xfrm>
                    <a:off x="1265" y="1987"/>
                    <a:ext cx="306" cy="377"/>
                    <a:chOff x="1265" y="1987"/>
                    <a:chExt cx="306" cy="377"/>
                  </a:xfrm>
                </p:grpSpPr>
                <p:sp>
                  <p:nvSpPr>
                    <p:cNvPr id="120" name="Freeform 61"/>
                    <p:cNvSpPr>
                      <a:spLocks noChangeArrowheads="1"/>
                    </p:cNvSpPr>
                    <p:nvPr/>
                  </p:nvSpPr>
                  <p:spPr bwMode="auto">
                    <a:xfrm>
                      <a:off x="1265" y="1987"/>
                      <a:ext cx="305" cy="377"/>
                    </a:xfrm>
                    <a:custGeom>
                      <a:avLst/>
                      <a:gdLst/>
                      <a:ahLst/>
                      <a:cxnLst>
                        <a:cxn ang="0">
                          <a:pos x="0" y="1663"/>
                        </a:cxn>
                        <a:cxn ang="0">
                          <a:pos x="0" y="335"/>
                        </a:cxn>
                        <a:cxn ang="0">
                          <a:pos x="335" y="0"/>
                        </a:cxn>
                        <a:cxn ang="0">
                          <a:pos x="1345" y="0"/>
                        </a:cxn>
                        <a:cxn ang="0">
                          <a:pos x="1345" y="1326"/>
                        </a:cxn>
                        <a:cxn ang="0">
                          <a:pos x="1008" y="1663"/>
                        </a:cxn>
                        <a:cxn ang="0">
                          <a:pos x="0" y="1663"/>
                        </a:cxn>
                      </a:cxnLst>
                      <a:rect l="0" t="0" r="r" b="b"/>
                      <a:pathLst>
                        <a:path w="1346" h="1664">
                          <a:moveTo>
                            <a:pt x="0" y="1663"/>
                          </a:moveTo>
                          <a:lnTo>
                            <a:pt x="0" y="335"/>
                          </a:lnTo>
                          <a:lnTo>
                            <a:pt x="335" y="0"/>
                          </a:lnTo>
                          <a:lnTo>
                            <a:pt x="1345" y="0"/>
                          </a:lnTo>
                          <a:lnTo>
                            <a:pt x="1345" y="1326"/>
                          </a:lnTo>
                          <a:lnTo>
                            <a:pt x="1008" y="1663"/>
                          </a:lnTo>
                          <a:lnTo>
                            <a:pt x="0" y="1663"/>
                          </a:lnTo>
                        </a:path>
                      </a:pathLst>
                    </a:custGeom>
                    <a:solidFill>
                      <a:srgbClr val="F6BF69"/>
                    </a:solidFill>
                    <a:ln w="12600">
                      <a:solidFill>
                        <a:srgbClr val="000000"/>
                      </a:solidFill>
                      <a:round/>
                      <a:headEnd/>
                      <a:tailEnd/>
                    </a:ln>
                  </p:spPr>
                  <p:txBody>
                    <a:bodyPr wrap="none" anchor="ctr"/>
                    <a:lstStyle/>
                    <a:p>
                      <a:endParaRPr lang="en-US"/>
                    </a:p>
                  </p:txBody>
                </p:sp>
                <p:sp>
                  <p:nvSpPr>
                    <p:cNvPr id="121" name="Freeform 62"/>
                    <p:cNvSpPr>
                      <a:spLocks noChangeArrowheads="1"/>
                    </p:cNvSpPr>
                    <p:nvPr/>
                  </p:nvSpPr>
                  <p:spPr bwMode="auto">
                    <a:xfrm>
                      <a:off x="1265" y="1987"/>
                      <a:ext cx="305" cy="76"/>
                    </a:xfrm>
                    <a:custGeom>
                      <a:avLst/>
                      <a:gdLst/>
                      <a:ahLst/>
                      <a:cxnLst>
                        <a:cxn ang="0">
                          <a:pos x="0" y="335"/>
                        </a:cxn>
                        <a:cxn ang="0">
                          <a:pos x="335" y="0"/>
                        </a:cxn>
                        <a:cxn ang="0">
                          <a:pos x="1345" y="0"/>
                        </a:cxn>
                        <a:cxn ang="0">
                          <a:pos x="1008" y="335"/>
                        </a:cxn>
                        <a:cxn ang="0">
                          <a:pos x="0" y="335"/>
                        </a:cxn>
                      </a:cxnLst>
                      <a:rect l="0" t="0" r="r" b="b"/>
                      <a:pathLst>
                        <a:path w="1346" h="336">
                          <a:moveTo>
                            <a:pt x="0" y="335"/>
                          </a:moveTo>
                          <a:lnTo>
                            <a:pt x="335" y="0"/>
                          </a:lnTo>
                          <a:lnTo>
                            <a:pt x="1345" y="0"/>
                          </a:lnTo>
                          <a:lnTo>
                            <a:pt x="1008" y="335"/>
                          </a:lnTo>
                          <a:lnTo>
                            <a:pt x="0" y="335"/>
                          </a:lnTo>
                        </a:path>
                      </a:pathLst>
                    </a:custGeom>
                    <a:solidFill>
                      <a:srgbClr val="FFD072"/>
                    </a:solidFill>
                    <a:ln w="12600">
                      <a:solidFill>
                        <a:srgbClr val="000000"/>
                      </a:solidFill>
                      <a:round/>
                      <a:headEnd/>
                      <a:tailEnd/>
                    </a:ln>
                  </p:spPr>
                  <p:txBody>
                    <a:bodyPr wrap="none" anchor="ctr"/>
                    <a:lstStyle/>
                    <a:p>
                      <a:endParaRPr lang="en-US"/>
                    </a:p>
                  </p:txBody>
                </p:sp>
                <p:sp>
                  <p:nvSpPr>
                    <p:cNvPr id="122" name="Freeform 63"/>
                    <p:cNvSpPr>
                      <a:spLocks noChangeArrowheads="1"/>
                    </p:cNvSpPr>
                    <p:nvPr/>
                  </p:nvSpPr>
                  <p:spPr bwMode="auto">
                    <a:xfrm>
                      <a:off x="1494" y="1987"/>
                      <a:ext cx="77" cy="377"/>
                    </a:xfrm>
                    <a:custGeom>
                      <a:avLst/>
                      <a:gdLst/>
                      <a:ahLst/>
                      <a:cxnLst>
                        <a:cxn ang="0">
                          <a:pos x="0" y="1663"/>
                        </a:cxn>
                        <a:cxn ang="0">
                          <a:pos x="0" y="335"/>
                        </a:cxn>
                        <a:cxn ang="0">
                          <a:pos x="337" y="0"/>
                        </a:cxn>
                        <a:cxn ang="0">
                          <a:pos x="337" y="1326"/>
                        </a:cxn>
                        <a:cxn ang="0">
                          <a:pos x="0" y="1663"/>
                        </a:cxn>
                      </a:cxnLst>
                      <a:rect l="0" t="0" r="r" b="b"/>
                      <a:pathLst>
                        <a:path w="338" h="1664">
                          <a:moveTo>
                            <a:pt x="0" y="1663"/>
                          </a:moveTo>
                          <a:lnTo>
                            <a:pt x="0" y="335"/>
                          </a:lnTo>
                          <a:lnTo>
                            <a:pt x="337" y="0"/>
                          </a:lnTo>
                          <a:lnTo>
                            <a:pt x="337" y="1326"/>
                          </a:lnTo>
                          <a:lnTo>
                            <a:pt x="0" y="1663"/>
                          </a:lnTo>
                        </a:path>
                      </a:pathLst>
                    </a:custGeom>
                    <a:solidFill>
                      <a:srgbClr val="D3A45A"/>
                    </a:solidFill>
                    <a:ln w="12600">
                      <a:solidFill>
                        <a:srgbClr val="000000"/>
                      </a:solidFill>
                      <a:round/>
                      <a:headEnd/>
                      <a:tailEnd/>
                    </a:ln>
                  </p:spPr>
                  <p:txBody>
                    <a:bodyPr wrap="none" anchor="ctr"/>
                    <a:lstStyle/>
                    <a:p>
                      <a:endParaRPr lang="en-US"/>
                    </a:p>
                  </p:txBody>
                </p:sp>
              </p:grpSp>
              <p:grpSp>
                <p:nvGrpSpPr>
                  <p:cNvPr id="116" name="Group 64"/>
                  <p:cNvGrpSpPr>
                    <a:grpSpLocks/>
                  </p:cNvGrpSpPr>
                  <p:nvPr/>
                </p:nvGrpSpPr>
                <p:grpSpPr bwMode="auto">
                  <a:xfrm>
                    <a:off x="1335" y="1916"/>
                    <a:ext cx="235" cy="78"/>
                    <a:chOff x="1335" y="1916"/>
                    <a:chExt cx="235" cy="78"/>
                  </a:xfrm>
                </p:grpSpPr>
                <p:sp>
                  <p:nvSpPr>
                    <p:cNvPr id="117" name="Freeform 65"/>
                    <p:cNvSpPr>
                      <a:spLocks noChangeArrowheads="1"/>
                    </p:cNvSpPr>
                    <p:nvPr/>
                  </p:nvSpPr>
                  <p:spPr bwMode="auto">
                    <a:xfrm>
                      <a:off x="1335" y="1916"/>
                      <a:ext cx="235" cy="78"/>
                    </a:xfrm>
                    <a:custGeom>
                      <a:avLst/>
                      <a:gdLst/>
                      <a:ahLst/>
                      <a:cxnLst>
                        <a:cxn ang="0">
                          <a:pos x="0" y="344"/>
                        </a:cxn>
                        <a:cxn ang="0">
                          <a:pos x="0" y="85"/>
                        </a:cxn>
                        <a:cxn ang="0">
                          <a:pos x="85" y="0"/>
                        </a:cxn>
                        <a:cxn ang="0">
                          <a:pos x="1037" y="0"/>
                        </a:cxn>
                        <a:cxn ang="0">
                          <a:pos x="1037" y="257"/>
                        </a:cxn>
                        <a:cxn ang="0">
                          <a:pos x="950" y="344"/>
                        </a:cxn>
                        <a:cxn ang="0">
                          <a:pos x="0" y="344"/>
                        </a:cxn>
                      </a:cxnLst>
                      <a:rect l="0" t="0" r="r" b="b"/>
                      <a:pathLst>
                        <a:path w="1038" h="345">
                          <a:moveTo>
                            <a:pt x="0" y="344"/>
                          </a:moveTo>
                          <a:lnTo>
                            <a:pt x="0" y="85"/>
                          </a:lnTo>
                          <a:lnTo>
                            <a:pt x="85" y="0"/>
                          </a:lnTo>
                          <a:lnTo>
                            <a:pt x="1037" y="0"/>
                          </a:lnTo>
                          <a:lnTo>
                            <a:pt x="1037" y="257"/>
                          </a:lnTo>
                          <a:lnTo>
                            <a:pt x="950" y="344"/>
                          </a:lnTo>
                          <a:lnTo>
                            <a:pt x="0" y="344"/>
                          </a:lnTo>
                        </a:path>
                      </a:pathLst>
                    </a:custGeom>
                    <a:solidFill>
                      <a:srgbClr val="F6BF69"/>
                    </a:solidFill>
                    <a:ln w="12600">
                      <a:solidFill>
                        <a:srgbClr val="000000"/>
                      </a:solidFill>
                      <a:round/>
                      <a:headEnd/>
                      <a:tailEnd/>
                    </a:ln>
                  </p:spPr>
                  <p:txBody>
                    <a:bodyPr wrap="none" anchor="ctr"/>
                    <a:lstStyle/>
                    <a:p>
                      <a:endParaRPr lang="en-US"/>
                    </a:p>
                  </p:txBody>
                </p:sp>
                <p:sp>
                  <p:nvSpPr>
                    <p:cNvPr id="118" name="Freeform 66"/>
                    <p:cNvSpPr>
                      <a:spLocks noChangeArrowheads="1"/>
                    </p:cNvSpPr>
                    <p:nvPr/>
                  </p:nvSpPr>
                  <p:spPr bwMode="auto">
                    <a:xfrm>
                      <a:off x="1335" y="1916"/>
                      <a:ext cx="235" cy="20"/>
                    </a:xfrm>
                    <a:custGeom>
                      <a:avLst/>
                      <a:gdLst/>
                      <a:ahLst/>
                      <a:cxnLst>
                        <a:cxn ang="0">
                          <a:pos x="0" y="85"/>
                        </a:cxn>
                        <a:cxn ang="0">
                          <a:pos x="85" y="0"/>
                        </a:cxn>
                        <a:cxn ang="0">
                          <a:pos x="1037" y="0"/>
                        </a:cxn>
                        <a:cxn ang="0">
                          <a:pos x="950" y="85"/>
                        </a:cxn>
                        <a:cxn ang="0">
                          <a:pos x="0" y="85"/>
                        </a:cxn>
                      </a:cxnLst>
                      <a:rect l="0" t="0" r="r" b="b"/>
                      <a:pathLst>
                        <a:path w="1038" h="86">
                          <a:moveTo>
                            <a:pt x="0" y="85"/>
                          </a:moveTo>
                          <a:lnTo>
                            <a:pt x="85" y="0"/>
                          </a:lnTo>
                          <a:lnTo>
                            <a:pt x="1037" y="0"/>
                          </a:lnTo>
                          <a:lnTo>
                            <a:pt x="950" y="85"/>
                          </a:lnTo>
                          <a:lnTo>
                            <a:pt x="0" y="85"/>
                          </a:lnTo>
                        </a:path>
                      </a:pathLst>
                    </a:custGeom>
                    <a:solidFill>
                      <a:srgbClr val="FFD072"/>
                    </a:solidFill>
                    <a:ln w="12600">
                      <a:solidFill>
                        <a:srgbClr val="000000"/>
                      </a:solidFill>
                      <a:round/>
                      <a:headEnd/>
                      <a:tailEnd/>
                    </a:ln>
                  </p:spPr>
                  <p:txBody>
                    <a:bodyPr wrap="none" anchor="ctr"/>
                    <a:lstStyle/>
                    <a:p>
                      <a:endParaRPr lang="en-US"/>
                    </a:p>
                  </p:txBody>
                </p:sp>
                <p:sp>
                  <p:nvSpPr>
                    <p:cNvPr id="119" name="Freeform 67"/>
                    <p:cNvSpPr>
                      <a:spLocks noChangeArrowheads="1"/>
                    </p:cNvSpPr>
                    <p:nvPr/>
                  </p:nvSpPr>
                  <p:spPr bwMode="auto">
                    <a:xfrm>
                      <a:off x="1550" y="1916"/>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US"/>
                    </a:p>
                  </p:txBody>
                </p:sp>
              </p:grpSp>
            </p:grpSp>
            <p:sp>
              <p:nvSpPr>
                <p:cNvPr id="114" name="Freeform 68"/>
                <p:cNvSpPr>
                  <a:spLocks noChangeArrowheads="1"/>
                </p:cNvSpPr>
                <p:nvPr/>
              </p:nvSpPr>
              <p:spPr bwMode="auto">
                <a:xfrm>
                  <a:off x="1327" y="2020"/>
                  <a:ext cx="158" cy="27"/>
                </a:xfrm>
                <a:custGeom>
                  <a:avLst/>
                  <a:gdLst/>
                  <a:ahLst/>
                  <a:cxnLst>
                    <a:cxn ang="0">
                      <a:pos x="173" y="0"/>
                    </a:cxn>
                    <a:cxn ang="0">
                      <a:pos x="697" y="0"/>
                    </a:cxn>
                    <a:cxn ang="0">
                      <a:pos x="522" y="119"/>
                    </a:cxn>
                    <a:cxn ang="0">
                      <a:pos x="0" y="119"/>
                    </a:cxn>
                    <a:cxn ang="0">
                      <a:pos x="173" y="0"/>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US"/>
                </a:p>
              </p:txBody>
            </p:sp>
          </p:grpSp>
          <p:grpSp>
            <p:nvGrpSpPr>
              <p:cNvPr id="94" name="Group 69"/>
              <p:cNvGrpSpPr>
                <a:grpSpLocks/>
              </p:cNvGrpSpPr>
              <p:nvPr/>
            </p:nvGrpSpPr>
            <p:grpSpPr bwMode="auto">
              <a:xfrm>
                <a:off x="1566" y="1916"/>
                <a:ext cx="379" cy="448"/>
                <a:chOff x="1566" y="1916"/>
                <a:chExt cx="379" cy="448"/>
              </a:xfrm>
            </p:grpSpPr>
            <p:grpSp>
              <p:nvGrpSpPr>
                <p:cNvPr id="102" name="Group 70"/>
                <p:cNvGrpSpPr>
                  <a:grpSpLocks/>
                </p:cNvGrpSpPr>
                <p:nvPr/>
              </p:nvGrpSpPr>
              <p:grpSpPr bwMode="auto">
                <a:xfrm>
                  <a:off x="1566" y="1916"/>
                  <a:ext cx="379" cy="448"/>
                  <a:chOff x="1566" y="1916"/>
                  <a:chExt cx="379" cy="448"/>
                </a:xfrm>
              </p:grpSpPr>
              <p:grpSp>
                <p:nvGrpSpPr>
                  <p:cNvPr id="105" name="Group 71"/>
                  <p:cNvGrpSpPr>
                    <a:grpSpLocks/>
                  </p:cNvGrpSpPr>
                  <p:nvPr/>
                </p:nvGrpSpPr>
                <p:grpSpPr bwMode="auto">
                  <a:xfrm>
                    <a:off x="1566" y="1987"/>
                    <a:ext cx="379" cy="377"/>
                    <a:chOff x="1566" y="1987"/>
                    <a:chExt cx="379" cy="377"/>
                  </a:xfrm>
                </p:grpSpPr>
                <p:sp>
                  <p:nvSpPr>
                    <p:cNvPr id="110" name="Freeform 72"/>
                    <p:cNvSpPr>
                      <a:spLocks noChangeArrowheads="1"/>
                    </p:cNvSpPr>
                    <p:nvPr/>
                  </p:nvSpPr>
                  <p:spPr bwMode="auto">
                    <a:xfrm>
                      <a:off x="1566" y="1987"/>
                      <a:ext cx="378" cy="377"/>
                    </a:xfrm>
                    <a:custGeom>
                      <a:avLst/>
                      <a:gdLst/>
                      <a:ahLst/>
                      <a:cxnLst>
                        <a:cxn ang="0">
                          <a:pos x="0" y="1663"/>
                        </a:cxn>
                        <a:cxn ang="0">
                          <a:pos x="0" y="414"/>
                        </a:cxn>
                        <a:cxn ang="0">
                          <a:pos x="414" y="0"/>
                        </a:cxn>
                        <a:cxn ang="0">
                          <a:pos x="1667" y="0"/>
                        </a:cxn>
                        <a:cxn ang="0">
                          <a:pos x="1667" y="1247"/>
                        </a:cxn>
                        <a:cxn ang="0">
                          <a:pos x="1251" y="1663"/>
                        </a:cxn>
                        <a:cxn ang="0">
                          <a:pos x="0" y="1663"/>
                        </a:cxn>
                      </a:cxnLst>
                      <a:rect l="0" t="0" r="r" b="b"/>
                      <a:pathLst>
                        <a:path w="1668" h="1664">
                          <a:moveTo>
                            <a:pt x="0" y="1663"/>
                          </a:moveTo>
                          <a:lnTo>
                            <a:pt x="0" y="414"/>
                          </a:lnTo>
                          <a:lnTo>
                            <a:pt x="414" y="0"/>
                          </a:lnTo>
                          <a:lnTo>
                            <a:pt x="1667" y="0"/>
                          </a:lnTo>
                          <a:lnTo>
                            <a:pt x="1667" y="1247"/>
                          </a:lnTo>
                          <a:lnTo>
                            <a:pt x="1251" y="1663"/>
                          </a:lnTo>
                          <a:lnTo>
                            <a:pt x="0" y="1663"/>
                          </a:lnTo>
                        </a:path>
                      </a:pathLst>
                    </a:custGeom>
                    <a:solidFill>
                      <a:srgbClr val="A2C1FE"/>
                    </a:solidFill>
                    <a:ln w="12600">
                      <a:solidFill>
                        <a:srgbClr val="000000"/>
                      </a:solidFill>
                      <a:round/>
                      <a:headEnd/>
                      <a:tailEnd/>
                    </a:ln>
                  </p:spPr>
                  <p:txBody>
                    <a:bodyPr wrap="none" anchor="ctr"/>
                    <a:lstStyle/>
                    <a:p>
                      <a:endParaRPr lang="en-US"/>
                    </a:p>
                  </p:txBody>
                </p:sp>
                <p:sp>
                  <p:nvSpPr>
                    <p:cNvPr id="111" name="Freeform 73"/>
                    <p:cNvSpPr>
                      <a:spLocks noChangeArrowheads="1"/>
                    </p:cNvSpPr>
                    <p:nvPr/>
                  </p:nvSpPr>
                  <p:spPr bwMode="auto">
                    <a:xfrm>
                      <a:off x="1566" y="1987"/>
                      <a:ext cx="378" cy="94"/>
                    </a:xfrm>
                    <a:custGeom>
                      <a:avLst/>
                      <a:gdLst/>
                      <a:ahLst/>
                      <a:cxnLst>
                        <a:cxn ang="0">
                          <a:pos x="0" y="414"/>
                        </a:cxn>
                        <a:cxn ang="0">
                          <a:pos x="414" y="0"/>
                        </a:cxn>
                        <a:cxn ang="0">
                          <a:pos x="1667" y="0"/>
                        </a:cxn>
                        <a:cxn ang="0">
                          <a:pos x="1251" y="414"/>
                        </a:cxn>
                        <a:cxn ang="0">
                          <a:pos x="0" y="414"/>
                        </a:cxn>
                      </a:cxnLst>
                      <a:rect l="0" t="0" r="r" b="b"/>
                      <a:pathLst>
                        <a:path w="1668" h="415">
                          <a:moveTo>
                            <a:pt x="0" y="414"/>
                          </a:moveTo>
                          <a:lnTo>
                            <a:pt x="414" y="0"/>
                          </a:lnTo>
                          <a:lnTo>
                            <a:pt x="1667" y="0"/>
                          </a:lnTo>
                          <a:lnTo>
                            <a:pt x="1251" y="414"/>
                          </a:lnTo>
                          <a:lnTo>
                            <a:pt x="0" y="414"/>
                          </a:lnTo>
                        </a:path>
                      </a:pathLst>
                    </a:custGeom>
                    <a:solidFill>
                      <a:srgbClr val="B1D3FF"/>
                    </a:solidFill>
                    <a:ln w="12600">
                      <a:solidFill>
                        <a:srgbClr val="000000"/>
                      </a:solidFill>
                      <a:round/>
                      <a:headEnd/>
                      <a:tailEnd/>
                    </a:ln>
                  </p:spPr>
                  <p:txBody>
                    <a:bodyPr wrap="none" anchor="ctr"/>
                    <a:lstStyle/>
                    <a:p>
                      <a:endParaRPr lang="en-US"/>
                    </a:p>
                  </p:txBody>
                </p:sp>
                <p:sp>
                  <p:nvSpPr>
                    <p:cNvPr id="112" name="Freeform 74"/>
                    <p:cNvSpPr>
                      <a:spLocks noChangeArrowheads="1"/>
                    </p:cNvSpPr>
                    <p:nvPr/>
                  </p:nvSpPr>
                  <p:spPr bwMode="auto">
                    <a:xfrm>
                      <a:off x="1850" y="1987"/>
                      <a:ext cx="95" cy="377"/>
                    </a:xfrm>
                    <a:custGeom>
                      <a:avLst/>
                      <a:gdLst/>
                      <a:ahLst/>
                      <a:cxnLst>
                        <a:cxn ang="0">
                          <a:pos x="0" y="1663"/>
                        </a:cxn>
                        <a:cxn ang="0">
                          <a:pos x="0" y="414"/>
                        </a:cxn>
                        <a:cxn ang="0">
                          <a:pos x="416" y="0"/>
                        </a:cxn>
                        <a:cxn ang="0">
                          <a:pos x="416" y="1247"/>
                        </a:cxn>
                        <a:cxn ang="0">
                          <a:pos x="0" y="1663"/>
                        </a:cxn>
                      </a:cxnLst>
                      <a:rect l="0" t="0" r="r" b="b"/>
                      <a:pathLst>
                        <a:path w="417" h="1664">
                          <a:moveTo>
                            <a:pt x="0" y="1663"/>
                          </a:moveTo>
                          <a:lnTo>
                            <a:pt x="0" y="414"/>
                          </a:lnTo>
                          <a:lnTo>
                            <a:pt x="416" y="0"/>
                          </a:lnTo>
                          <a:lnTo>
                            <a:pt x="416" y="1247"/>
                          </a:lnTo>
                          <a:lnTo>
                            <a:pt x="0" y="1663"/>
                          </a:lnTo>
                        </a:path>
                      </a:pathLst>
                    </a:custGeom>
                    <a:solidFill>
                      <a:srgbClr val="8BA5DA"/>
                    </a:solidFill>
                    <a:ln w="12600">
                      <a:solidFill>
                        <a:srgbClr val="000000"/>
                      </a:solidFill>
                      <a:round/>
                      <a:headEnd/>
                      <a:tailEnd/>
                    </a:ln>
                  </p:spPr>
                  <p:txBody>
                    <a:bodyPr wrap="none" anchor="ctr"/>
                    <a:lstStyle/>
                    <a:p>
                      <a:endParaRPr lang="en-US"/>
                    </a:p>
                  </p:txBody>
                </p:sp>
              </p:grpSp>
              <p:grpSp>
                <p:nvGrpSpPr>
                  <p:cNvPr id="106" name="Group 75"/>
                  <p:cNvGrpSpPr>
                    <a:grpSpLocks/>
                  </p:cNvGrpSpPr>
                  <p:nvPr/>
                </p:nvGrpSpPr>
                <p:grpSpPr bwMode="auto">
                  <a:xfrm>
                    <a:off x="1652" y="1916"/>
                    <a:ext cx="292" cy="78"/>
                    <a:chOff x="1652" y="1916"/>
                    <a:chExt cx="292" cy="78"/>
                  </a:xfrm>
                </p:grpSpPr>
                <p:sp>
                  <p:nvSpPr>
                    <p:cNvPr id="107" name="Freeform 76"/>
                    <p:cNvSpPr>
                      <a:spLocks noChangeArrowheads="1"/>
                    </p:cNvSpPr>
                    <p:nvPr/>
                  </p:nvSpPr>
                  <p:spPr bwMode="auto">
                    <a:xfrm>
                      <a:off x="1652" y="1916"/>
                      <a:ext cx="292" cy="78"/>
                    </a:xfrm>
                    <a:custGeom>
                      <a:avLst/>
                      <a:gdLst/>
                      <a:ahLst/>
                      <a:cxnLst>
                        <a:cxn ang="0">
                          <a:pos x="0" y="344"/>
                        </a:cxn>
                        <a:cxn ang="0">
                          <a:pos x="0" y="85"/>
                        </a:cxn>
                        <a:cxn ang="0">
                          <a:pos x="85" y="0"/>
                        </a:cxn>
                        <a:cxn ang="0">
                          <a:pos x="1288" y="0"/>
                        </a:cxn>
                        <a:cxn ang="0">
                          <a:pos x="1288" y="257"/>
                        </a:cxn>
                        <a:cxn ang="0">
                          <a:pos x="1201" y="344"/>
                        </a:cxn>
                        <a:cxn ang="0">
                          <a:pos x="0" y="344"/>
                        </a:cxn>
                      </a:cxnLst>
                      <a:rect l="0" t="0" r="r" b="b"/>
                      <a:pathLst>
                        <a:path w="1289" h="345">
                          <a:moveTo>
                            <a:pt x="0" y="344"/>
                          </a:moveTo>
                          <a:lnTo>
                            <a:pt x="0" y="85"/>
                          </a:lnTo>
                          <a:lnTo>
                            <a:pt x="85" y="0"/>
                          </a:lnTo>
                          <a:lnTo>
                            <a:pt x="1288" y="0"/>
                          </a:lnTo>
                          <a:lnTo>
                            <a:pt x="1288" y="257"/>
                          </a:lnTo>
                          <a:lnTo>
                            <a:pt x="1201" y="344"/>
                          </a:lnTo>
                          <a:lnTo>
                            <a:pt x="0" y="344"/>
                          </a:lnTo>
                        </a:path>
                      </a:pathLst>
                    </a:custGeom>
                    <a:solidFill>
                      <a:srgbClr val="A2C1FE"/>
                    </a:solidFill>
                    <a:ln w="12600">
                      <a:solidFill>
                        <a:srgbClr val="000000"/>
                      </a:solidFill>
                      <a:round/>
                      <a:headEnd/>
                      <a:tailEnd/>
                    </a:ln>
                  </p:spPr>
                  <p:txBody>
                    <a:bodyPr wrap="none" anchor="ctr"/>
                    <a:lstStyle/>
                    <a:p>
                      <a:endParaRPr lang="en-US"/>
                    </a:p>
                  </p:txBody>
                </p:sp>
                <p:sp>
                  <p:nvSpPr>
                    <p:cNvPr id="108" name="Freeform 77"/>
                    <p:cNvSpPr>
                      <a:spLocks noChangeArrowheads="1"/>
                    </p:cNvSpPr>
                    <p:nvPr/>
                  </p:nvSpPr>
                  <p:spPr bwMode="auto">
                    <a:xfrm>
                      <a:off x="1652" y="1916"/>
                      <a:ext cx="292" cy="20"/>
                    </a:xfrm>
                    <a:custGeom>
                      <a:avLst/>
                      <a:gdLst/>
                      <a:ahLst/>
                      <a:cxnLst>
                        <a:cxn ang="0">
                          <a:pos x="0" y="85"/>
                        </a:cxn>
                        <a:cxn ang="0">
                          <a:pos x="85" y="0"/>
                        </a:cxn>
                        <a:cxn ang="0">
                          <a:pos x="1288" y="0"/>
                        </a:cxn>
                        <a:cxn ang="0">
                          <a:pos x="1201" y="85"/>
                        </a:cxn>
                        <a:cxn ang="0">
                          <a:pos x="0" y="85"/>
                        </a:cxn>
                      </a:cxnLst>
                      <a:rect l="0" t="0" r="r" b="b"/>
                      <a:pathLst>
                        <a:path w="1289" h="86">
                          <a:moveTo>
                            <a:pt x="0" y="85"/>
                          </a:moveTo>
                          <a:lnTo>
                            <a:pt x="85" y="0"/>
                          </a:lnTo>
                          <a:lnTo>
                            <a:pt x="1288" y="0"/>
                          </a:lnTo>
                          <a:lnTo>
                            <a:pt x="1201" y="85"/>
                          </a:lnTo>
                          <a:lnTo>
                            <a:pt x="0" y="85"/>
                          </a:lnTo>
                        </a:path>
                      </a:pathLst>
                    </a:custGeom>
                    <a:solidFill>
                      <a:srgbClr val="B1D3FF"/>
                    </a:solidFill>
                    <a:ln w="12600">
                      <a:solidFill>
                        <a:srgbClr val="000000"/>
                      </a:solidFill>
                      <a:round/>
                      <a:headEnd/>
                      <a:tailEnd/>
                    </a:ln>
                  </p:spPr>
                  <p:txBody>
                    <a:bodyPr wrap="none" anchor="ctr"/>
                    <a:lstStyle/>
                    <a:p>
                      <a:endParaRPr lang="en-US"/>
                    </a:p>
                  </p:txBody>
                </p:sp>
                <p:sp>
                  <p:nvSpPr>
                    <p:cNvPr id="109" name="Freeform 78"/>
                    <p:cNvSpPr>
                      <a:spLocks noChangeArrowheads="1"/>
                    </p:cNvSpPr>
                    <p:nvPr/>
                  </p:nvSpPr>
                  <p:spPr bwMode="auto">
                    <a:xfrm>
                      <a:off x="1924" y="1916"/>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US"/>
                    </a:p>
                  </p:txBody>
                </p:sp>
              </p:grpSp>
            </p:grpSp>
            <p:sp>
              <p:nvSpPr>
                <p:cNvPr id="103" name="Oval 79"/>
                <p:cNvSpPr>
                  <a:spLocks noChangeArrowheads="1"/>
                </p:cNvSpPr>
                <p:nvPr/>
              </p:nvSpPr>
              <p:spPr bwMode="auto">
                <a:xfrm>
                  <a:off x="1681" y="1952"/>
                  <a:ext cx="49" cy="27"/>
                </a:xfrm>
                <a:prstGeom prst="ellipse">
                  <a:avLst/>
                </a:prstGeom>
                <a:solidFill>
                  <a:srgbClr val="FFFFFF"/>
                </a:solidFill>
                <a:ln w="12600">
                  <a:solidFill>
                    <a:srgbClr val="000000"/>
                  </a:solidFill>
                  <a:round/>
                  <a:headEnd/>
                  <a:tailEnd/>
                </a:ln>
              </p:spPr>
              <p:txBody>
                <a:bodyPr wrap="none" anchor="ctr"/>
                <a:lstStyle/>
                <a:p>
                  <a:endParaRPr lang="en-US"/>
                </a:p>
              </p:txBody>
            </p:sp>
            <p:sp>
              <p:nvSpPr>
                <p:cNvPr id="104" name="Freeform 80"/>
                <p:cNvSpPr>
                  <a:spLocks noChangeArrowheads="1"/>
                </p:cNvSpPr>
                <p:nvPr/>
              </p:nvSpPr>
              <p:spPr bwMode="auto">
                <a:xfrm>
                  <a:off x="1613" y="2162"/>
                  <a:ext cx="198" cy="84"/>
                </a:xfrm>
                <a:custGeom>
                  <a:avLst/>
                  <a:gdLst/>
                  <a:ahLst/>
                  <a:cxnLst>
                    <a:cxn ang="0">
                      <a:pos x="107" y="0"/>
                    </a:cxn>
                    <a:cxn ang="0">
                      <a:pos x="764" y="0"/>
                    </a:cxn>
                    <a:cxn ang="0">
                      <a:pos x="873" y="108"/>
                    </a:cxn>
                    <a:cxn ang="0">
                      <a:pos x="873" y="262"/>
                    </a:cxn>
                    <a:cxn ang="0">
                      <a:pos x="764" y="370"/>
                    </a:cxn>
                    <a:cxn ang="0">
                      <a:pos x="107" y="370"/>
                    </a:cxn>
                    <a:cxn ang="0">
                      <a:pos x="0" y="262"/>
                    </a:cxn>
                    <a:cxn ang="0">
                      <a:pos x="0" y="108"/>
                    </a:cxn>
                    <a:cxn ang="0">
                      <a:pos x="107" y="0"/>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US"/>
                </a:p>
              </p:txBody>
            </p:sp>
          </p:grpSp>
          <p:sp>
            <p:nvSpPr>
              <p:cNvPr id="95" name="Freeform 81"/>
              <p:cNvSpPr>
                <a:spLocks noChangeArrowheads="1"/>
              </p:cNvSpPr>
              <p:nvPr/>
            </p:nvSpPr>
            <p:spPr bwMode="auto">
              <a:xfrm>
                <a:off x="2130" y="2145"/>
                <a:ext cx="85" cy="191"/>
              </a:xfrm>
              <a:custGeom>
                <a:avLst/>
                <a:gdLst/>
                <a:ahLst/>
                <a:cxnLst>
                  <a:cxn ang="0">
                    <a:pos x="273" y="0"/>
                  </a:cxn>
                  <a:cxn ang="0">
                    <a:pos x="375" y="0"/>
                  </a:cxn>
                  <a:cxn ang="0">
                    <a:pos x="101" y="842"/>
                  </a:cxn>
                  <a:cxn ang="0">
                    <a:pos x="0" y="842"/>
                  </a:cxn>
                  <a:cxn ang="0">
                    <a:pos x="273" y="0"/>
                  </a:cxn>
                </a:cxnLst>
                <a:rect l="0" t="0" r="r" b="b"/>
                <a:pathLst>
                  <a:path w="376" h="843">
                    <a:moveTo>
                      <a:pt x="273" y="0"/>
                    </a:moveTo>
                    <a:lnTo>
                      <a:pt x="375" y="0"/>
                    </a:lnTo>
                    <a:lnTo>
                      <a:pt x="101" y="842"/>
                    </a:lnTo>
                    <a:lnTo>
                      <a:pt x="0" y="842"/>
                    </a:lnTo>
                    <a:lnTo>
                      <a:pt x="273" y="0"/>
                    </a:lnTo>
                  </a:path>
                </a:pathLst>
              </a:custGeom>
              <a:solidFill>
                <a:srgbClr val="FC0128"/>
              </a:solidFill>
              <a:ln w="9525">
                <a:noFill/>
                <a:round/>
                <a:headEnd/>
                <a:tailEnd/>
              </a:ln>
            </p:spPr>
            <p:txBody>
              <a:bodyPr wrap="none" anchor="ctr"/>
              <a:lstStyle/>
              <a:p>
                <a:endParaRPr lang="en-US"/>
              </a:p>
            </p:txBody>
          </p:sp>
          <p:sp>
            <p:nvSpPr>
              <p:cNvPr id="96" name="AutoShape 82"/>
              <p:cNvSpPr>
                <a:spLocks noChangeArrowheads="1"/>
              </p:cNvSpPr>
              <p:nvPr/>
            </p:nvSpPr>
            <p:spPr bwMode="auto">
              <a:xfrm>
                <a:off x="2126" y="2145"/>
                <a:ext cx="106"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97" name="AutoShape 83"/>
              <p:cNvSpPr>
                <a:spLocks noChangeArrowheads="1"/>
              </p:cNvSpPr>
              <p:nvPr/>
            </p:nvSpPr>
            <p:spPr bwMode="auto">
              <a:xfrm>
                <a:off x="2133" y="2226"/>
                <a:ext cx="82"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98" name="AutoShape 84"/>
              <p:cNvSpPr>
                <a:spLocks noChangeArrowheads="1"/>
              </p:cNvSpPr>
              <p:nvPr/>
            </p:nvSpPr>
            <p:spPr bwMode="auto">
              <a:xfrm>
                <a:off x="1950" y="2226"/>
                <a:ext cx="103" cy="11"/>
              </a:xfrm>
              <a:prstGeom prst="roundRect">
                <a:avLst>
                  <a:gd name="adj" fmla="val 10000"/>
                </a:avLst>
              </a:prstGeom>
              <a:solidFill>
                <a:srgbClr val="FC0128"/>
              </a:solidFill>
              <a:ln w="9525">
                <a:noFill/>
                <a:round/>
                <a:headEnd/>
                <a:tailEnd/>
              </a:ln>
            </p:spPr>
            <p:txBody>
              <a:bodyPr wrap="none" anchor="ctr"/>
              <a:lstStyle/>
              <a:p>
                <a:endParaRPr lang="en-US"/>
              </a:p>
            </p:txBody>
          </p:sp>
          <p:grpSp>
            <p:nvGrpSpPr>
              <p:cNvPr id="99" name="Group 85"/>
              <p:cNvGrpSpPr>
                <a:grpSpLocks/>
              </p:cNvGrpSpPr>
              <p:nvPr/>
            </p:nvGrpSpPr>
            <p:grpSpPr bwMode="auto">
              <a:xfrm>
                <a:off x="1948" y="1973"/>
                <a:ext cx="194" cy="364"/>
                <a:chOff x="1948" y="1973"/>
                <a:chExt cx="194" cy="364"/>
              </a:xfrm>
            </p:grpSpPr>
            <p:sp>
              <p:nvSpPr>
                <p:cNvPr id="100" name="Oval 86"/>
                <p:cNvSpPr>
                  <a:spLocks noChangeArrowheads="1"/>
                </p:cNvSpPr>
                <p:nvPr/>
              </p:nvSpPr>
              <p:spPr bwMode="auto">
                <a:xfrm>
                  <a:off x="2024" y="1973"/>
                  <a:ext cx="48" cy="49"/>
                </a:xfrm>
                <a:prstGeom prst="ellipse">
                  <a:avLst/>
                </a:prstGeom>
                <a:solidFill>
                  <a:srgbClr val="FC0128"/>
                </a:solidFill>
                <a:ln w="12600">
                  <a:solidFill>
                    <a:srgbClr val="000000"/>
                  </a:solidFill>
                  <a:round/>
                  <a:headEnd/>
                  <a:tailEnd/>
                </a:ln>
              </p:spPr>
              <p:txBody>
                <a:bodyPr wrap="none" anchor="ctr"/>
                <a:lstStyle/>
                <a:p>
                  <a:endParaRPr lang="en-US"/>
                </a:p>
              </p:txBody>
            </p:sp>
            <p:sp>
              <p:nvSpPr>
                <p:cNvPr id="101" name="Freeform 87"/>
                <p:cNvSpPr>
                  <a:spLocks noChangeArrowheads="1"/>
                </p:cNvSpPr>
                <p:nvPr/>
              </p:nvSpPr>
              <p:spPr bwMode="auto">
                <a:xfrm>
                  <a:off x="1948" y="2041"/>
                  <a:ext cx="194" cy="296"/>
                </a:xfrm>
                <a:custGeom>
                  <a:avLst/>
                  <a:gdLst/>
                  <a:ahLst/>
                  <a:cxnLst>
                    <a:cxn ang="0">
                      <a:pos x="8" y="605"/>
                    </a:cxn>
                    <a:cxn ang="0">
                      <a:pos x="4" y="618"/>
                    </a:cxn>
                    <a:cxn ang="0">
                      <a:pos x="0" y="640"/>
                    </a:cxn>
                    <a:cxn ang="0">
                      <a:pos x="0" y="662"/>
                    </a:cxn>
                    <a:cxn ang="0">
                      <a:pos x="8" y="684"/>
                    </a:cxn>
                    <a:cxn ang="0">
                      <a:pos x="17" y="703"/>
                    </a:cxn>
                    <a:cxn ang="0">
                      <a:pos x="35" y="721"/>
                    </a:cxn>
                    <a:cxn ang="0">
                      <a:pos x="53" y="730"/>
                    </a:cxn>
                    <a:cxn ang="0">
                      <a:pos x="70" y="734"/>
                    </a:cxn>
                    <a:cxn ang="0">
                      <a:pos x="92" y="734"/>
                    </a:cxn>
                    <a:cxn ang="0">
                      <a:pos x="559" y="1304"/>
                    </a:cxn>
                    <a:cxn ang="0">
                      <a:pos x="705" y="627"/>
                    </a:cxn>
                    <a:cxn ang="0">
                      <a:pos x="705" y="609"/>
                    </a:cxn>
                    <a:cxn ang="0">
                      <a:pos x="696" y="601"/>
                    </a:cxn>
                    <a:cxn ang="0">
                      <a:pos x="683" y="587"/>
                    </a:cxn>
                    <a:cxn ang="0">
                      <a:pos x="674" y="578"/>
                    </a:cxn>
                    <a:cxn ang="0">
                      <a:pos x="656" y="574"/>
                    </a:cxn>
                    <a:cxn ang="0">
                      <a:pos x="639" y="570"/>
                    </a:cxn>
                    <a:cxn ang="0">
                      <a:pos x="621" y="570"/>
                    </a:cxn>
                    <a:cxn ang="0">
                      <a:pos x="608" y="570"/>
                    </a:cxn>
                    <a:cxn ang="0">
                      <a:pos x="412" y="331"/>
                    </a:cxn>
                    <a:cxn ang="0">
                      <a:pos x="794" y="411"/>
                    </a:cxn>
                    <a:cxn ang="0">
                      <a:pos x="812" y="406"/>
                    </a:cxn>
                    <a:cxn ang="0">
                      <a:pos x="821" y="402"/>
                    </a:cxn>
                    <a:cxn ang="0">
                      <a:pos x="838" y="393"/>
                    </a:cxn>
                    <a:cxn ang="0">
                      <a:pos x="847" y="380"/>
                    </a:cxn>
                    <a:cxn ang="0">
                      <a:pos x="852" y="367"/>
                    </a:cxn>
                    <a:cxn ang="0">
                      <a:pos x="856" y="345"/>
                    </a:cxn>
                    <a:cxn ang="0">
                      <a:pos x="852" y="327"/>
                    </a:cxn>
                    <a:cxn ang="0">
                      <a:pos x="843" y="309"/>
                    </a:cxn>
                    <a:cxn ang="0">
                      <a:pos x="834" y="300"/>
                    </a:cxn>
                    <a:cxn ang="0">
                      <a:pos x="816" y="286"/>
                    </a:cxn>
                    <a:cxn ang="0">
                      <a:pos x="803" y="282"/>
                    </a:cxn>
                    <a:cxn ang="0">
                      <a:pos x="541" y="282"/>
                    </a:cxn>
                    <a:cxn ang="0">
                      <a:pos x="496" y="185"/>
                    </a:cxn>
                    <a:cxn ang="0">
                      <a:pos x="501" y="163"/>
                    </a:cxn>
                    <a:cxn ang="0">
                      <a:pos x="505" y="132"/>
                    </a:cxn>
                    <a:cxn ang="0">
                      <a:pos x="505" y="105"/>
                    </a:cxn>
                    <a:cxn ang="0">
                      <a:pos x="496" y="83"/>
                    </a:cxn>
                    <a:cxn ang="0">
                      <a:pos x="487" y="66"/>
                    </a:cxn>
                    <a:cxn ang="0">
                      <a:pos x="474" y="44"/>
                    </a:cxn>
                    <a:cxn ang="0">
                      <a:pos x="457" y="30"/>
                    </a:cxn>
                    <a:cxn ang="0">
                      <a:pos x="434" y="13"/>
                    </a:cxn>
                    <a:cxn ang="0">
                      <a:pos x="412" y="4"/>
                    </a:cxn>
                    <a:cxn ang="0">
                      <a:pos x="386" y="0"/>
                    </a:cxn>
                    <a:cxn ang="0">
                      <a:pos x="359" y="0"/>
                    </a:cxn>
                    <a:cxn ang="0">
                      <a:pos x="333" y="4"/>
                    </a:cxn>
                    <a:cxn ang="0">
                      <a:pos x="305" y="13"/>
                    </a:cxn>
                    <a:cxn ang="0">
                      <a:pos x="279" y="26"/>
                    </a:cxn>
                    <a:cxn ang="0">
                      <a:pos x="261" y="48"/>
                    </a:cxn>
                    <a:cxn ang="0">
                      <a:pos x="243" y="75"/>
                    </a:cxn>
                    <a:cxn ang="0">
                      <a:pos x="235" y="101"/>
                    </a:cxn>
                  </a:cxnLst>
                  <a:rect l="0" t="0" r="r" b="b"/>
                  <a:pathLst>
                    <a:path w="857" h="1305">
                      <a:moveTo>
                        <a:pt x="235"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3" y="730"/>
                      </a:lnTo>
                      <a:lnTo>
                        <a:pt x="61" y="730"/>
                      </a:lnTo>
                      <a:lnTo>
                        <a:pt x="70" y="734"/>
                      </a:lnTo>
                      <a:lnTo>
                        <a:pt x="79" y="734"/>
                      </a:lnTo>
                      <a:lnTo>
                        <a:pt x="92" y="734"/>
                      </a:lnTo>
                      <a:lnTo>
                        <a:pt x="559" y="734"/>
                      </a:lnTo>
                      <a:lnTo>
                        <a:pt x="559" y="1304"/>
                      </a:lnTo>
                      <a:lnTo>
                        <a:pt x="705" y="1304"/>
                      </a:lnTo>
                      <a:lnTo>
                        <a:pt x="705" y="627"/>
                      </a:lnTo>
                      <a:lnTo>
                        <a:pt x="705" y="618"/>
                      </a:lnTo>
                      <a:lnTo>
                        <a:pt x="705" y="609"/>
                      </a:lnTo>
                      <a:lnTo>
                        <a:pt x="700" y="605"/>
                      </a:lnTo>
                      <a:lnTo>
                        <a:pt x="696" y="601"/>
                      </a:lnTo>
                      <a:lnTo>
                        <a:pt x="692" y="596"/>
                      </a:lnTo>
                      <a:lnTo>
                        <a:pt x="683" y="587"/>
                      </a:lnTo>
                      <a:lnTo>
                        <a:pt x="678" y="583"/>
                      </a:lnTo>
                      <a:lnTo>
                        <a:pt x="674" y="578"/>
                      </a:lnTo>
                      <a:lnTo>
                        <a:pt x="665" y="578"/>
                      </a:lnTo>
                      <a:lnTo>
                        <a:pt x="656" y="574"/>
                      </a:lnTo>
                      <a:lnTo>
                        <a:pt x="647" y="574"/>
                      </a:lnTo>
                      <a:lnTo>
                        <a:pt x="639" y="570"/>
                      </a:lnTo>
                      <a:lnTo>
                        <a:pt x="630" y="570"/>
                      </a:lnTo>
                      <a:lnTo>
                        <a:pt x="621" y="570"/>
                      </a:lnTo>
                      <a:lnTo>
                        <a:pt x="617" y="570"/>
                      </a:lnTo>
                      <a:lnTo>
                        <a:pt x="608" y="570"/>
                      </a:lnTo>
                      <a:lnTo>
                        <a:pt x="337" y="552"/>
                      </a:lnTo>
                      <a:lnTo>
                        <a:pt x="412" y="331"/>
                      </a:lnTo>
                      <a:lnTo>
                        <a:pt x="465" y="411"/>
                      </a:lnTo>
                      <a:lnTo>
                        <a:pt x="794" y="411"/>
                      </a:lnTo>
                      <a:lnTo>
                        <a:pt x="803" y="406"/>
                      </a:lnTo>
                      <a:lnTo>
                        <a:pt x="812" y="406"/>
                      </a:lnTo>
                      <a:lnTo>
                        <a:pt x="816" y="402"/>
                      </a:lnTo>
                      <a:lnTo>
                        <a:pt x="821" y="402"/>
                      </a:lnTo>
                      <a:lnTo>
                        <a:pt x="830" y="398"/>
                      </a:lnTo>
                      <a:lnTo>
                        <a:pt x="838" y="393"/>
                      </a:lnTo>
                      <a:lnTo>
                        <a:pt x="843" y="384"/>
                      </a:lnTo>
                      <a:lnTo>
                        <a:pt x="847" y="380"/>
                      </a:lnTo>
                      <a:lnTo>
                        <a:pt x="852" y="371"/>
                      </a:lnTo>
                      <a:lnTo>
                        <a:pt x="852" y="367"/>
                      </a:lnTo>
                      <a:lnTo>
                        <a:pt x="856" y="358"/>
                      </a:lnTo>
                      <a:lnTo>
                        <a:pt x="856" y="345"/>
                      </a:lnTo>
                      <a:lnTo>
                        <a:pt x="856" y="336"/>
                      </a:lnTo>
                      <a:lnTo>
                        <a:pt x="852" y="327"/>
                      </a:lnTo>
                      <a:lnTo>
                        <a:pt x="847" y="318"/>
                      </a:lnTo>
                      <a:lnTo>
                        <a:pt x="843" y="309"/>
                      </a:lnTo>
                      <a:lnTo>
                        <a:pt x="838" y="305"/>
                      </a:lnTo>
                      <a:lnTo>
                        <a:pt x="834" y="300"/>
                      </a:lnTo>
                      <a:lnTo>
                        <a:pt x="825" y="291"/>
                      </a:lnTo>
                      <a:lnTo>
                        <a:pt x="816" y="286"/>
                      </a:lnTo>
                      <a:lnTo>
                        <a:pt x="816" y="282"/>
                      </a:lnTo>
                      <a:lnTo>
                        <a:pt x="803" y="282"/>
                      </a:lnTo>
                      <a:lnTo>
                        <a:pt x="794" y="282"/>
                      </a:lnTo>
                      <a:lnTo>
                        <a:pt x="541" y="282"/>
                      </a:lnTo>
                      <a:lnTo>
                        <a:pt x="487" y="194"/>
                      </a:lnTo>
                      <a:lnTo>
                        <a:pt x="496" y="185"/>
                      </a:lnTo>
                      <a:lnTo>
                        <a:pt x="501" y="172"/>
                      </a:lnTo>
                      <a:lnTo>
                        <a:pt x="501" y="163"/>
                      </a:lnTo>
                      <a:lnTo>
                        <a:pt x="505" y="150"/>
                      </a:lnTo>
                      <a:lnTo>
                        <a:pt x="505" y="132"/>
                      </a:lnTo>
                      <a:lnTo>
                        <a:pt x="505" y="123"/>
                      </a:lnTo>
                      <a:lnTo>
                        <a:pt x="505" y="105"/>
                      </a:lnTo>
                      <a:lnTo>
                        <a:pt x="501" y="97"/>
                      </a:lnTo>
                      <a:lnTo>
                        <a:pt x="496" y="83"/>
                      </a:lnTo>
                      <a:lnTo>
                        <a:pt x="492" y="75"/>
                      </a:lnTo>
                      <a:lnTo>
                        <a:pt x="487" y="66"/>
                      </a:lnTo>
                      <a:lnTo>
                        <a:pt x="483" y="57"/>
                      </a:lnTo>
                      <a:lnTo>
                        <a:pt x="474" y="44"/>
                      </a:lnTo>
                      <a:lnTo>
                        <a:pt x="465" y="39"/>
                      </a:lnTo>
                      <a:lnTo>
                        <a:pt x="457" y="30"/>
                      </a:lnTo>
                      <a:lnTo>
                        <a:pt x="448" y="22"/>
                      </a:lnTo>
                      <a:lnTo>
                        <a:pt x="434" y="13"/>
                      </a:lnTo>
                      <a:lnTo>
                        <a:pt x="426" y="13"/>
                      </a:lnTo>
                      <a:lnTo>
                        <a:pt x="412" y="4"/>
                      </a:lnTo>
                      <a:lnTo>
                        <a:pt x="399" y="4"/>
                      </a:lnTo>
                      <a:lnTo>
                        <a:pt x="386" y="0"/>
                      </a:lnTo>
                      <a:lnTo>
                        <a:pt x="373" y="0"/>
                      </a:lnTo>
                      <a:lnTo>
                        <a:pt x="359" y="0"/>
                      </a:lnTo>
                      <a:lnTo>
                        <a:pt x="346" y="0"/>
                      </a:lnTo>
                      <a:lnTo>
                        <a:pt x="333" y="4"/>
                      </a:lnTo>
                      <a:lnTo>
                        <a:pt x="319" y="8"/>
                      </a:lnTo>
                      <a:lnTo>
                        <a:pt x="305" y="13"/>
                      </a:lnTo>
                      <a:lnTo>
                        <a:pt x="292" y="17"/>
                      </a:lnTo>
                      <a:lnTo>
                        <a:pt x="279" y="26"/>
                      </a:lnTo>
                      <a:lnTo>
                        <a:pt x="270" y="39"/>
                      </a:lnTo>
                      <a:lnTo>
                        <a:pt x="261" y="48"/>
                      </a:lnTo>
                      <a:lnTo>
                        <a:pt x="252" y="57"/>
                      </a:lnTo>
                      <a:lnTo>
                        <a:pt x="243" y="75"/>
                      </a:lnTo>
                      <a:lnTo>
                        <a:pt x="235" y="83"/>
                      </a:lnTo>
                      <a:lnTo>
                        <a:pt x="235" y="101"/>
                      </a:lnTo>
                    </a:path>
                  </a:pathLst>
                </a:custGeom>
                <a:solidFill>
                  <a:srgbClr val="FC0128"/>
                </a:solidFill>
                <a:ln w="9525">
                  <a:noFill/>
                  <a:round/>
                  <a:headEnd/>
                  <a:tailEnd/>
                </a:ln>
              </p:spPr>
              <p:txBody>
                <a:bodyPr wrap="none" anchor="ctr"/>
                <a:lstStyle/>
                <a:p>
                  <a:endParaRPr lang="en-US"/>
                </a:p>
              </p:txBody>
            </p:sp>
          </p:grpSp>
        </p:grpSp>
        <p:grpSp>
          <p:nvGrpSpPr>
            <p:cNvPr id="31" name="Group 88"/>
            <p:cNvGrpSpPr>
              <a:grpSpLocks/>
            </p:cNvGrpSpPr>
            <p:nvPr/>
          </p:nvGrpSpPr>
          <p:grpSpPr bwMode="auto">
            <a:xfrm>
              <a:off x="1681" y="2404"/>
              <a:ext cx="967" cy="448"/>
              <a:chOff x="1681" y="2404"/>
              <a:chExt cx="967" cy="448"/>
            </a:xfrm>
          </p:grpSpPr>
          <p:grpSp>
            <p:nvGrpSpPr>
              <p:cNvPr id="63" name="Group 89"/>
              <p:cNvGrpSpPr>
                <a:grpSpLocks/>
              </p:cNvGrpSpPr>
              <p:nvPr/>
            </p:nvGrpSpPr>
            <p:grpSpPr bwMode="auto">
              <a:xfrm>
                <a:off x="1681" y="2404"/>
                <a:ext cx="305" cy="448"/>
                <a:chOff x="1681" y="2404"/>
                <a:chExt cx="305" cy="448"/>
              </a:xfrm>
            </p:grpSpPr>
            <p:grpSp>
              <p:nvGrpSpPr>
                <p:cNvPr id="83" name="Group 90"/>
                <p:cNvGrpSpPr>
                  <a:grpSpLocks/>
                </p:cNvGrpSpPr>
                <p:nvPr/>
              </p:nvGrpSpPr>
              <p:grpSpPr bwMode="auto">
                <a:xfrm>
                  <a:off x="1681" y="2404"/>
                  <a:ext cx="305" cy="448"/>
                  <a:chOff x="1681" y="2404"/>
                  <a:chExt cx="305" cy="448"/>
                </a:xfrm>
              </p:grpSpPr>
              <p:grpSp>
                <p:nvGrpSpPr>
                  <p:cNvPr id="85" name="Group 91"/>
                  <p:cNvGrpSpPr>
                    <a:grpSpLocks/>
                  </p:cNvGrpSpPr>
                  <p:nvPr/>
                </p:nvGrpSpPr>
                <p:grpSpPr bwMode="auto">
                  <a:xfrm>
                    <a:off x="1681" y="2475"/>
                    <a:ext cx="305" cy="377"/>
                    <a:chOff x="1681" y="2475"/>
                    <a:chExt cx="305" cy="377"/>
                  </a:xfrm>
                </p:grpSpPr>
                <p:sp>
                  <p:nvSpPr>
                    <p:cNvPr id="90" name="Freeform 92"/>
                    <p:cNvSpPr>
                      <a:spLocks noChangeArrowheads="1"/>
                    </p:cNvSpPr>
                    <p:nvPr/>
                  </p:nvSpPr>
                  <p:spPr bwMode="auto">
                    <a:xfrm>
                      <a:off x="1681" y="2475"/>
                      <a:ext cx="305" cy="377"/>
                    </a:xfrm>
                    <a:custGeom>
                      <a:avLst/>
                      <a:gdLst/>
                      <a:ahLst/>
                      <a:cxnLst>
                        <a:cxn ang="0">
                          <a:pos x="0" y="1662"/>
                        </a:cxn>
                        <a:cxn ang="0">
                          <a:pos x="0" y="336"/>
                        </a:cxn>
                        <a:cxn ang="0">
                          <a:pos x="335" y="0"/>
                        </a:cxn>
                        <a:cxn ang="0">
                          <a:pos x="1345" y="0"/>
                        </a:cxn>
                        <a:cxn ang="0">
                          <a:pos x="1345" y="1326"/>
                        </a:cxn>
                        <a:cxn ang="0">
                          <a:pos x="1008" y="1662"/>
                        </a:cxn>
                        <a:cxn ang="0">
                          <a:pos x="0" y="1662"/>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US"/>
                    </a:p>
                  </p:txBody>
                </p:sp>
                <p:sp>
                  <p:nvSpPr>
                    <p:cNvPr id="91" name="Freeform 93"/>
                    <p:cNvSpPr>
                      <a:spLocks noChangeArrowheads="1"/>
                    </p:cNvSpPr>
                    <p:nvPr/>
                  </p:nvSpPr>
                  <p:spPr bwMode="auto">
                    <a:xfrm>
                      <a:off x="1681" y="2475"/>
                      <a:ext cx="305" cy="76"/>
                    </a:xfrm>
                    <a:custGeom>
                      <a:avLst/>
                      <a:gdLst/>
                      <a:ahLst/>
                      <a:cxnLst>
                        <a:cxn ang="0">
                          <a:pos x="0" y="336"/>
                        </a:cxn>
                        <a:cxn ang="0">
                          <a:pos x="335" y="0"/>
                        </a:cxn>
                        <a:cxn ang="0">
                          <a:pos x="1345" y="0"/>
                        </a:cxn>
                        <a:cxn ang="0">
                          <a:pos x="1008" y="336"/>
                        </a:cxn>
                        <a:cxn ang="0">
                          <a:pos x="0" y="336"/>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US"/>
                    </a:p>
                  </p:txBody>
                </p:sp>
                <p:sp>
                  <p:nvSpPr>
                    <p:cNvPr id="92" name="Freeform 94"/>
                    <p:cNvSpPr>
                      <a:spLocks noChangeArrowheads="1"/>
                    </p:cNvSpPr>
                    <p:nvPr/>
                  </p:nvSpPr>
                  <p:spPr bwMode="auto">
                    <a:xfrm>
                      <a:off x="1909" y="2475"/>
                      <a:ext cx="77" cy="377"/>
                    </a:xfrm>
                    <a:custGeom>
                      <a:avLst/>
                      <a:gdLst/>
                      <a:ahLst/>
                      <a:cxnLst>
                        <a:cxn ang="0">
                          <a:pos x="0" y="1662"/>
                        </a:cxn>
                        <a:cxn ang="0">
                          <a:pos x="0" y="336"/>
                        </a:cxn>
                        <a:cxn ang="0">
                          <a:pos x="337" y="0"/>
                        </a:cxn>
                        <a:cxn ang="0">
                          <a:pos x="337" y="1326"/>
                        </a:cxn>
                        <a:cxn ang="0">
                          <a:pos x="0" y="1662"/>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US"/>
                    </a:p>
                  </p:txBody>
                </p:sp>
              </p:grpSp>
              <p:grpSp>
                <p:nvGrpSpPr>
                  <p:cNvPr id="86" name="Group 95"/>
                  <p:cNvGrpSpPr>
                    <a:grpSpLocks/>
                  </p:cNvGrpSpPr>
                  <p:nvPr/>
                </p:nvGrpSpPr>
                <p:grpSpPr bwMode="auto">
                  <a:xfrm>
                    <a:off x="1751" y="2404"/>
                    <a:ext cx="235" cy="78"/>
                    <a:chOff x="1751" y="2404"/>
                    <a:chExt cx="235" cy="78"/>
                  </a:xfrm>
                </p:grpSpPr>
                <p:sp>
                  <p:nvSpPr>
                    <p:cNvPr id="87" name="Freeform 96"/>
                    <p:cNvSpPr>
                      <a:spLocks noChangeArrowheads="1"/>
                    </p:cNvSpPr>
                    <p:nvPr/>
                  </p:nvSpPr>
                  <p:spPr bwMode="auto">
                    <a:xfrm>
                      <a:off x="1751" y="2404"/>
                      <a:ext cx="235" cy="78"/>
                    </a:xfrm>
                    <a:custGeom>
                      <a:avLst/>
                      <a:gdLst/>
                      <a:ahLst/>
                      <a:cxnLst>
                        <a:cxn ang="0">
                          <a:pos x="0" y="344"/>
                        </a:cxn>
                        <a:cxn ang="0">
                          <a:pos x="0" y="85"/>
                        </a:cxn>
                        <a:cxn ang="0">
                          <a:pos x="85" y="0"/>
                        </a:cxn>
                        <a:cxn ang="0">
                          <a:pos x="1036" y="0"/>
                        </a:cxn>
                        <a:cxn ang="0">
                          <a:pos x="1036" y="257"/>
                        </a:cxn>
                        <a:cxn ang="0">
                          <a:pos x="949" y="344"/>
                        </a:cxn>
                        <a:cxn ang="0">
                          <a:pos x="0" y="344"/>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US"/>
                    </a:p>
                  </p:txBody>
                </p:sp>
                <p:sp>
                  <p:nvSpPr>
                    <p:cNvPr id="88" name="Freeform 97"/>
                    <p:cNvSpPr>
                      <a:spLocks noChangeArrowheads="1"/>
                    </p:cNvSpPr>
                    <p:nvPr/>
                  </p:nvSpPr>
                  <p:spPr bwMode="auto">
                    <a:xfrm>
                      <a:off x="1751" y="2404"/>
                      <a:ext cx="235" cy="20"/>
                    </a:xfrm>
                    <a:custGeom>
                      <a:avLst/>
                      <a:gdLst/>
                      <a:ahLst/>
                      <a:cxnLst>
                        <a:cxn ang="0">
                          <a:pos x="0" y="85"/>
                        </a:cxn>
                        <a:cxn ang="0">
                          <a:pos x="85" y="0"/>
                        </a:cxn>
                        <a:cxn ang="0">
                          <a:pos x="1036" y="0"/>
                        </a:cxn>
                        <a:cxn ang="0">
                          <a:pos x="949" y="85"/>
                        </a:cxn>
                        <a:cxn ang="0">
                          <a:pos x="0" y="85"/>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US"/>
                    </a:p>
                  </p:txBody>
                </p:sp>
                <p:sp>
                  <p:nvSpPr>
                    <p:cNvPr id="89" name="Freeform 98"/>
                    <p:cNvSpPr>
                      <a:spLocks noChangeArrowheads="1"/>
                    </p:cNvSpPr>
                    <p:nvPr/>
                  </p:nvSpPr>
                  <p:spPr bwMode="auto">
                    <a:xfrm>
                      <a:off x="1966" y="2404"/>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US"/>
                    </a:p>
                  </p:txBody>
                </p:sp>
              </p:grpSp>
            </p:grpSp>
            <p:sp>
              <p:nvSpPr>
                <p:cNvPr id="84" name="Freeform 99"/>
                <p:cNvSpPr>
                  <a:spLocks noChangeArrowheads="1"/>
                </p:cNvSpPr>
                <p:nvPr/>
              </p:nvSpPr>
              <p:spPr bwMode="auto">
                <a:xfrm>
                  <a:off x="1743" y="2508"/>
                  <a:ext cx="158" cy="27"/>
                </a:xfrm>
                <a:custGeom>
                  <a:avLst/>
                  <a:gdLst/>
                  <a:ahLst/>
                  <a:cxnLst>
                    <a:cxn ang="0">
                      <a:pos x="173" y="0"/>
                    </a:cxn>
                    <a:cxn ang="0">
                      <a:pos x="697" y="0"/>
                    </a:cxn>
                    <a:cxn ang="0">
                      <a:pos x="522" y="119"/>
                    </a:cxn>
                    <a:cxn ang="0">
                      <a:pos x="0" y="119"/>
                    </a:cxn>
                    <a:cxn ang="0">
                      <a:pos x="173" y="0"/>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US"/>
                </a:p>
              </p:txBody>
            </p:sp>
          </p:grpSp>
          <p:grpSp>
            <p:nvGrpSpPr>
              <p:cNvPr id="64" name="Group 100"/>
              <p:cNvGrpSpPr>
                <a:grpSpLocks/>
              </p:cNvGrpSpPr>
              <p:nvPr/>
            </p:nvGrpSpPr>
            <p:grpSpPr bwMode="auto">
              <a:xfrm>
                <a:off x="1982" y="2404"/>
                <a:ext cx="378" cy="448"/>
                <a:chOff x="1982" y="2404"/>
                <a:chExt cx="378" cy="448"/>
              </a:xfrm>
            </p:grpSpPr>
            <p:grpSp>
              <p:nvGrpSpPr>
                <p:cNvPr id="72" name="Group 101"/>
                <p:cNvGrpSpPr>
                  <a:grpSpLocks/>
                </p:cNvGrpSpPr>
                <p:nvPr/>
              </p:nvGrpSpPr>
              <p:grpSpPr bwMode="auto">
                <a:xfrm>
                  <a:off x="1982" y="2404"/>
                  <a:ext cx="378" cy="448"/>
                  <a:chOff x="1982" y="2404"/>
                  <a:chExt cx="378" cy="448"/>
                </a:xfrm>
              </p:grpSpPr>
              <p:grpSp>
                <p:nvGrpSpPr>
                  <p:cNvPr id="75" name="Group 102"/>
                  <p:cNvGrpSpPr>
                    <a:grpSpLocks/>
                  </p:cNvGrpSpPr>
                  <p:nvPr/>
                </p:nvGrpSpPr>
                <p:grpSpPr bwMode="auto">
                  <a:xfrm>
                    <a:off x="1982" y="2475"/>
                    <a:ext cx="378" cy="377"/>
                    <a:chOff x="1982" y="2475"/>
                    <a:chExt cx="378" cy="377"/>
                  </a:xfrm>
                </p:grpSpPr>
                <p:sp>
                  <p:nvSpPr>
                    <p:cNvPr id="80" name="Freeform 103"/>
                    <p:cNvSpPr>
                      <a:spLocks noChangeArrowheads="1"/>
                    </p:cNvSpPr>
                    <p:nvPr/>
                  </p:nvSpPr>
                  <p:spPr bwMode="auto">
                    <a:xfrm>
                      <a:off x="1982" y="2475"/>
                      <a:ext cx="378" cy="377"/>
                    </a:xfrm>
                    <a:custGeom>
                      <a:avLst/>
                      <a:gdLst/>
                      <a:ahLst/>
                      <a:cxnLst>
                        <a:cxn ang="0">
                          <a:pos x="0" y="1662"/>
                        </a:cxn>
                        <a:cxn ang="0">
                          <a:pos x="0" y="415"/>
                        </a:cxn>
                        <a:cxn ang="0">
                          <a:pos x="414" y="0"/>
                        </a:cxn>
                        <a:cxn ang="0">
                          <a:pos x="1667" y="0"/>
                        </a:cxn>
                        <a:cxn ang="0">
                          <a:pos x="1667" y="1247"/>
                        </a:cxn>
                        <a:cxn ang="0">
                          <a:pos x="1251" y="1662"/>
                        </a:cxn>
                        <a:cxn ang="0">
                          <a:pos x="0" y="1662"/>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US"/>
                    </a:p>
                  </p:txBody>
                </p:sp>
                <p:sp>
                  <p:nvSpPr>
                    <p:cNvPr id="81" name="Freeform 104"/>
                    <p:cNvSpPr>
                      <a:spLocks noChangeArrowheads="1"/>
                    </p:cNvSpPr>
                    <p:nvPr/>
                  </p:nvSpPr>
                  <p:spPr bwMode="auto">
                    <a:xfrm>
                      <a:off x="1982" y="2475"/>
                      <a:ext cx="378" cy="94"/>
                    </a:xfrm>
                    <a:custGeom>
                      <a:avLst/>
                      <a:gdLst/>
                      <a:ahLst/>
                      <a:cxnLst>
                        <a:cxn ang="0">
                          <a:pos x="0" y="415"/>
                        </a:cxn>
                        <a:cxn ang="0">
                          <a:pos x="414" y="0"/>
                        </a:cxn>
                        <a:cxn ang="0">
                          <a:pos x="1667" y="0"/>
                        </a:cxn>
                        <a:cxn ang="0">
                          <a:pos x="1251" y="415"/>
                        </a:cxn>
                        <a:cxn ang="0">
                          <a:pos x="0" y="415"/>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US"/>
                    </a:p>
                  </p:txBody>
                </p:sp>
                <p:sp>
                  <p:nvSpPr>
                    <p:cNvPr id="82" name="Freeform 105"/>
                    <p:cNvSpPr>
                      <a:spLocks noChangeArrowheads="1"/>
                    </p:cNvSpPr>
                    <p:nvPr/>
                  </p:nvSpPr>
                  <p:spPr bwMode="auto">
                    <a:xfrm>
                      <a:off x="2265" y="2475"/>
                      <a:ext cx="95" cy="377"/>
                    </a:xfrm>
                    <a:custGeom>
                      <a:avLst/>
                      <a:gdLst/>
                      <a:ahLst/>
                      <a:cxnLst>
                        <a:cxn ang="0">
                          <a:pos x="0" y="1662"/>
                        </a:cxn>
                        <a:cxn ang="0">
                          <a:pos x="0" y="415"/>
                        </a:cxn>
                        <a:cxn ang="0">
                          <a:pos x="416" y="0"/>
                        </a:cxn>
                        <a:cxn ang="0">
                          <a:pos x="416" y="1247"/>
                        </a:cxn>
                        <a:cxn ang="0">
                          <a:pos x="0" y="1662"/>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US"/>
                    </a:p>
                  </p:txBody>
                </p:sp>
              </p:grpSp>
              <p:grpSp>
                <p:nvGrpSpPr>
                  <p:cNvPr id="76" name="Group 106"/>
                  <p:cNvGrpSpPr>
                    <a:grpSpLocks/>
                  </p:cNvGrpSpPr>
                  <p:nvPr/>
                </p:nvGrpSpPr>
                <p:grpSpPr bwMode="auto">
                  <a:xfrm>
                    <a:off x="2068" y="2404"/>
                    <a:ext cx="292" cy="78"/>
                    <a:chOff x="2068" y="2404"/>
                    <a:chExt cx="292" cy="78"/>
                  </a:xfrm>
                </p:grpSpPr>
                <p:sp>
                  <p:nvSpPr>
                    <p:cNvPr id="77" name="Freeform 107"/>
                    <p:cNvSpPr>
                      <a:spLocks noChangeArrowheads="1"/>
                    </p:cNvSpPr>
                    <p:nvPr/>
                  </p:nvSpPr>
                  <p:spPr bwMode="auto">
                    <a:xfrm>
                      <a:off x="2068" y="2404"/>
                      <a:ext cx="292" cy="78"/>
                    </a:xfrm>
                    <a:custGeom>
                      <a:avLst/>
                      <a:gdLst/>
                      <a:ahLst/>
                      <a:cxnLst>
                        <a:cxn ang="0">
                          <a:pos x="0" y="344"/>
                        </a:cxn>
                        <a:cxn ang="0">
                          <a:pos x="0" y="85"/>
                        </a:cxn>
                        <a:cxn ang="0">
                          <a:pos x="85" y="0"/>
                        </a:cxn>
                        <a:cxn ang="0">
                          <a:pos x="1287" y="0"/>
                        </a:cxn>
                        <a:cxn ang="0">
                          <a:pos x="1287" y="257"/>
                        </a:cxn>
                        <a:cxn ang="0">
                          <a:pos x="1200" y="344"/>
                        </a:cxn>
                        <a:cxn ang="0">
                          <a:pos x="0" y="344"/>
                        </a:cxn>
                      </a:cxnLst>
                      <a:rect l="0" t="0" r="r" b="b"/>
                      <a:pathLst>
                        <a:path w="1288" h="345">
                          <a:moveTo>
                            <a:pt x="0" y="344"/>
                          </a:moveTo>
                          <a:lnTo>
                            <a:pt x="0" y="85"/>
                          </a:lnTo>
                          <a:lnTo>
                            <a:pt x="85" y="0"/>
                          </a:lnTo>
                          <a:lnTo>
                            <a:pt x="1287" y="0"/>
                          </a:lnTo>
                          <a:lnTo>
                            <a:pt x="1287" y="257"/>
                          </a:lnTo>
                          <a:lnTo>
                            <a:pt x="1200" y="344"/>
                          </a:lnTo>
                          <a:lnTo>
                            <a:pt x="0" y="344"/>
                          </a:lnTo>
                        </a:path>
                      </a:pathLst>
                    </a:custGeom>
                    <a:solidFill>
                      <a:srgbClr val="A2C1FE"/>
                    </a:solidFill>
                    <a:ln w="12600">
                      <a:solidFill>
                        <a:srgbClr val="000000"/>
                      </a:solidFill>
                      <a:round/>
                      <a:headEnd/>
                      <a:tailEnd/>
                    </a:ln>
                  </p:spPr>
                  <p:txBody>
                    <a:bodyPr wrap="none" anchor="ctr"/>
                    <a:lstStyle/>
                    <a:p>
                      <a:endParaRPr lang="en-US"/>
                    </a:p>
                  </p:txBody>
                </p:sp>
                <p:sp>
                  <p:nvSpPr>
                    <p:cNvPr id="78" name="Freeform 108"/>
                    <p:cNvSpPr>
                      <a:spLocks noChangeArrowheads="1"/>
                    </p:cNvSpPr>
                    <p:nvPr/>
                  </p:nvSpPr>
                  <p:spPr bwMode="auto">
                    <a:xfrm>
                      <a:off x="2068" y="2404"/>
                      <a:ext cx="292" cy="20"/>
                    </a:xfrm>
                    <a:custGeom>
                      <a:avLst/>
                      <a:gdLst/>
                      <a:ahLst/>
                      <a:cxnLst>
                        <a:cxn ang="0">
                          <a:pos x="0" y="85"/>
                        </a:cxn>
                        <a:cxn ang="0">
                          <a:pos x="85" y="0"/>
                        </a:cxn>
                        <a:cxn ang="0">
                          <a:pos x="1287" y="0"/>
                        </a:cxn>
                        <a:cxn ang="0">
                          <a:pos x="1200" y="85"/>
                        </a:cxn>
                        <a:cxn ang="0">
                          <a:pos x="0" y="85"/>
                        </a:cxn>
                      </a:cxnLst>
                      <a:rect l="0" t="0" r="r" b="b"/>
                      <a:pathLst>
                        <a:path w="1288" h="86">
                          <a:moveTo>
                            <a:pt x="0" y="85"/>
                          </a:moveTo>
                          <a:lnTo>
                            <a:pt x="85" y="0"/>
                          </a:lnTo>
                          <a:lnTo>
                            <a:pt x="1287" y="0"/>
                          </a:lnTo>
                          <a:lnTo>
                            <a:pt x="1200" y="85"/>
                          </a:lnTo>
                          <a:lnTo>
                            <a:pt x="0" y="85"/>
                          </a:lnTo>
                        </a:path>
                      </a:pathLst>
                    </a:custGeom>
                    <a:solidFill>
                      <a:srgbClr val="B1D3FF"/>
                    </a:solidFill>
                    <a:ln w="12600">
                      <a:solidFill>
                        <a:srgbClr val="000000"/>
                      </a:solidFill>
                      <a:round/>
                      <a:headEnd/>
                      <a:tailEnd/>
                    </a:ln>
                  </p:spPr>
                  <p:txBody>
                    <a:bodyPr wrap="none" anchor="ctr"/>
                    <a:lstStyle/>
                    <a:p>
                      <a:endParaRPr lang="en-US"/>
                    </a:p>
                  </p:txBody>
                </p:sp>
                <p:sp>
                  <p:nvSpPr>
                    <p:cNvPr id="79" name="Freeform 109"/>
                    <p:cNvSpPr>
                      <a:spLocks noChangeArrowheads="1"/>
                    </p:cNvSpPr>
                    <p:nvPr/>
                  </p:nvSpPr>
                  <p:spPr bwMode="auto">
                    <a:xfrm>
                      <a:off x="2340" y="2404"/>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US"/>
                    </a:p>
                  </p:txBody>
                </p:sp>
              </p:grpSp>
            </p:grpSp>
            <p:sp>
              <p:nvSpPr>
                <p:cNvPr id="73" name="Oval 110"/>
                <p:cNvSpPr>
                  <a:spLocks noChangeArrowheads="1"/>
                </p:cNvSpPr>
                <p:nvPr/>
              </p:nvSpPr>
              <p:spPr bwMode="auto">
                <a:xfrm>
                  <a:off x="2097" y="2440"/>
                  <a:ext cx="49" cy="27"/>
                </a:xfrm>
                <a:prstGeom prst="ellipse">
                  <a:avLst/>
                </a:prstGeom>
                <a:solidFill>
                  <a:srgbClr val="FFFFFF"/>
                </a:solidFill>
                <a:ln w="12600">
                  <a:solidFill>
                    <a:srgbClr val="000000"/>
                  </a:solidFill>
                  <a:round/>
                  <a:headEnd/>
                  <a:tailEnd/>
                </a:ln>
              </p:spPr>
              <p:txBody>
                <a:bodyPr wrap="none" anchor="ctr"/>
                <a:lstStyle/>
                <a:p>
                  <a:endParaRPr lang="en-US"/>
                </a:p>
              </p:txBody>
            </p:sp>
            <p:sp>
              <p:nvSpPr>
                <p:cNvPr id="74" name="Freeform 111"/>
                <p:cNvSpPr>
                  <a:spLocks noChangeArrowheads="1"/>
                </p:cNvSpPr>
                <p:nvPr/>
              </p:nvSpPr>
              <p:spPr bwMode="auto">
                <a:xfrm>
                  <a:off x="2029" y="2650"/>
                  <a:ext cx="198" cy="84"/>
                </a:xfrm>
                <a:custGeom>
                  <a:avLst/>
                  <a:gdLst/>
                  <a:ahLst/>
                  <a:cxnLst>
                    <a:cxn ang="0">
                      <a:pos x="107" y="0"/>
                    </a:cxn>
                    <a:cxn ang="0">
                      <a:pos x="764" y="0"/>
                    </a:cxn>
                    <a:cxn ang="0">
                      <a:pos x="873" y="108"/>
                    </a:cxn>
                    <a:cxn ang="0">
                      <a:pos x="873" y="262"/>
                    </a:cxn>
                    <a:cxn ang="0">
                      <a:pos x="764" y="370"/>
                    </a:cxn>
                    <a:cxn ang="0">
                      <a:pos x="107" y="370"/>
                    </a:cxn>
                    <a:cxn ang="0">
                      <a:pos x="0" y="262"/>
                    </a:cxn>
                    <a:cxn ang="0">
                      <a:pos x="0" y="108"/>
                    </a:cxn>
                    <a:cxn ang="0">
                      <a:pos x="107" y="0"/>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US"/>
                </a:p>
              </p:txBody>
            </p:sp>
          </p:grpSp>
          <p:sp>
            <p:nvSpPr>
              <p:cNvPr id="65" name="Freeform 112"/>
              <p:cNvSpPr>
                <a:spLocks noChangeArrowheads="1"/>
              </p:cNvSpPr>
              <p:nvPr/>
            </p:nvSpPr>
            <p:spPr bwMode="auto">
              <a:xfrm>
                <a:off x="2546" y="2633"/>
                <a:ext cx="85" cy="191"/>
              </a:xfrm>
              <a:custGeom>
                <a:avLst/>
                <a:gdLst/>
                <a:ahLst/>
                <a:cxnLst>
                  <a:cxn ang="0">
                    <a:pos x="274" y="0"/>
                  </a:cxn>
                  <a:cxn ang="0">
                    <a:pos x="376" y="0"/>
                  </a:cxn>
                  <a:cxn ang="0">
                    <a:pos x="101" y="842"/>
                  </a:cxn>
                  <a:cxn ang="0">
                    <a:pos x="0" y="842"/>
                  </a:cxn>
                  <a:cxn ang="0">
                    <a:pos x="274" y="0"/>
                  </a:cxn>
                </a:cxnLst>
                <a:rect l="0" t="0" r="r" b="b"/>
                <a:pathLst>
                  <a:path w="377" h="843">
                    <a:moveTo>
                      <a:pt x="274" y="0"/>
                    </a:moveTo>
                    <a:lnTo>
                      <a:pt x="376" y="0"/>
                    </a:lnTo>
                    <a:lnTo>
                      <a:pt x="101" y="842"/>
                    </a:lnTo>
                    <a:lnTo>
                      <a:pt x="0" y="842"/>
                    </a:lnTo>
                    <a:lnTo>
                      <a:pt x="274" y="0"/>
                    </a:lnTo>
                  </a:path>
                </a:pathLst>
              </a:custGeom>
              <a:solidFill>
                <a:srgbClr val="FC0128"/>
              </a:solidFill>
              <a:ln w="9525">
                <a:noFill/>
                <a:round/>
                <a:headEnd/>
                <a:tailEnd/>
              </a:ln>
            </p:spPr>
            <p:txBody>
              <a:bodyPr wrap="none" anchor="ctr"/>
              <a:lstStyle/>
              <a:p>
                <a:endParaRPr lang="en-US"/>
              </a:p>
            </p:txBody>
          </p:sp>
          <p:sp>
            <p:nvSpPr>
              <p:cNvPr id="66" name="AutoShape 113"/>
              <p:cNvSpPr>
                <a:spLocks noChangeArrowheads="1"/>
              </p:cNvSpPr>
              <p:nvPr/>
            </p:nvSpPr>
            <p:spPr bwMode="auto">
              <a:xfrm>
                <a:off x="2542" y="2633"/>
                <a:ext cx="106"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67" name="AutoShape 114"/>
              <p:cNvSpPr>
                <a:spLocks noChangeArrowheads="1"/>
              </p:cNvSpPr>
              <p:nvPr/>
            </p:nvSpPr>
            <p:spPr bwMode="auto">
              <a:xfrm>
                <a:off x="2549" y="2714"/>
                <a:ext cx="82"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68" name="AutoShape 115"/>
              <p:cNvSpPr>
                <a:spLocks noChangeArrowheads="1"/>
              </p:cNvSpPr>
              <p:nvPr/>
            </p:nvSpPr>
            <p:spPr bwMode="auto">
              <a:xfrm>
                <a:off x="2366" y="2714"/>
                <a:ext cx="103" cy="11"/>
              </a:xfrm>
              <a:prstGeom prst="roundRect">
                <a:avLst>
                  <a:gd name="adj" fmla="val 10000"/>
                </a:avLst>
              </a:prstGeom>
              <a:solidFill>
                <a:srgbClr val="FC0128"/>
              </a:solidFill>
              <a:ln w="9525">
                <a:noFill/>
                <a:round/>
                <a:headEnd/>
                <a:tailEnd/>
              </a:ln>
            </p:spPr>
            <p:txBody>
              <a:bodyPr wrap="none" anchor="ctr"/>
              <a:lstStyle/>
              <a:p>
                <a:endParaRPr lang="en-US"/>
              </a:p>
            </p:txBody>
          </p:sp>
          <p:grpSp>
            <p:nvGrpSpPr>
              <p:cNvPr id="69" name="Group 116"/>
              <p:cNvGrpSpPr>
                <a:grpSpLocks/>
              </p:cNvGrpSpPr>
              <p:nvPr/>
            </p:nvGrpSpPr>
            <p:grpSpPr bwMode="auto">
              <a:xfrm>
                <a:off x="2364" y="2461"/>
                <a:ext cx="194" cy="364"/>
                <a:chOff x="2364" y="2461"/>
                <a:chExt cx="194" cy="364"/>
              </a:xfrm>
            </p:grpSpPr>
            <p:sp>
              <p:nvSpPr>
                <p:cNvPr id="70" name="Oval 117"/>
                <p:cNvSpPr>
                  <a:spLocks noChangeArrowheads="1"/>
                </p:cNvSpPr>
                <p:nvPr/>
              </p:nvSpPr>
              <p:spPr bwMode="auto">
                <a:xfrm>
                  <a:off x="2440" y="2461"/>
                  <a:ext cx="49" cy="49"/>
                </a:xfrm>
                <a:prstGeom prst="ellipse">
                  <a:avLst/>
                </a:prstGeom>
                <a:solidFill>
                  <a:srgbClr val="FC0128"/>
                </a:solidFill>
                <a:ln w="12600">
                  <a:solidFill>
                    <a:srgbClr val="000000"/>
                  </a:solidFill>
                  <a:round/>
                  <a:headEnd/>
                  <a:tailEnd/>
                </a:ln>
              </p:spPr>
              <p:txBody>
                <a:bodyPr wrap="none" anchor="ctr"/>
                <a:lstStyle/>
                <a:p>
                  <a:endParaRPr lang="en-US"/>
                </a:p>
              </p:txBody>
            </p:sp>
            <p:sp>
              <p:nvSpPr>
                <p:cNvPr id="71" name="Freeform 118"/>
                <p:cNvSpPr>
                  <a:spLocks noChangeArrowheads="1"/>
                </p:cNvSpPr>
                <p:nvPr/>
              </p:nvSpPr>
              <p:spPr bwMode="auto">
                <a:xfrm>
                  <a:off x="2364" y="2529"/>
                  <a:ext cx="194" cy="296"/>
                </a:xfrm>
                <a:custGeom>
                  <a:avLst/>
                  <a:gdLst/>
                  <a:ahLst/>
                  <a:cxnLst>
                    <a:cxn ang="0">
                      <a:pos x="8" y="605"/>
                    </a:cxn>
                    <a:cxn ang="0">
                      <a:pos x="4" y="618"/>
                    </a:cxn>
                    <a:cxn ang="0">
                      <a:pos x="0" y="640"/>
                    </a:cxn>
                    <a:cxn ang="0">
                      <a:pos x="0" y="662"/>
                    </a:cxn>
                    <a:cxn ang="0">
                      <a:pos x="8" y="684"/>
                    </a:cxn>
                    <a:cxn ang="0">
                      <a:pos x="17" y="703"/>
                    </a:cxn>
                    <a:cxn ang="0">
                      <a:pos x="35" y="721"/>
                    </a:cxn>
                    <a:cxn ang="0">
                      <a:pos x="52" y="730"/>
                    </a:cxn>
                    <a:cxn ang="0">
                      <a:pos x="70" y="734"/>
                    </a:cxn>
                    <a:cxn ang="0">
                      <a:pos x="92" y="734"/>
                    </a:cxn>
                    <a:cxn ang="0">
                      <a:pos x="558" y="1304"/>
                    </a:cxn>
                    <a:cxn ang="0">
                      <a:pos x="704" y="627"/>
                    </a:cxn>
                    <a:cxn ang="0">
                      <a:pos x="704" y="609"/>
                    </a:cxn>
                    <a:cxn ang="0">
                      <a:pos x="695" y="601"/>
                    </a:cxn>
                    <a:cxn ang="0">
                      <a:pos x="682" y="587"/>
                    </a:cxn>
                    <a:cxn ang="0">
                      <a:pos x="673" y="578"/>
                    </a:cxn>
                    <a:cxn ang="0">
                      <a:pos x="656" y="574"/>
                    </a:cxn>
                    <a:cxn ang="0">
                      <a:pos x="638" y="570"/>
                    </a:cxn>
                    <a:cxn ang="0">
                      <a:pos x="620" y="570"/>
                    </a:cxn>
                    <a:cxn ang="0">
                      <a:pos x="607" y="570"/>
                    </a:cxn>
                    <a:cxn ang="0">
                      <a:pos x="412" y="331"/>
                    </a:cxn>
                    <a:cxn ang="0">
                      <a:pos x="793" y="411"/>
                    </a:cxn>
                    <a:cxn ang="0">
                      <a:pos x="811" y="406"/>
                    </a:cxn>
                    <a:cxn ang="0">
                      <a:pos x="820" y="402"/>
                    </a:cxn>
                    <a:cxn ang="0">
                      <a:pos x="837" y="393"/>
                    </a:cxn>
                    <a:cxn ang="0">
                      <a:pos x="846" y="380"/>
                    </a:cxn>
                    <a:cxn ang="0">
                      <a:pos x="851" y="367"/>
                    </a:cxn>
                    <a:cxn ang="0">
                      <a:pos x="855" y="345"/>
                    </a:cxn>
                    <a:cxn ang="0">
                      <a:pos x="851" y="327"/>
                    </a:cxn>
                    <a:cxn ang="0">
                      <a:pos x="842" y="309"/>
                    </a:cxn>
                    <a:cxn ang="0">
                      <a:pos x="833" y="300"/>
                    </a:cxn>
                    <a:cxn ang="0">
                      <a:pos x="815" y="286"/>
                    </a:cxn>
                    <a:cxn ang="0">
                      <a:pos x="802" y="282"/>
                    </a:cxn>
                    <a:cxn ang="0">
                      <a:pos x="541" y="282"/>
                    </a:cxn>
                    <a:cxn ang="0">
                      <a:pos x="496" y="185"/>
                    </a:cxn>
                    <a:cxn ang="0">
                      <a:pos x="500" y="163"/>
                    </a:cxn>
                    <a:cxn ang="0">
                      <a:pos x="505" y="132"/>
                    </a:cxn>
                    <a:cxn ang="0">
                      <a:pos x="505" y="105"/>
                    </a:cxn>
                    <a:cxn ang="0">
                      <a:pos x="496" y="83"/>
                    </a:cxn>
                    <a:cxn ang="0">
                      <a:pos x="487" y="66"/>
                    </a:cxn>
                    <a:cxn ang="0">
                      <a:pos x="474" y="44"/>
                    </a:cxn>
                    <a:cxn ang="0">
                      <a:pos x="456" y="30"/>
                    </a:cxn>
                    <a:cxn ang="0">
                      <a:pos x="434" y="13"/>
                    </a:cxn>
                    <a:cxn ang="0">
                      <a:pos x="412" y="4"/>
                    </a:cxn>
                    <a:cxn ang="0">
                      <a:pos x="385" y="0"/>
                    </a:cxn>
                    <a:cxn ang="0">
                      <a:pos x="359" y="0"/>
                    </a:cxn>
                    <a:cxn ang="0">
                      <a:pos x="332" y="4"/>
                    </a:cxn>
                    <a:cxn ang="0">
                      <a:pos x="305" y="13"/>
                    </a:cxn>
                    <a:cxn ang="0">
                      <a:pos x="278" y="26"/>
                    </a:cxn>
                    <a:cxn ang="0">
                      <a:pos x="261" y="48"/>
                    </a:cxn>
                    <a:cxn ang="0">
                      <a:pos x="243" y="75"/>
                    </a:cxn>
                    <a:cxn ang="0">
                      <a:pos x="234" y="101"/>
                    </a:cxn>
                  </a:cxnLst>
                  <a:rect l="0" t="0" r="r" b="b"/>
                  <a:pathLst>
                    <a:path w="856" h="1305">
                      <a:moveTo>
                        <a:pt x="234"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2" y="730"/>
                      </a:lnTo>
                      <a:lnTo>
                        <a:pt x="61" y="730"/>
                      </a:lnTo>
                      <a:lnTo>
                        <a:pt x="70" y="734"/>
                      </a:lnTo>
                      <a:lnTo>
                        <a:pt x="79" y="734"/>
                      </a:lnTo>
                      <a:lnTo>
                        <a:pt x="92" y="734"/>
                      </a:lnTo>
                      <a:lnTo>
                        <a:pt x="558" y="734"/>
                      </a:lnTo>
                      <a:lnTo>
                        <a:pt x="558" y="1304"/>
                      </a:lnTo>
                      <a:lnTo>
                        <a:pt x="704" y="1304"/>
                      </a:lnTo>
                      <a:lnTo>
                        <a:pt x="704" y="627"/>
                      </a:lnTo>
                      <a:lnTo>
                        <a:pt x="704" y="618"/>
                      </a:lnTo>
                      <a:lnTo>
                        <a:pt x="704" y="609"/>
                      </a:lnTo>
                      <a:lnTo>
                        <a:pt x="700" y="605"/>
                      </a:lnTo>
                      <a:lnTo>
                        <a:pt x="695" y="601"/>
                      </a:lnTo>
                      <a:lnTo>
                        <a:pt x="691" y="596"/>
                      </a:lnTo>
                      <a:lnTo>
                        <a:pt x="682" y="587"/>
                      </a:lnTo>
                      <a:lnTo>
                        <a:pt x="678" y="583"/>
                      </a:lnTo>
                      <a:lnTo>
                        <a:pt x="673" y="578"/>
                      </a:lnTo>
                      <a:lnTo>
                        <a:pt x="664" y="578"/>
                      </a:lnTo>
                      <a:lnTo>
                        <a:pt x="656" y="574"/>
                      </a:lnTo>
                      <a:lnTo>
                        <a:pt x="647" y="574"/>
                      </a:lnTo>
                      <a:lnTo>
                        <a:pt x="638" y="570"/>
                      </a:lnTo>
                      <a:lnTo>
                        <a:pt x="629" y="570"/>
                      </a:lnTo>
                      <a:lnTo>
                        <a:pt x="620" y="570"/>
                      </a:lnTo>
                      <a:lnTo>
                        <a:pt x="616" y="570"/>
                      </a:lnTo>
                      <a:lnTo>
                        <a:pt x="607" y="570"/>
                      </a:lnTo>
                      <a:lnTo>
                        <a:pt x="337" y="552"/>
                      </a:lnTo>
                      <a:lnTo>
                        <a:pt x="412" y="331"/>
                      </a:lnTo>
                      <a:lnTo>
                        <a:pt x="465" y="411"/>
                      </a:lnTo>
                      <a:lnTo>
                        <a:pt x="793" y="411"/>
                      </a:lnTo>
                      <a:lnTo>
                        <a:pt x="802" y="406"/>
                      </a:lnTo>
                      <a:lnTo>
                        <a:pt x="811" y="406"/>
                      </a:lnTo>
                      <a:lnTo>
                        <a:pt x="815" y="402"/>
                      </a:lnTo>
                      <a:lnTo>
                        <a:pt x="820" y="402"/>
                      </a:lnTo>
                      <a:lnTo>
                        <a:pt x="829" y="398"/>
                      </a:lnTo>
                      <a:lnTo>
                        <a:pt x="837" y="393"/>
                      </a:lnTo>
                      <a:lnTo>
                        <a:pt x="842" y="384"/>
                      </a:lnTo>
                      <a:lnTo>
                        <a:pt x="846" y="380"/>
                      </a:lnTo>
                      <a:lnTo>
                        <a:pt x="851" y="371"/>
                      </a:lnTo>
                      <a:lnTo>
                        <a:pt x="851" y="367"/>
                      </a:lnTo>
                      <a:lnTo>
                        <a:pt x="855" y="358"/>
                      </a:lnTo>
                      <a:lnTo>
                        <a:pt x="855" y="345"/>
                      </a:lnTo>
                      <a:lnTo>
                        <a:pt x="855" y="336"/>
                      </a:lnTo>
                      <a:lnTo>
                        <a:pt x="851" y="327"/>
                      </a:lnTo>
                      <a:lnTo>
                        <a:pt x="846" y="318"/>
                      </a:lnTo>
                      <a:lnTo>
                        <a:pt x="842" y="309"/>
                      </a:lnTo>
                      <a:lnTo>
                        <a:pt x="837" y="305"/>
                      </a:lnTo>
                      <a:lnTo>
                        <a:pt x="833" y="300"/>
                      </a:lnTo>
                      <a:lnTo>
                        <a:pt x="824" y="291"/>
                      </a:lnTo>
                      <a:lnTo>
                        <a:pt x="815" y="286"/>
                      </a:lnTo>
                      <a:lnTo>
                        <a:pt x="815" y="282"/>
                      </a:lnTo>
                      <a:lnTo>
                        <a:pt x="802" y="282"/>
                      </a:lnTo>
                      <a:lnTo>
                        <a:pt x="793" y="282"/>
                      </a:lnTo>
                      <a:lnTo>
                        <a:pt x="541" y="282"/>
                      </a:lnTo>
                      <a:lnTo>
                        <a:pt x="487" y="194"/>
                      </a:lnTo>
                      <a:lnTo>
                        <a:pt x="496" y="185"/>
                      </a:lnTo>
                      <a:lnTo>
                        <a:pt x="500" y="172"/>
                      </a:lnTo>
                      <a:lnTo>
                        <a:pt x="500" y="163"/>
                      </a:lnTo>
                      <a:lnTo>
                        <a:pt x="505" y="150"/>
                      </a:lnTo>
                      <a:lnTo>
                        <a:pt x="505" y="132"/>
                      </a:lnTo>
                      <a:lnTo>
                        <a:pt x="505" y="123"/>
                      </a:lnTo>
                      <a:lnTo>
                        <a:pt x="505" y="105"/>
                      </a:lnTo>
                      <a:lnTo>
                        <a:pt x="500" y="97"/>
                      </a:lnTo>
                      <a:lnTo>
                        <a:pt x="496" y="83"/>
                      </a:lnTo>
                      <a:lnTo>
                        <a:pt x="491" y="75"/>
                      </a:lnTo>
                      <a:lnTo>
                        <a:pt x="487" y="66"/>
                      </a:lnTo>
                      <a:lnTo>
                        <a:pt x="482" y="57"/>
                      </a:lnTo>
                      <a:lnTo>
                        <a:pt x="474" y="44"/>
                      </a:lnTo>
                      <a:lnTo>
                        <a:pt x="465" y="39"/>
                      </a:lnTo>
                      <a:lnTo>
                        <a:pt x="456" y="30"/>
                      </a:lnTo>
                      <a:lnTo>
                        <a:pt x="447" y="22"/>
                      </a:lnTo>
                      <a:lnTo>
                        <a:pt x="434" y="13"/>
                      </a:lnTo>
                      <a:lnTo>
                        <a:pt x="425" y="13"/>
                      </a:lnTo>
                      <a:lnTo>
                        <a:pt x="412" y="4"/>
                      </a:lnTo>
                      <a:lnTo>
                        <a:pt x="399" y="4"/>
                      </a:lnTo>
                      <a:lnTo>
                        <a:pt x="385" y="0"/>
                      </a:lnTo>
                      <a:lnTo>
                        <a:pt x="372" y="0"/>
                      </a:lnTo>
                      <a:lnTo>
                        <a:pt x="359" y="0"/>
                      </a:lnTo>
                      <a:lnTo>
                        <a:pt x="346" y="0"/>
                      </a:lnTo>
                      <a:lnTo>
                        <a:pt x="332" y="4"/>
                      </a:lnTo>
                      <a:lnTo>
                        <a:pt x="318" y="8"/>
                      </a:lnTo>
                      <a:lnTo>
                        <a:pt x="305" y="13"/>
                      </a:lnTo>
                      <a:lnTo>
                        <a:pt x="292" y="17"/>
                      </a:lnTo>
                      <a:lnTo>
                        <a:pt x="278" y="26"/>
                      </a:lnTo>
                      <a:lnTo>
                        <a:pt x="270" y="39"/>
                      </a:lnTo>
                      <a:lnTo>
                        <a:pt x="261" y="48"/>
                      </a:lnTo>
                      <a:lnTo>
                        <a:pt x="252" y="57"/>
                      </a:lnTo>
                      <a:lnTo>
                        <a:pt x="243" y="75"/>
                      </a:lnTo>
                      <a:lnTo>
                        <a:pt x="234" y="83"/>
                      </a:lnTo>
                      <a:lnTo>
                        <a:pt x="234" y="101"/>
                      </a:lnTo>
                    </a:path>
                  </a:pathLst>
                </a:custGeom>
                <a:solidFill>
                  <a:srgbClr val="FC0128"/>
                </a:solidFill>
                <a:ln w="9525">
                  <a:noFill/>
                  <a:round/>
                  <a:headEnd/>
                  <a:tailEnd/>
                </a:ln>
              </p:spPr>
              <p:txBody>
                <a:bodyPr wrap="none" anchor="ctr"/>
                <a:lstStyle/>
                <a:p>
                  <a:endParaRPr lang="en-US"/>
                </a:p>
              </p:txBody>
            </p:sp>
          </p:grpSp>
        </p:grpSp>
        <p:grpSp>
          <p:nvGrpSpPr>
            <p:cNvPr id="32" name="Group 119"/>
            <p:cNvGrpSpPr>
              <a:grpSpLocks/>
            </p:cNvGrpSpPr>
            <p:nvPr/>
          </p:nvGrpSpPr>
          <p:grpSpPr bwMode="auto">
            <a:xfrm>
              <a:off x="2097" y="2852"/>
              <a:ext cx="967" cy="448"/>
              <a:chOff x="2097" y="2852"/>
              <a:chExt cx="967" cy="448"/>
            </a:xfrm>
          </p:grpSpPr>
          <p:grpSp>
            <p:nvGrpSpPr>
              <p:cNvPr id="33" name="Group 120"/>
              <p:cNvGrpSpPr>
                <a:grpSpLocks/>
              </p:cNvGrpSpPr>
              <p:nvPr/>
            </p:nvGrpSpPr>
            <p:grpSpPr bwMode="auto">
              <a:xfrm>
                <a:off x="2097" y="2852"/>
                <a:ext cx="305" cy="448"/>
                <a:chOff x="2097" y="2852"/>
                <a:chExt cx="305" cy="448"/>
              </a:xfrm>
            </p:grpSpPr>
            <p:grpSp>
              <p:nvGrpSpPr>
                <p:cNvPr id="53" name="Group 121"/>
                <p:cNvGrpSpPr>
                  <a:grpSpLocks/>
                </p:cNvGrpSpPr>
                <p:nvPr/>
              </p:nvGrpSpPr>
              <p:grpSpPr bwMode="auto">
                <a:xfrm>
                  <a:off x="2097" y="2852"/>
                  <a:ext cx="305" cy="448"/>
                  <a:chOff x="2097" y="2852"/>
                  <a:chExt cx="305" cy="448"/>
                </a:xfrm>
              </p:grpSpPr>
              <p:grpSp>
                <p:nvGrpSpPr>
                  <p:cNvPr id="55" name="Group 122"/>
                  <p:cNvGrpSpPr>
                    <a:grpSpLocks/>
                  </p:cNvGrpSpPr>
                  <p:nvPr/>
                </p:nvGrpSpPr>
                <p:grpSpPr bwMode="auto">
                  <a:xfrm>
                    <a:off x="2097" y="2923"/>
                    <a:ext cx="305" cy="377"/>
                    <a:chOff x="2097" y="2923"/>
                    <a:chExt cx="305" cy="377"/>
                  </a:xfrm>
                </p:grpSpPr>
                <p:sp>
                  <p:nvSpPr>
                    <p:cNvPr id="60" name="Freeform 123"/>
                    <p:cNvSpPr>
                      <a:spLocks noChangeArrowheads="1"/>
                    </p:cNvSpPr>
                    <p:nvPr/>
                  </p:nvSpPr>
                  <p:spPr bwMode="auto">
                    <a:xfrm>
                      <a:off x="2097" y="2923"/>
                      <a:ext cx="305" cy="377"/>
                    </a:xfrm>
                    <a:custGeom>
                      <a:avLst/>
                      <a:gdLst/>
                      <a:ahLst/>
                      <a:cxnLst>
                        <a:cxn ang="0">
                          <a:pos x="0" y="1662"/>
                        </a:cxn>
                        <a:cxn ang="0">
                          <a:pos x="0" y="336"/>
                        </a:cxn>
                        <a:cxn ang="0">
                          <a:pos x="335" y="0"/>
                        </a:cxn>
                        <a:cxn ang="0">
                          <a:pos x="1345" y="0"/>
                        </a:cxn>
                        <a:cxn ang="0">
                          <a:pos x="1345" y="1326"/>
                        </a:cxn>
                        <a:cxn ang="0">
                          <a:pos x="1008" y="1662"/>
                        </a:cxn>
                        <a:cxn ang="0">
                          <a:pos x="0" y="1662"/>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US"/>
                    </a:p>
                  </p:txBody>
                </p:sp>
                <p:sp>
                  <p:nvSpPr>
                    <p:cNvPr id="61" name="Freeform 124"/>
                    <p:cNvSpPr>
                      <a:spLocks noChangeArrowheads="1"/>
                    </p:cNvSpPr>
                    <p:nvPr/>
                  </p:nvSpPr>
                  <p:spPr bwMode="auto">
                    <a:xfrm>
                      <a:off x="2097" y="2923"/>
                      <a:ext cx="305" cy="76"/>
                    </a:xfrm>
                    <a:custGeom>
                      <a:avLst/>
                      <a:gdLst/>
                      <a:ahLst/>
                      <a:cxnLst>
                        <a:cxn ang="0">
                          <a:pos x="0" y="336"/>
                        </a:cxn>
                        <a:cxn ang="0">
                          <a:pos x="335" y="0"/>
                        </a:cxn>
                        <a:cxn ang="0">
                          <a:pos x="1345" y="0"/>
                        </a:cxn>
                        <a:cxn ang="0">
                          <a:pos x="1008" y="336"/>
                        </a:cxn>
                        <a:cxn ang="0">
                          <a:pos x="0" y="336"/>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US"/>
                    </a:p>
                  </p:txBody>
                </p:sp>
                <p:sp>
                  <p:nvSpPr>
                    <p:cNvPr id="62" name="Freeform 125"/>
                    <p:cNvSpPr>
                      <a:spLocks noChangeArrowheads="1"/>
                    </p:cNvSpPr>
                    <p:nvPr/>
                  </p:nvSpPr>
                  <p:spPr bwMode="auto">
                    <a:xfrm>
                      <a:off x="2325" y="2923"/>
                      <a:ext cx="77" cy="377"/>
                    </a:xfrm>
                    <a:custGeom>
                      <a:avLst/>
                      <a:gdLst/>
                      <a:ahLst/>
                      <a:cxnLst>
                        <a:cxn ang="0">
                          <a:pos x="0" y="1662"/>
                        </a:cxn>
                        <a:cxn ang="0">
                          <a:pos x="0" y="336"/>
                        </a:cxn>
                        <a:cxn ang="0">
                          <a:pos x="337" y="0"/>
                        </a:cxn>
                        <a:cxn ang="0">
                          <a:pos x="337" y="1326"/>
                        </a:cxn>
                        <a:cxn ang="0">
                          <a:pos x="0" y="1662"/>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US"/>
                    </a:p>
                  </p:txBody>
                </p:sp>
              </p:grpSp>
              <p:grpSp>
                <p:nvGrpSpPr>
                  <p:cNvPr id="56" name="Group 126"/>
                  <p:cNvGrpSpPr>
                    <a:grpSpLocks/>
                  </p:cNvGrpSpPr>
                  <p:nvPr/>
                </p:nvGrpSpPr>
                <p:grpSpPr bwMode="auto">
                  <a:xfrm>
                    <a:off x="2167" y="2852"/>
                    <a:ext cx="235" cy="78"/>
                    <a:chOff x="2167" y="2852"/>
                    <a:chExt cx="235" cy="78"/>
                  </a:xfrm>
                </p:grpSpPr>
                <p:sp>
                  <p:nvSpPr>
                    <p:cNvPr id="57" name="Freeform 127"/>
                    <p:cNvSpPr>
                      <a:spLocks noChangeArrowheads="1"/>
                    </p:cNvSpPr>
                    <p:nvPr/>
                  </p:nvSpPr>
                  <p:spPr bwMode="auto">
                    <a:xfrm>
                      <a:off x="2167" y="2852"/>
                      <a:ext cx="235" cy="78"/>
                    </a:xfrm>
                    <a:custGeom>
                      <a:avLst/>
                      <a:gdLst/>
                      <a:ahLst/>
                      <a:cxnLst>
                        <a:cxn ang="0">
                          <a:pos x="0" y="344"/>
                        </a:cxn>
                        <a:cxn ang="0">
                          <a:pos x="0" y="85"/>
                        </a:cxn>
                        <a:cxn ang="0">
                          <a:pos x="85" y="0"/>
                        </a:cxn>
                        <a:cxn ang="0">
                          <a:pos x="1036" y="0"/>
                        </a:cxn>
                        <a:cxn ang="0">
                          <a:pos x="1036" y="257"/>
                        </a:cxn>
                        <a:cxn ang="0">
                          <a:pos x="949" y="344"/>
                        </a:cxn>
                        <a:cxn ang="0">
                          <a:pos x="0" y="344"/>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US"/>
                    </a:p>
                  </p:txBody>
                </p:sp>
                <p:sp>
                  <p:nvSpPr>
                    <p:cNvPr id="58" name="Freeform 128"/>
                    <p:cNvSpPr>
                      <a:spLocks noChangeArrowheads="1"/>
                    </p:cNvSpPr>
                    <p:nvPr/>
                  </p:nvSpPr>
                  <p:spPr bwMode="auto">
                    <a:xfrm>
                      <a:off x="2167" y="2852"/>
                      <a:ext cx="235" cy="20"/>
                    </a:xfrm>
                    <a:custGeom>
                      <a:avLst/>
                      <a:gdLst/>
                      <a:ahLst/>
                      <a:cxnLst>
                        <a:cxn ang="0">
                          <a:pos x="0" y="85"/>
                        </a:cxn>
                        <a:cxn ang="0">
                          <a:pos x="85" y="0"/>
                        </a:cxn>
                        <a:cxn ang="0">
                          <a:pos x="1036" y="0"/>
                        </a:cxn>
                        <a:cxn ang="0">
                          <a:pos x="949" y="85"/>
                        </a:cxn>
                        <a:cxn ang="0">
                          <a:pos x="0" y="85"/>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US"/>
                    </a:p>
                  </p:txBody>
                </p:sp>
                <p:sp>
                  <p:nvSpPr>
                    <p:cNvPr id="59" name="Freeform 129"/>
                    <p:cNvSpPr>
                      <a:spLocks noChangeArrowheads="1"/>
                    </p:cNvSpPr>
                    <p:nvPr/>
                  </p:nvSpPr>
                  <p:spPr bwMode="auto">
                    <a:xfrm>
                      <a:off x="2382" y="2852"/>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US"/>
                    </a:p>
                  </p:txBody>
                </p:sp>
              </p:grpSp>
            </p:grpSp>
            <p:sp>
              <p:nvSpPr>
                <p:cNvPr id="54" name="Freeform 130"/>
                <p:cNvSpPr>
                  <a:spLocks noChangeArrowheads="1"/>
                </p:cNvSpPr>
                <p:nvPr/>
              </p:nvSpPr>
              <p:spPr bwMode="auto">
                <a:xfrm>
                  <a:off x="2159" y="2956"/>
                  <a:ext cx="158" cy="27"/>
                </a:xfrm>
                <a:custGeom>
                  <a:avLst/>
                  <a:gdLst/>
                  <a:ahLst/>
                  <a:cxnLst>
                    <a:cxn ang="0">
                      <a:pos x="173" y="0"/>
                    </a:cxn>
                    <a:cxn ang="0">
                      <a:pos x="697" y="0"/>
                    </a:cxn>
                    <a:cxn ang="0">
                      <a:pos x="522" y="119"/>
                    </a:cxn>
                    <a:cxn ang="0">
                      <a:pos x="0" y="119"/>
                    </a:cxn>
                    <a:cxn ang="0">
                      <a:pos x="173" y="0"/>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US"/>
                </a:p>
              </p:txBody>
            </p:sp>
          </p:grpSp>
          <p:grpSp>
            <p:nvGrpSpPr>
              <p:cNvPr id="34" name="Group 131"/>
              <p:cNvGrpSpPr>
                <a:grpSpLocks/>
              </p:cNvGrpSpPr>
              <p:nvPr/>
            </p:nvGrpSpPr>
            <p:grpSpPr bwMode="auto">
              <a:xfrm>
                <a:off x="2398" y="2852"/>
                <a:ext cx="379" cy="448"/>
                <a:chOff x="2398" y="2852"/>
                <a:chExt cx="379" cy="448"/>
              </a:xfrm>
            </p:grpSpPr>
            <p:grpSp>
              <p:nvGrpSpPr>
                <p:cNvPr id="42" name="Group 132"/>
                <p:cNvGrpSpPr>
                  <a:grpSpLocks/>
                </p:cNvGrpSpPr>
                <p:nvPr/>
              </p:nvGrpSpPr>
              <p:grpSpPr bwMode="auto">
                <a:xfrm>
                  <a:off x="2398" y="2852"/>
                  <a:ext cx="379" cy="448"/>
                  <a:chOff x="2398" y="2852"/>
                  <a:chExt cx="379" cy="448"/>
                </a:xfrm>
              </p:grpSpPr>
              <p:grpSp>
                <p:nvGrpSpPr>
                  <p:cNvPr id="45" name="Group 133"/>
                  <p:cNvGrpSpPr>
                    <a:grpSpLocks/>
                  </p:cNvGrpSpPr>
                  <p:nvPr/>
                </p:nvGrpSpPr>
                <p:grpSpPr bwMode="auto">
                  <a:xfrm>
                    <a:off x="2398" y="2923"/>
                    <a:ext cx="379" cy="377"/>
                    <a:chOff x="2398" y="2923"/>
                    <a:chExt cx="379" cy="377"/>
                  </a:xfrm>
                </p:grpSpPr>
                <p:sp>
                  <p:nvSpPr>
                    <p:cNvPr id="50" name="Freeform 134"/>
                    <p:cNvSpPr>
                      <a:spLocks noChangeArrowheads="1"/>
                    </p:cNvSpPr>
                    <p:nvPr/>
                  </p:nvSpPr>
                  <p:spPr bwMode="auto">
                    <a:xfrm>
                      <a:off x="2398" y="2923"/>
                      <a:ext cx="378" cy="377"/>
                    </a:xfrm>
                    <a:custGeom>
                      <a:avLst/>
                      <a:gdLst/>
                      <a:ahLst/>
                      <a:cxnLst>
                        <a:cxn ang="0">
                          <a:pos x="0" y="1662"/>
                        </a:cxn>
                        <a:cxn ang="0">
                          <a:pos x="0" y="415"/>
                        </a:cxn>
                        <a:cxn ang="0">
                          <a:pos x="414" y="0"/>
                        </a:cxn>
                        <a:cxn ang="0">
                          <a:pos x="1667" y="0"/>
                        </a:cxn>
                        <a:cxn ang="0">
                          <a:pos x="1667" y="1247"/>
                        </a:cxn>
                        <a:cxn ang="0">
                          <a:pos x="1251" y="1662"/>
                        </a:cxn>
                        <a:cxn ang="0">
                          <a:pos x="0" y="1662"/>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US"/>
                    </a:p>
                  </p:txBody>
                </p:sp>
                <p:sp>
                  <p:nvSpPr>
                    <p:cNvPr id="51" name="Freeform 135"/>
                    <p:cNvSpPr>
                      <a:spLocks noChangeArrowheads="1"/>
                    </p:cNvSpPr>
                    <p:nvPr/>
                  </p:nvSpPr>
                  <p:spPr bwMode="auto">
                    <a:xfrm>
                      <a:off x="2398" y="2923"/>
                      <a:ext cx="378" cy="94"/>
                    </a:xfrm>
                    <a:custGeom>
                      <a:avLst/>
                      <a:gdLst/>
                      <a:ahLst/>
                      <a:cxnLst>
                        <a:cxn ang="0">
                          <a:pos x="0" y="415"/>
                        </a:cxn>
                        <a:cxn ang="0">
                          <a:pos x="414" y="0"/>
                        </a:cxn>
                        <a:cxn ang="0">
                          <a:pos x="1667" y="0"/>
                        </a:cxn>
                        <a:cxn ang="0">
                          <a:pos x="1251" y="415"/>
                        </a:cxn>
                        <a:cxn ang="0">
                          <a:pos x="0" y="415"/>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US"/>
                    </a:p>
                  </p:txBody>
                </p:sp>
                <p:sp>
                  <p:nvSpPr>
                    <p:cNvPr id="52" name="Freeform 136"/>
                    <p:cNvSpPr>
                      <a:spLocks noChangeArrowheads="1"/>
                    </p:cNvSpPr>
                    <p:nvPr/>
                  </p:nvSpPr>
                  <p:spPr bwMode="auto">
                    <a:xfrm>
                      <a:off x="2682" y="2923"/>
                      <a:ext cx="95" cy="377"/>
                    </a:xfrm>
                    <a:custGeom>
                      <a:avLst/>
                      <a:gdLst/>
                      <a:ahLst/>
                      <a:cxnLst>
                        <a:cxn ang="0">
                          <a:pos x="0" y="1662"/>
                        </a:cxn>
                        <a:cxn ang="0">
                          <a:pos x="0" y="415"/>
                        </a:cxn>
                        <a:cxn ang="0">
                          <a:pos x="416" y="0"/>
                        </a:cxn>
                        <a:cxn ang="0">
                          <a:pos x="416" y="1247"/>
                        </a:cxn>
                        <a:cxn ang="0">
                          <a:pos x="0" y="1662"/>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US"/>
                    </a:p>
                  </p:txBody>
                </p:sp>
              </p:grpSp>
              <p:grpSp>
                <p:nvGrpSpPr>
                  <p:cNvPr id="46" name="Group 137"/>
                  <p:cNvGrpSpPr>
                    <a:grpSpLocks/>
                  </p:cNvGrpSpPr>
                  <p:nvPr/>
                </p:nvGrpSpPr>
                <p:grpSpPr bwMode="auto">
                  <a:xfrm>
                    <a:off x="2484" y="2852"/>
                    <a:ext cx="292" cy="78"/>
                    <a:chOff x="2484" y="2852"/>
                    <a:chExt cx="292" cy="78"/>
                  </a:xfrm>
                </p:grpSpPr>
                <p:sp>
                  <p:nvSpPr>
                    <p:cNvPr id="47" name="Freeform 138"/>
                    <p:cNvSpPr>
                      <a:spLocks noChangeArrowheads="1"/>
                    </p:cNvSpPr>
                    <p:nvPr/>
                  </p:nvSpPr>
                  <p:spPr bwMode="auto">
                    <a:xfrm>
                      <a:off x="2484" y="2852"/>
                      <a:ext cx="292" cy="78"/>
                    </a:xfrm>
                    <a:custGeom>
                      <a:avLst/>
                      <a:gdLst/>
                      <a:ahLst/>
                      <a:cxnLst>
                        <a:cxn ang="0">
                          <a:pos x="0" y="344"/>
                        </a:cxn>
                        <a:cxn ang="0">
                          <a:pos x="0" y="85"/>
                        </a:cxn>
                        <a:cxn ang="0">
                          <a:pos x="85" y="0"/>
                        </a:cxn>
                        <a:cxn ang="0">
                          <a:pos x="1288" y="0"/>
                        </a:cxn>
                        <a:cxn ang="0">
                          <a:pos x="1288" y="257"/>
                        </a:cxn>
                        <a:cxn ang="0">
                          <a:pos x="1201" y="344"/>
                        </a:cxn>
                        <a:cxn ang="0">
                          <a:pos x="0" y="344"/>
                        </a:cxn>
                      </a:cxnLst>
                      <a:rect l="0" t="0" r="r" b="b"/>
                      <a:pathLst>
                        <a:path w="1289" h="345">
                          <a:moveTo>
                            <a:pt x="0" y="344"/>
                          </a:moveTo>
                          <a:lnTo>
                            <a:pt x="0" y="85"/>
                          </a:lnTo>
                          <a:lnTo>
                            <a:pt x="85" y="0"/>
                          </a:lnTo>
                          <a:lnTo>
                            <a:pt x="1288" y="0"/>
                          </a:lnTo>
                          <a:lnTo>
                            <a:pt x="1288" y="257"/>
                          </a:lnTo>
                          <a:lnTo>
                            <a:pt x="1201" y="344"/>
                          </a:lnTo>
                          <a:lnTo>
                            <a:pt x="0" y="344"/>
                          </a:lnTo>
                        </a:path>
                      </a:pathLst>
                    </a:custGeom>
                    <a:solidFill>
                      <a:srgbClr val="A2C1FE"/>
                    </a:solidFill>
                    <a:ln w="12600">
                      <a:solidFill>
                        <a:srgbClr val="000000"/>
                      </a:solidFill>
                      <a:round/>
                      <a:headEnd/>
                      <a:tailEnd/>
                    </a:ln>
                  </p:spPr>
                  <p:txBody>
                    <a:bodyPr wrap="none" anchor="ctr"/>
                    <a:lstStyle/>
                    <a:p>
                      <a:endParaRPr lang="en-US"/>
                    </a:p>
                  </p:txBody>
                </p:sp>
                <p:sp>
                  <p:nvSpPr>
                    <p:cNvPr id="48" name="Freeform 139"/>
                    <p:cNvSpPr>
                      <a:spLocks noChangeArrowheads="1"/>
                    </p:cNvSpPr>
                    <p:nvPr/>
                  </p:nvSpPr>
                  <p:spPr bwMode="auto">
                    <a:xfrm>
                      <a:off x="2484" y="2852"/>
                      <a:ext cx="292" cy="20"/>
                    </a:xfrm>
                    <a:custGeom>
                      <a:avLst/>
                      <a:gdLst/>
                      <a:ahLst/>
                      <a:cxnLst>
                        <a:cxn ang="0">
                          <a:pos x="0" y="85"/>
                        </a:cxn>
                        <a:cxn ang="0">
                          <a:pos x="85" y="0"/>
                        </a:cxn>
                        <a:cxn ang="0">
                          <a:pos x="1288" y="0"/>
                        </a:cxn>
                        <a:cxn ang="0">
                          <a:pos x="1201" y="85"/>
                        </a:cxn>
                        <a:cxn ang="0">
                          <a:pos x="0" y="85"/>
                        </a:cxn>
                      </a:cxnLst>
                      <a:rect l="0" t="0" r="r" b="b"/>
                      <a:pathLst>
                        <a:path w="1289" h="86">
                          <a:moveTo>
                            <a:pt x="0" y="85"/>
                          </a:moveTo>
                          <a:lnTo>
                            <a:pt x="85" y="0"/>
                          </a:lnTo>
                          <a:lnTo>
                            <a:pt x="1288" y="0"/>
                          </a:lnTo>
                          <a:lnTo>
                            <a:pt x="1201" y="85"/>
                          </a:lnTo>
                          <a:lnTo>
                            <a:pt x="0" y="85"/>
                          </a:lnTo>
                        </a:path>
                      </a:pathLst>
                    </a:custGeom>
                    <a:solidFill>
                      <a:srgbClr val="B1D3FF"/>
                    </a:solidFill>
                    <a:ln w="12600">
                      <a:solidFill>
                        <a:srgbClr val="000000"/>
                      </a:solidFill>
                      <a:round/>
                      <a:headEnd/>
                      <a:tailEnd/>
                    </a:ln>
                  </p:spPr>
                  <p:txBody>
                    <a:bodyPr wrap="none" anchor="ctr"/>
                    <a:lstStyle/>
                    <a:p>
                      <a:endParaRPr lang="en-US"/>
                    </a:p>
                  </p:txBody>
                </p:sp>
                <p:sp>
                  <p:nvSpPr>
                    <p:cNvPr id="49" name="Freeform 140"/>
                    <p:cNvSpPr>
                      <a:spLocks noChangeArrowheads="1"/>
                    </p:cNvSpPr>
                    <p:nvPr/>
                  </p:nvSpPr>
                  <p:spPr bwMode="auto">
                    <a:xfrm>
                      <a:off x="2756" y="2852"/>
                      <a:ext cx="20" cy="78"/>
                    </a:xfrm>
                    <a:custGeom>
                      <a:avLst/>
                      <a:gdLst/>
                      <a:ahLst/>
                      <a:cxnLst>
                        <a:cxn ang="0">
                          <a:pos x="0" y="344"/>
                        </a:cxn>
                        <a:cxn ang="0">
                          <a:pos x="0" y="85"/>
                        </a:cxn>
                        <a:cxn ang="0">
                          <a:pos x="87" y="0"/>
                        </a:cxn>
                        <a:cxn ang="0">
                          <a:pos x="87" y="257"/>
                        </a:cxn>
                        <a:cxn ang="0">
                          <a:pos x="0" y="344"/>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US"/>
                    </a:p>
                  </p:txBody>
                </p:sp>
              </p:grpSp>
            </p:grpSp>
            <p:sp>
              <p:nvSpPr>
                <p:cNvPr id="43" name="Oval 141"/>
                <p:cNvSpPr>
                  <a:spLocks noChangeArrowheads="1"/>
                </p:cNvSpPr>
                <p:nvPr/>
              </p:nvSpPr>
              <p:spPr bwMode="auto">
                <a:xfrm>
                  <a:off x="2513" y="2888"/>
                  <a:ext cx="49" cy="27"/>
                </a:xfrm>
                <a:prstGeom prst="ellipse">
                  <a:avLst/>
                </a:prstGeom>
                <a:solidFill>
                  <a:srgbClr val="FFFFFF"/>
                </a:solidFill>
                <a:ln w="12600">
                  <a:solidFill>
                    <a:srgbClr val="000000"/>
                  </a:solidFill>
                  <a:round/>
                  <a:headEnd/>
                  <a:tailEnd/>
                </a:ln>
              </p:spPr>
              <p:txBody>
                <a:bodyPr wrap="none" anchor="ctr"/>
                <a:lstStyle/>
                <a:p>
                  <a:endParaRPr lang="en-US"/>
                </a:p>
              </p:txBody>
            </p:sp>
            <p:sp>
              <p:nvSpPr>
                <p:cNvPr id="44" name="Freeform 142"/>
                <p:cNvSpPr>
                  <a:spLocks noChangeArrowheads="1"/>
                </p:cNvSpPr>
                <p:nvPr/>
              </p:nvSpPr>
              <p:spPr bwMode="auto">
                <a:xfrm>
                  <a:off x="2445" y="3098"/>
                  <a:ext cx="198" cy="84"/>
                </a:xfrm>
                <a:custGeom>
                  <a:avLst/>
                  <a:gdLst/>
                  <a:ahLst/>
                  <a:cxnLst>
                    <a:cxn ang="0">
                      <a:pos x="107" y="0"/>
                    </a:cxn>
                    <a:cxn ang="0">
                      <a:pos x="764" y="0"/>
                    </a:cxn>
                    <a:cxn ang="0">
                      <a:pos x="873" y="107"/>
                    </a:cxn>
                    <a:cxn ang="0">
                      <a:pos x="873" y="262"/>
                    </a:cxn>
                    <a:cxn ang="0">
                      <a:pos x="764" y="371"/>
                    </a:cxn>
                    <a:cxn ang="0">
                      <a:pos x="107" y="371"/>
                    </a:cxn>
                    <a:cxn ang="0">
                      <a:pos x="0" y="262"/>
                    </a:cxn>
                    <a:cxn ang="0">
                      <a:pos x="0" y="107"/>
                    </a:cxn>
                    <a:cxn ang="0">
                      <a:pos x="107" y="0"/>
                    </a:cxn>
                  </a:cxnLst>
                  <a:rect l="0" t="0" r="r" b="b"/>
                  <a:pathLst>
                    <a:path w="874" h="372">
                      <a:moveTo>
                        <a:pt x="107" y="0"/>
                      </a:moveTo>
                      <a:lnTo>
                        <a:pt x="764" y="0"/>
                      </a:lnTo>
                      <a:lnTo>
                        <a:pt x="873" y="107"/>
                      </a:lnTo>
                      <a:lnTo>
                        <a:pt x="873" y="262"/>
                      </a:lnTo>
                      <a:lnTo>
                        <a:pt x="764" y="371"/>
                      </a:lnTo>
                      <a:lnTo>
                        <a:pt x="107" y="371"/>
                      </a:lnTo>
                      <a:lnTo>
                        <a:pt x="0" y="262"/>
                      </a:lnTo>
                      <a:lnTo>
                        <a:pt x="0" y="107"/>
                      </a:lnTo>
                      <a:lnTo>
                        <a:pt x="107" y="0"/>
                      </a:lnTo>
                    </a:path>
                  </a:pathLst>
                </a:custGeom>
                <a:solidFill>
                  <a:srgbClr val="A2C1FE"/>
                </a:solidFill>
                <a:ln w="25560">
                  <a:solidFill>
                    <a:srgbClr val="000000"/>
                  </a:solidFill>
                  <a:round/>
                  <a:headEnd/>
                  <a:tailEnd/>
                </a:ln>
              </p:spPr>
              <p:txBody>
                <a:bodyPr wrap="none" anchor="ctr"/>
                <a:lstStyle/>
                <a:p>
                  <a:endParaRPr lang="en-US"/>
                </a:p>
              </p:txBody>
            </p:sp>
          </p:grpSp>
          <p:sp>
            <p:nvSpPr>
              <p:cNvPr id="35" name="Freeform 143"/>
              <p:cNvSpPr>
                <a:spLocks noChangeArrowheads="1"/>
              </p:cNvSpPr>
              <p:nvPr/>
            </p:nvSpPr>
            <p:spPr bwMode="auto">
              <a:xfrm>
                <a:off x="2962" y="3081"/>
                <a:ext cx="85" cy="191"/>
              </a:xfrm>
              <a:custGeom>
                <a:avLst/>
                <a:gdLst/>
                <a:ahLst/>
                <a:cxnLst>
                  <a:cxn ang="0">
                    <a:pos x="273" y="0"/>
                  </a:cxn>
                  <a:cxn ang="0">
                    <a:pos x="375" y="0"/>
                  </a:cxn>
                  <a:cxn ang="0">
                    <a:pos x="101" y="843"/>
                  </a:cxn>
                  <a:cxn ang="0">
                    <a:pos x="0" y="843"/>
                  </a:cxn>
                  <a:cxn ang="0">
                    <a:pos x="273" y="0"/>
                  </a:cxn>
                </a:cxnLst>
                <a:rect l="0" t="0" r="r" b="b"/>
                <a:pathLst>
                  <a:path w="376" h="844">
                    <a:moveTo>
                      <a:pt x="273" y="0"/>
                    </a:moveTo>
                    <a:lnTo>
                      <a:pt x="375" y="0"/>
                    </a:lnTo>
                    <a:lnTo>
                      <a:pt x="101" y="843"/>
                    </a:lnTo>
                    <a:lnTo>
                      <a:pt x="0" y="843"/>
                    </a:lnTo>
                    <a:lnTo>
                      <a:pt x="273" y="0"/>
                    </a:lnTo>
                  </a:path>
                </a:pathLst>
              </a:custGeom>
              <a:solidFill>
                <a:srgbClr val="FC0128"/>
              </a:solidFill>
              <a:ln w="9525">
                <a:noFill/>
                <a:round/>
                <a:headEnd/>
                <a:tailEnd/>
              </a:ln>
            </p:spPr>
            <p:txBody>
              <a:bodyPr wrap="none" anchor="ctr"/>
              <a:lstStyle/>
              <a:p>
                <a:endParaRPr lang="en-US"/>
              </a:p>
            </p:txBody>
          </p:sp>
          <p:sp>
            <p:nvSpPr>
              <p:cNvPr id="36" name="AutoShape 144"/>
              <p:cNvSpPr>
                <a:spLocks noChangeArrowheads="1"/>
              </p:cNvSpPr>
              <p:nvPr/>
            </p:nvSpPr>
            <p:spPr bwMode="auto">
              <a:xfrm>
                <a:off x="2958" y="3081"/>
                <a:ext cx="106"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37" name="AutoShape 145"/>
              <p:cNvSpPr>
                <a:spLocks noChangeArrowheads="1"/>
              </p:cNvSpPr>
              <p:nvPr/>
            </p:nvSpPr>
            <p:spPr bwMode="auto">
              <a:xfrm>
                <a:off x="2965" y="3162"/>
                <a:ext cx="82" cy="16"/>
              </a:xfrm>
              <a:prstGeom prst="roundRect">
                <a:avLst>
                  <a:gd name="adj" fmla="val 6250"/>
                </a:avLst>
              </a:prstGeom>
              <a:solidFill>
                <a:srgbClr val="FC0128"/>
              </a:solidFill>
              <a:ln w="9525">
                <a:noFill/>
                <a:round/>
                <a:headEnd/>
                <a:tailEnd/>
              </a:ln>
            </p:spPr>
            <p:txBody>
              <a:bodyPr wrap="none" anchor="ctr"/>
              <a:lstStyle/>
              <a:p>
                <a:endParaRPr lang="en-US"/>
              </a:p>
            </p:txBody>
          </p:sp>
          <p:sp>
            <p:nvSpPr>
              <p:cNvPr id="38" name="AutoShape 146"/>
              <p:cNvSpPr>
                <a:spLocks noChangeArrowheads="1"/>
              </p:cNvSpPr>
              <p:nvPr/>
            </p:nvSpPr>
            <p:spPr bwMode="auto">
              <a:xfrm>
                <a:off x="2782" y="3162"/>
                <a:ext cx="103" cy="11"/>
              </a:xfrm>
              <a:prstGeom prst="roundRect">
                <a:avLst>
                  <a:gd name="adj" fmla="val 10000"/>
                </a:avLst>
              </a:prstGeom>
              <a:solidFill>
                <a:srgbClr val="FC0128"/>
              </a:solidFill>
              <a:ln w="9525">
                <a:noFill/>
                <a:round/>
                <a:headEnd/>
                <a:tailEnd/>
              </a:ln>
            </p:spPr>
            <p:txBody>
              <a:bodyPr wrap="none" anchor="ctr"/>
              <a:lstStyle/>
              <a:p>
                <a:endParaRPr lang="en-US"/>
              </a:p>
            </p:txBody>
          </p:sp>
          <p:grpSp>
            <p:nvGrpSpPr>
              <p:cNvPr id="39" name="Group 147"/>
              <p:cNvGrpSpPr>
                <a:grpSpLocks/>
              </p:cNvGrpSpPr>
              <p:nvPr/>
            </p:nvGrpSpPr>
            <p:grpSpPr bwMode="auto">
              <a:xfrm>
                <a:off x="2780" y="2909"/>
                <a:ext cx="194" cy="365"/>
                <a:chOff x="2780" y="2909"/>
                <a:chExt cx="194" cy="365"/>
              </a:xfrm>
            </p:grpSpPr>
            <p:sp>
              <p:nvSpPr>
                <p:cNvPr id="40" name="Oval 148"/>
                <p:cNvSpPr>
                  <a:spLocks noChangeArrowheads="1"/>
                </p:cNvSpPr>
                <p:nvPr/>
              </p:nvSpPr>
              <p:spPr bwMode="auto">
                <a:xfrm>
                  <a:off x="2856" y="2909"/>
                  <a:ext cx="49" cy="48"/>
                </a:xfrm>
                <a:prstGeom prst="ellipse">
                  <a:avLst/>
                </a:prstGeom>
                <a:solidFill>
                  <a:srgbClr val="FC0128"/>
                </a:solidFill>
                <a:ln w="12600">
                  <a:solidFill>
                    <a:srgbClr val="000000"/>
                  </a:solidFill>
                  <a:round/>
                  <a:headEnd/>
                  <a:tailEnd/>
                </a:ln>
              </p:spPr>
              <p:txBody>
                <a:bodyPr wrap="none" anchor="ctr"/>
                <a:lstStyle/>
                <a:p>
                  <a:endParaRPr lang="en-US"/>
                </a:p>
              </p:txBody>
            </p:sp>
            <p:sp>
              <p:nvSpPr>
                <p:cNvPr id="41" name="Freeform 149"/>
                <p:cNvSpPr>
                  <a:spLocks noChangeArrowheads="1"/>
                </p:cNvSpPr>
                <p:nvPr/>
              </p:nvSpPr>
              <p:spPr bwMode="auto">
                <a:xfrm>
                  <a:off x="2780" y="2978"/>
                  <a:ext cx="194" cy="296"/>
                </a:xfrm>
                <a:custGeom>
                  <a:avLst/>
                  <a:gdLst/>
                  <a:ahLst/>
                  <a:cxnLst>
                    <a:cxn ang="0">
                      <a:pos x="8" y="605"/>
                    </a:cxn>
                    <a:cxn ang="0">
                      <a:pos x="4" y="618"/>
                    </a:cxn>
                    <a:cxn ang="0">
                      <a:pos x="0" y="640"/>
                    </a:cxn>
                    <a:cxn ang="0">
                      <a:pos x="0" y="662"/>
                    </a:cxn>
                    <a:cxn ang="0">
                      <a:pos x="8" y="684"/>
                    </a:cxn>
                    <a:cxn ang="0">
                      <a:pos x="17" y="702"/>
                    </a:cxn>
                    <a:cxn ang="0">
                      <a:pos x="35" y="720"/>
                    </a:cxn>
                    <a:cxn ang="0">
                      <a:pos x="53" y="729"/>
                    </a:cxn>
                    <a:cxn ang="0">
                      <a:pos x="70" y="733"/>
                    </a:cxn>
                    <a:cxn ang="0">
                      <a:pos x="92" y="733"/>
                    </a:cxn>
                    <a:cxn ang="0">
                      <a:pos x="559" y="1303"/>
                    </a:cxn>
                    <a:cxn ang="0">
                      <a:pos x="705" y="627"/>
                    </a:cxn>
                    <a:cxn ang="0">
                      <a:pos x="705" y="609"/>
                    </a:cxn>
                    <a:cxn ang="0">
                      <a:pos x="696" y="601"/>
                    </a:cxn>
                    <a:cxn ang="0">
                      <a:pos x="683" y="587"/>
                    </a:cxn>
                    <a:cxn ang="0">
                      <a:pos x="674" y="578"/>
                    </a:cxn>
                    <a:cxn ang="0">
                      <a:pos x="656" y="574"/>
                    </a:cxn>
                    <a:cxn ang="0">
                      <a:pos x="639" y="570"/>
                    </a:cxn>
                    <a:cxn ang="0">
                      <a:pos x="621" y="570"/>
                    </a:cxn>
                    <a:cxn ang="0">
                      <a:pos x="608" y="570"/>
                    </a:cxn>
                    <a:cxn ang="0">
                      <a:pos x="412" y="330"/>
                    </a:cxn>
                    <a:cxn ang="0">
                      <a:pos x="794" y="410"/>
                    </a:cxn>
                    <a:cxn ang="0">
                      <a:pos x="812" y="405"/>
                    </a:cxn>
                    <a:cxn ang="0">
                      <a:pos x="821" y="401"/>
                    </a:cxn>
                    <a:cxn ang="0">
                      <a:pos x="838" y="392"/>
                    </a:cxn>
                    <a:cxn ang="0">
                      <a:pos x="847" y="379"/>
                    </a:cxn>
                    <a:cxn ang="0">
                      <a:pos x="852" y="366"/>
                    </a:cxn>
                    <a:cxn ang="0">
                      <a:pos x="856" y="344"/>
                    </a:cxn>
                    <a:cxn ang="0">
                      <a:pos x="852" y="326"/>
                    </a:cxn>
                    <a:cxn ang="0">
                      <a:pos x="843" y="308"/>
                    </a:cxn>
                    <a:cxn ang="0">
                      <a:pos x="834" y="300"/>
                    </a:cxn>
                    <a:cxn ang="0">
                      <a:pos x="816" y="286"/>
                    </a:cxn>
                    <a:cxn ang="0">
                      <a:pos x="803" y="282"/>
                    </a:cxn>
                    <a:cxn ang="0">
                      <a:pos x="541" y="282"/>
                    </a:cxn>
                    <a:cxn ang="0">
                      <a:pos x="496" y="185"/>
                    </a:cxn>
                    <a:cxn ang="0">
                      <a:pos x="501" y="163"/>
                    </a:cxn>
                    <a:cxn ang="0">
                      <a:pos x="505" y="132"/>
                    </a:cxn>
                    <a:cxn ang="0">
                      <a:pos x="505" y="105"/>
                    </a:cxn>
                    <a:cxn ang="0">
                      <a:pos x="496" y="83"/>
                    </a:cxn>
                    <a:cxn ang="0">
                      <a:pos x="487" y="66"/>
                    </a:cxn>
                    <a:cxn ang="0">
                      <a:pos x="474" y="44"/>
                    </a:cxn>
                    <a:cxn ang="0">
                      <a:pos x="457" y="30"/>
                    </a:cxn>
                    <a:cxn ang="0">
                      <a:pos x="434" y="13"/>
                    </a:cxn>
                    <a:cxn ang="0">
                      <a:pos x="412" y="4"/>
                    </a:cxn>
                    <a:cxn ang="0">
                      <a:pos x="386" y="0"/>
                    </a:cxn>
                    <a:cxn ang="0">
                      <a:pos x="359" y="0"/>
                    </a:cxn>
                    <a:cxn ang="0">
                      <a:pos x="333" y="4"/>
                    </a:cxn>
                    <a:cxn ang="0">
                      <a:pos x="305" y="13"/>
                    </a:cxn>
                    <a:cxn ang="0">
                      <a:pos x="279" y="26"/>
                    </a:cxn>
                    <a:cxn ang="0">
                      <a:pos x="261" y="48"/>
                    </a:cxn>
                    <a:cxn ang="0">
                      <a:pos x="243" y="75"/>
                    </a:cxn>
                    <a:cxn ang="0">
                      <a:pos x="235" y="101"/>
                    </a:cxn>
                  </a:cxnLst>
                  <a:rect l="0" t="0" r="r" b="b"/>
                  <a:pathLst>
                    <a:path w="857" h="1304">
                      <a:moveTo>
                        <a:pt x="235" y="101"/>
                      </a:moveTo>
                      <a:lnTo>
                        <a:pt x="8" y="605"/>
                      </a:lnTo>
                      <a:lnTo>
                        <a:pt x="4" y="609"/>
                      </a:lnTo>
                      <a:lnTo>
                        <a:pt x="4" y="618"/>
                      </a:lnTo>
                      <a:lnTo>
                        <a:pt x="0" y="627"/>
                      </a:lnTo>
                      <a:lnTo>
                        <a:pt x="0" y="640"/>
                      </a:lnTo>
                      <a:lnTo>
                        <a:pt x="0" y="649"/>
                      </a:lnTo>
                      <a:lnTo>
                        <a:pt x="0" y="662"/>
                      </a:lnTo>
                      <a:lnTo>
                        <a:pt x="4" y="671"/>
                      </a:lnTo>
                      <a:lnTo>
                        <a:pt x="8" y="684"/>
                      </a:lnTo>
                      <a:lnTo>
                        <a:pt x="13" y="693"/>
                      </a:lnTo>
                      <a:lnTo>
                        <a:pt x="17" y="702"/>
                      </a:lnTo>
                      <a:lnTo>
                        <a:pt x="26" y="711"/>
                      </a:lnTo>
                      <a:lnTo>
                        <a:pt x="35" y="720"/>
                      </a:lnTo>
                      <a:lnTo>
                        <a:pt x="44" y="724"/>
                      </a:lnTo>
                      <a:lnTo>
                        <a:pt x="53" y="729"/>
                      </a:lnTo>
                      <a:lnTo>
                        <a:pt x="61" y="729"/>
                      </a:lnTo>
                      <a:lnTo>
                        <a:pt x="70" y="733"/>
                      </a:lnTo>
                      <a:lnTo>
                        <a:pt x="79" y="733"/>
                      </a:lnTo>
                      <a:lnTo>
                        <a:pt x="92" y="733"/>
                      </a:lnTo>
                      <a:lnTo>
                        <a:pt x="559" y="733"/>
                      </a:lnTo>
                      <a:lnTo>
                        <a:pt x="559" y="1303"/>
                      </a:lnTo>
                      <a:lnTo>
                        <a:pt x="705" y="1303"/>
                      </a:lnTo>
                      <a:lnTo>
                        <a:pt x="705" y="627"/>
                      </a:lnTo>
                      <a:lnTo>
                        <a:pt x="705" y="618"/>
                      </a:lnTo>
                      <a:lnTo>
                        <a:pt x="705" y="609"/>
                      </a:lnTo>
                      <a:lnTo>
                        <a:pt x="700" y="605"/>
                      </a:lnTo>
                      <a:lnTo>
                        <a:pt x="696" y="601"/>
                      </a:lnTo>
                      <a:lnTo>
                        <a:pt x="692" y="596"/>
                      </a:lnTo>
                      <a:lnTo>
                        <a:pt x="683" y="587"/>
                      </a:lnTo>
                      <a:lnTo>
                        <a:pt x="678" y="583"/>
                      </a:lnTo>
                      <a:lnTo>
                        <a:pt x="674" y="578"/>
                      </a:lnTo>
                      <a:lnTo>
                        <a:pt x="665" y="578"/>
                      </a:lnTo>
                      <a:lnTo>
                        <a:pt x="656" y="574"/>
                      </a:lnTo>
                      <a:lnTo>
                        <a:pt x="647" y="574"/>
                      </a:lnTo>
                      <a:lnTo>
                        <a:pt x="639" y="570"/>
                      </a:lnTo>
                      <a:lnTo>
                        <a:pt x="630" y="570"/>
                      </a:lnTo>
                      <a:lnTo>
                        <a:pt x="621" y="570"/>
                      </a:lnTo>
                      <a:lnTo>
                        <a:pt x="617" y="570"/>
                      </a:lnTo>
                      <a:lnTo>
                        <a:pt x="608" y="570"/>
                      </a:lnTo>
                      <a:lnTo>
                        <a:pt x="337" y="552"/>
                      </a:lnTo>
                      <a:lnTo>
                        <a:pt x="412" y="330"/>
                      </a:lnTo>
                      <a:lnTo>
                        <a:pt x="465" y="410"/>
                      </a:lnTo>
                      <a:lnTo>
                        <a:pt x="794" y="410"/>
                      </a:lnTo>
                      <a:lnTo>
                        <a:pt x="803" y="405"/>
                      </a:lnTo>
                      <a:lnTo>
                        <a:pt x="812" y="405"/>
                      </a:lnTo>
                      <a:lnTo>
                        <a:pt x="816" y="401"/>
                      </a:lnTo>
                      <a:lnTo>
                        <a:pt x="821" y="401"/>
                      </a:lnTo>
                      <a:lnTo>
                        <a:pt x="830" y="397"/>
                      </a:lnTo>
                      <a:lnTo>
                        <a:pt x="838" y="392"/>
                      </a:lnTo>
                      <a:lnTo>
                        <a:pt x="843" y="383"/>
                      </a:lnTo>
                      <a:lnTo>
                        <a:pt x="847" y="379"/>
                      </a:lnTo>
                      <a:lnTo>
                        <a:pt x="852" y="370"/>
                      </a:lnTo>
                      <a:lnTo>
                        <a:pt x="852" y="366"/>
                      </a:lnTo>
                      <a:lnTo>
                        <a:pt x="856" y="357"/>
                      </a:lnTo>
                      <a:lnTo>
                        <a:pt x="856" y="344"/>
                      </a:lnTo>
                      <a:lnTo>
                        <a:pt x="856" y="335"/>
                      </a:lnTo>
                      <a:lnTo>
                        <a:pt x="852" y="326"/>
                      </a:lnTo>
                      <a:lnTo>
                        <a:pt x="847" y="317"/>
                      </a:lnTo>
                      <a:lnTo>
                        <a:pt x="843" y="308"/>
                      </a:lnTo>
                      <a:lnTo>
                        <a:pt x="838" y="304"/>
                      </a:lnTo>
                      <a:lnTo>
                        <a:pt x="834" y="300"/>
                      </a:lnTo>
                      <a:lnTo>
                        <a:pt x="825" y="291"/>
                      </a:lnTo>
                      <a:lnTo>
                        <a:pt x="816" y="286"/>
                      </a:lnTo>
                      <a:lnTo>
                        <a:pt x="816" y="282"/>
                      </a:lnTo>
                      <a:lnTo>
                        <a:pt x="803" y="282"/>
                      </a:lnTo>
                      <a:lnTo>
                        <a:pt x="794" y="282"/>
                      </a:lnTo>
                      <a:lnTo>
                        <a:pt x="541" y="282"/>
                      </a:lnTo>
                      <a:lnTo>
                        <a:pt x="487" y="194"/>
                      </a:lnTo>
                      <a:lnTo>
                        <a:pt x="496" y="185"/>
                      </a:lnTo>
                      <a:lnTo>
                        <a:pt x="501" y="172"/>
                      </a:lnTo>
                      <a:lnTo>
                        <a:pt x="501" y="163"/>
                      </a:lnTo>
                      <a:lnTo>
                        <a:pt x="505" y="150"/>
                      </a:lnTo>
                      <a:lnTo>
                        <a:pt x="505" y="132"/>
                      </a:lnTo>
                      <a:lnTo>
                        <a:pt x="505" y="123"/>
                      </a:lnTo>
                      <a:lnTo>
                        <a:pt x="505" y="105"/>
                      </a:lnTo>
                      <a:lnTo>
                        <a:pt x="501" y="97"/>
                      </a:lnTo>
                      <a:lnTo>
                        <a:pt x="496" y="83"/>
                      </a:lnTo>
                      <a:lnTo>
                        <a:pt x="492" y="75"/>
                      </a:lnTo>
                      <a:lnTo>
                        <a:pt x="487" y="66"/>
                      </a:lnTo>
                      <a:lnTo>
                        <a:pt x="483" y="57"/>
                      </a:lnTo>
                      <a:lnTo>
                        <a:pt x="474" y="44"/>
                      </a:lnTo>
                      <a:lnTo>
                        <a:pt x="465" y="39"/>
                      </a:lnTo>
                      <a:lnTo>
                        <a:pt x="457" y="30"/>
                      </a:lnTo>
                      <a:lnTo>
                        <a:pt x="448" y="22"/>
                      </a:lnTo>
                      <a:lnTo>
                        <a:pt x="434" y="13"/>
                      </a:lnTo>
                      <a:lnTo>
                        <a:pt x="426" y="13"/>
                      </a:lnTo>
                      <a:lnTo>
                        <a:pt x="412" y="4"/>
                      </a:lnTo>
                      <a:lnTo>
                        <a:pt x="399" y="4"/>
                      </a:lnTo>
                      <a:lnTo>
                        <a:pt x="386" y="0"/>
                      </a:lnTo>
                      <a:lnTo>
                        <a:pt x="373" y="0"/>
                      </a:lnTo>
                      <a:lnTo>
                        <a:pt x="359" y="0"/>
                      </a:lnTo>
                      <a:lnTo>
                        <a:pt x="346" y="0"/>
                      </a:lnTo>
                      <a:lnTo>
                        <a:pt x="333" y="4"/>
                      </a:lnTo>
                      <a:lnTo>
                        <a:pt x="319" y="8"/>
                      </a:lnTo>
                      <a:lnTo>
                        <a:pt x="305" y="13"/>
                      </a:lnTo>
                      <a:lnTo>
                        <a:pt x="292" y="17"/>
                      </a:lnTo>
                      <a:lnTo>
                        <a:pt x="279" y="26"/>
                      </a:lnTo>
                      <a:lnTo>
                        <a:pt x="270" y="39"/>
                      </a:lnTo>
                      <a:lnTo>
                        <a:pt x="261" y="48"/>
                      </a:lnTo>
                      <a:lnTo>
                        <a:pt x="252" y="57"/>
                      </a:lnTo>
                      <a:lnTo>
                        <a:pt x="243" y="75"/>
                      </a:lnTo>
                      <a:lnTo>
                        <a:pt x="235" y="83"/>
                      </a:lnTo>
                      <a:lnTo>
                        <a:pt x="235" y="101"/>
                      </a:lnTo>
                    </a:path>
                  </a:pathLst>
                </a:custGeom>
                <a:solidFill>
                  <a:srgbClr val="FC0128"/>
                </a:solidFill>
                <a:ln w="9525">
                  <a:noFill/>
                  <a:round/>
                  <a:headEnd/>
                  <a:tailEnd/>
                </a:ln>
              </p:spPr>
              <p:txBody>
                <a:bodyPr wrap="none" anchor="ctr"/>
                <a:lstStyle/>
                <a:p>
                  <a:endParaRPr lang="en-US"/>
                </a:p>
              </p:txBody>
            </p:sp>
          </p:grpSp>
        </p:grpSp>
      </p:grpSp>
      <p:sp>
        <p:nvSpPr>
          <p:cNvPr id="153" name="Text Box 150"/>
          <p:cNvSpPr txBox="1">
            <a:spLocks noChangeArrowheads="1"/>
          </p:cNvSpPr>
          <p:nvPr/>
        </p:nvSpPr>
        <p:spPr bwMode="auto">
          <a:xfrm>
            <a:off x="2157412" y="2392362"/>
            <a:ext cx="377825" cy="380365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a:t>T</a:t>
            </a:r>
          </a:p>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a:t>a</a:t>
            </a:r>
          </a:p>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a:t>s</a:t>
            </a:r>
          </a:p>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a:t>k</a:t>
            </a:r>
          </a:p>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2000" i="1"/>
          </a:p>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a:t>O</a:t>
            </a:r>
          </a:p>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a:t>r</a:t>
            </a:r>
          </a:p>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a:t>d</a:t>
            </a:r>
          </a:p>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a:t>e</a:t>
            </a:r>
          </a:p>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a:t>r</a:t>
            </a:r>
          </a:p>
        </p:txBody>
      </p:sp>
      <p:sp>
        <p:nvSpPr>
          <p:cNvPr id="154" name="Line 151"/>
          <p:cNvSpPr>
            <a:spLocks noChangeShapeType="1"/>
          </p:cNvSpPr>
          <p:nvPr/>
        </p:nvSpPr>
        <p:spPr bwMode="auto">
          <a:xfrm>
            <a:off x="2651125" y="3041650"/>
            <a:ext cx="1587" cy="3035300"/>
          </a:xfrm>
          <a:prstGeom prst="line">
            <a:avLst/>
          </a:prstGeom>
          <a:noFill/>
          <a:ln w="12600">
            <a:solidFill>
              <a:srgbClr val="000000"/>
            </a:solidFill>
            <a:round/>
            <a:headEnd/>
            <a:tailEnd type="triangle" w="lg" len="lg"/>
          </a:ln>
        </p:spPr>
        <p:txBody>
          <a:bodyPr/>
          <a:lstStyle/>
          <a:p>
            <a:endParaRPr lang="en-US"/>
          </a:p>
        </p:txBody>
      </p:sp>
      <p:sp>
        <p:nvSpPr>
          <p:cNvPr id="155" name="Text Box 152"/>
          <p:cNvSpPr txBox="1">
            <a:spLocks noChangeArrowheads="1"/>
          </p:cNvSpPr>
          <p:nvPr/>
        </p:nvSpPr>
        <p:spPr bwMode="auto">
          <a:xfrm>
            <a:off x="6135687" y="2257425"/>
            <a:ext cx="746125" cy="460375"/>
          </a:xfrm>
          <a:prstGeom prst="rect">
            <a:avLst/>
          </a:prstGeom>
          <a:noFill/>
          <a:ln w="9525">
            <a:noFill/>
            <a:miter lim="800000"/>
            <a:headEnd/>
            <a:tailEnd/>
          </a:ln>
        </p:spPr>
        <p:txBody>
          <a:bodyPr wrap="none" lIns="90360" tIns="44280" rIns="90360" bIns="44280">
            <a:spAutoFit/>
          </a:bodyPr>
          <a:lstStyle/>
          <a:p>
            <a:pP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a:t>Time</a:t>
            </a:r>
          </a:p>
        </p:txBody>
      </p:sp>
      <p:grpSp>
        <p:nvGrpSpPr>
          <p:cNvPr id="156" name="Group 153"/>
          <p:cNvGrpSpPr>
            <a:grpSpLocks/>
          </p:cNvGrpSpPr>
          <p:nvPr/>
        </p:nvGrpSpPr>
        <p:grpSpPr bwMode="auto">
          <a:xfrm>
            <a:off x="3514725" y="2635250"/>
            <a:ext cx="3519487" cy="636587"/>
            <a:chOff x="853" y="1092"/>
            <a:chExt cx="2217" cy="401"/>
          </a:xfrm>
        </p:grpSpPr>
        <p:sp>
          <p:nvSpPr>
            <p:cNvPr id="157" name="Text Box 154"/>
            <p:cNvSpPr txBox="1">
              <a:spLocks noChangeArrowheads="1"/>
            </p:cNvSpPr>
            <p:nvPr/>
          </p:nvSpPr>
          <p:spPr bwMode="auto">
            <a:xfrm>
              <a:off x="858" y="1203"/>
              <a:ext cx="292" cy="29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30</a:t>
              </a:r>
            </a:p>
          </p:txBody>
        </p:sp>
        <p:sp>
          <p:nvSpPr>
            <p:cNvPr id="158" name="Line 155"/>
            <p:cNvSpPr>
              <a:spLocks noChangeShapeType="1"/>
            </p:cNvSpPr>
            <p:nvPr/>
          </p:nvSpPr>
          <p:spPr bwMode="auto">
            <a:xfrm>
              <a:off x="853" y="1168"/>
              <a:ext cx="288" cy="1"/>
            </a:xfrm>
            <a:prstGeom prst="line">
              <a:avLst/>
            </a:prstGeom>
            <a:noFill/>
            <a:ln w="50760">
              <a:solidFill>
                <a:srgbClr val="F6BF69"/>
              </a:solidFill>
              <a:round/>
              <a:headEnd/>
              <a:tailEnd/>
            </a:ln>
          </p:spPr>
          <p:txBody>
            <a:bodyPr/>
            <a:lstStyle/>
            <a:p>
              <a:endParaRPr lang="en-US"/>
            </a:p>
          </p:txBody>
        </p:sp>
        <p:sp>
          <p:nvSpPr>
            <p:cNvPr id="159" name="Line 156"/>
            <p:cNvSpPr>
              <a:spLocks noChangeShapeType="1"/>
            </p:cNvSpPr>
            <p:nvPr/>
          </p:nvSpPr>
          <p:spPr bwMode="auto">
            <a:xfrm>
              <a:off x="1173" y="1092"/>
              <a:ext cx="1" cy="192"/>
            </a:xfrm>
            <a:prstGeom prst="line">
              <a:avLst/>
            </a:prstGeom>
            <a:noFill/>
            <a:ln w="12600">
              <a:solidFill>
                <a:srgbClr val="000000"/>
              </a:solidFill>
              <a:round/>
              <a:headEnd/>
              <a:tailEnd/>
            </a:ln>
          </p:spPr>
          <p:txBody>
            <a:bodyPr/>
            <a:lstStyle/>
            <a:p>
              <a:endParaRPr lang="en-US"/>
            </a:p>
          </p:txBody>
        </p:sp>
        <p:grpSp>
          <p:nvGrpSpPr>
            <p:cNvPr id="160" name="Group 157"/>
            <p:cNvGrpSpPr>
              <a:grpSpLocks/>
            </p:cNvGrpSpPr>
            <p:nvPr/>
          </p:nvGrpSpPr>
          <p:grpSpPr bwMode="auto">
            <a:xfrm>
              <a:off x="1189" y="1092"/>
              <a:ext cx="385" cy="401"/>
              <a:chOff x="1189" y="1092"/>
              <a:chExt cx="385" cy="401"/>
            </a:xfrm>
          </p:grpSpPr>
          <p:sp>
            <p:nvSpPr>
              <p:cNvPr id="181" name="Line 158"/>
              <p:cNvSpPr>
                <a:spLocks noChangeShapeType="1"/>
              </p:cNvSpPr>
              <p:nvPr/>
            </p:nvSpPr>
            <p:spPr bwMode="auto">
              <a:xfrm>
                <a:off x="1189" y="1200"/>
                <a:ext cx="360" cy="1"/>
              </a:xfrm>
              <a:prstGeom prst="line">
                <a:avLst/>
              </a:prstGeom>
              <a:noFill/>
              <a:ln w="50760">
                <a:solidFill>
                  <a:srgbClr val="A2C1FE"/>
                </a:solidFill>
                <a:round/>
                <a:headEnd/>
                <a:tailEnd/>
              </a:ln>
            </p:spPr>
            <p:txBody>
              <a:bodyPr/>
              <a:lstStyle/>
              <a:p>
                <a:endParaRPr lang="en-US"/>
              </a:p>
            </p:txBody>
          </p:sp>
          <p:sp>
            <p:nvSpPr>
              <p:cNvPr id="182" name="Text Box 159"/>
              <p:cNvSpPr txBox="1">
                <a:spLocks noChangeArrowheads="1"/>
              </p:cNvSpPr>
              <p:nvPr/>
            </p:nvSpPr>
            <p:spPr bwMode="auto">
              <a:xfrm>
                <a:off x="1226" y="1203"/>
                <a:ext cx="292" cy="29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40</a:t>
                </a:r>
              </a:p>
            </p:txBody>
          </p:sp>
          <p:sp>
            <p:nvSpPr>
              <p:cNvPr id="183" name="Line 160"/>
              <p:cNvSpPr>
                <a:spLocks noChangeShapeType="1"/>
              </p:cNvSpPr>
              <p:nvPr/>
            </p:nvSpPr>
            <p:spPr bwMode="auto">
              <a:xfrm>
                <a:off x="1573" y="1092"/>
                <a:ext cx="1" cy="192"/>
              </a:xfrm>
              <a:prstGeom prst="line">
                <a:avLst/>
              </a:prstGeom>
              <a:noFill/>
              <a:ln w="12600">
                <a:solidFill>
                  <a:srgbClr val="000000"/>
                </a:solidFill>
                <a:round/>
                <a:headEnd/>
                <a:tailEnd/>
              </a:ln>
            </p:spPr>
            <p:txBody>
              <a:bodyPr/>
              <a:lstStyle/>
              <a:p>
                <a:endParaRPr lang="en-US"/>
              </a:p>
            </p:txBody>
          </p:sp>
        </p:grpSp>
        <p:grpSp>
          <p:nvGrpSpPr>
            <p:cNvPr id="161" name="Group 161"/>
            <p:cNvGrpSpPr>
              <a:grpSpLocks/>
            </p:cNvGrpSpPr>
            <p:nvPr/>
          </p:nvGrpSpPr>
          <p:grpSpPr bwMode="auto">
            <a:xfrm>
              <a:off x="1597" y="1092"/>
              <a:ext cx="385" cy="401"/>
              <a:chOff x="1597" y="1092"/>
              <a:chExt cx="385" cy="401"/>
            </a:xfrm>
          </p:grpSpPr>
          <p:sp>
            <p:nvSpPr>
              <p:cNvPr id="178" name="Line 162"/>
              <p:cNvSpPr>
                <a:spLocks noChangeShapeType="1"/>
              </p:cNvSpPr>
              <p:nvPr/>
            </p:nvSpPr>
            <p:spPr bwMode="auto">
              <a:xfrm>
                <a:off x="1597" y="1200"/>
                <a:ext cx="360" cy="1"/>
              </a:xfrm>
              <a:prstGeom prst="line">
                <a:avLst/>
              </a:prstGeom>
              <a:noFill/>
              <a:ln w="50760">
                <a:solidFill>
                  <a:srgbClr val="A2C1FE"/>
                </a:solidFill>
                <a:round/>
                <a:headEnd/>
                <a:tailEnd/>
              </a:ln>
            </p:spPr>
            <p:txBody>
              <a:bodyPr/>
              <a:lstStyle/>
              <a:p>
                <a:endParaRPr lang="en-US"/>
              </a:p>
            </p:txBody>
          </p:sp>
          <p:sp>
            <p:nvSpPr>
              <p:cNvPr id="179" name="Text Box 163"/>
              <p:cNvSpPr txBox="1">
                <a:spLocks noChangeArrowheads="1"/>
              </p:cNvSpPr>
              <p:nvPr/>
            </p:nvSpPr>
            <p:spPr bwMode="auto">
              <a:xfrm>
                <a:off x="1634" y="1203"/>
                <a:ext cx="292" cy="29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40</a:t>
                </a:r>
              </a:p>
            </p:txBody>
          </p:sp>
          <p:sp>
            <p:nvSpPr>
              <p:cNvPr id="180" name="Line 164"/>
              <p:cNvSpPr>
                <a:spLocks noChangeShapeType="1"/>
              </p:cNvSpPr>
              <p:nvPr/>
            </p:nvSpPr>
            <p:spPr bwMode="auto">
              <a:xfrm>
                <a:off x="1981" y="1092"/>
                <a:ext cx="1" cy="192"/>
              </a:xfrm>
              <a:prstGeom prst="line">
                <a:avLst/>
              </a:prstGeom>
              <a:noFill/>
              <a:ln w="12600">
                <a:solidFill>
                  <a:srgbClr val="000000"/>
                </a:solidFill>
                <a:round/>
                <a:headEnd/>
                <a:tailEnd/>
              </a:ln>
            </p:spPr>
            <p:txBody>
              <a:bodyPr/>
              <a:lstStyle/>
              <a:p>
                <a:endParaRPr lang="en-US"/>
              </a:p>
            </p:txBody>
          </p:sp>
        </p:grpSp>
        <p:grpSp>
          <p:nvGrpSpPr>
            <p:cNvPr id="162" name="Group 165"/>
            <p:cNvGrpSpPr>
              <a:grpSpLocks/>
            </p:cNvGrpSpPr>
            <p:nvPr/>
          </p:nvGrpSpPr>
          <p:grpSpPr bwMode="auto">
            <a:xfrm>
              <a:off x="2005" y="1092"/>
              <a:ext cx="385" cy="401"/>
              <a:chOff x="2005" y="1092"/>
              <a:chExt cx="385" cy="401"/>
            </a:xfrm>
          </p:grpSpPr>
          <p:sp>
            <p:nvSpPr>
              <p:cNvPr id="175" name="Line 166"/>
              <p:cNvSpPr>
                <a:spLocks noChangeShapeType="1"/>
              </p:cNvSpPr>
              <p:nvPr/>
            </p:nvSpPr>
            <p:spPr bwMode="auto">
              <a:xfrm>
                <a:off x="2005" y="1200"/>
                <a:ext cx="360" cy="1"/>
              </a:xfrm>
              <a:prstGeom prst="line">
                <a:avLst/>
              </a:prstGeom>
              <a:noFill/>
              <a:ln w="50760">
                <a:solidFill>
                  <a:srgbClr val="A2C1FE"/>
                </a:solidFill>
                <a:round/>
                <a:headEnd/>
                <a:tailEnd/>
              </a:ln>
            </p:spPr>
            <p:txBody>
              <a:bodyPr/>
              <a:lstStyle/>
              <a:p>
                <a:endParaRPr lang="en-US"/>
              </a:p>
            </p:txBody>
          </p:sp>
          <p:sp>
            <p:nvSpPr>
              <p:cNvPr id="176" name="Text Box 167"/>
              <p:cNvSpPr txBox="1">
                <a:spLocks noChangeArrowheads="1"/>
              </p:cNvSpPr>
              <p:nvPr/>
            </p:nvSpPr>
            <p:spPr bwMode="auto">
              <a:xfrm>
                <a:off x="2042" y="1203"/>
                <a:ext cx="292" cy="29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40</a:t>
                </a:r>
              </a:p>
            </p:txBody>
          </p:sp>
          <p:sp>
            <p:nvSpPr>
              <p:cNvPr id="177" name="Line 168"/>
              <p:cNvSpPr>
                <a:spLocks noChangeShapeType="1"/>
              </p:cNvSpPr>
              <p:nvPr/>
            </p:nvSpPr>
            <p:spPr bwMode="auto">
              <a:xfrm>
                <a:off x="2389" y="1092"/>
                <a:ext cx="1" cy="192"/>
              </a:xfrm>
              <a:prstGeom prst="line">
                <a:avLst/>
              </a:prstGeom>
              <a:noFill/>
              <a:ln w="12600">
                <a:solidFill>
                  <a:srgbClr val="000000"/>
                </a:solidFill>
                <a:round/>
                <a:headEnd/>
                <a:tailEnd/>
              </a:ln>
            </p:spPr>
            <p:txBody>
              <a:bodyPr/>
              <a:lstStyle/>
              <a:p>
                <a:endParaRPr lang="en-US"/>
              </a:p>
            </p:txBody>
          </p:sp>
        </p:grpSp>
        <p:sp>
          <p:nvSpPr>
            <p:cNvPr id="163" name="Line 169"/>
            <p:cNvSpPr>
              <a:spLocks noChangeShapeType="1"/>
            </p:cNvSpPr>
            <p:nvPr/>
          </p:nvSpPr>
          <p:spPr bwMode="auto">
            <a:xfrm>
              <a:off x="2413" y="1200"/>
              <a:ext cx="360" cy="1"/>
            </a:xfrm>
            <a:prstGeom prst="line">
              <a:avLst/>
            </a:prstGeom>
            <a:noFill/>
            <a:ln w="50760">
              <a:solidFill>
                <a:srgbClr val="A2C1FE"/>
              </a:solidFill>
              <a:round/>
              <a:headEnd/>
              <a:tailEnd/>
            </a:ln>
          </p:spPr>
          <p:txBody>
            <a:bodyPr/>
            <a:lstStyle/>
            <a:p>
              <a:endParaRPr lang="en-US"/>
            </a:p>
          </p:txBody>
        </p:sp>
        <p:sp>
          <p:nvSpPr>
            <p:cNvPr id="164" name="Line 170"/>
            <p:cNvSpPr>
              <a:spLocks noChangeShapeType="1"/>
            </p:cNvSpPr>
            <p:nvPr/>
          </p:nvSpPr>
          <p:spPr bwMode="auto">
            <a:xfrm>
              <a:off x="2813" y="1232"/>
              <a:ext cx="216" cy="1"/>
            </a:xfrm>
            <a:prstGeom prst="line">
              <a:avLst/>
            </a:prstGeom>
            <a:noFill/>
            <a:ln w="50760">
              <a:solidFill>
                <a:srgbClr val="00DFCA"/>
              </a:solidFill>
              <a:round/>
              <a:headEnd/>
              <a:tailEnd/>
            </a:ln>
          </p:spPr>
          <p:txBody>
            <a:bodyPr/>
            <a:lstStyle/>
            <a:p>
              <a:endParaRPr lang="en-US"/>
            </a:p>
          </p:txBody>
        </p:sp>
        <p:sp>
          <p:nvSpPr>
            <p:cNvPr id="165" name="Text Box 171"/>
            <p:cNvSpPr txBox="1">
              <a:spLocks noChangeArrowheads="1"/>
            </p:cNvSpPr>
            <p:nvPr/>
          </p:nvSpPr>
          <p:spPr bwMode="auto">
            <a:xfrm>
              <a:off x="2450" y="1203"/>
              <a:ext cx="292" cy="29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40</a:t>
              </a:r>
            </a:p>
          </p:txBody>
        </p:sp>
        <p:sp>
          <p:nvSpPr>
            <p:cNvPr id="166" name="Text Box 172"/>
            <p:cNvSpPr txBox="1">
              <a:spLocks noChangeArrowheads="1"/>
            </p:cNvSpPr>
            <p:nvPr/>
          </p:nvSpPr>
          <p:spPr bwMode="auto">
            <a:xfrm>
              <a:off x="2778" y="1203"/>
              <a:ext cx="292" cy="290"/>
            </a:xfrm>
            <a:prstGeom prst="rect">
              <a:avLst/>
            </a:prstGeom>
            <a:noFill/>
            <a:ln w="9525">
              <a:noFill/>
              <a:miter lim="800000"/>
              <a:headEnd/>
              <a:tailEnd/>
            </a:ln>
          </p:spPr>
          <p:txBody>
            <a:bodyPr wrap="none" lIns="90360" tIns="44280" rIns="90360" bIns="44280">
              <a:spAutoFit/>
            </a:bodyPr>
            <a:lstStyle/>
            <a:p>
              <a:pPr algn="ctr" hangingPunct="0">
                <a:lnSpc>
                  <a:spcPct val="122000"/>
                </a:lnSpc>
                <a:buClr>
                  <a:srgbClr val="000000"/>
                </a:buClr>
                <a:buSzPct val="45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a:t>20</a:t>
              </a:r>
            </a:p>
          </p:txBody>
        </p:sp>
        <p:sp>
          <p:nvSpPr>
            <p:cNvPr id="167" name="Line 173"/>
            <p:cNvSpPr>
              <a:spLocks noChangeShapeType="1"/>
            </p:cNvSpPr>
            <p:nvPr/>
          </p:nvSpPr>
          <p:spPr bwMode="auto">
            <a:xfrm>
              <a:off x="2797" y="1092"/>
              <a:ext cx="1" cy="192"/>
            </a:xfrm>
            <a:prstGeom prst="line">
              <a:avLst/>
            </a:prstGeom>
            <a:noFill/>
            <a:ln w="12600">
              <a:solidFill>
                <a:srgbClr val="000000"/>
              </a:solidFill>
              <a:round/>
              <a:headEnd/>
              <a:tailEnd/>
            </a:ln>
          </p:spPr>
          <p:txBody>
            <a:bodyPr/>
            <a:lstStyle/>
            <a:p>
              <a:endParaRPr lang="en-US"/>
            </a:p>
          </p:txBody>
        </p:sp>
        <p:sp>
          <p:nvSpPr>
            <p:cNvPr id="168" name="Line 174"/>
            <p:cNvSpPr>
              <a:spLocks noChangeShapeType="1"/>
            </p:cNvSpPr>
            <p:nvPr/>
          </p:nvSpPr>
          <p:spPr bwMode="auto">
            <a:xfrm>
              <a:off x="3053" y="1092"/>
              <a:ext cx="1" cy="192"/>
            </a:xfrm>
            <a:prstGeom prst="line">
              <a:avLst/>
            </a:prstGeom>
            <a:noFill/>
            <a:ln w="12600">
              <a:solidFill>
                <a:srgbClr val="000000"/>
              </a:solidFill>
              <a:round/>
              <a:headEnd/>
              <a:tailEnd/>
            </a:ln>
          </p:spPr>
          <p:txBody>
            <a:bodyPr/>
            <a:lstStyle/>
            <a:p>
              <a:endParaRPr lang="en-US"/>
            </a:p>
          </p:txBody>
        </p:sp>
        <p:sp>
          <p:nvSpPr>
            <p:cNvPr id="169" name="Line 175"/>
            <p:cNvSpPr>
              <a:spLocks noChangeShapeType="1"/>
            </p:cNvSpPr>
            <p:nvPr/>
          </p:nvSpPr>
          <p:spPr bwMode="auto">
            <a:xfrm>
              <a:off x="1261" y="1168"/>
              <a:ext cx="288" cy="1"/>
            </a:xfrm>
            <a:prstGeom prst="line">
              <a:avLst/>
            </a:prstGeom>
            <a:noFill/>
            <a:ln w="50760">
              <a:solidFill>
                <a:srgbClr val="F6BF69"/>
              </a:solidFill>
              <a:round/>
              <a:headEnd/>
              <a:tailEnd/>
            </a:ln>
          </p:spPr>
          <p:txBody>
            <a:bodyPr/>
            <a:lstStyle/>
            <a:p>
              <a:endParaRPr lang="en-US"/>
            </a:p>
          </p:txBody>
        </p:sp>
        <p:sp>
          <p:nvSpPr>
            <p:cNvPr id="170" name="Line 176"/>
            <p:cNvSpPr>
              <a:spLocks noChangeShapeType="1"/>
            </p:cNvSpPr>
            <p:nvPr/>
          </p:nvSpPr>
          <p:spPr bwMode="auto">
            <a:xfrm>
              <a:off x="1669" y="1168"/>
              <a:ext cx="288" cy="1"/>
            </a:xfrm>
            <a:prstGeom prst="line">
              <a:avLst/>
            </a:prstGeom>
            <a:noFill/>
            <a:ln w="50760">
              <a:solidFill>
                <a:srgbClr val="F6BF69"/>
              </a:solidFill>
              <a:round/>
              <a:headEnd/>
              <a:tailEnd/>
            </a:ln>
          </p:spPr>
          <p:txBody>
            <a:bodyPr/>
            <a:lstStyle/>
            <a:p>
              <a:endParaRPr lang="en-US"/>
            </a:p>
          </p:txBody>
        </p:sp>
        <p:sp>
          <p:nvSpPr>
            <p:cNvPr id="171" name="Line 177"/>
            <p:cNvSpPr>
              <a:spLocks noChangeShapeType="1"/>
            </p:cNvSpPr>
            <p:nvPr/>
          </p:nvSpPr>
          <p:spPr bwMode="auto">
            <a:xfrm>
              <a:off x="2077" y="1168"/>
              <a:ext cx="288" cy="1"/>
            </a:xfrm>
            <a:prstGeom prst="line">
              <a:avLst/>
            </a:prstGeom>
            <a:noFill/>
            <a:ln w="50760">
              <a:solidFill>
                <a:srgbClr val="F6BF69"/>
              </a:solidFill>
              <a:round/>
              <a:headEnd/>
              <a:tailEnd/>
            </a:ln>
          </p:spPr>
          <p:txBody>
            <a:bodyPr/>
            <a:lstStyle/>
            <a:p>
              <a:endParaRPr lang="en-US"/>
            </a:p>
          </p:txBody>
        </p:sp>
        <p:sp>
          <p:nvSpPr>
            <p:cNvPr id="172" name="Line 178"/>
            <p:cNvSpPr>
              <a:spLocks noChangeShapeType="1"/>
            </p:cNvSpPr>
            <p:nvPr/>
          </p:nvSpPr>
          <p:spPr bwMode="auto">
            <a:xfrm>
              <a:off x="1597" y="1232"/>
              <a:ext cx="216" cy="1"/>
            </a:xfrm>
            <a:prstGeom prst="line">
              <a:avLst/>
            </a:prstGeom>
            <a:noFill/>
            <a:ln w="50760">
              <a:solidFill>
                <a:srgbClr val="00DFCA"/>
              </a:solidFill>
              <a:round/>
              <a:headEnd/>
              <a:tailEnd/>
            </a:ln>
          </p:spPr>
          <p:txBody>
            <a:bodyPr/>
            <a:lstStyle/>
            <a:p>
              <a:endParaRPr lang="en-US"/>
            </a:p>
          </p:txBody>
        </p:sp>
        <p:sp>
          <p:nvSpPr>
            <p:cNvPr id="173" name="Line 179"/>
            <p:cNvSpPr>
              <a:spLocks noChangeShapeType="1"/>
            </p:cNvSpPr>
            <p:nvPr/>
          </p:nvSpPr>
          <p:spPr bwMode="auto">
            <a:xfrm>
              <a:off x="2005" y="1232"/>
              <a:ext cx="216" cy="1"/>
            </a:xfrm>
            <a:prstGeom prst="line">
              <a:avLst/>
            </a:prstGeom>
            <a:noFill/>
            <a:ln w="50760">
              <a:solidFill>
                <a:srgbClr val="00DFCA"/>
              </a:solidFill>
              <a:round/>
              <a:headEnd/>
              <a:tailEnd/>
            </a:ln>
          </p:spPr>
          <p:txBody>
            <a:bodyPr/>
            <a:lstStyle/>
            <a:p>
              <a:endParaRPr lang="en-US"/>
            </a:p>
          </p:txBody>
        </p:sp>
        <p:sp>
          <p:nvSpPr>
            <p:cNvPr id="174" name="Line 180"/>
            <p:cNvSpPr>
              <a:spLocks noChangeShapeType="1"/>
            </p:cNvSpPr>
            <p:nvPr/>
          </p:nvSpPr>
          <p:spPr bwMode="auto">
            <a:xfrm>
              <a:off x="2413" y="1232"/>
              <a:ext cx="216" cy="1"/>
            </a:xfrm>
            <a:prstGeom prst="line">
              <a:avLst/>
            </a:prstGeom>
            <a:noFill/>
            <a:ln w="50760">
              <a:solidFill>
                <a:srgbClr val="00DFCA"/>
              </a:solidFill>
              <a:round/>
              <a:headEnd/>
              <a:tailEnd/>
            </a:ln>
          </p:spPr>
          <p:txBody>
            <a:bodyPr/>
            <a:lstStyle/>
            <a:p>
              <a:endParaRPr lang="en-US"/>
            </a:p>
          </p:txBody>
        </p:sp>
      </p:grpSp>
      <p:sp>
        <p:nvSpPr>
          <p:cNvPr id="184" name="Rectangle 183"/>
          <p:cNvSpPr/>
          <p:nvPr/>
        </p:nvSpPr>
        <p:spPr>
          <a:xfrm>
            <a:off x="8229600" y="6019800"/>
            <a:ext cx="3169457" cy="261610"/>
          </a:xfrm>
          <a:prstGeom prst="rect">
            <a:avLst/>
          </a:prstGeom>
        </p:spPr>
        <p:txBody>
          <a:bodyPr wrap="none">
            <a:spAutoFit/>
          </a:bodyPr>
          <a:lstStyle/>
          <a:p>
            <a:r>
              <a:rPr lang="en-US" sz="1100" dirty="0">
                <a:solidFill>
                  <a:schemeClr val="accent1"/>
                </a:solidFill>
                <a:latin typeface="Museo 300" pitchFamily="50" charset="0"/>
              </a:rPr>
              <a:t>https://images.app.goo.gl/zEqFrPopP9jyQmf37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53EA-386E-0B7D-2715-B1F02A6C5DD6}"/>
              </a:ext>
            </a:extLst>
          </p:cNvPr>
          <p:cNvSpPr>
            <a:spLocks noGrp="1"/>
          </p:cNvSpPr>
          <p:nvPr>
            <p:ph type="title"/>
          </p:nvPr>
        </p:nvSpPr>
        <p:spPr>
          <a:xfrm>
            <a:off x="478972" y="103868"/>
            <a:ext cx="10918371" cy="690789"/>
          </a:xfrm>
        </p:spPr>
        <p:txBody>
          <a:bodyPr>
            <a:normAutofit fontScale="90000"/>
          </a:bodyPr>
          <a:lstStyle/>
          <a:p>
            <a:pPr algn="ctr"/>
            <a:r>
              <a:rPr lang="en-US" b="1" dirty="0"/>
              <a:t>Pipelining</a:t>
            </a:r>
            <a:endParaRPr lang="en-IN" b="1" dirty="0"/>
          </a:p>
        </p:txBody>
      </p:sp>
      <p:sp>
        <p:nvSpPr>
          <p:cNvPr id="4" name="TextBox 3">
            <a:extLst>
              <a:ext uri="{FF2B5EF4-FFF2-40B4-BE49-F238E27FC236}">
                <a16:creationId xmlns:a16="http://schemas.microsoft.com/office/drawing/2014/main" id="{BD39B58E-78B0-884F-406C-22C41AC94A46}"/>
              </a:ext>
            </a:extLst>
          </p:cNvPr>
          <p:cNvSpPr txBox="1"/>
          <p:nvPr/>
        </p:nvSpPr>
        <p:spPr>
          <a:xfrm>
            <a:off x="293913" y="1055914"/>
            <a:ext cx="11549743" cy="5262979"/>
          </a:xfrm>
          <a:prstGeom prst="rect">
            <a:avLst/>
          </a:prstGeom>
          <a:noFill/>
        </p:spPr>
        <p:txBody>
          <a:bodyPr wrap="square">
            <a:spAutoFit/>
          </a:bodyPr>
          <a:lstStyle/>
          <a:p>
            <a:pPr marL="342900" indent="-342900">
              <a:buFont typeface="Arial" panose="020B0604020202020204" pitchFamily="34" charset="0"/>
              <a:buChar char="•"/>
            </a:pPr>
            <a:r>
              <a:rPr lang="en-US" sz="2400" dirty="0"/>
              <a:t>Pipelining is a particularly effective way of organizing concurrent activity in a computer system.</a:t>
            </a:r>
          </a:p>
          <a:p>
            <a:pPr marL="342900" indent="-342900">
              <a:buFont typeface="Arial" panose="020B0604020202020204" pitchFamily="34" charset="0"/>
              <a:buChar char="•"/>
            </a:pPr>
            <a:r>
              <a:rPr lang="en-US" sz="2400" dirty="0"/>
              <a:t>Rather than wait until each instruction is completed, instructions can be fetched and executed in a pipelined manner, as shown in Figure 6.1. </a:t>
            </a:r>
          </a:p>
          <a:p>
            <a:pPr marL="342900" indent="-342900">
              <a:buFont typeface="Arial" panose="020B0604020202020204" pitchFamily="34" charset="0"/>
              <a:buChar char="•"/>
            </a:pPr>
            <a:r>
              <a:rPr lang="en-US" sz="2400" dirty="0"/>
              <a:t>The five stages Fetch, Decode, Compute, Memory, and Write. Instruction </a:t>
            </a:r>
            <a:r>
              <a:rPr lang="en-US" sz="2400" dirty="0" err="1"/>
              <a:t>Ij</a:t>
            </a:r>
            <a:r>
              <a:rPr lang="en-US" sz="2400" dirty="0"/>
              <a:t> is fetched in the first cycle and moves through the remaining stages in the following cycles. </a:t>
            </a:r>
          </a:p>
          <a:p>
            <a:pPr marL="342900" indent="-342900">
              <a:buFont typeface="Arial" panose="020B0604020202020204" pitchFamily="34" charset="0"/>
              <a:buChar char="•"/>
            </a:pPr>
            <a:r>
              <a:rPr lang="en-US" sz="2400" dirty="0"/>
              <a:t>In the second cycle, instruction Ij+1 is fetched while instruction </a:t>
            </a:r>
            <a:r>
              <a:rPr lang="en-US" sz="2400" dirty="0" err="1"/>
              <a:t>Ij</a:t>
            </a:r>
            <a:r>
              <a:rPr lang="en-US" sz="2400" dirty="0"/>
              <a:t> is in the Decode stage where its operands are also read from the register file. </a:t>
            </a:r>
          </a:p>
          <a:p>
            <a:pPr marL="342900" indent="-342900">
              <a:buFont typeface="Arial" panose="020B0604020202020204" pitchFamily="34" charset="0"/>
              <a:buChar char="•"/>
            </a:pPr>
            <a:r>
              <a:rPr lang="en-US" sz="2400" dirty="0"/>
              <a:t>In the third cycle, instruction Ij+2 is fetched while instruction Ij+1 is in the Decode stage and instruction </a:t>
            </a:r>
            <a:r>
              <a:rPr lang="en-US" sz="2400" dirty="0" err="1"/>
              <a:t>Ij</a:t>
            </a:r>
            <a:r>
              <a:rPr lang="en-US" sz="2400" dirty="0"/>
              <a:t> is in the Compute stage where an arithmetic or logic operation is performed on its operands. </a:t>
            </a:r>
          </a:p>
          <a:p>
            <a:pPr marL="342900" indent="-342900">
              <a:buFont typeface="Arial" panose="020B0604020202020204" pitchFamily="34" charset="0"/>
              <a:buChar char="•"/>
            </a:pPr>
            <a:r>
              <a:rPr lang="en-US" sz="2400" dirty="0"/>
              <a:t>Ideally, this overlapping pattern of execution would be possible for all instructions.</a:t>
            </a:r>
          </a:p>
          <a:p>
            <a:pPr marL="342900" indent="-342900">
              <a:buFont typeface="Arial" panose="020B0604020202020204" pitchFamily="34" charset="0"/>
              <a:buChar char="•"/>
            </a:pPr>
            <a:r>
              <a:rPr lang="en-US" sz="2400" dirty="0"/>
              <a:t> Although any one instruction takes five cycles to complete its execution, instructions are completed at the rate of one per cycle.</a:t>
            </a:r>
            <a:endParaRPr lang="en-IN" sz="2400" dirty="0"/>
          </a:p>
        </p:txBody>
      </p:sp>
    </p:spTree>
    <p:extLst>
      <p:ext uri="{BB962C8B-B14F-4D97-AF65-F5344CB8AC3E}">
        <p14:creationId xmlns:p14="http://schemas.microsoft.com/office/powerpoint/2010/main" val="38061291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78B1C88-FEE7-533F-C229-3C20A6850531}"/>
              </a:ext>
            </a:extLst>
          </p:cNvPr>
          <p:cNvPicPr>
            <a:picLocks noGrp="1" noChangeAspect="1"/>
          </p:cNvPicPr>
          <p:nvPr>
            <p:ph idx="1"/>
          </p:nvPr>
        </p:nvPicPr>
        <p:blipFill>
          <a:blip r:embed="rId2"/>
          <a:stretch>
            <a:fillRect/>
          </a:stretch>
        </p:blipFill>
        <p:spPr>
          <a:xfrm>
            <a:off x="4905184" y="457200"/>
            <a:ext cx="2714815" cy="5757333"/>
          </a:xfrm>
          <a:prstGeom prst="rect">
            <a:avLst/>
          </a:prstGeom>
        </p:spPr>
      </p:pic>
      <p:sp>
        <p:nvSpPr>
          <p:cNvPr id="4" name="Slide Number Placeholder 3">
            <a:extLst>
              <a:ext uri="{FF2B5EF4-FFF2-40B4-BE49-F238E27FC236}">
                <a16:creationId xmlns:a16="http://schemas.microsoft.com/office/drawing/2014/main" id="{CA24A52A-6F01-DC10-4F82-07A6C09D68C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eaLnBrk="1" hangingPunct="1">
              <a:spcAft>
                <a:spcPts val="600"/>
              </a:spcAft>
              <a:defRPr/>
            </a:pPr>
            <a:fld id="{7567225B-3001-4770-81AD-EA67E82D7225}" type="slidenum">
              <a:rPr lang="en-US" smtClean="0">
                <a:solidFill>
                  <a:schemeClr val="tx1">
                    <a:tint val="75000"/>
                  </a:schemeClr>
                </a:solidFill>
                <a:latin typeface="+mn-lt"/>
              </a:rPr>
              <a:pPr eaLnBrk="1" hangingPunct="1">
                <a:spcAft>
                  <a:spcPts val="600"/>
                </a:spcAft>
                <a:defRPr/>
              </a:pPr>
              <a:t>50</a:t>
            </a:fld>
            <a:endParaRPr lang="en-US">
              <a:solidFill>
                <a:schemeClr val="tx1">
                  <a:tint val="75000"/>
                </a:schemeClr>
              </a:solidFill>
              <a:latin typeface="+mn-lt"/>
            </a:endParaRPr>
          </a:p>
        </p:txBody>
      </p:sp>
    </p:spTree>
    <p:extLst>
      <p:ext uri="{BB962C8B-B14F-4D97-AF65-F5344CB8AC3E}">
        <p14:creationId xmlns:p14="http://schemas.microsoft.com/office/powerpoint/2010/main" val="22345255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D361321-58B1-34BA-957A-9748BE33CBF6}"/>
              </a:ext>
            </a:extLst>
          </p:cNvPr>
          <p:cNvPicPr>
            <a:picLocks noGrp="1" noChangeAspect="1"/>
          </p:cNvPicPr>
          <p:nvPr>
            <p:ph idx="1"/>
          </p:nvPr>
        </p:nvPicPr>
        <p:blipFill>
          <a:blip r:embed="rId2"/>
          <a:stretch>
            <a:fillRect/>
          </a:stretch>
        </p:blipFill>
        <p:spPr>
          <a:xfrm>
            <a:off x="235436" y="990600"/>
            <a:ext cx="11313097" cy="4800600"/>
          </a:xfrm>
          <a:prstGeom prst="rect">
            <a:avLst/>
          </a:prstGeom>
        </p:spPr>
      </p:pic>
      <p:sp>
        <p:nvSpPr>
          <p:cNvPr id="4" name="Slide Number Placeholder 3">
            <a:extLst>
              <a:ext uri="{FF2B5EF4-FFF2-40B4-BE49-F238E27FC236}">
                <a16:creationId xmlns:a16="http://schemas.microsoft.com/office/drawing/2014/main" id="{423AB0F4-4570-5BFA-F383-487EBC3F22E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eaLnBrk="1" hangingPunct="1">
              <a:spcAft>
                <a:spcPts val="600"/>
              </a:spcAft>
              <a:defRPr/>
            </a:pPr>
            <a:fld id="{7567225B-3001-4770-81AD-EA67E82D7225}" type="slidenum">
              <a:rPr lang="en-US" smtClean="0">
                <a:solidFill>
                  <a:schemeClr val="tx1">
                    <a:tint val="75000"/>
                  </a:schemeClr>
                </a:solidFill>
                <a:latin typeface="+mn-lt"/>
              </a:rPr>
              <a:pPr eaLnBrk="1" hangingPunct="1">
                <a:spcAft>
                  <a:spcPts val="600"/>
                </a:spcAft>
                <a:defRPr/>
              </a:pPr>
              <a:t>51</a:t>
            </a:fld>
            <a:endParaRPr lang="en-US">
              <a:solidFill>
                <a:schemeClr val="tx1">
                  <a:tint val="75000"/>
                </a:schemeClr>
              </a:solidFill>
              <a:latin typeface="+mn-lt"/>
            </a:endParaRPr>
          </a:p>
        </p:txBody>
      </p:sp>
    </p:spTree>
    <p:extLst>
      <p:ext uri="{BB962C8B-B14F-4D97-AF65-F5344CB8AC3E}">
        <p14:creationId xmlns:p14="http://schemas.microsoft.com/office/powerpoint/2010/main" val="4565860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52</a:t>
            </a:fld>
            <a:endParaRPr lang="en-US" dirty="0"/>
          </a:p>
        </p:txBody>
      </p:sp>
      <p:sp>
        <p:nvSpPr>
          <p:cNvPr id="5" name="Rectangle 2"/>
          <p:cNvSpPr txBox="1">
            <a:spLocks noChangeArrowheads="1"/>
          </p:cNvSpPr>
          <p:nvPr/>
        </p:nvSpPr>
        <p:spPr>
          <a:xfrm>
            <a:off x="1752600" y="0"/>
            <a:ext cx="9296400"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Use the Idea of Pipelining in a Computer</a:t>
            </a:r>
          </a:p>
        </p:txBody>
      </p:sp>
      <p:sp>
        <p:nvSpPr>
          <p:cNvPr id="6" name="Freeform 4"/>
          <p:cNvSpPr>
            <a:spLocks/>
          </p:cNvSpPr>
          <p:nvPr/>
        </p:nvSpPr>
        <p:spPr bwMode="auto">
          <a:xfrm>
            <a:off x="3775075" y="4852987"/>
            <a:ext cx="754063" cy="244475"/>
          </a:xfrm>
          <a:custGeom>
            <a:avLst/>
            <a:gdLst/>
            <a:ahLst/>
            <a:cxnLst>
              <a:cxn ang="0">
                <a:pos x="0" y="10"/>
              </a:cxn>
              <a:cxn ang="0">
                <a:pos x="32" y="10"/>
              </a:cxn>
              <a:cxn ang="0">
                <a:pos x="32" y="14"/>
              </a:cxn>
              <a:cxn ang="0">
                <a:pos x="43" y="7"/>
              </a:cxn>
              <a:cxn ang="0">
                <a:pos x="32" y="0"/>
              </a:cxn>
              <a:cxn ang="0">
                <a:pos x="32" y="3"/>
              </a:cxn>
              <a:cxn ang="0">
                <a:pos x="0" y="3"/>
              </a:cxn>
            </a:cxnLst>
            <a:rect l="0" t="0" r="r" b="b"/>
            <a:pathLst>
              <a:path w="43" h="14">
                <a:moveTo>
                  <a:pt x="0" y="10"/>
                </a:moveTo>
                <a:lnTo>
                  <a:pt x="32" y="10"/>
                </a:lnTo>
                <a:lnTo>
                  <a:pt x="32" y="14"/>
                </a:lnTo>
                <a:lnTo>
                  <a:pt x="43" y="7"/>
                </a:lnTo>
                <a:lnTo>
                  <a:pt x="32" y="0"/>
                </a:lnTo>
                <a:lnTo>
                  <a:pt x="32" y="3"/>
                </a:lnTo>
                <a:lnTo>
                  <a:pt x="0" y="3"/>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7" name="Freeform 5"/>
          <p:cNvSpPr>
            <a:spLocks/>
          </p:cNvSpPr>
          <p:nvPr/>
        </p:nvSpPr>
        <p:spPr bwMode="auto">
          <a:xfrm>
            <a:off x="2792413" y="4852987"/>
            <a:ext cx="736600" cy="244475"/>
          </a:xfrm>
          <a:custGeom>
            <a:avLst/>
            <a:gdLst/>
            <a:ahLst/>
            <a:cxnLst>
              <a:cxn ang="0">
                <a:pos x="0" y="10"/>
              </a:cxn>
              <a:cxn ang="0">
                <a:pos x="32" y="10"/>
              </a:cxn>
              <a:cxn ang="0">
                <a:pos x="32" y="14"/>
              </a:cxn>
              <a:cxn ang="0">
                <a:pos x="42" y="7"/>
              </a:cxn>
              <a:cxn ang="0">
                <a:pos x="32" y="0"/>
              </a:cxn>
              <a:cxn ang="0">
                <a:pos x="32" y="3"/>
              </a:cxn>
              <a:cxn ang="0">
                <a:pos x="0" y="3"/>
              </a:cxn>
            </a:cxnLst>
            <a:rect l="0" t="0" r="r" b="b"/>
            <a:pathLst>
              <a:path w="42" h="14">
                <a:moveTo>
                  <a:pt x="0" y="10"/>
                </a:moveTo>
                <a:lnTo>
                  <a:pt x="32" y="10"/>
                </a:lnTo>
                <a:lnTo>
                  <a:pt x="32" y="14"/>
                </a:lnTo>
                <a:lnTo>
                  <a:pt x="42" y="7"/>
                </a:lnTo>
                <a:lnTo>
                  <a:pt x="32" y="0"/>
                </a:lnTo>
                <a:lnTo>
                  <a:pt x="32" y="3"/>
                </a:lnTo>
                <a:lnTo>
                  <a:pt x="0" y="3"/>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8" name="Rectangle 6"/>
          <p:cNvSpPr>
            <a:spLocks noChangeArrowheads="1"/>
          </p:cNvSpPr>
          <p:nvPr/>
        </p:nvSpPr>
        <p:spPr bwMode="auto">
          <a:xfrm>
            <a:off x="1668463" y="2624137"/>
            <a:ext cx="3579812" cy="403225"/>
          </a:xfrm>
          <a:prstGeom prst="rect">
            <a:avLst/>
          </a:prstGeom>
          <a:noFill/>
          <a:ln w="17463">
            <a:solidFill>
              <a:srgbClr val="00FFFF"/>
            </a:solidFill>
            <a:miter lim="800000"/>
            <a:headEnd/>
            <a:tailEnd/>
          </a:ln>
        </p:spPr>
        <p:txBody>
          <a:bodyPr/>
          <a:lstStyle/>
          <a:p>
            <a:endParaRPr lang="en-US">
              <a:latin typeface="Museo 300" pitchFamily="50" charset="0"/>
            </a:endParaRPr>
          </a:p>
        </p:txBody>
      </p:sp>
      <p:sp>
        <p:nvSpPr>
          <p:cNvPr id="9" name="Line 7"/>
          <p:cNvSpPr>
            <a:spLocks noChangeShapeType="1"/>
          </p:cNvSpPr>
          <p:nvPr/>
        </p:nvSpPr>
        <p:spPr bwMode="auto">
          <a:xfrm flipV="1">
            <a:off x="2265363" y="2624137"/>
            <a:ext cx="1587" cy="403225"/>
          </a:xfrm>
          <a:prstGeom prst="line">
            <a:avLst/>
          </a:prstGeom>
          <a:noFill/>
          <a:ln w="17463">
            <a:solidFill>
              <a:srgbClr val="00FFFF"/>
            </a:solidFill>
            <a:round/>
            <a:headEnd/>
            <a:tailEnd/>
          </a:ln>
        </p:spPr>
        <p:txBody>
          <a:bodyPr/>
          <a:lstStyle/>
          <a:p>
            <a:endParaRPr lang="en-US">
              <a:latin typeface="Museo 300" pitchFamily="50" charset="0"/>
            </a:endParaRPr>
          </a:p>
        </p:txBody>
      </p:sp>
      <p:sp>
        <p:nvSpPr>
          <p:cNvPr id="10" name="Line 8"/>
          <p:cNvSpPr>
            <a:spLocks noChangeShapeType="1"/>
          </p:cNvSpPr>
          <p:nvPr/>
        </p:nvSpPr>
        <p:spPr bwMode="auto">
          <a:xfrm>
            <a:off x="2862263" y="2624137"/>
            <a:ext cx="1587" cy="403225"/>
          </a:xfrm>
          <a:prstGeom prst="line">
            <a:avLst/>
          </a:prstGeom>
          <a:noFill/>
          <a:ln w="17463">
            <a:solidFill>
              <a:srgbClr val="00FFFF"/>
            </a:solidFill>
            <a:round/>
            <a:headEnd/>
            <a:tailEnd/>
          </a:ln>
        </p:spPr>
        <p:txBody>
          <a:bodyPr/>
          <a:lstStyle/>
          <a:p>
            <a:endParaRPr lang="en-US">
              <a:latin typeface="Museo 300" pitchFamily="50" charset="0"/>
            </a:endParaRPr>
          </a:p>
        </p:txBody>
      </p:sp>
      <p:sp>
        <p:nvSpPr>
          <p:cNvPr id="11" name="Line 9"/>
          <p:cNvSpPr>
            <a:spLocks noChangeShapeType="1"/>
          </p:cNvSpPr>
          <p:nvPr/>
        </p:nvSpPr>
        <p:spPr bwMode="auto">
          <a:xfrm flipV="1">
            <a:off x="3459163" y="2624137"/>
            <a:ext cx="1587" cy="403225"/>
          </a:xfrm>
          <a:prstGeom prst="line">
            <a:avLst/>
          </a:prstGeom>
          <a:noFill/>
          <a:ln w="17463">
            <a:solidFill>
              <a:srgbClr val="00FFFF"/>
            </a:solidFill>
            <a:round/>
            <a:headEnd/>
            <a:tailEnd/>
          </a:ln>
        </p:spPr>
        <p:txBody>
          <a:bodyPr/>
          <a:lstStyle/>
          <a:p>
            <a:endParaRPr lang="en-US">
              <a:latin typeface="Museo 300" pitchFamily="50" charset="0"/>
            </a:endParaRPr>
          </a:p>
        </p:txBody>
      </p:sp>
      <p:sp>
        <p:nvSpPr>
          <p:cNvPr id="12" name="Line 10"/>
          <p:cNvSpPr>
            <a:spLocks noChangeShapeType="1"/>
          </p:cNvSpPr>
          <p:nvPr/>
        </p:nvSpPr>
        <p:spPr bwMode="auto">
          <a:xfrm>
            <a:off x="4651375" y="2624137"/>
            <a:ext cx="1588" cy="403225"/>
          </a:xfrm>
          <a:prstGeom prst="line">
            <a:avLst/>
          </a:prstGeom>
          <a:noFill/>
          <a:ln w="17463">
            <a:solidFill>
              <a:srgbClr val="00FFFF"/>
            </a:solidFill>
            <a:round/>
            <a:headEnd/>
            <a:tailEnd/>
          </a:ln>
        </p:spPr>
        <p:txBody>
          <a:bodyPr/>
          <a:lstStyle/>
          <a:p>
            <a:endParaRPr lang="en-US">
              <a:latin typeface="Museo 300" pitchFamily="50" charset="0"/>
            </a:endParaRPr>
          </a:p>
        </p:txBody>
      </p:sp>
      <p:sp>
        <p:nvSpPr>
          <p:cNvPr id="13" name="Line 11"/>
          <p:cNvSpPr>
            <a:spLocks noChangeShapeType="1"/>
          </p:cNvSpPr>
          <p:nvPr/>
        </p:nvSpPr>
        <p:spPr bwMode="auto">
          <a:xfrm flipV="1">
            <a:off x="4054475" y="2624137"/>
            <a:ext cx="1588" cy="403225"/>
          </a:xfrm>
          <a:prstGeom prst="line">
            <a:avLst/>
          </a:prstGeom>
          <a:noFill/>
          <a:ln w="17463">
            <a:solidFill>
              <a:srgbClr val="00FFFF"/>
            </a:solidFill>
            <a:round/>
            <a:headEnd/>
            <a:tailEnd/>
          </a:ln>
        </p:spPr>
        <p:txBody>
          <a:bodyPr/>
          <a:lstStyle/>
          <a:p>
            <a:endParaRPr lang="en-US">
              <a:latin typeface="Museo 300" pitchFamily="50" charset="0"/>
            </a:endParaRPr>
          </a:p>
        </p:txBody>
      </p:sp>
      <p:sp>
        <p:nvSpPr>
          <p:cNvPr id="14" name="Line 12"/>
          <p:cNvSpPr>
            <a:spLocks noChangeShapeType="1"/>
          </p:cNvSpPr>
          <p:nvPr/>
        </p:nvSpPr>
        <p:spPr bwMode="auto">
          <a:xfrm flipH="1">
            <a:off x="5248275" y="2624137"/>
            <a:ext cx="211138" cy="1588"/>
          </a:xfrm>
          <a:prstGeom prst="line">
            <a:avLst/>
          </a:prstGeom>
          <a:noFill/>
          <a:ln w="17463">
            <a:solidFill>
              <a:srgbClr val="00FFFF"/>
            </a:solidFill>
            <a:round/>
            <a:headEnd/>
            <a:tailEnd/>
          </a:ln>
        </p:spPr>
        <p:txBody>
          <a:bodyPr/>
          <a:lstStyle/>
          <a:p>
            <a:endParaRPr lang="en-US">
              <a:latin typeface="Museo 300" pitchFamily="50" charset="0"/>
            </a:endParaRPr>
          </a:p>
        </p:txBody>
      </p:sp>
      <p:sp>
        <p:nvSpPr>
          <p:cNvPr id="15" name="Line 13"/>
          <p:cNvSpPr>
            <a:spLocks noChangeShapeType="1"/>
          </p:cNvSpPr>
          <p:nvPr/>
        </p:nvSpPr>
        <p:spPr bwMode="auto">
          <a:xfrm flipH="1">
            <a:off x="5248275" y="3027362"/>
            <a:ext cx="211138" cy="1588"/>
          </a:xfrm>
          <a:prstGeom prst="line">
            <a:avLst/>
          </a:prstGeom>
          <a:noFill/>
          <a:ln w="17463">
            <a:solidFill>
              <a:srgbClr val="00FFFF"/>
            </a:solidFill>
            <a:round/>
            <a:headEnd/>
            <a:tailEnd/>
          </a:ln>
        </p:spPr>
        <p:txBody>
          <a:bodyPr/>
          <a:lstStyle/>
          <a:p>
            <a:endParaRPr lang="en-US">
              <a:latin typeface="Museo 300" pitchFamily="50" charset="0"/>
            </a:endParaRPr>
          </a:p>
        </p:txBody>
      </p:sp>
      <p:sp>
        <p:nvSpPr>
          <p:cNvPr id="16" name="Freeform 14"/>
          <p:cNvSpPr>
            <a:spLocks/>
          </p:cNvSpPr>
          <p:nvPr/>
        </p:nvSpPr>
        <p:spPr bwMode="auto">
          <a:xfrm>
            <a:off x="1703388" y="2430462"/>
            <a:ext cx="561975" cy="71438"/>
          </a:xfrm>
          <a:custGeom>
            <a:avLst/>
            <a:gdLst/>
            <a:ahLst/>
            <a:cxnLst>
              <a:cxn ang="0">
                <a:pos x="0" y="4"/>
              </a:cxn>
              <a:cxn ang="0">
                <a:pos x="0" y="3"/>
              </a:cxn>
              <a:cxn ang="0">
                <a:pos x="1" y="3"/>
              </a:cxn>
              <a:cxn ang="0">
                <a:pos x="1" y="3"/>
              </a:cxn>
              <a:cxn ang="0">
                <a:pos x="2" y="2"/>
              </a:cxn>
              <a:cxn ang="0">
                <a:pos x="2" y="2"/>
              </a:cxn>
              <a:cxn ang="0">
                <a:pos x="11" y="2"/>
              </a:cxn>
              <a:cxn ang="0">
                <a:pos x="16" y="2"/>
              </a:cxn>
              <a:cxn ang="0">
                <a:pos x="20" y="2"/>
              </a:cxn>
              <a:cxn ang="0">
                <a:pos x="30" y="2"/>
              </a:cxn>
              <a:cxn ang="0">
                <a:pos x="30" y="2"/>
              </a:cxn>
              <a:cxn ang="0">
                <a:pos x="31" y="2"/>
              </a:cxn>
              <a:cxn ang="0">
                <a:pos x="31" y="1"/>
              </a:cxn>
              <a:cxn ang="0">
                <a:pos x="32" y="0"/>
              </a:cxn>
            </a:cxnLst>
            <a:rect l="0" t="0" r="r" b="b"/>
            <a:pathLst>
              <a:path w="32" h="4">
                <a:moveTo>
                  <a:pt x="0" y="4"/>
                </a:moveTo>
                <a:lnTo>
                  <a:pt x="0" y="3"/>
                </a:lnTo>
                <a:lnTo>
                  <a:pt x="1" y="3"/>
                </a:lnTo>
                <a:lnTo>
                  <a:pt x="1" y="3"/>
                </a:lnTo>
                <a:lnTo>
                  <a:pt x="2" y="2"/>
                </a:lnTo>
                <a:lnTo>
                  <a:pt x="2" y="2"/>
                </a:lnTo>
                <a:lnTo>
                  <a:pt x="11" y="2"/>
                </a:lnTo>
                <a:lnTo>
                  <a:pt x="16" y="2"/>
                </a:lnTo>
                <a:lnTo>
                  <a:pt x="20" y="2"/>
                </a:lnTo>
                <a:lnTo>
                  <a:pt x="30" y="2"/>
                </a:lnTo>
                <a:lnTo>
                  <a:pt x="30" y="2"/>
                </a:lnTo>
                <a:lnTo>
                  <a:pt x="31" y="2"/>
                </a:lnTo>
                <a:lnTo>
                  <a:pt x="31" y="1"/>
                </a:lnTo>
                <a:lnTo>
                  <a:pt x="32" y="0"/>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17" name="Freeform 15"/>
          <p:cNvSpPr>
            <a:spLocks/>
          </p:cNvSpPr>
          <p:nvPr/>
        </p:nvSpPr>
        <p:spPr bwMode="auto">
          <a:xfrm>
            <a:off x="2265363" y="2430462"/>
            <a:ext cx="579437" cy="71438"/>
          </a:xfrm>
          <a:custGeom>
            <a:avLst/>
            <a:gdLst/>
            <a:ahLst/>
            <a:cxnLst>
              <a:cxn ang="0">
                <a:pos x="33" y="4"/>
              </a:cxn>
              <a:cxn ang="0">
                <a:pos x="32" y="3"/>
              </a:cxn>
              <a:cxn ang="0">
                <a:pos x="32" y="3"/>
              </a:cxn>
              <a:cxn ang="0">
                <a:pos x="31" y="3"/>
              </a:cxn>
              <a:cxn ang="0">
                <a:pos x="31" y="2"/>
              </a:cxn>
              <a:cxn ang="0">
                <a:pos x="30" y="2"/>
              </a:cxn>
              <a:cxn ang="0">
                <a:pos x="21" y="2"/>
              </a:cxn>
              <a:cxn ang="0">
                <a:pos x="17" y="2"/>
              </a:cxn>
              <a:cxn ang="0">
                <a:pos x="12" y="2"/>
              </a:cxn>
              <a:cxn ang="0">
                <a:pos x="3" y="2"/>
              </a:cxn>
              <a:cxn ang="0">
                <a:pos x="2" y="2"/>
              </a:cxn>
              <a:cxn ang="0">
                <a:pos x="2" y="2"/>
              </a:cxn>
              <a:cxn ang="0">
                <a:pos x="1" y="1"/>
              </a:cxn>
              <a:cxn ang="0">
                <a:pos x="0" y="0"/>
              </a:cxn>
            </a:cxnLst>
            <a:rect l="0" t="0" r="r" b="b"/>
            <a:pathLst>
              <a:path w="33" h="4">
                <a:moveTo>
                  <a:pt x="33" y="4"/>
                </a:moveTo>
                <a:lnTo>
                  <a:pt x="32" y="3"/>
                </a:lnTo>
                <a:lnTo>
                  <a:pt x="32" y="3"/>
                </a:lnTo>
                <a:lnTo>
                  <a:pt x="31" y="3"/>
                </a:lnTo>
                <a:lnTo>
                  <a:pt x="31" y="2"/>
                </a:lnTo>
                <a:lnTo>
                  <a:pt x="30" y="2"/>
                </a:lnTo>
                <a:lnTo>
                  <a:pt x="21" y="2"/>
                </a:lnTo>
                <a:lnTo>
                  <a:pt x="17" y="2"/>
                </a:lnTo>
                <a:lnTo>
                  <a:pt x="12" y="2"/>
                </a:lnTo>
                <a:lnTo>
                  <a:pt x="3" y="2"/>
                </a:lnTo>
                <a:lnTo>
                  <a:pt x="2" y="2"/>
                </a:lnTo>
                <a:lnTo>
                  <a:pt x="2" y="2"/>
                </a:lnTo>
                <a:lnTo>
                  <a:pt x="1" y="1"/>
                </a:lnTo>
                <a:lnTo>
                  <a:pt x="0" y="0"/>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18" name="Freeform 16"/>
          <p:cNvSpPr>
            <a:spLocks/>
          </p:cNvSpPr>
          <p:nvPr/>
        </p:nvSpPr>
        <p:spPr bwMode="auto">
          <a:xfrm>
            <a:off x="2897188" y="2430462"/>
            <a:ext cx="561975" cy="71438"/>
          </a:xfrm>
          <a:custGeom>
            <a:avLst/>
            <a:gdLst/>
            <a:ahLst/>
            <a:cxnLst>
              <a:cxn ang="0">
                <a:pos x="0" y="4"/>
              </a:cxn>
              <a:cxn ang="0">
                <a:pos x="0" y="3"/>
              </a:cxn>
              <a:cxn ang="0">
                <a:pos x="1" y="3"/>
              </a:cxn>
              <a:cxn ang="0">
                <a:pos x="1" y="3"/>
              </a:cxn>
              <a:cxn ang="0">
                <a:pos x="2" y="2"/>
              </a:cxn>
              <a:cxn ang="0">
                <a:pos x="2" y="2"/>
              </a:cxn>
              <a:cxn ang="0">
                <a:pos x="11" y="2"/>
              </a:cxn>
              <a:cxn ang="0">
                <a:pos x="16" y="2"/>
              </a:cxn>
              <a:cxn ang="0">
                <a:pos x="20" y="2"/>
              </a:cxn>
              <a:cxn ang="0">
                <a:pos x="30" y="2"/>
              </a:cxn>
              <a:cxn ang="0">
                <a:pos x="30" y="2"/>
              </a:cxn>
              <a:cxn ang="0">
                <a:pos x="31" y="2"/>
              </a:cxn>
              <a:cxn ang="0">
                <a:pos x="31" y="1"/>
              </a:cxn>
              <a:cxn ang="0">
                <a:pos x="32" y="0"/>
              </a:cxn>
            </a:cxnLst>
            <a:rect l="0" t="0" r="r" b="b"/>
            <a:pathLst>
              <a:path w="32" h="4">
                <a:moveTo>
                  <a:pt x="0" y="4"/>
                </a:moveTo>
                <a:lnTo>
                  <a:pt x="0" y="3"/>
                </a:lnTo>
                <a:lnTo>
                  <a:pt x="1" y="3"/>
                </a:lnTo>
                <a:lnTo>
                  <a:pt x="1" y="3"/>
                </a:lnTo>
                <a:lnTo>
                  <a:pt x="2" y="2"/>
                </a:lnTo>
                <a:lnTo>
                  <a:pt x="2" y="2"/>
                </a:lnTo>
                <a:lnTo>
                  <a:pt x="11" y="2"/>
                </a:lnTo>
                <a:lnTo>
                  <a:pt x="16" y="2"/>
                </a:lnTo>
                <a:lnTo>
                  <a:pt x="20" y="2"/>
                </a:lnTo>
                <a:lnTo>
                  <a:pt x="30" y="2"/>
                </a:lnTo>
                <a:lnTo>
                  <a:pt x="30" y="2"/>
                </a:lnTo>
                <a:lnTo>
                  <a:pt x="31" y="2"/>
                </a:lnTo>
                <a:lnTo>
                  <a:pt x="31" y="1"/>
                </a:lnTo>
                <a:lnTo>
                  <a:pt x="32" y="0"/>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19" name="Freeform 17"/>
          <p:cNvSpPr>
            <a:spLocks/>
          </p:cNvSpPr>
          <p:nvPr/>
        </p:nvSpPr>
        <p:spPr bwMode="auto">
          <a:xfrm>
            <a:off x="3459163" y="2430462"/>
            <a:ext cx="577850" cy="71438"/>
          </a:xfrm>
          <a:custGeom>
            <a:avLst/>
            <a:gdLst/>
            <a:ahLst/>
            <a:cxnLst>
              <a:cxn ang="0">
                <a:pos x="33" y="4"/>
              </a:cxn>
              <a:cxn ang="0">
                <a:pos x="32" y="3"/>
              </a:cxn>
              <a:cxn ang="0">
                <a:pos x="32" y="3"/>
              </a:cxn>
              <a:cxn ang="0">
                <a:pos x="31" y="3"/>
              </a:cxn>
              <a:cxn ang="0">
                <a:pos x="31" y="2"/>
              </a:cxn>
              <a:cxn ang="0">
                <a:pos x="30" y="2"/>
              </a:cxn>
              <a:cxn ang="0">
                <a:pos x="21" y="2"/>
              </a:cxn>
              <a:cxn ang="0">
                <a:pos x="17" y="2"/>
              </a:cxn>
              <a:cxn ang="0">
                <a:pos x="12" y="2"/>
              </a:cxn>
              <a:cxn ang="0">
                <a:pos x="3" y="2"/>
              </a:cxn>
              <a:cxn ang="0">
                <a:pos x="2" y="2"/>
              </a:cxn>
              <a:cxn ang="0">
                <a:pos x="2" y="2"/>
              </a:cxn>
              <a:cxn ang="0">
                <a:pos x="1" y="1"/>
              </a:cxn>
              <a:cxn ang="0">
                <a:pos x="0" y="0"/>
              </a:cxn>
            </a:cxnLst>
            <a:rect l="0" t="0" r="r" b="b"/>
            <a:pathLst>
              <a:path w="33" h="4">
                <a:moveTo>
                  <a:pt x="33" y="4"/>
                </a:moveTo>
                <a:lnTo>
                  <a:pt x="32" y="3"/>
                </a:lnTo>
                <a:lnTo>
                  <a:pt x="32" y="3"/>
                </a:lnTo>
                <a:lnTo>
                  <a:pt x="31" y="3"/>
                </a:lnTo>
                <a:lnTo>
                  <a:pt x="31" y="2"/>
                </a:lnTo>
                <a:lnTo>
                  <a:pt x="30" y="2"/>
                </a:lnTo>
                <a:lnTo>
                  <a:pt x="21" y="2"/>
                </a:lnTo>
                <a:lnTo>
                  <a:pt x="17" y="2"/>
                </a:lnTo>
                <a:lnTo>
                  <a:pt x="12" y="2"/>
                </a:lnTo>
                <a:lnTo>
                  <a:pt x="3" y="2"/>
                </a:lnTo>
                <a:lnTo>
                  <a:pt x="2" y="2"/>
                </a:lnTo>
                <a:lnTo>
                  <a:pt x="2" y="2"/>
                </a:lnTo>
                <a:lnTo>
                  <a:pt x="1" y="1"/>
                </a:lnTo>
                <a:lnTo>
                  <a:pt x="0" y="0"/>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20" name="Freeform 18"/>
          <p:cNvSpPr>
            <a:spLocks/>
          </p:cNvSpPr>
          <p:nvPr/>
        </p:nvSpPr>
        <p:spPr bwMode="auto">
          <a:xfrm>
            <a:off x="4089400" y="2430462"/>
            <a:ext cx="561975" cy="71438"/>
          </a:xfrm>
          <a:custGeom>
            <a:avLst/>
            <a:gdLst/>
            <a:ahLst/>
            <a:cxnLst>
              <a:cxn ang="0">
                <a:pos x="0" y="4"/>
              </a:cxn>
              <a:cxn ang="0">
                <a:pos x="0" y="3"/>
              </a:cxn>
              <a:cxn ang="0">
                <a:pos x="1" y="3"/>
              </a:cxn>
              <a:cxn ang="0">
                <a:pos x="1" y="3"/>
              </a:cxn>
              <a:cxn ang="0">
                <a:pos x="2" y="2"/>
              </a:cxn>
              <a:cxn ang="0">
                <a:pos x="2" y="2"/>
              </a:cxn>
              <a:cxn ang="0">
                <a:pos x="11" y="2"/>
              </a:cxn>
              <a:cxn ang="0">
                <a:pos x="16" y="2"/>
              </a:cxn>
              <a:cxn ang="0">
                <a:pos x="20" y="2"/>
              </a:cxn>
              <a:cxn ang="0">
                <a:pos x="30" y="2"/>
              </a:cxn>
              <a:cxn ang="0">
                <a:pos x="30" y="2"/>
              </a:cxn>
              <a:cxn ang="0">
                <a:pos x="31" y="2"/>
              </a:cxn>
              <a:cxn ang="0">
                <a:pos x="31" y="2"/>
              </a:cxn>
              <a:cxn ang="0">
                <a:pos x="32" y="1"/>
              </a:cxn>
              <a:cxn ang="0">
                <a:pos x="32" y="0"/>
              </a:cxn>
            </a:cxnLst>
            <a:rect l="0" t="0" r="r" b="b"/>
            <a:pathLst>
              <a:path w="32" h="4">
                <a:moveTo>
                  <a:pt x="0" y="4"/>
                </a:moveTo>
                <a:lnTo>
                  <a:pt x="0" y="3"/>
                </a:lnTo>
                <a:lnTo>
                  <a:pt x="1" y="3"/>
                </a:lnTo>
                <a:lnTo>
                  <a:pt x="1" y="3"/>
                </a:lnTo>
                <a:lnTo>
                  <a:pt x="2" y="2"/>
                </a:lnTo>
                <a:lnTo>
                  <a:pt x="2" y="2"/>
                </a:lnTo>
                <a:lnTo>
                  <a:pt x="11" y="2"/>
                </a:lnTo>
                <a:lnTo>
                  <a:pt x="16" y="2"/>
                </a:lnTo>
                <a:lnTo>
                  <a:pt x="20" y="2"/>
                </a:lnTo>
                <a:lnTo>
                  <a:pt x="30" y="2"/>
                </a:lnTo>
                <a:lnTo>
                  <a:pt x="30" y="2"/>
                </a:lnTo>
                <a:lnTo>
                  <a:pt x="31" y="2"/>
                </a:lnTo>
                <a:lnTo>
                  <a:pt x="31" y="2"/>
                </a:lnTo>
                <a:lnTo>
                  <a:pt x="32" y="1"/>
                </a:lnTo>
                <a:lnTo>
                  <a:pt x="32" y="0"/>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21" name="Freeform 19"/>
          <p:cNvSpPr>
            <a:spLocks/>
          </p:cNvSpPr>
          <p:nvPr/>
        </p:nvSpPr>
        <p:spPr bwMode="auto">
          <a:xfrm>
            <a:off x="4651375" y="2430462"/>
            <a:ext cx="579438" cy="71438"/>
          </a:xfrm>
          <a:custGeom>
            <a:avLst/>
            <a:gdLst/>
            <a:ahLst/>
            <a:cxnLst>
              <a:cxn ang="0">
                <a:pos x="33" y="4"/>
              </a:cxn>
              <a:cxn ang="0">
                <a:pos x="32" y="3"/>
              </a:cxn>
              <a:cxn ang="0">
                <a:pos x="32" y="3"/>
              </a:cxn>
              <a:cxn ang="0">
                <a:pos x="31" y="3"/>
              </a:cxn>
              <a:cxn ang="0">
                <a:pos x="31" y="2"/>
              </a:cxn>
              <a:cxn ang="0">
                <a:pos x="30" y="2"/>
              </a:cxn>
              <a:cxn ang="0">
                <a:pos x="21" y="2"/>
              </a:cxn>
              <a:cxn ang="0">
                <a:pos x="17" y="2"/>
              </a:cxn>
              <a:cxn ang="0">
                <a:pos x="12" y="2"/>
              </a:cxn>
              <a:cxn ang="0">
                <a:pos x="3" y="2"/>
              </a:cxn>
              <a:cxn ang="0">
                <a:pos x="2" y="2"/>
              </a:cxn>
              <a:cxn ang="0">
                <a:pos x="2" y="2"/>
              </a:cxn>
              <a:cxn ang="0">
                <a:pos x="1" y="1"/>
              </a:cxn>
              <a:cxn ang="0">
                <a:pos x="0" y="0"/>
              </a:cxn>
            </a:cxnLst>
            <a:rect l="0" t="0" r="r" b="b"/>
            <a:pathLst>
              <a:path w="33" h="4">
                <a:moveTo>
                  <a:pt x="33" y="4"/>
                </a:moveTo>
                <a:lnTo>
                  <a:pt x="32" y="3"/>
                </a:lnTo>
                <a:lnTo>
                  <a:pt x="32" y="3"/>
                </a:lnTo>
                <a:lnTo>
                  <a:pt x="31" y="3"/>
                </a:lnTo>
                <a:lnTo>
                  <a:pt x="31" y="2"/>
                </a:lnTo>
                <a:lnTo>
                  <a:pt x="30" y="2"/>
                </a:lnTo>
                <a:lnTo>
                  <a:pt x="21" y="2"/>
                </a:lnTo>
                <a:lnTo>
                  <a:pt x="17" y="2"/>
                </a:lnTo>
                <a:lnTo>
                  <a:pt x="12" y="2"/>
                </a:lnTo>
                <a:lnTo>
                  <a:pt x="3" y="2"/>
                </a:lnTo>
                <a:lnTo>
                  <a:pt x="2" y="2"/>
                </a:lnTo>
                <a:lnTo>
                  <a:pt x="2" y="2"/>
                </a:lnTo>
                <a:lnTo>
                  <a:pt x="1" y="1"/>
                </a:lnTo>
                <a:lnTo>
                  <a:pt x="0" y="0"/>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22" name="Freeform 20"/>
          <p:cNvSpPr>
            <a:spLocks/>
          </p:cNvSpPr>
          <p:nvPr/>
        </p:nvSpPr>
        <p:spPr bwMode="auto">
          <a:xfrm>
            <a:off x="5424488" y="2800350"/>
            <a:ext cx="34925" cy="34925"/>
          </a:xfrm>
          <a:custGeom>
            <a:avLst/>
            <a:gdLst/>
            <a:ahLst/>
            <a:cxnLst>
              <a:cxn ang="0">
                <a:pos x="11" y="11"/>
              </a:cxn>
              <a:cxn ang="0">
                <a:pos x="11" y="0"/>
              </a:cxn>
              <a:cxn ang="0">
                <a:pos x="0" y="0"/>
              </a:cxn>
              <a:cxn ang="0">
                <a:pos x="0" y="11"/>
              </a:cxn>
              <a:cxn ang="0">
                <a:pos x="0" y="22"/>
              </a:cxn>
              <a:cxn ang="0">
                <a:pos x="11" y="22"/>
              </a:cxn>
              <a:cxn ang="0">
                <a:pos x="22" y="22"/>
              </a:cxn>
              <a:cxn ang="0">
                <a:pos x="22" y="11"/>
              </a:cxn>
              <a:cxn ang="0">
                <a:pos x="22" y="0"/>
              </a:cxn>
              <a:cxn ang="0">
                <a:pos x="11" y="0"/>
              </a:cxn>
              <a:cxn ang="0">
                <a:pos x="11" y="11"/>
              </a:cxn>
            </a:cxnLst>
            <a:rect l="0" t="0" r="r" b="b"/>
            <a:pathLst>
              <a:path w="22" h="22">
                <a:moveTo>
                  <a:pt x="11" y="11"/>
                </a:moveTo>
                <a:lnTo>
                  <a:pt x="11" y="0"/>
                </a:lnTo>
                <a:lnTo>
                  <a:pt x="0" y="0"/>
                </a:lnTo>
                <a:lnTo>
                  <a:pt x="0" y="11"/>
                </a:lnTo>
                <a:lnTo>
                  <a:pt x="0" y="22"/>
                </a:lnTo>
                <a:lnTo>
                  <a:pt x="11" y="22"/>
                </a:lnTo>
                <a:lnTo>
                  <a:pt x="22" y="22"/>
                </a:lnTo>
                <a:lnTo>
                  <a:pt x="22" y="11"/>
                </a:lnTo>
                <a:lnTo>
                  <a:pt x="22" y="0"/>
                </a:lnTo>
                <a:lnTo>
                  <a:pt x="11" y="0"/>
                </a:lnTo>
                <a:lnTo>
                  <a:pt x="11" y="11"/>
                </a:lnTo>
                <a:close/>
              </a:path>
            </a:pathLst>
          </a:custGeom>
          <a:solidFill>
            <a:srgbClr val="000000"/>
          </a:solidFill>
          <a:ln w="0">
            <a:solidFill>
              <a:srgbClr val="000000"/>
            </a:solidFill>
            <a:prstDash val="solid"/>
            <a:round/>
            <a:headEnd/>
            <a:tailEnd/>
          </a:ln>
        </p:spPr>
        <p:txBody>
          <a:bodyPr/>
          <a:lstStyle/>
          <a:p>
            <a:endParaRPr lang="en-US">
              <a:latin typeface="Museo 300" pitchFamily="50" charset="0"/>
            </a:endParaRPr>
          </a:p>
        </p:txBody>
      </p:sp>
      <p:sp>
        <p:nvSpPr>
          <p:cNvPr id="23" name="Freeform 21"/>
          <p:cNvSpPr>
            <a:spLocks/>
          </p:cNvSpPr>
          <p:nvPr/>
        </p:nvSpPr>
        <p:spPr bwMode="auto">
          <a:xfrm>
            <a:off x="5424488" y="2817812"/>
            <a:ext cx="17462" cy="17463"/>
          </a:xfrm>
          <a:custGeom>
            <a:avLst/>
            <a:gdLst/>
            <a:ahLst/>
            <a:cxnLst>
              <a:cxn ang="0">
                <a:pos x="0" y="0"/>
              </a:cxn>
              <a:cxn ang="0">
                <a:pos x="0" y="0"/>
              </a:cxn>
              <a:cxn ang="0">
                <a:pos x="0" y="1"/>
              </a:cxn>
              <a:cxn ang="0">
                <a:pos x="1" y="0"/>
              </a:cxn>
              <a:cxn ang="0">
                <a:pos x="0" y="0"/>
              </a:cxn>
            </a:cxnLst>
            <a:rect l="0" t="0" r="r" b="b"/>
            <a:pathLst>
              <a:path w="1" h="1">
                <a:moveTo>
                  <a:pt x="0" y="0"/>
                </a:moveTo>
                <a:lnTo>
                  <a:pt x="0" y="0"/>
                </a:lnTo>
                <a:lnTo>
                  <a:pt x="0" y="1"/>
                </a:lnTo>
                <a:lnTo>
                  <a:pt x="1" y="0"/>
                </a:lnTo>
                <a:lnTo>
                  <a:pt x="0" y="0"/>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24" name="Freeform 22"/>
          <p:cNvSpPr>
            <a:spLocks/>
          </p:cNvSpPr>
          <p:nvPr/>
        </p:nvSpPr>
        <p:spPr bwMode="auto">
          <a:xfrm>
            <a:off x="5511800" y="2800350"/>
            <a:ext cx="34925" cy="34925"/>
          </a:xfrm>
          <a:custGeom>
            <a:avLst/>
            <a:gdLst/>
            <a:ahLst/>
            <a:cxnLst>
              <a:cxn ang="0">
                <a:pos x="11" y="11"/>
              </a:cxn>
              <a:cxn ang="0">
                <a:pos x="11" y="0"/>
              </a:cxn>
              <a:cxn ang="0">
                <a:pos x="0" y="0"/>
              </a:cxn>
              <a:cxn ang="0">
                <a:pos x="0" y="11"/>
              </a:cxn>
              <a:cxn ang="0">
                <a:pos x="0" y="22"/>
              </a:cxn>
              <a:cxn ang="0">
                <a:pos x="11" y="22"/>
              </a:cxn>
              <a:cxn ang="0">
                <a:pos x="22" y="22"/>
              </a:cxn>
              <a:cxn ang="0">
                <a:pos x="22" y="11"/>
              </a:cxn>
              <a:cxn ang="0">
                <a:pos x="22" y="0"/>
              </a:cxn>
              <a:cxn ang="0">
                <a:pos x="11" y="0"/>
              </a:cxn>
              <a:cxn ang="0">
                <a:pos x="11" y="11"/>
              </a:cxn>
            </a:cxnLst>
            <a:rect l="0" t="0" r="r" b="b"/>
            <a:pathLst>
              <a:path w="22" h="22">
                <a:moveTo>
                  <a:pt x="11" y="11"/>
                </a:moveTo>
                <a:lnTo>
                  <a:pt x="11" y="0"/>
                </a:lnTo>
                <a:lnTo>
                  <a:pt x="0" y="0"/>
                </a:lnTo>
                <a:lnTo>
                  <a:pt x="0" y="11"/>
                </a:lnTo>
                <a:lnTo>
                  <a:pt x="0" y="22"/>
                </a:lnTo>
                <a:lnTo>
                  <a:pt x="11" y="22"/>
                </a:lnTo>
                <a:lnTo>
                  <a:pt x="22" y="22"/>
                </a:lnTo>
                <a:lnTo>
                  <a:pt x="22" y="11"/>
                </a:lnTo>
                <a:lnTo>
                  <a:pt x="22" y="0"/>
                </a:lnTo>
                <a:lnTo>
                  <a:pt x="11" y="0"/>
                </a:lnTo>
                <a:lnTo>
                  <a:pt x="11" y="11"/>
                </a:lnTo>
                <a:close/>
              </a:path>
            </a:pathLst>
          </a:custGeom>
          <a:solidFill>
            <a:srgbClr val="000000"/>
          </a:solidFill>
          <a:ln w="0">
            <a:solidFill>
              <a:srgbClr val="000000"/>
            </a:solidFill>
            <a:prstDash val="solid"/>
            <a:round/>
            <a:headEnd/>
            <a:tailEnd/>
          </a:ln>
        </p:spPr>
        <p:txBody>
          <a:bodyPr/>
          <a:lstStyle/>
          <a:p>
            <a:endParaRPr lang="en-US">
              <a:latin typeface="Museo 300" pitchFamily="50" charset="0"/>
            </a:endParaRPr>
          </a:p>
        </p:txBody>
      </p:sp>
      <p:sp>
        <p:nvSpPr>
          <p:cNvPr id="25" name="Freeform 23"/>
          <p:cNvSpPr>
            <a:spLocks/>
          </p:cNvSpPr>
          <p:nvPr/>
        </p:nvSpPr>
        <p:spPr bwMode="auto">
          <a:xfrm>
            <a:off x="5511800" y="2817812"/>
            <a:ext cx="17463" cy="17463"/>
          </a:xfrm>
          <a:custGeom>
            <a:avLst/>
            <a:gdLst/>
            <a:ahLst/>
            <a:cxnLst>
              <a:cxn ang="0">
                <a:pos x="0" y="0"/>
              </a:cxn>
              <a:cxn ang="0">
                <a:pos x="0" y="0"/>
              </a:cxn>
              <a:cxn ang="0">
                <a:pos x="0" y="1"/>
              </a:cxn>
              <a:cxn ang="0">
                <a:pos x="1" y="0"/>
              </a:cxn>
              <a:cxn ang="0">
                <a:pos x="0" y="0"/>
              </a:cxn>
            </a:cxnLst>
            <a:rect l="0" t="0" r="r" b="b"/>
            <a:pathLst>
              <a:path w="1" h="1">
                <a:moveTo>
                  <a:pt x="0" y="0"/>
                </a:moveTo>
                <a:lnTo>
                  <a:pt x="0" y="0"/>
                </a:lnTo>
                <a:lnTo>
                  <a:pt x="0" y="1"/>
                </a:lnTo>
                <a:lnTo>
                  <a:pt x="1" y="0"/>
                </a:lnTo>
                <a:lnTo>
                  <a:pt x="0" y="0"/>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26" name="Freeform 24"/>
          <p:cNvSpPr>
            <a:spLocks/>
          </p:cNvSpPr>
          <p:nvPr/>
        </p:nvSpPr>
        <p:spPr bwMode="auto">
          <a:xfrm>
            <a:off x="5599113" y="2800350"/>
            <a:ext cx="34925" cy="34925"/>
          </a:xfrm>
          <a:custGeom>
            <a:avLst/>
            <a:gdLst/>
            <a:ahLst/>
            <a:cxnLst>
              <a:cxn ang="0">
                <a:pos x="11" y="11"/>
              </a:cxn>
              <a:cxn ang="0">
                <a:pos x="11" y="0"/>
              </a:cxn>
              <a:cxn ang="0">
                <a:pos x="0" y="0"/>
              </a:cxn>
              <a:cxn ang="0">
                <a:pos x="0" y="11"/>
              </a:cxn>
              <a:cxn ang="0">
                <a:pos x="0" y="22"/>
              </a:cxn>
              <a:cxn ang="0">
                <a:pos x="11" y="22"/>
              </a:cxn>
              <a:cxn ang="0">
                <a:pos x="22" y="22"/>
              </a:cxn>
              <a:cxn ang="0">
                <a:pos x="22" y="11"/>
              </a:cxn>
              <a:cxn ang="0">
                <a:pos x="22" y="0"/>
              </a:cxn>
              <a:cxn ang="0">
                <a:pos x="11" y="0"/>
              </a:cxn>
              <a:cxn ang="0">
                <a:pos x="11" y="11"/>
              </a:cxn>
            </a:cxnLst>
            <a:rect l="0" t="0" r="r" b="b"/>
            <a:pathLst>
              <a:path w="22" h="22">
                <a:moveTo>
                  <a:pt x="11" y="11"/>
                </a:moveTo>
                <a:lnTo>
                  <a:pt x="11" y="0"/>
                </a:lnTo>
                <a:lnTo>
                  <a:pt x="0" y="0"/>
                </a:lnTo>
                <a:lnTo>
                  <a:pt x="0" y="11"/>
                </a:lnTo>
                <a:lnTo>
                  <a:pt x="0" y="22"/>
                </a:lnTo>
                <a:lnTo>
                  <a:pt x="11" y="22"/>
                </a:lnTo>
                <a:lnTo>
                  <a:pt x="22" y="22"/>
                </a:lnTo>
                <a:lnTo>
                  <a:pt x="22" y="11"/>
                </a:lnTo>
                <a:lnTo>
                  <a:pt x="22" y="0"/>
                </a:lnTo>
                <a:lnTo>
                  <a:pt x="11" y="0"/>
                </a:lnTo>
                <a:lnTo>
                  <a:pt x="11" y="11"/>
                </a:lnTo>
                <a:close/>
              </a:path>
            </a:pathLst>
          </a:custGeom>
          <a:solidFill>
            <a:srgbClr val="000000"/>
          </a:solidFill>
          <a:ln w="0">
            <a:solidFill>
              <a:srgbClr val="000000"/>
            </a:solidFill>
            <a:prstDash val="solid"/>
            <a:round/>
            <a:headEnd/>
            <a:tailEnd/>
          </a:ln>
        </p:spPr>
        <p:txBody>
          <a:bodyPr/>
          <a:lstStyle/>
          <a:p>
            <a:endParaRPr lang="en-US">
              <a:latin typeface="Museo 300" pitchFamily="50" charset="0"/>
            </a:endParaRPr>
          </a:p>
        </p:txBody>
      </p:sp>
      <p:sp>
        <p:nvSpPr>
          <p:cNvPr id="27" name="Freeform 25"/>
          <p:cNvSpPr>
            <a:spLocks/>
          </p:cNvSpPr>
          <p:nvPr/>
        </p:nvSpPr>
        <p:spPr bwMode="auto">
          <a:xfrm>
            <a:off x="5616575" y="2817812"/>
            <a:ext cx="17463" cy="17463"/>
          </a:xfrm>
          <a:custGeom>
            <a:avLst/>
            <a:gdLst/>
            <a:ahLst/>
            <a:cxnLst>
              <a:cxn ang="0">
                <a:pos x="0" y="0"/>
              </a:cxn>
              <a:cxn ang="0">
                <a:pos x="0" y="0"/>
              </a:cxn>
              <a:cxn ang="0">
                <a:pos x="0" y="1"/>
              </a:cxn>
              <a:cxn ang="0">
                <a:pos x="1" y="0"/>
              </a:cxn>
              <a:cxn ang="0">
                <a:pos x="0" y="0"/>
              </a:cxn>
            </a:cxnLst>
            <a:rect l="0" t="0" r="r" b="b"/>
            <a:pathLst>
              <a:path w="1" h="1">
                <a:moveTo>
                  <a:pt x="0" y="0"/>
                </a:moveTo>
                <a:lnTo>
                  <a:pt x="0" y="0"/>
                </a:lnTo>
                <a:lnTo>
                  <a:pt x="0" y="1"/>
                </a:lnTo>
                <a:lnTo>
                  <a:pt x="1" y="0"/>
                </a:lnTo>
                <a:lnTo>
                  <a:pt x="0" y="0"/>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28" name="Rectangle 26"/>
          <p:cNvSpPr>
            <a:spLocks noChangeArrowheads="1"/>
          </p:cNvSpPr>
          <p:nvPr/>
        </p:nvSpPr>
        <p:spPr bwMode="auto">
          <a:xfrm>
            <a:off x="1897063" y="2713037"/>
            <a:ext cx="7694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F</a:t>
            </a:r>
            <a:endParaRPr lang="en-US" altLang="zh-CN" sz="2400">
              <a:latin typeface="Museo 300" pitchFamily="50" charset="0"/>
              <a:ea typeface="SimSun" pitchFamily="2" charset="-122"/>
            </a:endParaRPr>
          </a:p>
        </p:txBody>
      </p:sp>
      <p:sp>
        <p:nvSpPr>
          <p:cNvPr id="29" name="Rectangle 27"/>
          <p:cNvSpPr>
            <a:spLocks noChangeArrowheads="1"/>
          </p:cNvSpPr>
          <p:nvPr/>
        </p:nvSpPr>
        <p:spPr bwMode="auto">
          <a:xfrm>
            <a:off x="1984375" y="2817812"/>
            <a:ext cx="60914"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1</a:t>
            </a:r>
            <a:endParaRPr lang="en-US" altLang="zh-CN" sz="2400">
              <a:latin typeface="Museo 300" pitchFamily="50" charset="0"/>
              <a:ea typeface="SimSun" pitchFamily="2" charset="-122"/>
            </a:endParaRPr>
          </a:p>
        </p:txBody>
      </p:sp>
      <p:sp>
        <p:nvSpPr>
          <p:cNvPr id="30" name="Rectangle 28"/>
          <p:cNvSpPr>
            <a:spLocks noChangeArrowheads="1"/>
          </p:cNvSpPr>
          <p:nvPr/>
        </p:nvSpPr>
        <p:spPr bwMode="auto">
          <a:xfrm>
            <a:off x="2493963" y="2713037"/>
            <a:ext cx="8656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E</a:t>
            </a:r>
            <a:endParaRPr lang="en-US" altLang="zh-CN" sz="2400">
              <a:latin typeface="Museo 300" pitchFamily="50" charset="0"/>
              <a:ea typeface="SimSun" pitchFamily="2" charset="-122"/>
            </a:endParaRPr>
          </a:p>
        </p:txBody>
      </p:sp>
      <p:sp>
        <p:nvSpPr>
          <p:cNvPr id="31" name="Rectangle 29"/>
          <p:cNvSpPr>
            <a:spLocks noChangeArrowheads="1"/>
          </p:cNvSpPr>
          <p:nvPr/>
        </p:nvSpPr>
        <p:spPr bwMode="auto">
          <a:xfrm>
            <a:off x="2581275" y="2817812"/>
            <a:ext cx="60914"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1</a:t>
            </a:r>
            <a:endParaRPr lang="en-US" altLang="zh-CN" sz="2400">
              <a:latin typeface="Museo 300" pitchFamily="50" charset="0"/>
              <a:ea typeface="SimSun" pitchFamily="2" charset="-122"/>
            </a:endParaRPr>
          </a:p>
        </p:txBody>
      </p:sp>
      <p:sp>
        <p:nvSpPr>
          <p:cNvPr id="32" name="Rectangle 30"/>
          <p:cNvSpPr>
            <a:spLocks noChangeArrowheads="1"/>
          </p:cNvSpPr>
          <p:nvPr/>
        </p:nvSpPr>
        <p:spPr bwMode="auto">
          <a:xfrm>
            <a:off x="3089275" y="2713037"/>
            <a:ext cx="7694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F</a:t>
            </a:r>
            <a:endParaRPr lang="en-US" altLang="zh-CN" sz="2400">
              <a:latin typeface="Museo 300" pitchFamily="50" charset="0"/>
              <a:ea typeface="SimSun" pitchFamily="2" charset="-122"/>
            </a:endParaRPr>
          </a:p>
        </p:txBody>
      </p:sp>
      <p:sp>
        <p:nvSpPr>
          <p:cNvPr id="33" name="Rectangle 31"/>
          <p:cNvSpPr>
            <a:spLocks noChangeArrowheads="1"/>
          </p:cNvSpPr>
          <p:nvPr/>
        </p:nvSpPr>
        <p:spPr bwMode="auto">
          <a:xfrm>
            <a:off x="3178175" y="2817812"/>
            <a:ext cx="72136"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2</a:t>
            </a:r>
            <a:endParaRPr lang="en-US" altLang="zh-CN" sz="2400">
              <a:latin typeface="Museo 300" pitchFamily="50" charset="0"/>
              <a:ea typeface="SimSun" pitchFamily="2" charset="-122"/>
            </a:endParaRPr>
          </a:p>
        </p:txBody>
      </p:sp>
      <p:sp>
        <p:nvSpPr>
          <p:cNvPr id="34" name="Rectangle 32"/>
          <p:cNvSpPr>
            <a:spLocks noChangeArrowheads="1"/>
          </p:cNvSpPr>
          <p:nvPr/>
        </p:nvSpPr>
        <p:spPr bwMode="auto">
          <a:xfrm>
            <a:off x="3686175" y="2713037"/>
            <a:ext cx="8656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E</a:t>
            </a:r>
            <a:endParaRPr lang="en-US" altLang="zh-CN" sz="2400">
              <a:latin typeface="Museo 300" pitchFamily="50" charset="0"/>
              <a:ea typeface="SimSun" pitchFamily="2" charset="-122"/>
            </a:endParaRPr>
          </a:p>
        </p:txBody>
      </p:sp>
      <p:sp>
        <p:nvSpPr>
          <p:cNvPr id="35" name="Rectangle 33"/>
          <p:cNvSpPr>
            <a:spLocks noChangeArrowheads="1"/>
          </p:cNvSpPr>
          <p:nvPr/>
        </p:nvSpPr>
        <p:spPr bwMode="auto">
          <a:xfrm>
            <a:off x="3775075" y="2817812"/>
            <a:ext cx="72136"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2</a:t>
            </a:r>
            <a:endParaRPr lang="en-US" altLang="zh-CN" sz="2400">
              <a:latin typeface="Museo 300" pitchFamily="50" charset="0"/>
              <a:ea typeface="SimSun" pitchFamily="2" charset="-122"/>
            </a:endParaRPr>
          </a:p>
        </p:txBody>
      </p:sp>
      <p:sp>
        <p:nvSpPr>
          <p:cNvPr id="36" name="Rectangle 34"/>
          <p:cNvSpPr>
            <a:spLocks noChangeArrowheads="1"/>
          </p:cNvSpPr>
          <p:nvPr/>
        </p:nvSpPr>
        <p:spPr bwMode="auto">
          <a:xfrm>
            <a:off x="4283075" y="2713037"/>
            <a:ext cx="7694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F</a:t>
            </a:r>
            <a:endParaRPr lang="en-US" altLang="zh-CN" sz="2400">
              <a:latin typeface="Museo 300" pitchFamily="50" charset="0"/>
              <a:ea typeface="SimSun" pitchFamily="2" charset="-122"/>
            </a:endParaRPr>
          </a:p>
        </p:txBody>
      </p:sp>
      <p:sp>
        <p:nvSpPr>
          <p:cNvPr id="37" name="Rectangle 35"/>
          <p:cNvSpPr>
            <a:spLocks noChangeArrowheads="1"/>
          </p:cNvSpPr>
          <p:nvPr/>
        </p:nvSpPr>
        <p:spPr bwMode="auto">
          <a:xfrm>
            <a:off x="4370388" y="2817812"/>
            <a:ext cx="69850" cy="152400"/>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3</a:t>
            </a:r>
            <a:endParaRPr lang="en-US" altLang="zh-CN" sz="2400">
              <a:latin typeface="Museo 300" pitchFamily="50" charset="0"/>
              <a:ea typeface="SimSun" pitchFamily="2" charset="-122"/>
            </a:endParaRPr>
          </a:p>
        </p:txBody>
      </p:sp>
      <p:sp>
        <p:nvSpPr>
          <p:cNvPr id="38" name="Rectangle 36"/>
          <p:cNvSpPr>
            <a:spLocks noChangeArrowheads="1"/>
          </p:cNvSpPr>
          <p:nvPr/>
        </p:nvSpPr>
        <p:spPr bwMode="auto">
          <a:xfrm>
            <a:off x="4879975" y="2713037"/>
            <a:ext cx="8656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E</a:t>
            </a:r>
            <a:endParaRPr lang="en-US" altLang="zh-CN" sz="2400">
              <a:latin typeface="Museo 300" pitchFamily="50" charset="0"/>
              <a:ea typeface="SimSun" pitchFamily="2" charset="-122"/>
            </a:endParaRPr>
          </a:p>
        </p:txBody>
      </p:sp>
      <p:sp>
        <p:nvSpPr>
          <p:cNvPr id="39" name="Rectangle 37"/>
          <p:cNvSpPr>
            <a:spLocks noChangeArrowheads="1"/>
          </p:cNvSpPr>
          <p:nvPr/>
        </p:nvSpPr>
        <p:spPr bwMode="auto">
          <a:xfrm>
            <a:off x="4967288" y="2817812"/>
            <a:ext cx="69850" cy="152400"/>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3</a:t>
            </a:r>
            <a:endParaRPr lang="en-US" altLang="zh-CN" sz="2400">
              <a:latin typeface="Museo 300" pitchFamily="50" charset="0"/>
              <a:ea typeface="SimSun" pitchFamily="2" charset="-122"/>
            </a:endParaRPr>
          </a:p>
        </p:txBody>
      </p:sp>
      <p:sp>
        <p:nvSpPr>
          <p:cNvPr id="40" name="Rectangle 38"/>
          <p:cNvSpPr>
            <a:spLocks noChangeArrowheads="1"/>
          </p:cNvSpPr>
          <p:nvPr/>
        </p:nvSpPr>
        <p:spPr bwMode="auto">
          <a:xfrm>
            <a:off x="2212975" y="2151062"/>
            <a:ext cx="4488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I</a:t>
            </a:r>
            <a:endParaRPr lang="en-US" altLang="zh-CN" sz="2400">
              <a:latin typeface="Museo 300" pitchFamily="50" charset="0"/>
              <a:ea typeface="SimSun" pitchFamily="2" charset="-122"/>
            </a:endParaRPr>
          </a:p>
        </p:txBody>
      </p:sp>
      <p:sp>
        <p:nvSpPr>
          <p:cNvPr id="41" name="Rectangle 39"/>
          <p:cNvSpPr>
            <a:spLocks noChangeArrowheads="1"/>
          </p:cNvSpPr>
          <p:nvPr/>
        </p:nvSpPr>
        <p:spPr bwMode="auto">
          <a:xfrm>
            <a:off x="2265363" y="2238375"/>
            <a:ext cx="60914"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1</a:t>
            </a:r>
            <a:endParaRPr lang="en-US" altLang="zh-CN" sz="2400">
              <a:latin typeface="Museo 300" pitchFamily="50" charset="0"/>
              <a:ea typeface="SimSun" pitchFamily="2" charset="-122"/>
            </a:endParaRPr>
          </a:p>
        </p:txBody>
      </p:sp>
      <p:sp>
        <p:nvSpPr>
          <p:cNvPr id="42" name="Rectangle 40"/>
          <p:cNvSpPr>
            <a:spLocks noChangeArrowheads="1"/>
          </p:cNvSpPr>
          <p:nvPr/>
        </p:nvSpPr>
        <p:spPr bwMode="auto">
          <a:xfrm>
            <a:off x="3405188" y="2151062"/>
            <a:ext cx="4488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I</a:t>
            </a:r>
            <a:endParaRPr lang="en-US" altLang="zh-CN" sz="2400">
              <a:latin typeface="Museo 300" pitchFamily="50" charset="0"/>
              <a:ea typeface="SimSun" pitchFamily="2" charset="-122"/>
            </a:endParaRPr>
          </a:p>
        </p:txBody>
      </p:sp>
      <p:sp>
        <p:nvSpPr>
          <p:cNvPr id="43" name="Rectangle 41"/>
          <p:cNvSpPr>
            <a:spLocks noChangeArrowheads="1"/>
          </p:cNvSpPr>
          <p:nvPr/>
        </p:nvSpPr>
        <p:spPr bwMode="auto">
          <a:xfrm>
            <a:off x="3459163" y="2238375"/>
            <a:ext cx="72136"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2</a:t>
            </a:r>
            <a:endParaRPr lang="en-US" altLang="zh-CN" sz="2400">
              <a:latin typeface="Museo 300" pitchFamily="50" charset="0"/>
              <a:ea typeface="SimSun" pitchFamily="2" charset="-122"/>
            </a:endParaRPr>
          </a:p>
        </p:txBody>
      </p:sp>
      <p:sp>
        <p:nvSpPr>
          <p:cNvPr id="44" name="Rectangle 42"/>
          <p:cNvSpPr>
            <a:spLocks noChangeArrowheads="1"/>
          </p:cNvSpPr>
          <p:nvPr/>
        </p:nvSpPr>
        <p:spPr bwMode="auto">
          <a:xfrm>
            <a:off x="4598988" y="2151062"/>
            <a:ext cx="4488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I</a:t>
            </a:r>
            <a:endParaRPr lang="en-US" altLang="zh-CN" sz="2400">
              <a:latin typeface="Museo 300" pitchFamily="50" charset="0"/>
              <a:ea typeface="SimSun" pitchFamily="2" charset="-122"/>
            </a:endParaRPr>
          </a:p>
        </p:txBody>
      </p:sp>
      <p:sp>
        <p:nvSpPr>
          <p:cNvPr id="45" name="Rectangle 43"/>
          <p:cNvSpPr>
            <a:spLocks noChangeArrowheads="1"/>
          </p:cNvSpPr>
          <p:nvPr/>
        </p:nvSpPr>
        <p:spPr bwMode="auto">
          <a:xfrm>
            <a:off x="4651375" y="2238375"/>
            <a:ext cx="69850" cy="152400"/>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3</a:t>
            </a:r>
            <a:endParaRPr lang="en-US" altLang="zh-CN" sz="2400">
              <a:latin typeface="Museo 300" pitchFamily="50" charset="0"/>
              <a:ea typeface="SimSun" pitchFamily="2" charset="-122"/>
            </a:endParaRPr>
          </a:p>
        </p:txBody>
      </p:sp>
      <p:sp>
        <p:nvSpPr>
          <p:cNvPr id="46" name="Rectangle 44"/>
          <p:cNvSpPr>
            <a:spLocks noChangeArrowheads="1"/>
          </p:cNvSpPr>
          <p:nvPr/>
        </p:nvSpPr>
        <p:spPr bwMode="auto">
          <a:xfrm>
            <a:off x="2827338" y="3273425"/>
            <a:ext cx="1693541"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(a) Sequential execution</a:t>
            </a:r>
            <a:endParaRPr lang="en-US" altLang="zh-CN" sz="2400">
              <a:latin typeface="Museo 300" pitchFamily="50" charset="0"/>
              <a:ea typeface="SimSun" pitchFamily="2" charset="-122"/>
            </a:endParaRPr>
          </a:p>
        </p:txBody>
      </p:sp>
      <p:sp>
        <p:nvSpPr>
          <p:cNvPr id="47" name="Rectangle 45"/>
          <p:cNvSpPr>
            <a:spLocks noChangeArrowheads="1"/>
          </p:cNvSpPr>
          <p:nvPr/>
        </p:nvSpPr>
        <p:spPr bwMode="auto">
          <a:xfrm>
            <a:off x="1808163" y="4467225"/>
            <a:ext cx="984250" cy="1000125"/>
          </a:xfrm>
          <a:prstGeom prst="rect">
            <a:avLst/>
          </a:prstGeom>
          <a:solidFill>
            <a:srgbClr val="FFFFFF"/>
          </a:solidFill>
          <a:ln w="0">
            <a:solidFill>
              <a:srgbClr val="FFFFFF"/>
            </a:solidFill>
            <a:miter lim="800000"/>
            <a:headEnd/>
            <a:tailEnd/>
          </a:ln>
        </p:spPr>
        <p:txBody>
          <a:bodyPr/>
          <a:lstStyle/>
          <a:p>
            <a:endParaRPr lang="en-US">
              <a:latin typeface="Museo 300" pitchFamily="50" charset="0"/>
            </a:endParaRPr>
          </a:p>
        </p:txBody>
      </p:sp>
      <p:sp>
        <p:nvSpPr>
          <p:cNvPr id="48" name="Rectangle 46"/>
          <p:cNvSpPr>
            <a:spLocks noChangeArrowheads="1"/>
          </p:cNvSpPr>
          <p:nvPr/>
        </p:nvSpPr>
        <p:spPr bwMode="auto">
          <a:xfrm>
            <a:off x="1808163" y="4467225"/>
            <a:ext cx="984250" cy="1000125"/>
          </a:xfrm>
          <a:prstGeom prst="rect">
            <a:avLst/>
          </a:prstGeom>
          <a:noFill/>
          <a:ln w="17463">
            <a:solidFill>
              <a:srgbClr val="00FFFF"/>
            </a:solidFill>
            <a:miter lim="800000"/>
            <a:headEnd/>
            <a:tailEnd/>
          </a:ln>
        </p:spPr>
        <p:txBody>
          <a:bodyPr/>
          <a:lstStyle/>
          <a:p>
            <a:endParaRPr lang="en-US">
              <a:latin typeface="Museo 300" pitchFamily="50" charset="0"/>
            </a:endParaRPr>
          </a:p>
        </p:txBody>
      </p:sp>
      <p:sp>
        <p:nvSpPr>
          <p:cNvPr id="49" name="Rectangle 47"/>
          <p:cNvSpPr>
            <a:spLocks noChangeArrowheads="1"/>
          </p:cNvSpPr>
          <p:nvPr/>
        </p:nvSpPr>
        <p:spPr bwMode="auto">
          <a:xfrm>
            <a:off x="1966913" y="4695825"/>
            <a:ext cx="76572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Instruction</a:t>
            </a:r>
            <a:endParaRPr lang="en-US" altLang="zh-CN" sz="2400">
              <a:latin typeface="Museo 300" pitchFamily="50" charset="0"/>
              <a:ea typeface="SimSun" pitchFamily="2" charset="-122"/>
            </a:endParaRPr>
          </a:p>
        </p:txBody>
      </p:sp>
      <p:sp>
        <p:nvSpPr>
          <p:cNvPr id="50" name="Rectangle 48"/>
          <p:cNvSpPr>
            <a:spLocks noChangeArrowheads="1"/>
          </p:cNvSpPr>
          <p:nvPr/>
        </p:nvSpPr>
        <p:spPr bwMode="auto">
          <a:xfrm>
            <a:off x="2143125" y="4852987"/>
            <a:ext cx="351956"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fetch</a:t>
            </a:r>
            <a:endParaRPr lang="en-US" altLang="zh-CN" sz="2400">
              <a:latin typeface="Museo 300" pitchFamily="50" charset="0"/>
              <a:ea typeface="SimSun" pitchFamily="2" charset="-122"/>
            </a:endParaRPr>
          </a:p>
        </p:txBody>
      </p:sp>
      <p:sp>
        <p:nvSpPr>
          <p:cNvPr id="51" name="Rectangle 49"/>
          <p:cNvSpPr>
            <a:spLocks noChangeArrowheads="1"/>
          </p:cNvSpPr>
          <p:nvPr/>
        </p:nvSpPr>
        <p:spPr bwMode="auto">
          <a:xfrm>
            <a:off x="2178050" y="5011737"/>
            <a:ext cx="275717"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unit</a:t>
            </a:r>
            <a:endParaRPr lang="en-US" altLang="zh-CN" sz="2400">
              <a:latin typeface="Museo 300" pitchFamily="50" charset="0"/>
              <a:ea typeface="SimSun" pitchFamily="2" charset="-122"/>
            </a:endParaRPr>
          </a:p>
        </p:txBody>
      </p:sp>
      <p:sp>
        <p:nvSpPr>
          <p:cNvPr id="52" name="Rectangle 50"/>
          <p:cNvSpPr>
            <a:spLocks noChangeArrowheads="1"/>
          </p:cNvSpPr>
          <p:nvPr/>
        </p:nvSpPr>
        <p:spPr bwMode="auto">
          <a:xfrm>
            <a:off x="3546475" y="4467225"/>
            <a:ext cx="246063" cy="1000125"/>
          </a:xfrm>
          <a:prstGeom prst="rect">
            <a:avLst/>
          </a:prstGeom>
          <a:solidFill>
            <a:srgbClr val="FFFFFF"/>
          </a:solidFill>
          <a:ln w="0">
            <a:solidFill>
              <a:srgbClr val="FFFFFF"/>
            </a:solidFill>
            <a:miter lim="800000"/>
            <a:headEnd/>
            <a:tailEnd/>
          </a:ln>
        </p:spPr>
        <p:txBody>
          <a:bodyPr/>
          <a:lstStyle/>
          <a:p>
            <a:endParaRPr lang="en-US">
              <a:latin typeface="Museo 300" pitchFamily="50" charset="0"/>
            </a:endParaRPr>
          </a:p>
        </p:txBody>
      </p:sp>
      <p:sp>
        <p:nvSpPr>
          <p:cNvPr id="53" name="Rectangle 51"/>
          <p:cNvSpPr>
            <a:spLocks noChangeArrowheads="1"/>
          </p:cNvSpPr>
          <p:nvPr/>
        </p:nvSpPr>
        <p:spPr bwMode="auto">
          <a:xfrm>
            <a:off x="3546475" y="4467225"/>
            <a:ext cx="246063" cy="1000125"/>
          </a:xfrm>
          <a:prstGeom prst="rect">
            <a:avLst/>
          </a:prstGeom>
          <a:noFill/>
          <a:ln w="17463">
            <a:solidFill>
              <a:srgbClr val="00FFFF"/>
            </a:solidFill>
            <a:miter lim="800000"/>
            <a:headEnd/>
            <a:tailEnd/>
          </a:ln>
        </p:spPr>
        <p:txBody>
          <a:bodyPr/>
          <a:lstStyle/>
          <a:p>
            <a:endParaRPr lang="en-US">
              <a:latin typeface="Museo 300" pitchFamily="50" charset="0"/>
            </a:endParaRPr>
          </a:p>
        </p:txBody>
      </p:sp>
      <p:sp>
        <p:nvSpPr>
          <p:cNvPr id="54" name="Rectangle 52"/>
          <p:cNvSpPr>
            <a:spLocks noChangeArrowheads="1"/>
          </p:cNvSpPr>
          <p:nvPr/>
        </p:nvSpPr>
        <p:spPr bwMode="auto">
          <a:xfrm>
            <a:off x="4546600" y="4467225"/>
            <a:ext cx="982663" cy="1000125"/>
          </a:xfrm>
          <a:prstGeom prst="rect">
            <a:avLst/>
          </a:prstGeom>
          <a:noFill/>
          <a:ln w="17463">
            <a:solidFill>
              <a:srgbClr val="00FFFF"/>
            </a:solidFill>
            <a:miter lim="800000"/>
            <a:headEnd/>
            <a:tailEnd/>
          </a:ln>
        </p:spPr>
        <p:txBody>
          <a:bodyPr/>
          <a:lstStyle/>
          <a:p>
            <a:endParaRPr lang="en-US">
              <a:latin typeface="Museo 300" pitchFamily="50" charset="0"/>
            </a:endParaRPr>
          </a:p>
        </p:txBody>
      </p:sp>
      <p:sp>
        <p:nvSpPr>
          <p:cNvPr id="55" name="Rectangle 53"/>
          <p:cNvSpPr>
            <a:spLocks noChangeArrowheads="1"/>
          </p:cNvSpPr>
          <p:nvPr/>
        </p:nvSpPr>
        <p:spPr bwMode="auto">
          <a:xfrm>
            <a:off x="4721225" y="4765675"/>
            <a:ext cx="160300"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Ex</a:t>
            </a:r>
            <a:endParaRPr lang="en-US" altLang="zh-CN" sz="2400">
              <a:latin typeface="Museo 300" pitchFamily="50" charset="0"/>
              <a:ea typeface="SimSun" pitchFamily="2" charset="-122"/>
            </a:endParaRPr>
          </a:p>
        </p:txBody>
      </p:sp>
      <p:sp>
        <p:nvSpPr>
          <p:cNvPr id="56" name="Rectangle 54"/>
          <p:cNvSpPr>
            <a:spLocks noChangeArrowheads="1"/>
          </p:cNvSpPr>
          <p:nvPr/>
        </p:nvSpPr>
        <p:spPr bwMode="auto">
          <a:xfrm>
            <a:off x="4881563" y="4765675"/>
            <a:ext cx="537006"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ecution</a:t>
            </a:r>
            <a:endParaRPr lang="en-US" altLang="zh-CN" sz="2400">
              <a:latin typeface="Museo 300" pitchFamily="50" charset="0"/>
              <a:ea typeface="SimSun" pitchFamily="2" charset="-122"/>
            </a:endParaRPr>
          </a:p>
        </p:txBody>
      </p:sp>
      <p:sp>
        <p:nvSpPr>
          <p:cNvPr id="57" name="Rectangle 55"/>
          <p:cNvSpPr>
            <a:spLocks noChangeArrowheads="1"/>
          </p:cNvSpPr>
          <p:nvPr/>
        </p:nvSpPr>
        <p:spPr bwMode="auto">
          <a:xfrm>
            <a:off x="4914900" y="4922837"/>
            <a:ext cx="275717"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unit</a:t>
            </a:r>
            <a:endParaRPr lang="en-US" altLang="zh-CN" sz="2400">
              <a:latin typeface="Museo 300" pitchFamily="50" charset="0"/>
              <a:ea typeface="SimSun" pitchFamily="2" charset="-122"/>
            </a:endParaRPr>
          </a:p>
        </p:txBody>
      </p:sp>
      <p:sp>
        <p:nvSpPr>
          <p:cNvPr id="58" name="Rectangle 56"/>
          <p:cNvSpPr>
            <a:spLocks noChangeArrowheads="1"/>
          </p:cNvSpPr>
          <p:nvPr/>
        </p:nvSpPr>
        <p:spPr bwMode="auto">
          <a:xfrm>
            <a:off x="3143250" y="4011612"/>
            <a:ext cx="1157625"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Interstage buffer</a:t>
            </a:r>
            <a:endParaRPr lang="en-US" altLang="zh-CN" sz="2400">
              <a:latin typeface="Museo 300" pitchFamily="50" charset="0"/>
              <a:ea typeface="SimSun" pitchFamily="2" charset="-122"/>
            </a:endParaRPr>
          </a:p>
        </p:txBody>
      </p:sp>
      <p:sp>
        <p:nvSpPr>
          <p:cNvPr id="59" name="Rectangle 57"/>
          <p:cNvSpPr>
            <a:spLocks noChangeArrowheads="1"/>
          </p:cNvSpPr>
          <p:nvPr/>
        </p:nvSpPr>
        <p:spPr bwMode="auto">
          <a:xfrm>
            <a:off x="3581400" y="4221162"/>
            <a:ext cx="16671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B1</a:t>
            </a:r>
            <a:endParaRPr lang="en-US" altLang="zh-CN" sz="2400">
              <a:latin typeface="Museo 300" pitchFamily="50" charset="0"/>
              <a:ea typeface="SimSun" pitchFamily="2" charset="-122"/>
            </a:endParaRPr>
          </a:p>
        </p:txBody>
      </p:sp>
      <p:sp>
        <p:nvSpPr>
          <p:cNvPr id="60" name="Rectangle 58"/>
          <p:cNvSpPr>
            <a:spLocks noChangeArrowheads="1"/>
          </p:cNvSpPr>
          <p:nvPr/>
        </p:nvSpPr>
        <p:spPr bwMode="auto">
          <a:xfrm>
            <a:off x="2755900" y="5713412"/>
            <a:ext cx="1843133"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(b) Hardware organization</a:t>
            </a:r>
            <a:endParaRPr lang="en-US" altLang="zh-CN" sz="2400">
              <a:latin typeface="Museo 300" pitchFamily="50" charset="0"/>
              <a:ea typeface="SimSun" pitchFamily="2" charset="-122"/>
            </a:endParaRPr>
          </a:p>
        </p:txBody>
      </p:sp>
      <p:sp>
        <p:nvSpPr>
          <p:cNvPr id="61" name="Rectangle 59"/>
          <p:cNvSpPr>
            <a:spLocks noChangeArrowheads="1"/>
          </p:cNvSpPr>
          <p:nvPr/>
        </p:nvSpPr>
        <p:spPr bwMode="auto">
          <a:xfrm>
            <a:off x="5546725" y="1974850"/>
            <a:ext cx="96180"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T</a:t>
            </a:r>
            <a:endParaRPr lang="en-US" altLang="zh-CN" sz="2400">
              <a:latin typeface="Museo 300" pitchFamily="50" charset="0"/>
              <a:ea typeface="SimSun" pitchFamily="2" charset="-122"/>
            </a:endParaRPr>
          </a:p>
        </p:txBody>
      </p:sp>
      <p:sp>
        <p:nvSpPr>
          <p:cNvPr id="62" name="Rectangle 60"/>
          <p:cNvSpPr>
            <a:spLocks noChangeArrowheads="1"/>
          </p:cNvSpPr>
          <p:nvPr/>
        </p:nvSpPr>
        <p:spPr bwMode="auto">
          <a:xfrm>
            <a:off x="5651500" y="1974850"/>
            <a:ext cx="266098"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ime</a:t>
            </a:r>
            <a:endParaRPr lang="en-US" altLang="zh-CN" sz="2400">
              <a:latin typeface="Museo 300" pitchFamily="50" charset="0"/>
              <a:ea typeface="SimSun" pitchFamily="2" charset="-122"/>
            </a:endParaRPr>
          </a:p>
        </p:txBody>
      </p:sp>
      <p:sp>
        <p:nvSpPr>
          <p:cNvPr id="63" name="Freeform 61"/>
          <p:cNvSpPr>
            <a:spLocks/>
          </p:cNvSpPr>
          <p:nvPr/>
        </p:nvSpPr>
        <p:spPr bwMode="auto">
          <a:xfrm>
            <a:off x="5353050" y="2079625"/>
            <a:ext cx="106363" cy="52387"/>
          </a:xfrm>
          <a:custGeom>
            <a:avLst/>
            <a:gdLst/>
            <a:ahLst/>
            <a:cxnLst>
              <a:cxn ang="0">
                <a:pos x="0" y="3"/>
              </a:cxn>
              <a:cxn ang="0">
                <a:pos x="6" y="2"/>
              </a:cxn>
              <a:cxn ang="0">
                <a:pos x="0" y="0"/>
              </a:cxn>
              <a:cxn ang="0">
                <a:pos x="0" y="2"/>
              </a:cxn>
              <a:cxn ang="0">
                <a:pos x="0" y="3"/>
              </a:cxn>
            </a:cxnLst>
            <a:rect l="0" t="0" r="r" b="b"/>
            <a:pathLst>
              <a:path w="6" h="3">
                <a:moveTo>
                  <a:pt x="0" y="3"/>
                </a:moveTo>
                <a:lnTo>
                  <a:pt x="6" y="2"/>
                </a:lnTo>
                <a:lnTo>
                  <a:pt x="0" y="0"/>
                </a:lnTo>
                <a:lnTo>
                  <a:pt x="0" y="2"/>
                </a:lnTo>
                <a:lnTo>
                  <a:pt x="0" y="3"/>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64" name="Freeform 62"/>
          <p:cNvSpPr>
            <a:spLocks/>
          </p:cNvSpPr>
          <p:nvPr/>
        </p:nvSpPr>
        <p:spPr bwMode="auto">
          <a:xfrm>
            <a:off x="5353050" y="2079625"/>
            <a:ext cx="106363" cy="52387"/>
          </a:xfrm>
          <a:custGeom>
            <a:avLst/>
            <a:gdLst/>
            <a:ahLst/>
            <a:cxnLst>
              <a:cxn ang="0">
                <a:pos x="0" y="33"/>
              </a:cxn>
              <a:cxn ang="0">
                <a:pos x="67" y="22"/>
              </a:cxn>
              <a:cxn ang="0">
                <a:pos x="0" y="0"/>
              </a:cxn>
              <a:cxn ang="0">
                <a:pos x="0" y="22"/>
              </a:cxn>
              <a:cxn ang="0">
                <a:pos x="0" y="33"/>
              </a:cxn>
            </a:cxnLst>
            <a:rect l="0" t="0" r="r" b="b"/>
            <a:pathLst>
              <a:path w="67" h="33">
                <a:moveTo>
                  <a:pt x="0" y="33"/>
                </a:moveTo>
                <a:lnTo>
                  <a:pt x="67" y="22"/>
                </a:lnTo>
                <a:lnTo>
                  <a:pt x="0" y="0"/>
                </a:lnTo>
                <a:lnTo>
                  <a:pt x="0" y="22"/>
                </a:lnTo>
                <a:lnTo>
                  <a:pt x="0" y="33"/>
                </a:lnTo>
                <a:close/>
              </a:path>
            </a:pathLst>
          </a:custGeom>
          <a:solidFill>
            <a:srgbClr val="000000"/>
          </a:solidFill>
          <a:ln w="0">
            <a:solidFill>
              <a:srgbClr val="000000"/>
            </a:solidFill>
            <a:prstDash val="solid"/>
            <a:round/>
            <a:headEnd/>
            <a:tailEnd/>
          </a:ln>
        </p:spPr>
        <p:txBody>
          <a:bodyPr/>
          <a:lstStyle/>
          <a:p>
            <a:endParaRPr lang="en-US">
              <a:latin typeface="Museo 300" pitchFamily="50" charset="0"/>
            </a:endParaRPr>
          </a:p>
        </p:txBody>
      </p:sp>
      <p:sp>
        <p:nvSpPr>
          <p:cNvPr id="65" name="Line 63"/>
          <p:cNvSpPr>
            <a:spLocks noChangeShapeType="1"/>
          </p:cNvSpPr>
          <p:nvPr/>
        </p:nvSpPr>
        <p:spPr bwMode="auto">
          <a:xfrm flipH="1">
            <a:off x="5054600" y="2114550"/>
            <a:ext cx="280988" cy="1587"/>
          </a:xfrm>
          <a:prstGeom prst="line">
            <a:avLst/>
          </a:prstGeom>
          <a:noFill/>
          <a:ln w="17463">
            <a:solidFill>
              <a:srgbClr val="000000"/>
            </a:solidFill>
            <a:round/>
            <a:headEnd/>
            <a:tailEnd/>
          </a:ln>
        </p:spPr>
        <p:txBody>
          <a:bodyPr/>
          <a:lstStyle/>
          <a:p>
            <a:endParaRPr lang="en-US">
              <a:latin typeface="Museo 300" pitchFamily="50" charset="0"/>
            </a:endParaRPr>
          </a:p>
        </p:txBody>
      </p:sp>
      <p:sp>
        <p:nvSpPr>
          <p:cNvPr id="66" name="Rectangle 64"/>
          <p:cNvSpPr>
            <a:spLocks noChangeArrowheads="1"/>
          </p:cNvSpPr>
          <p:nvPr/>
        </p:nvSpPr>
        <p:spPr bwMode="auto">
          <a:xfrm>
            <a:off x="7019925" y="3063875"/>
            <a:ext cx="1193800" cy="403225"/>
          </a:xfrm>
          <a:prstGeom prst="rect">
            <a:avLst/>
          </a:prstGeom>
          <a:noFill/>
          <a:ln w="17463">
            <a:solidFill>
              <a:srgbClr val="00FFFF"/>
            </a:solidFill>
            <a:miter lim="800000"/>
            <a:headEnd/>
            <a:tailEnd/>
          </a:ln>
        </p:spPr>
        <p:txBody>
          <a:bodyPr/>
          <a:lstStyle/>
          <a:p>
            <a:endParaRPr lang="en-US">
              <a:latin typeface="Museo 300" pitchFamily="50" charset="0"/>
            </a:endParaRPr>
          </a:p>
        </p:txBody>
      </p:sp>
      <p:sp>
        <p:nvSpPr>
          <p:cNvPr id="67" name="Line 65"/>
          <p:cNvSpPr>
            <a:spLocks noChangeShapeType="1"/>
          </p:cNvSpPr>
          <p:nvPr/>
        </p:nvSpPr>
        <p:spPr bwMode="auto">
          <a:xfrm flipV="1">
            <a:off x="7616825" y="3063875"/>
            <a:ext cx="1588" cy="403225"/>
          </a:xfrm>
          <a:prstGeom prst="line">
            <a:avLst/>
          </a:prstGeom>
          <a:noFill/>
          <a:ln w="17463">
            <a:solidFill>
              <a:srgbClr val="00FFFF"/>
            </a:solidFill>
            <a:round/>
            <a:headEnd/>
            <a:tailEnd/>
          </a:ln>
        </p:spPr>
        <p:txBody>
          <a:bodyPr/>
          <a:lstStyle/>
          <a:p>
            <a:endParaRPr lang="en-US">
              <a:latin typeface="Museo 300" pitchFamily="50" charset="0"/>
            </a:endParaRPr>
          </a:p>
        </p:txBody>
      </p:sp>
      <p:sp>
        <p:nvSpPr>
          <p:cNvPr id="68" name="Rectangle 66"/>
          <p:cNvSpPr>
            <a:spLocks noChangeArrowheads="1"/>
          </p:cNvSpPr>
          <p:nvPr/>
        </p:nvSpPr>
        <p:spPr bwMode="auto">
          <a:xfrm>
            <a:off x="7616825" y="3660775"/>
            <a:ext cx="1192213" cy="403225"/>
          </a:xfrm>
          <a:prstGeom prst="rect">
            <a:avLst/>
          </a:prstGeom>
          <a:noFill/>
          <a:ln w="17463">
            <a:solidFill>
              <a:srgbClr val="00FFFF"/>
            </a:solidFill>
            <a:miter lim="800000"/>
            <a:headEnd/>
            <a:tailEnd/>
          </a:ln>
        </p:spPr>
        <p:txBody>
          <a:bodyPr/>
          <a:lstStyle/>
          <a:p>
            <a:endParaRPr lang="en-US">
              <a:latin typeface="Museo 300" pitchFamily="50" charset="0"/>
            </a:endParaRPr>
          </a:p>
        </p:txBody>
      </p:sp>
      <p:sp>
        <p:nvSpPr>
          <p:cNvPr id="69" name="Line 67"/>
          <p:cNvSpPr>
            <a:spLocks noChangeShapeType="1"/>
          </p:cNvSpPr>
          <p:nvPr/>
        </p:nvSpPr>
        <p:spPr bwMode="auto">
          <a:xfrm flipV="1">
            <a:off x="8213725" y="3660775"/>
            <a:ext cx="1588" cy="403225"/>
          </a:xfrm>
          <a:prstGeom prst="line">
            <a:avLst/>
          </a:prstGeom>
          <a:noFill/>
          <a:ln w="17463">
            <a:solidFill>
              <a:srgbClr val="00FFFF"/>
            </a:solidFill>
            <a:round/>
            <a:headEnd/>
            <a:tailEnd/>
          </a:ln>
        </p:spPr>
        <p:txBody>
          <a:bodyPr/>
          <a:lstStyle/>
          <a:p>
            <a:endParaRPr lang="en-US">
              <a:latin typeface="Museo 300" pitchFamily="50" charset="0"/>
            </a:endParaRPr>
          </a:p>
        </p:txBody>
      </p:sp>
      <p:sp>
        <p:nvSpPr>
          <p:cNvPr id="70" name="Rectangle 68"/>
          <p:cNvSpPr>
            <a:spLocks noChangeArrowheads="1"/>
          </p:cNvSpPr>
          <p:nvPr/>
        </p:nvSpPr>
        <p:spPr bwMode="auto">
          <a:xfrm>
            <a:off x="8213725" y="4257675"/>
            <a:ext cx="1192213" cy="403225"/>
          </a:xfrm>
          <a:prstGeom prst="rect">
            <a:avLst/>
          </a:prstGeom>
          <a:noFill/>
          <a:ln w="17463">
            <a:solidFill>
              <a:srgbClr val="00FFFF"/>
            </a:solidFill>
            <a:miter lim="800000"/>
            <a:headEnd/>
            <a:tailEnd/>
          </a:ln>
        </p:spPr>
        <p:txBody>
          <a:bodyPr/>
          <a:lstStyle/>
          <a:p>
            <a:endParaRPr lang="en-US">
              <a:latin typeface="Museo 300" pitchFamily="50" charset="0"/>
            </a:endParaRPr>
          </a:p>
        </p:txBody>
      </p:sp>
      <p:sp>
        <p:nvSpPr>
          <p:cNvPr id="71" name="Line 69"/>
          <p:cNvSpPr>
            <a:spLocks noChangeShapeType="1"/>
          </p:cNvSpPr>
          <p:nvPr/>
        </p:nvSpPr>
        <p:spPr bwMode="auto">
          <a:xfrm flipV="1">
            <a:off x="8809038" y="4257675"/>
            <a:ext cx="1587" cy="403225"/>
          </a:xfrm>
          <a:prstGeom prst="line">
            <a:avLst/>
          </a:prstGeom>
          <a:noFill/>
          <a:ln w="17463">
            <a:solidFill>
              <a:srgbClr val="00FFFF"/>
            </a:solidFill>
            <a:round/>
            <a:headEnd/>
            <a:tailEnd/>
          </a:ln>
        </p:spPr>
        <p:txBody>
          <a:bodyPr/>
          <a:lstStyle/>
          <a:p>
            <a:endParaRPr lang="en-US">
              <a:latin typeface="Museo 300" pitchFamily="50" charset="0"/>
            </a:endParaRPr>
          </a:p>
        </p:txBody>
      </p:sp>
      <p:sp>
        <p:nvSpPr>
          <p:cNvPr id="72" name="Rectangle 70"/>
          <p:cNvSpPr>
            <a:spLocks noChangeArrowheads="1"/>
          </p:cNvSpPr>
          <p:nvPr/>
        </p:nvSpPr>
        <p:spPr bwMode="auto">
          <a:xfrm>
            <a:off x="7231063" y="3170237"/>
            <a:ext cx="7694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F</a:t>
            </a:r>
            <a:endParaRPr lang="en-US" altLang="zh-CN" sz="2400">
              <a:latin typeface="Museo 300" pitchFamily="50" charset="0"/>
              <a:ea typeface="SimSun" pitchFamily="2" charset="-122"/>
            </a:endParaRPr>
          </a:p>
        </p:txBody>
      </p:sp>
      <p:sp>
        <p:nvSpPr>
          <p:cNvPr id="73" name="Rectangle 71"/>
          <p:cNvSpPr>
            <a:spLocks noChangeArrowheads="1"/>
          </p:cNvSpPr>
          <p:nvPr/>
        </p:nvSpPr>
        <p:spPr bwMode="auto">
          <a:xfrm>
            <a:off x="7318375" y="3257550"/>
            <a:ext cx="60914"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1</a:t>
            </a:r>
            <a:endParaRPr lang="en-US" altLang="zh-CN" sz="2400">
              <a:latin typeface="Museo 300" pitchFamily="50" charset="0"/>
              <a:ea typeface="SimSun" pitchFamily="2" charset="-122"/>
            </a:endParaRPr>
          </a:p>
        </p:txBody>
      </p:sp>
      <p:sp>
        <p:nvSpPr>
          <p:cNvPr id="74" name="Rectangle 72"/>
          <p:cNvSpPr>
            <a:spLocks noChangeArrowheads="1"/>
          </p:cNvSpPr>
          <p:nvPr/>
        </p:nvSpPr>
        <p:spPr bwMode="auto">
          <a:xfrm>
            <a:off x="7826375" y="3170237"/>
            <a:ext cx="8656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E</a:t>
            </a:r>
            <a:endParaRPr lang="en-US" altLang="zh-CN" sz="2400">
              <a:latin typeface="Museo 300" pitchFamily="50" charset="0"/>
              <a:ea typeface="SimSun" pitchFamily="2" charset="-122"/>
            </a:endParaRPr>
          </a:p>
        </p:txBody>
      </p:sp>
      <p:sp>
        <p:nvSpPr>
          <p:cNvPr id="75" name="Rectangle 73"/>
          <p:cNvSpPr>
            <a:spLocks noChangeArrowheads="1"/>
          </p:cNvSpPr>
          <p:nvPr/>
        </p:nvSpPr>
        <p:spPr bwMode="auto">
          <a:xfrm>
            <a:off x="7932738" y="3257550"/>
            <a:ext cx="60914"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1</a:t>
            </a:r>
            <a:endParaRPr lang="en-US" altLang="zh-CN" sz="2400">
              <a:latin typeface="Museo 300" pitchFamily="50" charset="0"/>
              <a:ea typeface="SimSun" pitchFamily="2" charset="-122"/>
            </a:endParaRPr>
          </a:p>
        </p:txBody>
      </p:sp>
      <p:sp>
        <p:nvSpPr>
          <p:cNvPr id="76" name="Rectangle 74"/>
          <p:cNvSpPr>
            <a:spLocks noChangeArrowheads="1"/>
          </p:cNvSpPr>
          <p:nvPr/>
        </p:nvSpPr>
        <p:spPr bwMode="auto">
          <a:xfrm>
            <a:off x="7826375" y="3767137"/>
            <a:ext cx="7694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F</a:t>
            </a:r>
            <a:endParaRPr lang="en-US" altLang="zh-CN" sz="2400">
              <a:latin typeface="Museo 300" pitchFamily="50" charset="0"/>
              <a:ea typeface="SimSun" pitchFamily="2" charset="-122"/>
            </a:endParaRPr>
          </a:p>
        </p:txBody>
      </p:sp>
      <p:sp>
        <p:nvSpPr>
          <p:cNvPr id="77" name="Rectangle 75"/>
          <p:cNvSpPr>
            <a:spLocks noChangeArrowheads="1"/>
          </p:cNvSpPr>
          <p:nvPr/>
        </p:nvSpPr>
        <p:spPr bwMode="auto">
          <a:xfrm>
            <a:off x="7915275" y="3854450"/>
            <a:ext cx="72136"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2</a:t>
            </a:r>
            <a:endParaRPr lang="en-US" altLang="zh-CN" sz="2400">
              <a:latin typeface="Museo 300" pitchFamily="50" charset="0"/>
              <a:ea typeface="SimSun" pitchFamily="2" charset="-122"/>
            </a:endParaRPr>
          </a:p>
        </p:txBody>
      </p:sp>
      <p:sp>
        <p:nvSpPr>
          <p:cNvPr id="78" name="Rectangle 76"/>
          <p:cNvSpPr>
            <a:spLocks noChangeArrowheads="1"/>
          </p:cNvSpPr>
          <p:nvPr/>
        </p:nvSpPr>
        <p:spPr bwMode="auto">
          <a:xfrm>
            <a:off x="8423275" y="3767137"/>
            <a:ext cx="8656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E</a:t>
            </a:r>
            <a:endParaRPr lang="en-US" altLang="zh-CN" sz="2400">
              <a:latin typeface="Museo 300" pitchFamily="50" charset="0"/>
              <a:ea typeface="SimSun" pitchFamily="2" charset="-122"/>
            </a:endParaRPr>
          </a:p>
        </p:txBody>
      </p:sp>
      <p:sp>
        <p:nvSpPr>
          <p:cNvPr id="79" name="Rectangle 77"/>
          <p:cNvSpPr>
            <a:spLocks noChangeArrowheads="1"/>
          </p:cNvSpPr>
          <p:nvPr/>
        </p:nvSpPr>
        <p:spPr bwMode="auto">
          <a:xfrm>
            <a:off x="8529638" y="3854450"/>
            <a:ext cx="72136"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2</a:t>
            </a:r>
            <a:endParaRPr lang="en-US" altLang="zh-CN" sz="2400">
              <a:latin typeface="Museo 300" pitchFamily="50" charset="0"/>
              <a:ea typeface="SimSun" pitchFamily="2" charset="-122"/>
            </a:endParaRPr>
          </a:p>
        </p:txBody>
      </p:sp>
      <p:sp>
        <p:nvSpPr>
          <p:cNvPr id="80" name="Rectangle 78"/>
          <p:cNvSpPr>
            <a:spLocks noChangeArrowheads="1"/>
          </p:cNvSpPr>
          <p:nvPr/>
        </p:nvSpPr>
        <p:spPr bwMode="auto">
          <a:xfrm>
            <a:off x="8423275" y="4362450"/>
            <a:ext cx="7694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F</a:t>
            </a:r>
            <a:endParaRPr lang="en-US" altLang="zh-CN" sz="2400">
              <a:latin typeface="Museo 300" pitchFamily="50" charset="0"/>
              <a:ea typeface="SimSun" pitchFamily="2" charset="-122"/>
            </a:endParaRPr>
          </a:p>
        </p:txBody>
      </p:sp>
      <p:sp>
        <p:nvSpPr>
          <p:cNvPr id="81" name="Rectangle 79"/>
          <p:cNvSpPr>
            <a:spLocks noChangeArrowheads="1"/>
          </p:cNvSpPr>
          <p:nvPr/>
        </p:nvSpPr>
        <p:spPr bwMode="auto">
          <a:xfrm>
            <a:off x="8512175" y="4449762"/>
            <a:ext cx="69850" cy="152400"/>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3</a:t>
            </a:r>
            <a:endParaRPr lang="en-US" altLang="zh-CN" sz="2400">
              <a:latin typeface="Museo 300" pitchFamily="50" charset="0"/>
              <a:ea typeface="SimSun" pitchFamily="2" charset="-122"/>
            </a:endParaRPr>
          </a:p>
        </p:txBody>
      </p:sp>
      <p:sp>
        <p:nvSpPr>
          <p:cNvPr id="82" name="Rectangle 80"/>
          <p:cNvSpPr>
            <a:spLocks noChangeArrowheads="1"/>
          </p:cNvSpPr>
          <p:nvPr/>
        </p:nvSpPr>
        <p:spPr bwMode="auto">
          <a:xfrm>
            <a:off x="9020175" y="4362450"/>
            <a:ext cx="8656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E</a:t>
            </a:r>
            <a:endParaRPr lang="en-US" altLang="zh-CN" sz="2400">
              <a:latin typeface="Museo 300" pitchFamily="50" charset="0"/>
              <a:ea typeface="SimSun" pitchFamily="2" charset="-122"/>
            </a:endParaRPr>
          </a:p>
        </p:txBody>
      </p:sp>
      <p:sp>
        <p:nvSpPr>
          <p:cNvPr id="83" name="Rectangle 81"/>
          <p:cNvSpPr>
            <a:spLocks noChangeArrowheads="1"/>
          </p:cNvSpPr>
          <p:nvPr/>
        </p:nvSpPr>
        <p:spPr bwMode="auto">
          <a:xfrm>
            <a:off x="9124950" y="4449762"/>
            <a:ext cx="69850" cy="152400"/>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3</a:t>
            </a:r>
            <a:endParaRPr lang="en-US" altLang="zh-CN" sz="2400">
              <a:latin typeface="Museo 300" pitchFamily="50" charset="0"/>
              <a:ea typeface="SimSun" pitchFamily="2" charset="-122"/>
            </a:endParaRPr>
          </a:p>
        </p:txBody>
      </p:sp>
      <p:sp>
        <p:nvSpPr>
          <p:cNvPr id="84" name="Rectangle 82"/>
          <p:cNvSpPr>
            <a:spLocks noChangeArrowheads="1"/>
          </p:cNvSpPr>
          <p:nvPr/>
        </p:nvSpPr>
        <p:spPr bwMode="auto">
          <a:xfrm>
            <a:off x="6423025" y="3170237"/>
            <a:ext cx="4488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I</a:t>
            </a:r>
            <a:endParaRPr lang="en-US" altLang="zh-CN" sz="2400">
              <a:latin typeface="Museo 300" pitchFamily="50" charset="0"/>
              <a:ea typeface="SimSun" pitchFamily="2" charset="-122"/>
            </a:endParaRPr>
          </a:p>
        </p:txBody>
      </p:sp>
      <p:sp>
        <p:nvSpPr>
          <p:cNvPr id="85" name="Rectangle 83"/>
          <p:cNvSpPr>
            <a:spLocks noChangeArrowheads="1"/>
          </p:cNvSpPr>
          <p:nvPr/>
        </p:nvSpPr>
        <p:spPr bwMode="auto">
          <a:xfrm>
            <a:off x="6475413" y="3257550"/>
            <a:ext cx="60914"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1</a:t>
            </a:r>
            <a:endParaRPr lang="en-US" altLang="zh-CN" sz="2400">
              <a:latin typeface="Museo 300" pitchFamily="50" charset="0"/>
              <a:ea typeface="SimSun" pitchFamily="2" charset="-122"/>
            </a:endParaRPr>
          </a:p>
        </p:txBody>
      </p:sp>
      <p:sp>
        <p:nvSpPr>
          <p:cNvPr id="86" name="Rectangle 84"/>
          <p:cNvSpPr>
            <a:spLocks noChangeArrowheads="1"/>
          </p:cNvSpPr>
          <p:nvPr/>
        </p:nvSpPr>
        <p:spPr bwMode="auto">
          <a:xfrm>
            <a:off x="6423025" y="3767137"/>
            <a:ext cx="4488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I</a:t>
            </a:r>
            <a:endParaRPr lang="en-US" altLang="zh-CN" sz="2400">
              <a:latin typeface="Museo 300" pitchFamily="50" charset="0"/>
              <a:ea typeface="SimSun" pitchFamily="2" charset="-122"/>
            </a:endParaRPr>
          </a:p>
        </p:txBody>
      </p:sp>
      <p:sp>
        <p:nvSpPr>
          <p:cNvPr id="87" name="Rectangle 85"/>
          <p:cNvSpPr>
            <a:spLocks noChangeArrowheads="1"/>
          </p:cNvSpPr>
          <p:nvPr/>
        </p:nvSpPr>
        <p:spPr bwMode="auto">
          <a:xfrm>
            <a:off x="6475413" y="3854450"/>
            <a:ext cx="72136" cy="153888"/>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2</a:t>
            </a:r>
            <a:endParaRPr lang="en-US" altLang="zh-CN" sz="2400">
              <a:latin typeface="Museo 300" pitchFamily="50" charset="0"/>
              <a:ea typeface="SimSun" pitchFamily="2" charset="-122"/>
            </a:endParaRPr>
          </a:p>
        </p:txBody>
      </p:sp>
      <p:sp>
        <p:nvSpPr>
          <p:cNvPr id="88" name="Rectangle 86"/>
          <p:cNvSpPr>
            <a:spLocks noChangeArrowheads="1"/>
          </p:cNvSpPr>
          <p:nvPr/>
        </p:nvSpPr>
        <p:spPr bwMode="auto">
          <a:xfrm>
            <a:off x="6423025" y="4362450"/>
            <a:ext cx="4488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I</a:t>
            </a:r>
            <a:endParaRPr lang="en-US" altLang="zh-CN" sz="2400">
              <a:latin typeface="Museo 300" pitchFamily="50" charset="0"/>
              <a:ea typeface="SimSun" pitchFamily="2" charset="-122"/>
            </a:endParaRPr>
          </a:p>
        </p:txBody>
      </p:sp>
      <p:sp>
        <p:nvSpPr>
          <p:cNvPr id="89" name="Rectangle 87"/>
          <p:cNvSpPr>
            <a:spLocks noChangeArrowheads="1"/>
          </p:cNvSpPr>
          <p:nvPr/>
        </p:nvSpPr>
        <p:spPr bwMode="auto">
          <a:xfrm>
            <a:off x="6475413" y="4449762"/>
            <a:ext cx="69850" cy="152400"/>
          </a:xfrm>
          <a:prstGeom prst="rect">
            <a:avLst/>
          </a:prstGeom>
          <a:noFill/>
          <a:ln w="9525">
            <a:noFill/>
            <a:miter lim="800000"/>
            <a:headEnd/>
            <a:tailEnd/>
          </a:ln>
        </p:spPr>
        <p:txBody>
          <a:bodyPr wrap="none" lIns="0" tIns="0" rIns="0" bIns="0">
            <a:spAutoFit/>
          </a:bodyPr>
          <a:lstStyle/>
          <a:p>
            <a:r>
              <a:rPr lang="en-US" altLang="zh-CN" sz="1000">
                <a:solidFill>
                  <a:srgbClr val="000000"/>
                </a:solidFill>
                <a:latin typeface="Museo 300" pitchFamily="50" charset="0"/>
                <a:ea typeface="SimSun" pitchFamily="2" charset="-122"/>
              </a:rPr>
              <a:t>3</a:t>
            </a:r>
            <a:endParaRPr lang="en-US" altLang="zh-CN" sz="2400">
              <a:latin typeface="Museo 300" pitchFamily="50" charset="0"/>
              <a:ea typeface="SimSun" pitchFamily="2" charset="-122"/>
            </a:endParaRPr>
          </a:p>
        </p:txBody>
      </p:sp>
      <p:sp>
        <p:nvSpPr>
          <p:cNvPr id="90" name="Rectangle 88"/>
          <p:cNvSpPr>
            <a:spLocks noChangeArrowheads="1"/>
          </p:cNvSpPr>
          <p:nvPr/>
        </p:nvSpPr>
        <p:spPr bwMode="auto">
          <a:xfrm>
            <a:off x="6107113" y="2854325"/>
            <a:ext cx="812210" cy="184666"/>
          </a:xfrm>
          <a:prstGeom prst="rect">
            <a:avLst/>
          </a:prstGeom>
          <a:noFill/>
          <a:ln w="9525">
            <a:noFill/>
            <a:miter lim="800000"/>
            <a:headEnd/>
            <a:tailEnd/>
          </a:ln>
        </p:spPr>
        <p:txBody>
          <a:bodyPr wrap="none" lIns="0" tIns="0" rIns="0" bIns="0">
            <a:spAutoFit/>
          </a:bodyPr>
          <a:lstStyle/>
          <a:p>
            <a:r>
              <a:rPr lang="en-US" altLang="zh-CN" sz="1200" b="1">
                <a:solidFill>
                  <a:srgbClr val="000000"/>
                </a:solidFill>
                <a:latin typeface="Museo 300" pitchFamily="50" charset="0"/>
                <a:ea typeface="SimSun" pitchFamily="2" charset="-122"/>
              </a:rPr>
              <a:t>Instruction</a:t>
            </a:r>
            <a:endParaRPr lang="en-US" altLang="zh-CN" sz="2400">
              <a:latin typeface="Museo 300" pitchFamily="50" charset="0"/>
              <a:ea typeface="SimSun" pitchFamily="2" charset="-122"/>
            </a:endParaRPr>
          </a:p>
        </p:txBody>
      </p:sp>
      <p:sp>
        <p:nvSpPr>
          <p:cNvPr id="91" name="Rectangle 89"/>
          <p:cNvSpPr>
            <a:spLocks noChangeArrowheads="1"/>
          </p:cNvSpPr>
          <p:nvPr/>
        </p:nvSpPr>
        <p:spPr bwMode="auto">
          <a:xfrm>
            <a:off x="6967538" y="4872037"/>
            <a:ext cx="1604606"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(c) Pipelined execution</a:t>
            </a:r>
            <a:endParaRPr lang="en-US" altLang="zh-CN" sz="2400">
              <a:latin typeface="Museo 300" pitchFamily="50" charset="0"/>
              <a:ea typeface="SimSun" pitchFamily="2" charset="-122"/>
            </a:endParaRPr>
          </a:p>
        </p:txBody>
      </p:sp>
      <p:sp>
        <p:nvSpPr>
          <p:cNvPr id="92" name="Rectangle 90"/>
          <p:cNvSpPr>
            <a:spLocks noChangeArrowheads="1"/>
          </p:cNvSpPr>
          <p:nvPr/>
        </p:nvSpPr>
        <p:spPr bwMode="auto">
          <a:xfrm>
            <a:off x="6037263" y="5583237"/>
            <a:ext cx="3724674" cy="215444"/>
          </a:xfrm>
          <a:prstGeom prst="rect">
            <a:avLst/>
          </a:prstGeom>
          <a:noFill/>
          <a:ln w="9525">
            <a:noFill/>
            <a:miter lim="800000"/>
            <a:headEnd/>
            <a:tailEnd/>
          </a:ln>
        </p:spPr>
        <p:txBody>
          <a:bodyPr wrap="none" lIns="0" tIns="0" rIns="0" bIns="0">
            <a:spAutoFit/>
          </a:bodyPr>
          <a:lstStyle/>
          <a:p>
            <a:r>
              <a:rPr lang="en-US" altLang="zh-CN" sz="1400">
                <a:solidFill>
                  <a:srgbClr val="000000"/>
                </a:solidFill>
                <a:latin typeface="Museo 300" pitchFamily="50" charset="0"/>
                <a:ea typeface="SimSun" pitchFamily="2" charset="-122"/>
              </a:rPr>
              <a:t>Figure 8.1. Basic idea of instruction pipelining.</a:t>
            </a:r>
            <a:endParaRPr lang="en-US" altLang="zh-CN" sz="2400">
              <a:latin typeface="Museo 300" pitchFamily="50" charset="0"/>
              <a:ea typeface="SimSun" pitchFamily="2" charset="-122"/>
            </a:endParaRPr>
          </a:p>
        </p:txBody>
      </p:sp>
      <p:sp>
        <p:nvSpPr>
          <p:cNvPr id="93" name="Rectangle 91"/>
          <p:cNvSpPr>
            <a:spLocks noChangeArrowheads="1"/>
          </p:cNvSpPr>
          <p:nvPr/>
        </p:nvSpPr>
        <p:spPr bwMode="auto">
          <a:xfrm>
            <a:off x="6107113" y="2468562"/>
            <a:ext cx="807913"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Clock cycle</a:t>
            </a:r>
            <a:endParaRPr lang="en-US" altLang="zh-CN" sz="2400">
              <a:latin typeface="Museo 300" pitchFamily="50" charset="0"/>
              <a:ea typeface="SimSun" pitchFamily="2" charset="-122"/>
            </a:endParaRPr>
          </a:p>
        </p:txBody>
      </p:sp>
      <p:sp>
        <p:nvSpPr>
          <p:cNvPr id="94" name="Rectangle 92"/>
          <p:cNvSpPr>
            <a:spLocks noChangeArrowheads="1"/>
          </p:cNvSpPr>
          <p:nvPr/>
        </p:nvSpPr>
        <p:spPr bwMode="auto">
          <a:xfrm>
            <a:off x="7265988" y="2468562"/>
            <a:ext cx="73738"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1</a:t>
            </a:r>
            <a:endParaRPr lang="en-US" altLang="zh-CN" sz="2400">
              <a:latin typeface="Museo 300" pitchFamily="50" charset="0"/>
              <a:ea typeface="SimSun" pitchFamily="2" charset="-122"/>
            </a:endParaRPr>
          </a:p>
        </p:txBody>
      </p:sp>
      <p:sp>
        <p:nvSpPr>
          <p:cNvPr id="95" name="Rectangle 93"/>
          <p:cNvSpPr>
            <a:spLocks noChangeArrowheads="1"/>
          </p:cNvSpPr>
          <p:nvPr/>
        </p:nvSpPr>
        <p:spPr bwMode="auto">
          <a:xfrm>
            <a:off x="7862888" y="2468562"/>
            <a:ext cx="8656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2</a:t>
            </a:r>
            <a:endParaRPr lang="en-US" altLang="zh-CN" sz="2400">
              <a:latin typeface="Museo 300" pitchFamily="50" charset="0"/>
              <a:ea typeface="SimSun" pitchFamily="2" charset="-122"/>
            </a:endParaRPr>
          </a:p>
        </p:txBody>
      </p:sp>
      <p:sp>
        <p:nvSpPr>
          <p:cNvPr id="96" name="Rectangle 94"/>
          <p:cNvSpPr>
            <a:spLocks noChangeArrowheads="1"/>
          </p:cNvSpPr>
          <p:nvPr/>
        </p:nvSpPr>
        <p:spPr bwMode="auto">
          <a:xfrm>
            <a:off x="8458200" y="2468562"/>
            <a:ext cx="81754"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3</a:t>
            </a:r>
            <a:endParaRPr lang="en-US" altLang="zh-CN" sz="2400">
              <a:latin typeface="Museo 300" pitchFamily="50" charset="0"/>
              <a:ea typeface="SimSun" pitchFamily="2" charset="-122"/>
            </a:endParaRPr>
          </a:p>
        </p:txBody>
      </p:sp>
      <p:sp>
        <p:nvSpPr>
          <p:cNvPr id="97" name="Rectangle 95"/>
          <p:cNvSpPr>
            <a:spLocks noChangeArrowheads="1"/>
          </p:cNvSpPr>
          <p:nvPr/>
        </p:nvSpPr>
        <p:spPr bwMode="auto">
          <a:xfrm>
            <a:off x="9055100" y="2468562"/>
            <a:ext cx="86562"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4</a:t>
            </a:r>
            <a:endParaRPr lang="en-US" altLang="zh-CN" sz="2400">
              <a:latin typeface="Museo 300" pitchFamily="50" charset="0"/>
              <a:ea typeface="SimSun" pitchFamily="2" charset="-122"/>
            </a:endParaRPr>
          </a:p>
        </p:txBody>
      </p:sp>
      <p:sp>
        <p:nvSpPr>
          <p:cNvPr id="98" name="Rectangle 96"/>
          <p:cNvSpPr>
            <a:spLocks noChangeArrowheads="1"/>
          </p:cNvSpPr>
          <p:nvPr/>
        </p:nvSpPr>
        <p:spPr bwMode="auto">
          <a:xfrm>
            <a:off x="9371013" y="2292350"/>
            <a:ext cx="96180"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T</a:t>
            </a:r>
            <a:endParaRPr lang="en-US" altLang="zh-CN" sz="2400">
              <a:latin typeface="Museo 300" pitchFamily="50" charset="0"/>
              <a:ea typeface="SimSun" pitchFamily="2" charset="-122"/>
            </a:endParaRPr>
          </a:p>
        </p:txBody>
      </p:sp>
      <p:sp>
        <p:nvSpPr>
          <p:cNvPr id="99" name="Rectangle 97"/>
          <p:cNvSpPr>
            <a:spLocks noChangeArrowheads="1"/>
          </p:cNvSpPr>
          <p:nvPr/>
        </p:nvSpPr>
        <p:spPr bwMode="auto">
          <a:xfrm>
            <a:off x="9458325" y="2292350"/>
            <a:ext cx="266098" cy="184666"/>
          </a:xfrm>
          <a:prstGeom prst="rect">
            <a:avLst/>
          </a:prstGeom>
          <a:noFill/>
          <a:ln w="9525">
            <a:noFill/>
            <a:miter lim="800000"/>
            <a:headEnd/>
            <a:tailEnd/>
          </a:ln>
        </p:spPr>
        <p:txBody>
          <a:bodyPr wrap="none" lIns="0" tIns="0" rIns="0" bIns="0">
            <a:spAutoFit/>
          </a:bodyPr>
          <a:lstStyle/>
          <a:p>
            <a:r>
              <a:rPr lang="en-US" altLang="zh-CN" sz="1200">
                <a:solidFill>
                  <a:srgbClr val="000000"/>
                </a:solidFill>
                <a:latin typeface="Museo 300" pitchFamily="50" charset="0"/>
                <a:ea typeface="SimSun" pitchFamily="2" charset="-122"/>
              </a:rPr>
              <a:t>ime</a:t>
            </a:r>
            <a:endParaRPr lang="en-US" altLang="zh-CN" sz="2400">
              <a:latin typeface="Museo 300" pitchFamily="50" charset="0"/>
              <a:ea typeface="SimSun" pitchFamily="2" charset="-122"/>
            </a:endParaRPr>
          </a:p>
        </p:txBody>
      </p:sp>
      <p:sp>
        <p:nvSpPr>
          <p:cNvPr id="100" name="Freeform 98"/>
          <p:cNvSpPr>
            <a:spLocks/>
          </p:cNvSpPr>
          <p:nvPr/>
        </p:nvSpPr>
        <p:spPr bwMode="auto">
          <a:xfrm>
            <a:off x="9161463" y="2397125"/>
            <a:ext cx="104775" cy="52387"/>
          </a:xfrm>
          <a:custGeom>
            <a:avLst/>
            <a:gdLst/>
            <a:ahLst/>
            <a:cxnLst>
              <a:cxn ang="0">
                <a:pos x="0" y="3"/>
              </a:cxn>
              <a:cxn ang="0">
                <a:pos x="6" y="1"/>
              </a:cxn>
              <a:cxn ang="0">
                <a:pos x="0" y="0"/>
              </a:cxn>
              <a:cxn ang="0">
                <a:pos x="0" y="1"/>
              </a:cxn>
              <a:cxn ang="0">
                <a:pos x="0" y="3"/>
              </a:cxn>
            </a:cxnLst>
            <a:rect l="0" t="0" r="r" b="b"/>
            <a:pathLst>
              <a:path w="6" h="3">
                <a:moveTo>
                  <a:pt x="0" y="3"/>
                </a:moveTo>
                <a:lnTo>
                  <a:pt x="6" y="1"/>
                </a:lnTo>
                <a:lnTo>
                  <a:pt x="0" y="0"/>
                </a:lnTo>
                <a:lnTo>
                  <a:pt x="0" y="1"/>
                </a:lnTo>
                <a:lnTo>
                  <a:pt x="0" y="3"/>
                </a:lnTo>
              </a:path>
            </a:pathLst>
          </a:custGeom>
          <a:noFill/>
          <a:ln w="17463">
            <a:solidFill>
              <a:srgbClr val="000000"/>
            </a:solidFill>
            <a:prstDash val="solid"/>
            <a:round/>
            <a:headEnd/>
            <a:tailEnd/>
          </a:ln>
        </p:spPr>
        <p:txBody>
          <a:bodyPr/>
          <a:lstStyle/>
          <a:p>
            <a:endParaRPr lang="en-US">
              <a:latin typeface="Museo 300" pitchFamily="50" charset="0"/>
            </a:endParaRPr>
          </a:p>
        </p:txBody>
      </p:sp>
      <p:sp>
        <p:nvSpPr>
          <p:cNvPr id="101" name="Freeform 99"/>
          <p:cNvSpPr>
            <a:spLocks/>
          </p:cNvSpPr>
          <p:nvPr/>
        </p:nvSpPr>
        <p:spPr bwMode="auto">
          <a:xfrm>
            <a:off x="9161463" y="2397125"/>
            <a:ext cx="104775" cy="52387"/>
          </a:xfrm>
          <a:custGeom>
            <a:avLst/>
            <a:gdLst/>
            <a:ahLst/>
            <a:cxnLst>
              <a:cxn ang="0">
                <a:pos x="0" y="33"/>
              </a:cxn>
              <a:cxn ang="0">
                <a:pos x="66" y="11"/>
              </a:cxn>
              <a:cxn ang="0">
                <a:pos x="0" y="0"/>
              </a:cxn>
              <a:cxn ang="0">
                <a:pos x="0" y="11"/>
              </a:cxn>
              <a:cxn ang="0">
                <a:pos x="0" y="33"/>
              </a:cxn>
            </a:cxnLst>
            <a:rect l="0" t="0" r="r" b="b"/>
            <a:pathLst>
              <a:path w="66" h="33">
                <a:moveTo>
                  <a:pt x="0" y="33"/>
                </a:moveTo>
                <a:lnTo>
                  <a:pt x="66" y="11"/>
                </a:lnTo>
                <a:lnTo>
                  <a:pt x="0" y="0"/>
                </a:lnTo>
                <a:lnTo>
                  <a:pt x="0" y="11"/>
                </a:lnTo>
                <a:lnTo>
                  <a:pt x="0" y="33"/>
                </a:lnTo>
                <a:close/>
              </a:path>
            </a:pathLst>
          </a:custGeom>
          <a:solidFill>
            <a:srgbClr val="000000"/>
          </a:solidFill>
          <a:ln w="0">
            <a:solidFill>
              <a:srgbClr val="000000"/>
            </a:solidFill>
            <a:prstDash val="solid"/>
            <a:round/>
            <a:headEnd/>
            <a:tailEnd/>
          </a:ln>
        </p:spPr>
        <p:txBody>
          <a:bodyPr/>
          <a:lstStyle/>
          <a:p>
            <a:endParaRPr lang="en-US">
              <a:latin typeface="Museo 300" pitchFamily="50" charset="0"/>
            </a:endParaRPr>
          </a:p>
        </p:txBody>
      </p:sp>
      <p:sp>
        <p:nvSpPr>
          <p:cNvPr id="102" name="Line 100"/>
          <p:cNvSpPr>
            <a:spLocks noChangeShapeType="1"/>
          </p:cNvSpPr>
          <p:nvPr/>
        </p:nvSpPr>
        <p:spPr bwMode="auto">
          <a:xfrm flipH="1">
            <a:off x="8880475" y="2414587"/>
            <a:ext cx="280988" cy="1588"/>
          </a:xfrm>
          <a:prstGeom prst="line">
            <a:avLst/>
          </a:prstGeom>
          <a:noFill/>
          <a:ln w="17463">
            <a:solidFill>
              <a:srgbClr val="000000"/>
            </a:solidFill>
            <a:round/>
            <a:headEnd/>
            <a:tailEnd/>
          </a:ln>
        </p:spPr>
        <p:txBody>
          <a:bodyPr/>
          <a:lstStyle/>
          <a:p>
            <a:endParaRPr lang="en-US">
              <a:latin typeface="Museo 300" pitchFamily="50" charset="0"/>
            </a:endParaRPr>
          </a:p>
        </p:txBody>
      </p:sp>
      <p:sp>
        <p:nvSpPr>
          <p:cNvPr id="103" name="Text Box 101"/>
          <p:cNvSpPr txBox="1">
            <a:spLocks noChangeArrowheads="1"/>
          </p:cNvSpPr>
          <p:nvPr/>
        </p:nvSpPr>
        <p:spPr bwMode="auto">
          <a:xfrm>
            <a:off x="1965325" y="1438275"/>
            <a:ext cx="2068836" cy="369332"/>
          </a:xfrm>
          <a:prstGeom prst="rect">
            <a:avLst/>
          </a:prstGeom>
          <a:noFill/>
          <a:ln w="9525">
            <a:noFill/>
            <a:miter lim="800000"/>
            <a:headEnd/>
            <a:tailEnd/>
          </a:ln>
          <a:effectLst/>
        </p:spPr>
        <p:txBody>
          <a:bodyPr wrap="none">
            <a:spAutoFit/>
          </a:bodyPr>
          <a:lstStyle/>
          <a:p>
            <a:r>
              <a:rPr lang="en-US" altLang="zh-CN">
                <a:latin typeface="Museo 300" pitchFamily="50" charset="0"/>
                <a:ea typeface="SimSun" pitchFamily="2" charset="-122"/>
              </a:rPr>
              <a:t>Fetch + Execution</a:t>
            </a:r>
          </a:p>
        </p:txBody>
      </p:sp>
      <p:sp>
        <p:nvSpPr>
          <p:cNvPr id="104" name="Rectangle 103"/>
          <p:cNvSpPr/>
          <p:nvPr/>
        </p:nvSpPr>
        <p:spPr>
          <a:xfrm>
            <a:off x="5943600" y="6172200"/>
            <a:ext cx="6096000" cy="261610"/>
          </a:xfrm>
          <a:prstGeom prst="rect">
            <a:avLst/>
          </a:prstGeom>
        </p:spPr>
        <p:txBody>
          <a:bodyPr>
            <a:spAutoFit/>
          </a:bodyPr>
          <a:lstStyle/>
          <a:p>
            <a:r>
              <a:rPr lang="en-US" sz="1100" dirty="0">
                <a:solidFill>
                  <a:schemeClr val="accent1"/>
                </a:solidFill>
                <a:latin typeface="Museo 300" panose="02000000000000000000" pitchFamily="50" charset="0"/>
              </a:rPr>
              <a:t>Carl </a:t>
            </a:r>
            <a:r>
              <a:rPr lang="en-US" sz="1100" dirty="0" err="1">
                <a:solidFill>
                  <a:schemeClr val="accent1"/>
                </a:solidFill>
                <a:latin typeface="Museo 300" panose="02000000000000000000" pitchFamily="50" charset="0"/>
              </a:rPr>
              <a:t>Hamacher</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ZvonkoVranesic</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SafwatZaky</a:t>
            </a:r>
            <a:r>
              <a:rPr lang="en-US" sz="1100" dirty="0">
                <a:solidFill>
                  <a:schemeClr val="accent1"/>
                </a:solidFill>
                <a:latin typeface="Museo 300" panose="02000000000000000000" pitchFamily="50" charset="0"/>
              </a:rPr>
              <a:t>: Computer Organization, 5th Edition, 2000. </a:t>
            </a:r>
            <a:endParaRPr lang="en-US" sz="1100" dirty="0">
              <a:solidFill>
                <a:schemeClr val="accen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53</a:t>
            </a:fld>
            <a:endParaRPr lang="en-US" dirty="0"/>
          </a:p>
        </p:txBody>
      </p:sp>
      <p:sp>
        <p:nvSpPr>
          <p:cNvPr id="5" name="Rectangle 2"/>
          <p:cNvSpPr txBox="1">
            <a:spLocks noChangeArrowheads="1"/>
          </p:cNvSpPr>
          <p:nvPr/>
        </p:nvSpPr>
        <p:spPr>
          <a:xfrm>
            <a:off x="1524000" y="198438"/>
            <a:ext cx="10134600"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Use the Idea of Pipelining in a Computer….</a:t>
            </a:r>
          </a:p>
        </p:txBody>
      </p:sp>
      <p:pic>
        <p:nvPicPr>
          <p:cNvPr id="6" name="Picture 4" descr="figure8"/>
          <p:cNvPicPr>
            <a:picLocks noChangeAspect="1" noChangeArrowheads="1"/>
          </p:cNvPicPr>
          <p:nvPr/>
        </p:nvPicPr>
        <p:blipFill>
          <a:blip r:embed="rId2"/>
          <a:srcRect/>
          <a:stretch>
            <a:fillRect/>
          </a:stretch>
        </p:blipFill>
        <p:spPr bwMode="auto">
          <a:xfrm>
            <a:off x="4267200" y="1374775"/>
            <a:ext cx="4351338" cy="5483225"/>
          </a:xfrm>
          <a:prstGeom prst="rect">
            <a:avLst/>
          </a:prstGeom>
          <a:noFill/>
        </p:spPr>
      </p:pic>
      <p:sp>
        <p:nvSpPr>
          <p:cNvPr id="7" name="Text Box 5"/>
          <p:cNvSpPr txBox="1">
            <a:spLocks noChangeArrowheads="1"/>
          </p:cNvSpPr>
          <p:nvPr/>
        </p:nvSpPr>
        <p:spPr bwMode="auto">
          <a:xfrm>
            <a:off x="1660525" y="1789113"/>
            <a:ext cx="2245102" cy="646331"/>
          </a:xfrm>
          <a:prstGeom prst="rect">
            <a:avLst/>
          </a:prstGeom>
          <a:noFill/>
          <a:ln w="9525">
            <a:noFill/>
            <a:miter lim="800000"/>
            <a:headEnd/>
            <a:tailEnd/>
          </a:ln>
          <a:effectLst/>
        </p:spPr>
        <p:txBody>
          <a:bodyPr wrap="none">
            <a:spAutoFit/>
          </a:bodyPr>
          <a:lstStyle/>
          <a:p>
            <a:r>
              <a:rPr lang="en-US" altLang="zh-CN">
                <a:latin typeface="Museo 300" pitchFamily="50" charset="0"/>
                <a:ea typeface="SimSun" pitchFamily="2" charset="-122"/>
              </a:rPr>
              <a:t>Fetch + Decode</a:t>
            </a:r>
          </a:p>
          <a:p>
            <a:r>
              <a:rPr lang="en-US" altLang="zh-CN">
                <a:latin typeface="Museo 300" pitchFamily="50" charset="0"/>
                <a:ea typeface="SimSun" pitchFamily="2" charset="-122"/>
              </a:rPr>
              <a:t>+ Execution + Write</a:t>
            </a:r>
          </a:p>
        </p:txBody>
      </p:sp>
      <p:sp>
        <p:nvSpPr>
          <p:cNvPr id="8" name="Rectangle 7"/>
          <p:cNvSpPr/>
          <p:nvPr/>
        </p:nvSpPr>
        <p:spPr>
          <a:xfrm>
            <a:off x="5943600" y="6172200"/>
            <a:ext cx="6096000" cy="261610"/>
          </a:xfrm>
          <a:prstGeom prst="rect">
            <a:avLst/>
          </a:prstGeom>
        </p:spPr>
        <p:txBody>
          <a:bodyPr>
            <a:spAutoFit/>
          </a:bodyPr>
          <a:lstStyle/>
          <a:p>
            <a:r>
              <a:rPr lang="en-US" sz="1100" dirty="0">
                <a:solidFill>
                  <a:schemeClr val="accent1"/>
                </a:solidFill>
                <a:latin typeface="Museo 300" panose="02000000000000000000" pitchFamily="50" charset="0"/>
              </a:rPr>
              <a:t>Carl </a:t>
            </a:r>
            <a:r>
              <a:rPr lang="en-US" sz="1100" dirty="0" err="1">
                <a:solidFill>
                  <a:schemeClr val="accent1"/>
                </a:solidFill>
                <a:latin typeface="Museo 300" panose="02000000000000000000" pitchFamily="50" charset="0"/>
              </a:rPr>
              <a:t>Hamacher</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ZvonkoVranesic</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SafwatZaky</a:t>
            </a:r>
            <a:r>
              <a:rPr lang="en-US" sz="1100" dirty="0">
                <a:solidFill>
                  <a:schemeClr val="accent1"/>
                </a:solidFill>
                <a:latin typeface="Museo 300" panose="02000000000000000000" pitchFamily="50" charset="0"/>
              </a:rPr>
              <a:t>: Computer Organization, 5th Edition, 2000. </a:t>
            </a:r>
            <a:endParaRPr lang="en-US" sz="1100" dirty="0">
              <a:solidFill>
                <a:schemeClr val="accen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54</a:t>
            </a:fld>
            <a:endParaRPr lang="en-US" dirty="0"/>
          </a:p>
        </p:txBody>
      </p:sp>
      <p:sp>
        <p:nvSpPr>
          <p:cNvPr id="5" name="Rectangle 2"/>
          <p:cNvSpPr txBox="1">
            <a:spLocks noChangeArrowheads="1"/>
          </p:cNvSpPr>
          <p:nvPr/>
        </p:nvSpPr>
        <p:spPr>
          <a:xfrm>
            <a:off x="1447800" y="0"/>
            <a:ext cx="7543800"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a:ln>
                  <a:noFill/>
                </a:ln>
                <a:solidFill>
                  <a:srgbClr val="C00000"/>
                </a:solidFill>
                <a:effectLst/>
                <a:uLnTx/>
                <a:uFillTx/>
                <a:latin typeface="Museo 300" panose="02000000000000000000" pitchFamily="50" charset="0"/>
                <a:ea typeface="SimSun" pitchFamily="2" charset="-122"/>
                <a:cs typeface="+mj-cs"/>
              </a:rPr>
              <a:t>Role of Cache Memory</a:t>
            </a:r>
          </a:p>
        </p:txBody>
      </p:sp>
      <p:sp>
        <p:nvSpPr>
          <p:cNvPr id="6" name="Rectangle 3"/>
          <p:cNvSpPr txBox="1">
            <a:spLocks noChangeArrowheads="1"/>
          </p:cNvSpPr>
          <p:nvPr/>
        </p:nvSpPr>
        <p:spPr>
          <a:xfrm>
            <a:off x="1447800" y="1597025"/>
            <a:ext cx="9144000" cy="4411662"/>
          </a:xfrm>
          <a:prstGeom prst="rect">
            <a:avLst/>
          </a:prstGeom>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Each pipeline stage is expected to complete in one clock cycle.</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The clock period should be long enough to let the slowest pipeline stage to complete.</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Faster stages can only wait for the slowest one to complete.</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Since main memory is very slow compared to the execution, if each instruction needs to be fetched from main memory, pipeline is almost useless.</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Fortunately, we have cache.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55</a:t>
            </a:fld>
            <a:endParaRPr lang="en-US" dirty="0"/>
          </a:p>
        </p:txBody>
      </p:sp>
      <p:sp>
        <p:nvSpPr>
          <p:cNvPr id="5" name="Rectangle 2"/>
          <p:cNvSpPr txBox="1">
            <a:spLocks noChangeArrowheads="1"/>
          </p:cNvSpPr>
          <p:nvPr/>
        </p:nvSpPr>
        <p:spPr>
          <a:xfrm>
            <a:off x="1981200" y="0"/>
            <a:ext cx="8255000" cy="1066800"/>
          </a:xfrm>
          <a:prstGeom prst="rect">
            <a:avLst/>
          </a:prstGeom>
        </p:spPr>
        <p:txBody>
          <a:bodyPr vert="horz" lIns="91440" tIns="45720" rIns="91440" bIns="45720" rtlCol="0" anchor="ctr">
            <a:normAutofit/>
          </a:bodyPr>
          <a:lstStyle/>
          <a:p>
            <a:pPr marL="0" marR="0" lvl="0" indent="0" algn="just" defTabSz="914400" rtl="0" eaLnBrk="1" fontAlgn="auto" latinLnBrk="0" hangingPunct="1">
              <a:lnSpc>
                <a:spcPct val="15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Pipeline Performance</a:t>
            </a:r>
          </a:p>
        </p:txBody>
      </p:sp>
      <p:sp>
        <p:nvSpPr>
          <p:cNvPr id="6" name="Rectangle 3"/>
          <p:cNvSpPr txBox="1">
            <a:spLocks noChangeArrowheads="1"/>
          </p:cNvSpPr>
          <p:nvPr/>
        </p:nvSpPr>
        <p:spPr>
          <a:xfrm>
            <a:off x="457200" y="1719263"/>
            <a:ext cx="10668000" cy="4411662"/>
          </a:xfrm>
          <a:prstGeom prst="rect">
            <a:avLst/>
          </a:prstGeom>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The potential increase in performance resulting from pipelining is proportional to the number of pipeline stages.</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However, this increase would be achieved only if all pipeline stages require the same time to complete, and there is no interruption throughout program execution.</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Unfortunately, this is not true.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56</a:t>
            </a:fld>
            <a:endParaRPr lang="en-US" dirty="0"/>
          </a:p>
        </p:txBody>
      </p:sp>
      <p:sp>
        <p:nvSpPr>
          <p:cNvPr id="5" name="Rectangle 2"/>
          <p:cNvSpPr txBox="1">
            <a:spLocks noChangeArrowheads="1"/>
          </p:cNvSpPr>
          <p:nvPr/>
        </p:nvSpPr>
        <p:spPr>
          <a:xfrm>
            <a:off x="1600200" y="0"/>
            <a:ext cx="7543800"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Pipeline Performance continue...</a:t>
            </a:r>
          </a:p>
        </p:txBody>
      </p:sp>
      <p:pic>
        <p:nvPicPr>
          <p:cNvPr id="6" name="Picture 4" descr="figure8"/>
          <p:cNvPicPr>
            <a:picLocks noChangeAspect="1" noChangeArrowheads="1"/>
          </p:cNvPicPr>
          <p:nvPr/>
        </p:nvPicPr>
        <p:blipFill>
          <a:blip r:embed="rId2"/>
          <a:srcRect/>
          <a:stretch>
            <a:fillRect/>
          </a:stretch>
        </p:blipFill>
        <p:spPr bwMode="auto">
          <a:xfrm>
            <a:off x="1752600" y="1477962"/>
            <a:ext cx="7223125" cy="4841875"/>
          </a:xfrm>
          <a:prstGeom prst="rect">
            <a:avLst/>
          </a:prstGeom>
          <a:noFill/>
        </p:spPr>
      </p:pic>
      <p:sp>
        <p:nvSpPr>
          <p:cNvPr id="7" name="Rectangle 6"/>
          <p:cNvSpPr/>
          <p:nvPr/>
        </p:nvSpPr>
        <p:spPr>
          <a:xfrm>
            <a:off x="5943600" y="6172200"/>
            <a:ext cx="6096000" cy="261610"/>
          </a:xfrm>
          <a:prstGeom prst="rect">
            <a:avLst/>
          </a:prstGeom>
        </p:spPr>
        <p:txBody>
          <a:bodyPr>
            <a:spAutoFit/>
          </a:bodyPr>
          <a:lstStyle/>
          <a:p>
            <a:r>
              <a:rPr lang="en-US" sz="1100" dirty="0">
                <a:solidFill>
                  <a:schemeClr val="accent1"/>
                </a:solidFill>
                <a:latin typeface="Museo 300" panose="02000000000000000000" pitchFamily="50" charset="0"/>
              </a:rPr>
              <a:t>Carl </a:t>
            </a:r>
            <a:r>
              <a:rPr lang="en-US" sz="1100" dirty="0" err="1">
                <a:solidFill>
                  <a:schemeClr val="accent1"/>
                </a:solidFill>
                <a:latin typeface="Museo 300" panose="02000000000000000000" pitchFamily="50" charset="0"/>
              </a:rPr>
              <a:t>Hamacher</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ZvonkoVranesic</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SafwatZaky</a:t>
            </a:r>
            <a:r>
              <a:rPr lang="en-US" sz="1100" dirty="0">
                <a:solidFill>
                  <a:schemeClr val="accent1"/>
                </a:solidFill>
                <a:latin typeface="Museo 300" panose="02000000000000000000" pitchFamily="50" charset="0"/>
              </a:rPr>
              <a:t>: Computer Organization, 5th Edition, 2000. </a:t>
            </a:r>
            <a:endParaRPr lang="en-US" sz="1100" dirty="0">
              <a:solidFill>
                <a:schemeClr val="accent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57</a:t>
            </a:fld>
            <a:endParaRPr lang="en-US" dirty="0"/>
          </a:p>
        </p:txBody>
      </p:sp>
      <p:sp>
        <p:nvSpPr>
          <p:cNvPr id="6" name="Rectangle 3"/>
          <p:cNvSpPr txBox="1">
            <a:spLocks noChangeArrowheads="1"/>
          </p:cNvSpPr>
          <p:nvPr/>
        </p:nvSpPr>
        <p:spPr>
          <a:xfrm>
            <a:off x="457200" y="1066801"/>
            <a:ext cx="9829800" cy="5029200"/>
          </a:xfrm>
          <a:prstGeom prst="rect">
            <a:avLst/>
          </a:prstGeom>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1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The previous pipeline is said to have been stalled for two clock cycles.</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1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Any condition that causes a pipeline to stall is called a hazard.</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1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Data hazard – any condition in which either the source or the destination operands of an instruction are not available at the time expected in the pipeline. So some operation has to be delayed, and the pipeline stalls.</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1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Instruction (control) hazard – a delay in the availability of an instruction causes the pipeline to stall.</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1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Structural hazard – the situation when two instructions require the use of a given hardware resource at the same time.</a:t>
            </a:r>
          </a:p>
        </p:txBody>
      </p:sp>
      <p:sp>
        <p:nvSpPr>
          <p:cNvPr id="8" name="Rectangle 2"/>
          <p:cNvSpPr txBox="1">
            <a:spLocks noChangeArrowheads="1"/>
          </p:cNvSpPr>
          <p:nvPr/>
        </p:nvSpPr>
        <p:spPr>
          <a:xfrm>
            <a:off x="1600200" y="0"/>
            <a:ext cx="7543800"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Pipeline Performance continue...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58</a:t>
            </a:fld>
            <a:endParaRPr lang="en-US" dirty="0"/>
          </a:p>
        </p:txBody>
      </p:sp>
      <p:pic>
        <p:nvPicPr>
          <p:cNvPr id="6" name="Picture 4" descr="figure8"/>
          <p:cNvPicPr>
            <a:picLocks noChangeAspect="1" noChangeArrowheads="1"/>
          </p:cNvPicPr>
          <p:nvPr/>
        </p:nvPicPr>
        <p:blipFill>
          <a:blip r:embed="rId2"/>
          <a:srcRect/>
          <a:stretch>
            <a:fillRect/>
          </a:stretch>
        </p:blipFill>
        <p:spPr bwMode="auto">
          <a:xfrm>
            <a:off x="2514600" y="1252537"/>
            <a:ext cx="6172200" cy="5072063"/>
          </a:xfrm>
          <a:prstGeom prst="rect">
            <a:avLst/>
          </a:prstGeom>
          <a:noFill/>
        </p:spPr>
      </p:pic>
      <p:sp>
        <p:nvSpPr>
          <p:cNvPr id="7" name="Text Box 5"/>
          <p:cNvSpPr txBox="1">
            <a:spLocks noChangeArrowheads="1"/>
          </p:cNvSpPr>
          <p:nvPr/>
        </p:nvSpPr>
        <p:spPr bwMode="auto">
          <a:xfrm>
            <a:off x="8534400" y="4297362"/>
            <a:ext cx="1828800" cy="641350"/>
          </a:xfrm>
          <a:prstGeom prst="rect">
            <a:avLst/>
          </a:prstGeom>
          <a:noFill/>
          <a:ln w="9525">
            <a:noFill/>
            <a:miter lim="800000"/>
            <a:headEnd/>
            <a:tailEnd/>
          </a:ln>
          <a:effectLst/>
        </p:spPr>
        <p:txBody>
          <a:bodyPr>
            <a:spAutoFit/>
          </a:bodyPr>
          <a:lstStyle/>
          <a:p>
            <a:pPr>
              <a:spcBef>
                <a:spcPct val="50000"/>
              </a:spcBef>
            </a:pPr>
            <a:r>
              <a:rPr lang="en-US" dirty="0"/>
              <a:t>Idle periods – stalls (bubbles)</a:t>
            </a:r>
          </a:p>
        </p:txBody>
      </p:sp>
      <p:sp>
        <p:nvSpPr>
          <p:cNvPr id="8" name="Text Box 6"/>
          <p:cNvSpPr txBox="1">
            <a:spLocks noChangeArrowheads="1"/>
          </p:cNvSpPr>
          <p:nvPr/>
        </p:nvSpPr>
        <p:spPr bwMode="auto">
          <a:xfrm>
            <a:off x="1066800" y="1477962"/>
            <a:ext cx="1828800" cy="641350"/>
          </a:xfrm>
          <a:prstGeom prst="rect">
            <a:avLst/>
          </a:prstGeom>
          <a:noFill/>
          <a:ln w="9525">
            <a:noFill/>
            <a:miter lim="800000"/>
            <a:headEnd/>
            <a:tailEnd/>
          </a:ln>
          <a:effectLst/>
        </p:spPr>
        <p:txBody>
          <a:bodyPr>
            <a:spAutoFit/>
          </a:bodyPr>
          <a:lstStyle/>
          <a:p>
            <a:pPr>
              <a:spcBef>
                <a:spcPct val="50000"/>
              </a:spcBef>
            </a:pPr>
            <a:r>
              <a:rPr lang="en-US" altLang="zh-CN" dirty="0">
                <a:latin typeface="Museo 300" pitchFamily="50" charset="0"/>
                <a:ea typeface="SimSun" pitchFamily="2" charset="-122"/>
              </a:rPr>
              <a:t>Instruction hazard</a:t>
            </a:r>
            <a:endParaRPr lang="en-US" dirty="0">
              <a:latin typeface="Museo 300" pitchFamily="50" charset="0"/>
            </a:endParaRPr>
          </a:p>
        </p:txBody>
      </p:sp>
      <p:sp>
        <p:nvSpPr>
          <p:cNvPr id="9" name="Rectangle 2"/>
          <p:cNvSpPr txBox="1">
            <a:spLocks noChangeArrowheads="1"/>
          </p:cNvSpPr>
          <p:nvPr/>
        </p:nvSpPr>
        <p:spPr>
          <a:xfrm>
            <a:off x="1600200" y="0"/>
            <a:ext cx="7543800"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Pipeline Performance continue...</a:t>
            </a:r>
          </a:p>
        </p:txBody>
      </p:sp>
      <p:sp>
        <p:nvSpPr>
          <p:cNvPr id="10" name="Rectangle 9"/>
          <p:cNvSpPr/>
          <p:nvPr/>
        </p:nvSpPr>
        <p:spPr>
          <a:xfrm>
            <a:off x="5943600" y="6172200"/>
            <a:ext cx="6096000" cy="261610"/>
          </a:xfrm>
          <a:prstGeom prst="rect">
            <a:avLst/>
          </a:prstGeom>
        </p:spPr>
        <p:txBody>
          <a:bodyPr>
            <a:spAutoFit/>
          </a:bodyPr>
          <a:lstStyle/>
          <a:p>
            <a:r>
              <a:rPr lang="en-US" sz="1100" dirty="0">
                <a:solidFill>
                  <a:schemeClr val="accent1"/>
                </a:solidFill>
                <a:latin typeface="Museo 300" panose="02000000000000000000" pitchFamily="50" charset="0"/>
              </a:rPr>
              <a:t>Carl </a:t>
            </a:r>
            <a:r>
              <a:rPr lang="en-US" sz="1100" dirty="0" err="1">
                <a:solidFill>
                  <a:schemeClr val="accent1"/>
                </a:solidFill>
                <a:latin typeface="Museo 300" panose="02000000000000000000" pitchFamily="50" charset="0"/>
              </a:rPr>
              <a:t>Hamacher</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ZvonkoVranesic</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SafwatZaky</a:t>
            </a:r>
            <a:r>
              <a:rPr lang="en-US" sz="1100" dirty="0">
                <a:solidFill>
                  <a:schemeClr val="accent1"/>
                </a:solidFill>
                <a:latin typeface="Museo 300" panose="02000000000000000000" pitchFamily="50" charset="0"/>
              </a:rPr>
              <a:t>: Computer Organization, 5th Edition, 2000. </a:t>
            </a:r>
            <a:endParaRPr lang="en-US" sz="1100" dirty="0">
              <a:solidFill>
                <a:schemeClr val="accent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59</a:t>
            </a:fld>
            <a:endParaRPr lang="en-US" dirty="0"/>
          </a:p>
        </p:txBody>
      </p:sp>
      <p:pic>
        <p:nvPicPr>
          <p:cNvPr id="6" name="Picture 4" descr="figure8"/>
          <p:cNvPicPr>
            <a:picLocks noChangeAspect="1" noChangeArrowheads="1"/>
          </p:cNvPicPr>
          <p:nvPr/>
        </p:nvPicPr>
        <p:blipFill>
          <a:blip r:embed="rId2"/>
          <a:srcRect/>
          <a:stretch>
            <a:fillRect/>
          </a:stretch>
        </p:blipFill>
        <p:spPr bwMode="auto">
          <a:xfrm>
            <a:off x="2438400" y="1741911"/>
            <a:ext cx="6705600" cy="4735089"/>
          </a:xfrm>
          <a:prstGeom prst="rect">
            <a:avLst/>
          </a:prstGeom>
          <a:noFill/>
        </p:spPr>
      </p:pic>
      <p:sp>
        <p:nvSpPr>
          <p:cNvPr id="7" name="Text Box 5"/>
          <p:cNvSpPr txBox="1">
            <a:spLocks noChangeArrowheads="1"/>
          </p:cNvSpPr>
          <p:nvPr/>
        </p:nvSpPr>
        <p:spPr bwMode="auto">
          <a:xfrm>
            <a:off x="3429000" y="1219200"/>
            <a:ext cx="1752600" cy="369332"/>
          </a:xfrm>
          <a:prstGeom prst="rect">
            <a:avLst/>
          </a:prstGeom>
          <a:noFill/>
          <a:ln w="9525">
            <a:noFill/>
            <a:miter lim="800000"/>
            <a:headEnd/>
            <a:tailEnd/>
          </a:ln>
          <a:effectLst/>
        </p:spPr>
        <p:txBody>
          <a:bodyPr wrap="square">
            <a:spAutoFit/>
          </a:bodyPr>
          <a:lstStyle/>
          <a:p>
            <a:r>
              <a:rPr lang="en-US" altLang="zh-CN" dirty="0">
                <a:latin typeface="Museo 300" pitchFamily="50" charset="0"/>
                <a:ea typeface="SimSun" pitchFamily="2" charset="-122"/>
              </a:rPr>
              <a:t>Load  X(R1), R2</a:t>
            </a:r>
          </a:p>
        </p:txBody>
      </p:sp>
      <p:sp>
        <p:nvSpPr>
          <p:cNvPr id="8" name="Text Box 6"/>
          <p:cNvSpPr txBox="1">
            <a:spLocks noChangeArrowheads="1"/>
          </p:cNvSpPr>
          <p:nvPr/>
        </p:nvSpPr>
        <p:spPr bwMode="auto">
          <a:xfrm>
            <a:off x="1219200" y="1295400"/>
            <a:ext cx="2209800" cy="369332"/>
          </a:xfrm>
          <a:prstGeom prst="rect">
            <a:avLst/>
          </a:prstGeom>
          <a:noFill/>
          <a:ln w="9525">
            <a:noFill/>
            <a:miter lim="800000"/>
            <a:headEnd/>
            <a:tailEnd/>
          </a:ln>
          <a:effectLst/>
        </p:spPr>
        <p:txBody>
          <a:bodyPr wrap="square">
            <a:spAutoFit/>
          </a:bodyPr>
          <a:lstStyle/>
          <a:p>
            <a:pPr>
              <a:spcBef>
                <a:spcPct val="50000"/>
              </a:spcBef>
            </a:pPr>
            <a:r>
              <a:rPr lang="en-US" altLang="zh-CN" dirty="0">
                <a:latin typeface="Museo 300" pitchFamily="50" charset="0"/>
                <a:ea typeface="SimSun" pitchFamily="2" charset="-122"/>
              </a:rPr>
              <a:t>Structural hazard</a:t>
            </a:r>
            <a:endParaRPr lang="en-US" dirty="0">
              <a:latin typeface="Museo 300" pitchFamily="50" charset="0"/>
            </a:endParaRPr>
          </a:p>
        </p:txBody>
      </p:sp>
      <p:sp>
        <p:nvSpPr>
          <p:cNvPr id="9" name="Rectangle 2"/>
          <p:cNvSpPr txBox="1">
            <a:spLocks noChangeArrowheads="1"/>
          </p:cNvSpPr>
          <p:nvPr/>
        </p:nvSpPr>
        <p:spPr>
          <a:xfrm>
            <a:off x="1600200" y="0"/>
            <a:ext cx="7543800"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Pipeline Performance continue...</a:t>
            </a:r>
          </a:p>
        </p:txBody>
      </p:sp>
      <p:sp>
        <p:nvSpPr>
          <p:cNvPr id="10" name="Rectangle 9"/>
          <p:cNvSpPr/>
          <p:nvPr/>
        </p:nvSpPr>
        <p:spPr>
          <a:xfrm>
            <a:off x="6096000" y="1066800"/>
            <a:ext cx="6096000" cy="261610"/>
          </a:xfrm>
          <a:prstGeom prst="rect">
            <a:avLst/>
          </a:prstGeom>
        </p:spPr>
        <p:txBody>
          <a:bodyPr>
            <a:spAutoFit/>
          </a:bodyPr>
          <a:lstStyle/>
          <a:p>
            <a:r>
              <a:rPr lang="en-US" sz="1100" dirty="0">
                <a:solidFill>
                  <a:schemeClr val="accent1"/>
                </a:solidFill>
                <a:latin typeface="Museo 300" panose="02000000000000000000" pitchFamily="50" charset="0"/>
              </a:rPr>
              <a:t>Carl </a:t>
            </a:r>
            <a:r>
              <a:rPr lang="en-US" sz="1100" dirty="0" err="1">
                <a:solidFill>
                  <a:schemeClr val="accent1"/>
                </a:solidFill>
                <a:latin typeface="Museo 300" panose="02000000000000000000" pitchFamily="50" charset="0"/>
              </a:rPr>
              <a:t>Hamacher</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ZvonkoVranesic</a:t>
            </a:r>
            <a:r>
              <a:rPr lang="en-US" sz="1100" dirty="0">
                <a:solidFill>
                  <a:schemeClr val="accent1"/>
                </a:solidFill>
                <a:latin typeface="Museo 300" panose="02000000000000000000" pitchFamily="50" charset="0"/>
              </a:rPr>
              <a:t>, </a:t>
            </a:r>
            <a:r>
              <a:rPr lang="en-US" sz="1100" dirty="0" err="1">
                <a:solidFill>
                  <a:schemeClr val="accent1"/>
                </a:solidFill>
                <a:latin typeface="Museo 300" panose="02000000000000000000" pitchFamily="50" charset="0"/>
              </a:rPr>
              <a:t>SafwatZaky</a:t>
            </a:r>
            <a:r>
              <a:rPr lang="en-US" sz="1100" dirty="0">
                <a:solidFill>
                  <a:schemeClr val="accent1"/>
                </a:solidFill>
                <a:latin typeface="Museo 300" panose="02000000000000000000" pitchFamily="50" charset="0"/>
              </a:rPr>
              <a:t>: Computer Organization, 5th Edition, 2000. </a:t>
            </a:r>
            <a:endParaRPr lang="en-US" sz="1100" dirty="0">
              <a:solidFill>
                <a:schemeClr val="accent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60</a:t>
            </a:fld>
            <a:endParaRPr lang="en-US" dirty="0"/>
          </a:p>
        </p:txBody>
      </p:sp>
      <p:sp>
        <p:nvSpPr>
          <p:cNvPr id="6" name="Rectangle 3"/>
          <p:cNvSpPr txBox="1">
            <a:spLocks noChangeArrowheads="1"/>
          </p:cNvSpPr>
          <p:nvPr/>
        </p:nvSpPr>
        <p:spPr>
          <a:xfrm>
            <a:off x="1600200" y="1752600"/>
            <a:ext cx="8991600" cy="4411662"/>
          </a:xfrm>
          <a:prstGeom prst="rect">
            <a:avLst/>
          </a:prstGeom>
        </p:spPr>
        <p:txBody>
          <a:bodyPr vert="horz" lIns="91440" tIns="45720" rIns="91440" bIns="45720" rtlCol="0">
            <a:normAutofit/>
          </a:body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Again, pipelining does not result in individual instructions being executed faster; rather, it is the throughput that increases.</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Throughput is measured by the rate at which instruction execution is completed.</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Pipeline stall causes degradation in pipeline performance.</a:t>
            </a:r>
          </a:p>
          <a:p>
            <a:pPr marL="228600" marR="0" lvl="0" indent="-228600" algn="just"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chemeClr val="tx1">
                    <a:lumMod val="95000"/>
                    <a:lumOff val="5000"/>
                  </a:schemeClr>
                </a:solidFill>
                <a:effectLst/>
                <a:uLnTx/>
                <a:uFillTx/>
                <a:latin typeface="Museo 300" panose="02000000000000000000" pitchFamily="50" charset="0"/>
                <a:ea typeface="SimSun" pitchFamily="2" charset="-122"/>
                <a:cs typeface="+mn-cs"/>
              </a:rPr>
              <a:t>We need to identify all hazards that may cause the pipeline to stall and to find ways to minimize their impact.</a:t>
            </a:r>
          </a:p>
        </p:txBody>
      </p:sp>
      <p:sp>
        <p:nvSpPr>
          <p:cNvPr id="7" name="Rectangle 2"/>
          <p:cNvSpPr txBox="1">
            <a:spLocks noChangeArrowheads="1"/>
          </p:cNvSpPr>
          <p:nvPr/>
        </p:nvSpPr>
        <p:spPr>
          <a:xfrm>
            <a:off x="1600200" y="0"/>
            <a:ext cx="7543800" cy="129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500" b="1" i="0" u="none" strike="noStrike" kern="1200" cap="none" spc="0" normalizeH="0" baseline="0" noProof="0" dirty="0">
                <a:ln>
                  <a:noFill/>
                </a:ln>
                <a:solidFill>
                  <a:srgbClr val="C00000"/>
                </a:solidFill>
                <a:effectLst/>
                <a:uLnTx/>
                <a:uFillTx/>
                <a:latin typeface="Museo 300" panose="02000000000000000000" pitchFamily="50" charset="0"/>
                <a:ea typeface="SimSun" pitchFamily="2" charset="-122"/>
                <a:cs typeface="+mj-cs"/>
              </a:rPr>
              <a:t>Pipeline Performance continue...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28600"/>
            <a:ext cx="10515600" cy="685800"/>
          </a:xfrm>
        </p:spPr>
        <p:txBody>
          <a:bodyPr/>
          <a:lstStyle/>
          <a:p>
            <a:r>
              <a:rPr lang="en-US" dirty="0"/>
              <a:t>NPTEL Links  </a:t>
            </a:r>
          </a:p>
        </p:txBody>
      </p:sp>
      <p:sp>
        <p:nvSpPr>
          <p:cNvPr id="3" name="Content Placeholder 2"/>
          <p:cNvSpPr>
            <a:spLocks noGrp="1"/>
          </p:cNvSpPr>
          <p:nvPr>
            <p:ph idx="1"/>
          </p:nvPr>
        </p:nvSpPr>
        <p:spPr>
          <a:xfrm>
            <a:off x="609600" y="1066800"/>
            <a:ext cx="10820400" cy="5791200"/>
          </a:xfrm>
        </p:spPr>
        <p:txBody>
          <a:bodyPr>
            <a:normAutofit/>
          </a:bodyPr>
          <a:lstStyle/>
          <a:p>
            <a:pPr>
              <a:lnSpc>
                <a:spcPct val="160000"/>
              </a:lnSpc>
            </a:pPr>
            <a:r>
              <a:rPr lang="en-US" dirty="0"/>
              <a:t>Basic Operation of computer (Single and multi bus architecture): </a:t>
            </a:r>
            <a:r>
              <a:rPr lang="en-US" dirty="0">
                <a:hlinkClick r:id="rId2"/>
              </a:rPr>
              <a:t>https://lake.videoken.com/nptel/category/711/search/instruction%20execution/video/K7fnDf-P6_c?tocitem=19</a:t>
            </a:r>
            <a:endParaRPr lang="en-US" dirty="0"/>
          </a:p>
          <a:p>
            <a:pPr>
              <a:lnSpc>
                <a:spcPct val="160000"/>
              </a:lnSpc>
            </a:pPr>
            <a:r>
              <a:rPr lang="en-US" dirty="0"/>
              <a:t>Instruction fetch from memory: </a:t>
            </a:r>
            <a:r>
              <a:rPr lang="en-US" dirty="0">
                <a:hlinkClick r:id="rId3"/>
              </a:rPr>
              <a:t>https://www.youtube.com/watch?v=JCIRjFh5adQ</a:t>
            </a:r>
            <a:r>
              <a:rPr lang="en-US" dirty="0"/>
              <a:t> </a:t>
            </a:r>
          </a:p>
          <a:p>
            <a:pPr>
              <a:lnSpc>
                <a:spcPct val="160000"/>
              </a:lnSpc>
            </a:pPr>
            <a:r>
              <a:rPr lang="en-US" dirty="0"/>
              <a:t>Hardwired Controlled Control Unit:</a:t>
            </a:r>
            <a:r>
              <a:rPr lang="en-US" dirty="0">
                <a:hlinkClick r:id="rId4"/>
              </a:rPr>
              <a:t> https://lake.videoken.com/nptel/category/711/search/Hardwired%20Controlled%20Control%20Unit/video/b5thcNYBrQc?tocitem=8</a:t>
            </a:r>
            <a:endParaRPr lang="en-US" dirty="0"/>
          </a:p>
          <a:p>
            <a:pPr>
              <a:lnSpc>
                <a:spcPct val="160000"/>
              </a:lnSpc>
            </a:pPr>
            <a:endParaRPr lang="en-US"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NPTEL Links</a:t>
            </a:r>
          </a:p>
        </p:txBody>
      </p:sp>
      <p:sp>
        <p:nvSpPr>
          <p:cNvPr id="3" name="Content Placeholder 2"/>
          <p:cNvSpPr>
            <a:spLocks noGrp="1"/>
          </p:cNvSpPr>
          <p:nvPr>
            <p:ph idx="1"/>
          </p:nvPr>
        </p:nvSpPr>
        <p:spPr/>
        <p:txBody>
          <a:bodyPr/>
          <a:lstStyle/>
          <a:p>
            <a:pPr>
              <a:lnSpc>
                <a:spcPct val="150000"/>
              </a:lnSpc>
            </a:pPr>
            <a:r>
              <a:rPr lang="en-US" dirty="0" err="1"/>
              <a:t>Microprogrammed</a:t>
            </a:r>
            <a:r>
              <a:rPr lang="en-US" dirty="0"/>
              <a:t> control unit: </a:t>
            </a:r>
            <a:r>
              <a:rPr lang="en-US" dirty="0">
                <a:hlinkClick r:id="rId2"/>
              </a:rPr>
              <a:t>https://lake.videoken.com/nptel/category/711/search/COA%20%5BModule%2003%20-%20Lecture%2007%5D:%20Microinstructions%20and%20Microprograms/video/UMqHq_9omr0</a:t>
            </a:r>
            <a:endParaRPr lang="en-US" dirty="0"/>
          </a:p>
          <a:p>
            <a:pPr>
              <a:lnSpc>
                <a:spcPct val="150000"/>
              </a:lnSpc>
            </a:pPr>
            <a:r>
              <a:rPr lang="en-US" dirty="0"/>
              <a:t>Instruction Pipeline and Performance: </a:t>
            </a:r>
            <a:r>
              <a:rPr lang="en-US" dirty="0">
                <a:hlinkClick r:id="rId3"/>
              </a:rPr>
              <a:t>https://lake.videoken.com/nptel/category/711/search/Instruction%20Pipeline%20&amp;%20Performance%20-%20I/video/-rwmE49WC_I</a:t>
            </a:r>
            <a:endParaRPr lang="en-US" dirty="0"/>
          </a:p>
          <a:p>
            <a:pPr>
              <a:lnSpc>
                <a:spcPct val="150000"/>
              </a:lnSpc>
            </a:pPr>
            <a:endParaRPr lang="en-US"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Innovative content</a:t>
            </a:r>
          </a:p>
        </p:txBody>
      </p:sp>
      <p:sp>
        <p:nvSpPr>
          <p:cNvPr id="3" name="Content Placeholder 2"/>
          <p:cNvSpPr>
            <a:spLocks noGrp="1"/>
          </p:cNvSpPr>
          <p:nvPr>
            <p:ph idx="1"/>
          </p:nvPr>
        </p:nvSpPr>
        <p:spPr/>
        <p:txBody>
          <a:bodyPr/>
          <a:lstStyle/>
          <a:p>
            <a:pPr>
              <a:lnSpc>
                <a:spcPct val="150000"/>
              </a:lnSpc>
            </a:pPr>
            <a:r>
              <a:rPr lang="en-US" dirty="0"/>
              <a:t>Hardwired CU </a:t>
            </a:r>
            <a:r>
              <a:rPr lang="en-US" dirty="0" err="1"/>
              <a:t>vs</a:t>
            </a:r>
            <a:r>
              <a:rPr lang="en-US" dirty="0"/>
              <a:t> Micro-programmed CU: </a:t>
            </a:r>
            <a:r>
              <a:rPr lang="en-US" dirty="0">
                <a:hlinkClick r:id="rId2"/>
              </a:rPr>
              <a:t>https://www.youtube.com/watch?v=A8weMAyF6UM</a:t>
            </a:r>
            <a:endParaRPr lang="en-US" dirty="0"/>
          </a:p>
          <a:p>
            <a:pPr>
              <a:lnSpc>
                <a:spcPct val="150000"/>
              </a:lnSpc>
            </a:pPr>
            <a:r>
              <a:rPr lang="en-US" dirty="0"/>
              <a:t>How instruction is executed: </a:t>
            </a:r>
          </a:p>
          <a:p>
            <a:pPr>
              <a:lnSpc>
                <a:spcPct val="150000"/>
              </a:lnSpc>
              <a:buNone/>
            </a:pPr>
            <a:r>
              <a:rPr lang="en-US" dirty="0">
                <a:hlinkClick r:id="rId3"/>
              </a:rPr>
              <a:t>    https://www.futurelearn.com/courses/how-computers-work/0/steps/49284</a:t>
            </a:r>
            <a:endParaRPr lang="en-US" dirty="0"/>
          </a:p>
          <a:p>
            <a:pPr>
              <a:lnSpc>
                <a:spcPct val="150000"/>
              </a:lnSpc>
            </a:pPr>
            <a:r>
              <a:rPr lang="en-US" dirty="0"/>
              <a:t>Bus architecture and how register transfers work - 8 bit register:</a:t>
            </a:r>
          </a:p>
          <a:p>
            <a:pPr>
              <a:lnSpc>
                <a:spcPct val="150000"/>
              </a:lnSpc>
              <a:buNone/>
            </a:pPr>
            <a:r>
              <a:rPr lang="en-US" dirty="0">
                <a:hlinkClick r:id="rId4"/>
              </a:rPr>
              <a:t>    https://www.youtube.com/watch?v=QzWW-CBugZo</a:t>
            </a:r>
            <a:endParaRPr lang="en-US" dirty="0"/>
          </a:p>
          <a:p>
            <a:pPr>
              <a:lnSpc>
                <a:spcPct val="150000"/>
              </a:lnSpc>
              <a:buNone/>
            </a:pPr>
            <a:endParaRPr lang="en-US" dirty="0"/>
          </a:p>
          <a:p>
            <a:pPr>
              <a:lnSpc>
                <a:spcPct val="150000"/>
              </a:lnSpc>
              <a:buNone/>
            </a:pPr>
            <a:endParaRPr lang="en-US" dirty="0"/>
          </a:p>
          <a:p>
            <a:pPr>
              <a:lnSpc>
                <a:spcPct val="150000"/>
              </a:lnSpc>
            </a:pPr>
            <a:endParaRPr lang="en-US"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FDP content</a:t>
            </a:r>
          </a:p>
        </p:txBody>
      </p:sp>
      <p:sp>
        <p:nvSpPr>
          <p:cNvPr id="3" name="Content Placeholder 2"/>
          <p:cNvSpPr>
            <a:spLocks noGrp="1"/>
          </p:cNvSpPr>
          <p:nvPr>
            <p:ph idx="1"/>
          </p:nvPr>
        </p:nvSpPr>
        <p:spPr/>
        <p:txBody>
          <a:bodyPr/>
          <a:lstStyle/>
          <a:p>
            <a:pPr>
              <a:lnSpc>
                <a:spcPct val="150000"/>
              </a:lnSpc>
            </a:pPr>
            <a:r>
              <a:rPr lang="en-US" dirty="0" err="1"/>
              <a:t>Microprogrammed</a:t>
            </a:r>
            <a:r>
              <a:rPr lang="en-US" dirty="0"/>
              <a:t> Control-I</a:t>
            </a:r>
          </a:p>
          <a:p>
            <a:pPr>
              <a:lnSpc>
                <a:spcPct val="150000"/>
              </a:lnSpc>
            </a:pPr>
            <a:r>
              <a:rPr lang="en-US" dirty="0">
                <a:hlinkClick r:id="rId2"/>
              </a:rPr>
              <a:t>https://www.youtube.com/watch?v=Ru6YeppPA0U</a:t>
            </a:r>
            <a:endParaRPr lang="en-US" dirty="0"/>
          </a:p>
          <a:p>
            <a:pPr>
              <a:lnSpc>
                <a:spcPct val="150000"/>
              </a:lnSpc>
            </a:pPr>
            <a:r>
              <a:rPr lang="en-US" dirty="0"/>
              <a:t>Design of Hardwired controlled Control Unit</a:t>
            </a:r>
          </a:p>
          <a:p>
            <a:pPr>
              <a:lnSpc>
                <a:spcPct val="150000"/>
              </a:lnSpc>
            </a:pPr>
            <a:r>
              <a:rPr lang="en-US" dirty="0">
                <a:hlinkClick r:id="rId3"/>
              </a:rPr>
              <a:t>https://www.youtube.com/watch?v=b5thcNYBrQc</a:t>
            </a:r>
            <a:endParaRPr lang="en-US"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Assessment Question</a:t>
            </a:r>
          </a:p>
        </p:txBody>
      </p:sp>
      <p:sp>
        <p:nvSpPr>
          <p:cNvPr id="3" name="Content Placeholder 2"/>
          <p:cNvSpPr>
            <a:spLocks noGrp="1"/>
          </p:cNvSpPr>
          <p:nvPr>
            <p:ph idx="1"/>
          </p:nvPr>
        </p:nvSpPr>
        <p:spPr/>
        <p:txBody>
          <a:bodyPr>
            <a:normAutofit/>
          </a:bodyPr>
          <a:lstStyle/>
          <a:p>
            <a:r>
              <a:rPr lang="en-US" dirty="0"/>
              <a:t>How register transfer take place in processor ?</a:t>
            </a:r>
          </a:p>
          <a:p>
            <a:r>
              <a:rPr lang="en-US" dirty="0"/>
              <a:t>What instructions to be followed to read and write data from memory?</a:t>
            </a:r>
          </a:p>
          <a:p>
            <a:r>
              <a:rPr lang="en-US" dirty="0"/>
              <a:t>How to generated </a:t>
            </a:r>
            <a:r>
              <a:rPr lang="en-US" dirty="0" err="1"/>
              <a:t>Zin</a:t>
            </a:r>
            <a:r>
              <a:rPr lang="en-US" dirty="0"/>
              <a:t> signal?</a:t>
            </a:r>
          </a:p>
          <a:p>
            <a:r>
              <a:rPr lang="en-US" dirty="0"/>
              <a:t>How End signal is generated?</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65</a:t>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52400"/>
            <a:ext cx="10515600" cy="990600"/>
          </a:xfrm>
        </p:spPr>
        <p:txBody>
          <a:bodyPr/>
          <a:lstStyle/>
          <a:p>
            <a:r>
              <a:rPr lang="en-US" dirty="0"/>
              <a:t>Quiz questions</a:t>
            </a:r>
          </a:p>
        </p:txBody>
      </p:sp>
      <p:sp>
        <p:nvSpPr>
          <p:cNvPr id="3" name="Content Placeholder 2"/>
          <p:cNvSpPr>
            <a:spLocks noGrp="1"/>
          </p:cNvSpPr>
          <p:nvPr>
            <p:ph idx="1"/>
          </p:nvPr>
        </p:nvSpPr>
        <p:spPr>
          <a:xfrm>
            <a:off x="685800" y="990600"/>
            <a:ext cx="10515600" cy="5029200"/>
          </a:xfrm>
        </p:spPr>
        <p:txBody>
          <a:bodyPr>
            <a:normAutofit/>
          </a:bodyPr>
          <a:lstStyle/>
          <a:p>
            <a:pPr>
              <a:lnSpc>
                <a:spcPct val="150000"/>
              </a:lnSpc>
            </a:pPr>
            <a:r>
              <a:rPr lang="en-US" b="1" dirty="0"/>
              <a:t>1. What does the hardwired control generator consist of?</a:t>
            </a:r>
            <a:br>
              <a:rPr lang="en-US" dirty="0"/>
            </a:br>
            <a:r>
              <a:rPr lang="en-US" dirty="0"/>
              <a:t>a) Decoder/encoder</a:t>
            </a:r>
            <a:br>
              <a:rPr lang="en-US" dirty="0"/>
            </a:br>
            <a:r>
              <a:rPr lang="en-US" dirty="0"/>
              <a:t>b) Condition codes</a:t>
            </a:r>
            <a:br>
              <a:rPr lang="en-US" dirty="0"/>
            </a:br>
            <a:r>
              <a:rPr lang="en-US" dirty="0"/>
              <a:t>c) Control step counter</a:t>
            </a:r>
            <a:br>
              <a:rPr lang="en-US" dirty="0"/>
            </a:br>
            <a:r>
              <a:rPr lang="en-US" dirty="0"/>
              <a:t>d) All of the mentioned</a:t>
            </a:r>
          </a:p>
          <a:p>
            <a:pPr>
              <a:lnSpc>
                <a:spcPct val="150000"/>
              </a:lnSpc>
            </a:pPr>
            <a:r>
              <a:rPr lang="en-US" b="1" dirty="0"/>
              <a:t>2. What does the end instruction do?</a:t>
            </a:r>
            <a:br>
              <a:rPr lang="en-US" dirty="0"/>
            </a:br>
            <a:r>
              <a:rPr lang="en-US" dirty="0"/>
              <a:t>a) It ends the generation of a signal</a:t>
            </a:r>
            <a:br>
              <a:rPr lang="en-US" dirty="0"/>
            </a:br>
            <a:r>
              <a:rPr lang="en-US" dirty="0"/>
              <a:t>b) It ends the complete generation process</a:t>
            </a:r>
            <a:br>
              <a:rPr lang="en-US" dirty="0"/>
            </a:br>
            <a:r>
              <a:rPr lang="en-US" dirty="0"/>
              <a:t>c) It starts a new instruction fetch cycle and resets the counter</a:t>
            </a:r>
            <a:br>
              <a:rPr lang="en-US" dirty="0"/>
            </a:br>
            <a:r>
              <a:rPr lang="en-US" dirty="0"/>
              <a:t>d) It is used to shift the control to the processor</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8200"/>
            <a:ext cx="11125200" cy="4351338"/>
          </a:xfrm>
        </p:spPr>
        <p:txBody>
          <a:bodyPr>
            <a:noAutofit/>
          </a:bodyPr>
          <a:lstStyle/>
          <a:p>
            <a:pPr>
              <a:lnSpc>
                <a:spcPct val="150000"/>
              </a:lnSpc>
            </a:pPr>
            <a:r>
              <a:rPr lang="en-US" b="1" dirty="0"/>
              <a:t>3.  The part of a processor which contains hardware necessary to perform all the operations required by a computer:</a:t>
            </a:r>
            <a:br>
              <a:rPr lang="en-US" dirty="0"/>
            </a:br>
            <a:r>
              <a:rPr lang="en-US" dirty="0"/>
              <a:t>a) Data path</a:t>
            </a:r>
            <a:br>
              <a:rPr lang="en-US" dirty="0"/>
            </a:br>
            <a:r>
              <a:rPr lang="en-US" dirty="0"/>
              <a:t>b) Controller</a:t>
            </a:r>
            <a:br>
              <a:rPr lang="en-US" dirty="0"/>
            </a:br>
            <a:r>
              <a:rPr lang="en-US" dirty="0"/>
              <a:t>c) Registers</a:t>
            </a:r>
            <a:br>
              <a:rPr lang="en-US" dirty="0"/>
            </a:br>
            <a:r>
              <a:rPr lang="en-US" dirty="0"/>
              <a:t>d) Cache</a:t>
            </a:r>
          </a:p>
          <a:p>
            <a:pPr>
              <a:lnSpc>
                <a:spcPct val="150000"/>
              </a:lnSpc>
            </a:pPr>
            <a:r>
              <a:rPr lang="en-US" b="1" dirty="0"/>
              <a:t>4.  A set of microinstructions for a single machine instruction is called ___________</a:t>
            </a:r>
            <a:br>
              <a:rPr lang="en-US" dirty="0"/>
            </a:br>
            <a:r>
              <a:rPr lang="en-US" dirty="0"/>
              <a:t>a) Program</a:t>
            </a:r>
            <a:br>
              <a:rPr lang="en-US" dirty="0"/>
            </a:br>
            <a:r>
              <a:rPr lang="en-US" dirty="0"/>
              <a:t>b) Command</a:t>
            </a:r>
            <a:br>
              <a:rPr lang="en-US" dirty="0"/>
            </a:br>
            <a:r>
              <a:rPr lang="en-US" dirty="0"/>
              <a:t>c) Micro program</a:t>
            </a:r>
            <a:br>
              <a:rPr lang="en-US" dirty="0"/>
            </a:br>
            <a:r>
              <a:rPr lang="en-US" dirty="0"/>
              <a:t>d) Micro command</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67</a:t>
            </a:fld>
            <a:endParaRPr lang="en-US" dirty="0"/>
          </a:p>
        </p:txBody>
      </p:sp>
      <p:sp>
        <p:nvSpPr>
          <p:cNvPr id="6" name="Title 1"/>
          <p:cNvSpPr txBox="1">
            <a:spLocks noGrp="1"/>
          </p:cNvSpPr>
          <p:nvPr>
            <p:ph type="title"/>
          </p:nvPr>
        </p:nvSpPr>
        <p:spPr>
          <a:xfrm>
            <a:off x="1765798" y="1"/>
            <a:ext cx="10515600" cy="914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500" b="1" i="0" u="none" strike="noStrike" kern="1200" cap="none" spc="0" normalizeH="0" baseline="0" noProof="0" dirty="0">
                <a:ln>
                  <a:noFill/>
                </a:ln>
                <a:solidFill>
                  <a:srgbClr val="C00000"/>
                </a:solidFill>
                <a:effectLst/>
                <a:uLnTx/>
                <a:uFillTx/>
                <a:latin typeface="Museo 300" panose="02000000000000000000" pitchFamily="50" charset="0"/>
                <a:ea typeface="+mj-ea"/>
                <a:cs typeface="+mj-cs"/>
              </a:rPr>
              <a:t>Quiz questions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762000"/>
            <a:ext cx="11353800" cy="4351338"/>
          </a:xfrm>
        </p:spPr>
        <p:txBody>
          <a:bodyPr>
            <a:noAutofit/>
          </a:bodyPr>
          <a:lstStyle/>
          <a:p>
            <a:pPr>
              <a:lnSpc>
                <a:spcPct val="150000"/>
              </a:lnSpc>
            </a:pPr>
            <a:r>
              <a:rPr lang="en-US" b="1" dirty="0"/>
              <a:t>5. ___________ is the raw material used as input and __________ is the processed data obtained as output of data processing.</a:t>
            </a:r>
            <a:br>
              <a:rPr lang="en-US" dirty="0"/>
            </a:br>
            <a:r>
              <a:rPr lang="en-US" dirty="0"/>
              <a:t>a) Data, Instructions</a:t>
            </a:r>
            <a:br>
              <a:rPr lang="en-US" dirty="0"/>
            </a:br>
            <a:r>
              <a:rPr lang="en-US" dirty="0"/>
              <a:t>b) Instructions, Program</a:t>
            </a:r>
            <a:br>
              <a:rPr lang="en-US" dirty="0"/>
            </a:br>
            <a:r>
              <a:rPr lang="en-US" dirty="0"/>
              <a:t>c) Data, Program</a:t>
            </a:r>
            <a:br>
              <a:rPr lang="en-US" dirty="0"/>
            </a:br>
            <a:r>
              <a:rPr lang="en-US" dirty="0"/>
              <a:t>d) Program, Code</a:t>
            </a:r>
          </a:p>
          <a:p>
            <a:pPr>
              <a:lnSpc>
                <a:spcPct val="150000"/>
              </a:lnSpc>
            </a:pPr>
            <a:r>
              <a:rPr lang="en-US" b="1" dirty="0"/>
              <a:t>6. If the control signals are generated by combinational logic, then they are generated by a type of _______________ controlled unit.</a:t>
            </a:r>
            <a:br>
              <a:rPr lang="en-US" dirty="0"/>
            </a:br>
            <a:r>
              <a:rPr lang="en-US" dirty="0"/>
              <a:t>a) Micro programmed</a:t>
            </a:r>
            <a:br>
              <a:rPr lang="en-US" dirty="0"/>
            </a:br>
            <a:r>
              <a:rPr lang="en-US" dirty="0"/>
              <a:t>b) Software</a:t>
            </a:r>
            <a:br>
              <a:rPr lang="en-US" dirty="0"/>
            </a:br>
            <a:r>
              <a:rPr lang="en-US" dirty="0"/>
              <a:t>c) Logic</a:t>
            </a:r>
            <a:br>
              <a:rPr lang="en-US" dirty="0"/>
            </a:br>
            <a:r>
              <a:rPr lang="en-US" dirty="0"/>
              <a:t>d) Hardwired</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68</a:t>
            </a:fld>
            <a:endParaRPr lang="en-US" dirty="0"/>
          </a:p>
        </p:txBody>
      </p:sp>
      <p:sp>
        <p:nvSpPr>
          <p:cNvPr id="5" name="Title 1"/>
          <p:cNvSpPr txBox="1">
            <a:spLocks noGrp="1"/>
          </p:cNvSpPr>
          <p:nvPr>
            <p:ph type="title"/>
          </p:nvPr>
        </p:nvSpPr>
        <p:spPr>
          <a:xfrm>
            <a:off x="1676400" y="-228600"/>
            <a:ext cx="10515600" cy="1325563"/>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500" b="1" i="0" u="none" strike="noStrike" kern="1200" cap="none" spc="0" normalizeH="0" baseline="0" noProof="0" dirty="0">
                <a:ln>
                  <a:noFill/>
                </a:ln>
                <a:solidFill>
                  <a:srgbClr val="C00000"/>
                </a:solidFill>
                <a:effectLst/>
                <a:uLnTx/>
                <a:uFillTx/>
                <a:latin typeface="Museo 300" panose="02000000000000000000" pitchFamily="50" charset="0"/>
                <a:ea typeface="+mj-ea"/>
                <a:cs typeface="+mj-cs"/>
              </a:rPr>
              <a:t>Quiz questions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38200"/>
            <a:ext cx="10515600" cy="4876800"/>
          </a:xfrm>
        </p:spPr>
        <p:txBody>
          <a:bodyPr>
            <a:noAutofit/>
          </a:bodyPr>
          <a:lstStyle/>
          <a:p>
            <a:pPr>
              <a:lnSpc>
                <a:spcPct val="150000"/>
              </a:lnSpc>
            </a:pPr>
            <a:r>
              <a:rPr lang="en-US" b="1" dirty="0"/>
              <a:t>7. In multiple Bus organization, the registers are collectively placed and referred as </a:t>
            </a:r>
            <a:r>
              <a:rPr lang="en-US" dirty="0"/>
              <a:t>______</a:t>
            </a:r>
            <a:br>
              <a:rPr lang="en-US" dirty="0"/>
            </a:br>
            <a:r>
              <a:rPr lang="en-US" dirty="0"/>
              <a:t>a) Set registers</a:t>
            </a:r>
            <a:br>
              <a:rPr lang="en-US" dirty="0"/>
            </a:br>
            <a:r>
              <a:rPr lang="en-US" dirty="0"/>
              <a:t>b) Register file</a:t>
            </a:r>
            <a:br>
              <a:rPr lang="en-US" dirty="0"/>
            </a:br>
            <a:r>
              <a:rPr lang="en-US" dirty="0"/>
              <a:t>c) Register Block</a:t>
            </a:r>
            <a:br>
              <a:rPr lang="en-US" dirty="0"/>
            </a:br>
            <a:r>
              <a:rPr lang="en-US" dirty="0"/>
              <a:t>d) Map registers</a:t>
            </a:r>
          </a:p>
          <a:p>
            <a:pPr>
              <a:lnSpc>
                <a:spcPct val="150000"/>
              </a:lnSpc>
            </a:pPr>
            <a:r>
              <a:rPr lang="en-US" b="1" dirty="0"/>
              <a:t>8. The main advantage of multiple bus organization over a single bus is _____</a:t>
            </a:r>
            <a:br>
              <a:rPr lang="en-US" dirty="0"/>
            </a:br>
            <a:r>
              <a:rPr lang="en-US" dirty="0"/>
              <a:t>a) Reduction in the number of cycles for execution</a:t>
            </a:r>
            <a:br>
              <a:rPr lang="en-US" dirty="0"/>
            </a:br>
            <a:r>
              <a:rPr lang="en-US" dirty="0"/>
              <a:t>b) Increase in size of the registers</a:t>
            </a:r>
            <a:br>
              <a:rPr lang="en-US" dirty="0"/>
            </a:br>
            <a:r>
              <a:rPr lang="en-US" dirty="0"/>
              <a:t>c) Better Connectivity</a:t>
            </a:r>
            <a:br>
              <a:rPr lang="en-US" dirty="0"/>
            </a:br>
            <a:r>
              <a:rPr lang="en-US" dirty="0"/>
              <a:t>d) None of the mentioned</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69</a:t>
            </a:fld>
            <a:endParaRPr lang="en-US" dirty="0"/>
          </a:p>
        </p:txBody>
      </p:sp>
      <p:sp>
        <p:nvSpPr>
          <p:cNvPr id="5" name="Title 1"/>
          <p:cNvSpPr txBox="1">
            <a:spLocks noGrp="1"/>
          </p:cNvSpPr>
          <p:nvPr>
            <p:ph type="title"/>
          </p:nvPr>
        </p:nvSpPr>
        <p:spPr>
          <a:xfrm>
            <a:off x="1676400" y="-228600"/>
            <a:ext cx="10515600" cy="1325563"/>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500" b="1" i="0" u="none" strike="noStrike" kern="1200" cap="none" spc="0" normalizeH="0" baseline="0" noProof="0">
                <a:ln>
                  <a:noFill/>
                </a:ln>
                <a:solidFill>
                  <a:srgbClr val="C00000"/>
                </a:solidFill>
                <a:effectLst/>
                <a:uLnTx/>
                <a:uFillTx/>
                <a:latin typeface="Museo 300" panose="02000000000000000000" pitchFamily="50" charset="0"/>
                <a:ea typeface="+mj-ea"/>
                <a:cs typeface="+mj-cs"/>
              </a:rPr>
              <a:t>Quiz questions</a:t>
            </a:r>
            <a:endParaRPr kumimoji="0" lang="en-US" sz="3500" b="1" i="0" u="none" strike="noStrike" kern="1200" cap="none" spc="0" normalizeH="0" baseline="0" noProof="0" dirty="0">
              <a:ln>
                <a:noFill/>
              </a:ln>
              <a:solidFill>
                <a:srgbClr val="C00000"/>
              </a:solidFill>
              <a:effectLst/>
              <a:uLnTx/>
              <a:uFillTx/>
              <a:latin typeface="Museo 300" panose="02000000000000000000" pitchFamily="50" charset="0"/>
              <a:ea typeface="+mj-ea"/>
              <a:cs typeface="+mj-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0"/>
            <a:ext cx="10515600" cy="4351338"/>
          </a:xfrm>
        </p:spPr>
        <p:txBody>
          <a:bodyPr/>
          <a:lstStyle/>
          <a:p>
            <a:pPr>
              <a:lnSpc>
                <a:spcPct val="150000"/>
              </a:lnSpc>
            </a:pPr>
            <a:r>
              <a:rPr lang="en-US" b="1" dirty="0"/>
              <a:t>9.  What does MAR stand for?</a:t>
            </a:r>
            <a:br>
              <a:rPr lang="en-US" dirty="0"/>
            </a:br>
            <a:r>
              <a:rPr lang="en-US" dirty="0"/>
              <a:t>a) Main Address Register</a:t>
            </a:r>
            <a:br>
              <a:rPr lang="en-US" dirty="0"/>
            </a:br>
            <a:r>
              <a:rPr lang="en-US" dirty="0"/>
              <a:t>b) Memory Access Register</a:t>
            </a:r>
            <a:br>
              <a:rPr lang="en-US" dirty="0"/>
            </a:br>
            <a:r>
              <a:rPr lang="en-US" dirty="0"/>
              <a:t>c) Main Accessible Register</a:t>
            </a:r>
            <a:br>
              <a:rPr lang="en-US" dirty="0"/>
            </a:br>
            <a:r>
              <a:rPr lang="en-US" dirty="0"/>
              <a:t>d) Memory Address Register</a:t>
            </a:r>
          </a:p>
          <a:p>
            <a:pPr>
              <a:lnSpc>
                <a:spcPct val="150000"/>
              </a:lnSpc>
            </a:pPr>
            <a:r>
              <a:rPr lang="en-US" b="1" dirty="0"/>
              <a:t>10. Micro-program consists of a set of microinstructions which are strings of 0s and 1s.</a:t>
            </a:r>
            <a:br>
              <a:rPr lang="en-US" dirty="0"/>
            </a:br>
            <a:r>
              <a:rPr lang="en-US" dirty="0"/>
              <a:t>a) True</a:t>
            </a:r>
            <a:br>
              <a:rPr lang="en-US" dirty="0"/>
            </a:br>
            <a:r>
              <a:rPr lang="en-US" dirty="0"/>
              <a:t>b) False</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70</a:t>
            </a:fld>
            <a:endParaRPr lang="en-US" dirty="0"/>
          </a:p>
        </p:txBody>
      </p:sp>
      <p:sp>
        <p:nvSpPr>
          <p:cNvPr id="5" name="Title 1"/>
          <p:cNvSpPr txBox="1">
            <a:spLocks noGrp="1"/>
          </p:cNvSpPr>
          <p:nvPr>
            <p:ph type="title"/>
          </p:nvPr>
        </p:nvSpPr>
        <p:spPr>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500" b="1" i="0" u="none" strike="noStrike" kern="1200" cap="none" spc="0" normalizeH="0" baseline="0" noProof="0">
                <a:ln>
                  <a:noFill/>
                </a:ln>
                <a:solidFill>
                  <a:srgbClr val="C00000"/>
                </a:solidFill>
                <a:effectLst/>
                <a:uLnTx/>
                <a:uFillTx/>
                <a:latin typeface="Museo 300" panose="02000000000000000000" pitchFamily="50" charset="0"/>
                <a:ea typeface="+mj-ea"/>
                <a:cs typeface="+mj-cs"/>
              </a:rPr>
              <a:t>Quiz questions</a:t>
            </a:r>
            <a:endParaRPr kumimoji="0" lang="en-US" sz="3500" b="1" i="0" u="none" strike="noStrike" kern="1200" cap="none" spc="0" normalizeH="0" baseline="0" noProof="0" dirty="0">
              <a:ln>
                <a:noFill/>
              </a:ln>
              <a:solidFill>
                <a:srgbClr val="C00000"/>
              </a:solidFill>
              <a:effectLst/>
              <a:uLnTx/>
              <a:uFillTx/>
              <a:latin typeface="Museo 300" panose="02000000000000000000" pitchFamily="50" charset="0"/>
              <a:ea typeface="+mj-ea"/>
              <a:cs typeface="+mj-cs"/>
            </a:endParaRPr>
          </a:p>
        </p:txBody>
      </p:sp>
      <p:sp>
        <p:nvSpPr>
          <p:cNvPr id="6" name="Rectangle 5"/>
          <p:cNvSpPr/>
          <p:nvPr/>
        </p:nvSpPr>
        <p:spPr>
          <a:xfrm>
            <a:off x="5562600" y="5638800"/>
            <a:ext cx="6477000" cy="261610"/>
          </a:xfrm>
          <a:prstGeom prst="rect">
            <a:avLst/>
          </a:prstGeom>
        </p:spPr>
        <p:txBody>
          <a:bodyPr wrap="square">
            <a:spAutoFit/>
          </a:bodyPr>
          <a:lstStyle/>
          <a:p>
            <a:r>
              <a:rPr lang="en-US" sz="1100" dirty="0">
                <a:latin typeface="Museo 300" pitchFamily="50" charset="0"/>
                <a:hlinkClick r:id="rId2"/>
              </a:rPr>
              <a:t>https://docs.google.com/forms/d/1v1vMAwqIXNK1hCTGM74kNbaB4LPFzzIjQvrHhAUYpqk/edit</a:t>
            </a:r>
            <a:endParaRPr lang="en-US" sz="1100" dirty="0">
              <a:latin typeface="Museo 300" pitchFamily="50"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5798" y="1"/>
            <a:ext cx="10515600" cy="914400"/>
          </a:xfrm>
        </p:spPr>
        <p:txBody>
          <a:bodyPr/>
          <a:lstStyle/>
          <a:p>
            <a:r>
              <a:rPr lang="en-US" dirty="0"/>
              <a:t>University paper questions</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71</a:t>
            </a:fld>
            <a:endParaRPr lang="en-US" dirty="0"/>
          </a:p>
        </p:txBody>
      </p:sp>
      <p:graphicFrame>
        <p:nvGraphicFramePr>
          <p:cNvPr id="5" name="Table 4"/>
          <p:cNvGraphicFramePr>
            <a:graphicFrameLocks noGrp="1"/>
          </p:cNvGraphicFramePr>
          <p:nvPr/>
        </p:nvGraphicFramePr>
        <p:xfrm>
          <a:off x="304800" y="1219200"/>
          <a:ext cx="11583988" cy="3999895"/>
        </p:xfrm>
        <a:graphic>
          <a:graphicData uri="http://schemas.openxmlformats.org/drawingml/2006/table">
            <a:tbl>
              <a:tblPr/>
              <a:tblGrid>
                <a:gridCol w="737832">
                  <a:extLst>
                    <a:ext uri="{9D8B030D-6E8A-4147-A177-3AD203B41FA5}">
                      <a16:colId xmlns:a16="http://schemas.microsoft.com/office/drawing/2014/main" val="20000"/>
                    </a:ext>
                  </a:extLst>
                </a:gridCol>
                <a:gridCol w="7459656">
                  <a:extLst>
                    <a:ext uri="{9D8B030D-6E8A-4147-A177-3AD203B41FA5}">
                      <a16:colId xmlns:a16="http://schemas.microsoft.com/office/drawing/2014/main" val="20001"/>
                    </a:ext>
                  </a:extLst>
                </a:gridCol>
                <a:gridCol w="1128310">
                  <a:extLst>
                    <a:ext uri="{9D8B030D-6E8A-4147-A177-3AD203B41FA5}">
                      <a16:colId xmlns:a16="http://schemas.microsoft.com/office/drawing/2014/main" val="20002"/>
                    </a:ext>
                  </a:extLst>
                </a:gridCol>
                <a:gridCol w="1023831">
                  <a:extLst>
                    <a:ext uri="{9D8B030D-6E8A-4147-A177-3AD203B41FA5}">
                      <a16:colId xmlns:a16="http://schemas.microsoft.com/office/drawing/2014/main" val="20003"/>
                    </a:ext>
                  </a:extLst>
                </a:gridCol>
                <a:gridCol w="1234359">
                  <a:extLst>
                    <a:ext uri="{9D8B030D-6E8A-4147-A177-3AD203B41FA5}">
                      <a16:colId xmlns:a16="http://schemas.microsoft.com/office/drawing/2014/main" val="20004"/>
                    </a:ext>
                  </a:extLst>
                </a:gridCol>
              </a:tblGrid>
              <a:tr h="840105">
                <a:tc>
                  <a:txBody>
                    <a:bodyPr/>
                    <a:lstStyle/>
                    <a:p>
                      <a:pPr marL="0" marR="0" algn="ctr">
                        <a:lnSpc>
                          <a:spcPct val="115000"/>
                        </a:lnSpc>
                        <a:spcBef>
                          <a:spcPts val="0"/>
                        </a:spcBef>
                        <a:spcAft>
                          <a:spcPts val="0"/>
                        </a:spcAft>
                      </a:pPr>
                      <a:r>
                        <a:rPr lang="en-US" sz="1800" b="1" dirty="0">
                          <a:latin typeface="Museo 300" pitchFamily="50" charset="0"/>
                          <a:ea typeface="Calibri"/>
                          <a:cs typeface="Times New Roman"/>
                        </a:rPr>
                        <a:t>Q. No.</a:t>
                      </a:r>
                      <a:endParaRPr lang="en-US" sz="18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b="1" u="sng" dirty="0">
                          <a:latin typeface="Museo 300" pitchFamily="50" charset="0"/>
                          <a:ea typeface="Calibri"/>
                          <a:cs typeface="Times New Roman"/>
                        </a:rPr>
                        <a:t>MODULE- 5</a:t>
                      </a:r>
                      <a:endParaRPr lang="en-US" sz="18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b="1">
                          <a:latin typeface="Museo 300" pitchFamily="50" charset="0"/>
                          <a:ea typeface="Calibri"/>
                          <a:cs typeface="Times New Roman"/>
                        </a:rPr>
                        <a:t>MARKS</a:t>
                      </a:r>
                      <a:endParaRPr lang="en-US" sz="180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b="1" dirty="0">
                          <a:solidFill>
                            <a:srgbClr val="000000"/>
                          </a:solidFill>
                          <a:latin typeface="Museo 300" pitchFamily="50" charset="0"/>
                          <a:ea typeface="Calibri"/>
                          <a:cs typeface="Times New Roman"/>
                        </a:rPr>
                        <a:t>CO Code</a:t>
                      </a:r>
                      <a:endParaRPr lang="en-US" sz="18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b="1" dirty="0">
                          <a:latin typeface="Museo 300" pitchFamily="50" charset="0"/>
                          <a:ea typeface="Calibri"/>
                          <a:cs typeface="Times New Roman"/>
                        </a:rPr>
                        <a:t>Learning</a:t>
                      </a:r>
                      <a:endParaRPr lang="en-US" sz="1800" dirty="0">
                        <a:latin typeface="Museo 300" pitchFamily="50" charset="0"/>
                        <a:ea typeface="Calibri"/>
                        <a:cs typeface="Times New Roman"/>
                      </a:endParaRPr>
                    </a:p>
                    <a:p>
                      <a:pPr marL="0" marR="0" algn="ctr">
                        <a:lnSpc>
                          <a:spcPct val="115000"/>
                        </a:lnSpc>
                        <a:spcBef>
                          <a:spcPts val="0"/>
                        </a:spcBef>
                        <a:spcAft>
                          <a:spcPts val="0"/>
                        </a:spcAft>
                      </a:pPr>
                      <a:r>
                        <a:rPr lang="en-US" sz="1800" b="1" dirty="0">
                          <a:latin typeface="Museo 300" pitchFamily="50" charset="0"/>
                          <a:ea typeface="Calibri"/>
                          <a:cs typeface="Times New Roman"/>
                        </a:rPr>
                        <a:t>Level</a:t>
                      </a:r>
                      <a:endParaRPr lang="en-US" sz="18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0"/>
                  </a:ext>
                </a:extLst>
              </a:tr>
              <a:tr h="1085606">
                <a:tc>
                  <a:txBody>
                    <a:bodyPr/>
                    <a:lstStyle/>
                    <a:p>
                      <a:pPr marL="0" marR="0" algn="ctr">
                        <a:lnSpc>
                          <a:spcPct val="115000"/>
                        </a:lnSpc>
                        <a:spcBef>
                          <a:spcPts val="0"/>
                        </a:spcBef>
                        <a:spcAft>
                          <a:spcPts val="0"/>
                        </a:spcAft>
                      </a:pPr>
                      <a:r>
                        <a:rPr lang="en-US" sz="1800" b="0">
                          <a:latin typeface="Museo 300" pitchFamily="50" charset="0"/>
                          <a:ea typeface="Calibri"/>
                          <a:cs typeface="Times New Roman"/>
                        </a:rPr>
                        <a:t>1</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just">
                        <a:lnSpc>
                          <a:spcPct val="115000"/>
                        </a:lnSpc>
                        <a:spcBef>
                          <a:spcPts val="0"/>
                        </a:spcBef>
                        <a:spcAft>
                          <a:spcPts val="0"/>
                        </a:spcAft>
                      </a:pPr>
                      <a:r>
                        <a:rPr lang="en-US" sz="2000" dirty="0">
                          <a:latin typeface="Museo 300" pitchFamily="50" charset="0"/>
                          <a:ea typeface="Calibri"/>
                          <a:cs typeface="Times New Roman"/>
                        </a:rPr>
                        <a:t>Explain the three bus organization of the processor and its advantage. Write control sequence for the instruction </a:t>
                      </a:r>
                      <a:r>
                        <a:rPr lang="en-US" sz="2000" dirty="0"/>
                        <a:t> MUL</a:t>
                      </a:r>
                      <a:r>
                        <a:rPr lang="en-US" sz="2000" spc="-5" dirty="0">
                          <a:solidFill>
                            <a:srgbClr val="FF0000"/>
                          </a:solidFill>
                          <a:cs typeface="Arial"/>
                        </a:rPr>
                        <a:t> </a:t>
                      </a:r>
                      <a:r>
                        <a:rPr lang="en-US" sz="2000" dirty="0">
                          <a:solidFill>
                            <a:schemeClr val="tx1"/>
                          </a:solidFill>
                          <a:cs typeface="Arial"/>
                        </a:rPr>
                        <a:t>R4, R5,</a:t>
                      </a:r>
                      <a:r>
                        <a:rPr lang="en-US" sz="2000" spc="-20" dirty="0">
                          <a:solidFill>
                            <a:schemeClr val="tx1"/>
                          </a:solidFill>
                          <a:cs typeface="Arial"/>
                        </a:rPr>
                        <a:t> </a:t>
                      </a:r>
                      <a:r>
                        <a:rPr lang="en-US" sz="2000" spc="-5" dirty="0">
                          <a:solidFill>
                            <a:schemeClr val="tx1"/>
                          </a:solidFill>
                          <a:cs typeface="Arial"/>
                        </a:rPr>
                        <a:t>R6</a:t>
                      </a:r>
                      <a:r>
                        <a:rPr lang="en-US" sz="2000" dirty="0">
                          <a:solidFill>
                            <a:schemeClr val="tx1"/>
                          </a:solidFill>
                        </a:rPr>
                        <a:t> </a:t>
                      </a:r>
                      <a:endParaRPr lang="en-US" sz="20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Museo 300" pitchFamily="50" charset="0"/>
                          <a:ea typeface="Calibri"/>
                          <a:cs typeface="Times New Roman"/>
                        </a:rPr>
                        <a:t>10</a:t>
                      </a: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1000"/>
                        </a:spcAft>
                      </a:pPr>
                      <a:r>
                        <a:rPr lang="en-US" sz="1800" b="0" dirty="0">
                          <a:latin typeface="Museo 300" pitchFamily="50" charset="0"/>
                          <a:ea typeface="Calibri"/>
                          <a:cs typeface="Times New Roman"/>
                        </a:rPr>
                        <a:t>C205.5</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Museo 300" pitchFamily="50" charset="0"/>
                          <a:ea typeface="Calibri"/>
                          <a:cs typeface="Times New Roman"/>
                        </a:rPr>
                        <a:t>L3</a:t>
                      </a: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1"/>
                  </a:ext>
                </a:extLst>
              </a:tr>
              <a:tr h="1037092">
                <a:tc>
                  <a:txBody>
                    <a:bodyPr/>
                    <a:lstStyle/>
                    <a:p>
                      <a:pPr marL="0" marR="0" algn="ctr">
                        <a:lnSpc>
                          <a:spcPct val="115000"/>
                        </a:lnSpc>
                        <a:spcBef>
                          <a:spcPts val="0"/>
                        </a:spcBef>
                        <a:spcAft>
                          <a:spcPts val="0"/>
                        </a:spcAft>
                      </a:pPr>
                      <a:r>
                        <a:rPr lang="en-US" sz="1800" b="0" dirty="0">
                          <a:latin typeface="Museo 300" pitchFamily="50" charset="0"/>
                          <a:ea typeface="Calibri"/>
                          <a:cs typeface="Times New Roman"/>
                        </a:rPr>
                        <a:t>2</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tab pos="228600" algn="l"/>
                        </a:tabLst>
                        <a:defRPr/>
                      </a:pPr>
                      <a:r>
                        <a:rPr lang="en-US" sz="2000" dirty="0">
                          <a:latin typeface="Museo 300" pitchFamily="50" charset="0"/>
                          <a:ea typeface="Calibri"/>
                          <a:cs typeface="Times New Roman"/>
                        </a:rPr>
                        <a:t>Discuss the organization of hardwired control. Explain how</a:t>
                      </a:r>
                      <a:r>
                        <a:rPr lang="en-US" sz="2000" baseline="0" dirty="0">
                          <a:latin typeface="Museo 300" pitchFamily="50" charset="0"/>
                          <a:ea typeface="Calibri"/>
                          <a:cs typeface="Times New Roman"/>
                        </a:rPr>
                        <a:t> END signal is generated?</a:t>
                      </a:r>
                      <a:endParaRPr lang="en-US" sz="20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Museo 300" pitchFamily="50" charset="0"/>
                          <a:ea typeface="Calibri"/>
                          <a:cs typeface="Times New Roman"/>
                        </a:rPr>
                        <a:t>7</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1000"/>
                        </a:spcAft>
                        <a:buClrTx/>
                        <a:buSzTx/>
                        <a:buFontTx/>
                        <a:buNone/>
                        <a:tabLst/>
                        <a:defRPr/>
                      </a:pPr>
                      <a:r>
                        <a:rPr lang="en-US" sz="1800" b="0" dirty="0">
                          <a:latin typeface="Museo 300" pitchFamily="50" charset="0"/>
                          <a:ea typeface="Calibri"/>
                          <a:cs typeface="Times New Roman"/>
                        </a:rPr>
                        <a:t>C205.5</a:t>
                      </a:r>
                    </a:p>
                    <a:p>
                      <a:pPr marL="0" marR="0" algn="ctr">
                        <a:lnSpc>
                          <a:spcPct val="115000"/>
                        </a:lnSpc>
                        <a:spcBef>
                          <a:spcPts val="0"/>
                        </a:spcBef>
                        <a:spcAft>
                          <a:spcPts val="1000"/>
                        </a:spcAft>
                      </a:pPr>
                      <a:endParaRPr lang="en-US" sz="1800" b="0" dirty="0">
                        <a:latin typeface="Museo 300" pitchFamily="50" charset="0"/>
                        <a:ea typeface="Calibri"/>
                        <a:cs typeface="Times New Roman"/>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Museo 300" pitchFamily="50" charset="0"/>
                          <a:ea typeface="Calibri"/>
                          <a:cs typeface="Times New Roman"/>
                        </a:rPr>
                        <a:t>L2</a:t>
                      </a: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2"/>
                  </a:ext>
                </a:extLst>
              </a:tr>
              <a:tr h="1037092">
                <a:tc>
                  <a:txBody>
                    <a:bodyPr/>
                    <a:lstStyle/>
                    <a:p>
                      <a:pPr marL="0" marR="0" algn="ctr">
                        <a:lnSpc>
                          <a:spcPct val="115000"/>
                        </a:lnSpc>
                        <a:spcBef>
                          <a:spcPts val="0"/>
                        </a:spcBef>
                        <a:spcAft>
                          <a:spcPts val="0"/>
                        </a:spcAft>
                      </a:pPr>
                      <a:r>
                        <a:rPr lang="en-US" sz="1800" b="0" dirty="0">
                          <a:latin typeface="Museo 300" pitchFamily="50" charset="0"/>
                          <a:ea typeface="Calibri"/>
                          <a:cs typeface="Times New Roman"/>
                        </a:rPr>
                        <a:t>3</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just">
                        <a:lnSpc>
                          <a:spcPct val="115000"/>
                        </a:lnSpc>
                        <a:spcBef>
                          <a:spcPts val="0"/>
                        </a:spcBef>
                        <a:spcAft>
                          <a:spcPts val="0"/>
                        </a:spcAft>
                        <a:tabLst>
                          <a:tab pos="228600" algn="l"/>
                        </a:tabLst>
                      </a:pPr>
                      <a:r>
                        <a:rPr lang="en-US" sz="2000" dirty="0">
                          <a:latin typeface="Museo 300" pitchFamily="50" charset="0"/>
                          <a:ea typeface="Calibri"/>
                          <a:cs typeface="Times New Roman"/>
                        </a:rPr>
                        <a:t>Discuss the control sequence</a:t>
                      </a:r>
                      <a:r>
                        <a:rPr lang="en-US" sz="2000" baseline="0" dirty="0">
                          <a:latin typeface="Museo 300" pitchFamily="50" charset="0"/>
                          <a:ea typeface="Calibri"/>
                          <a:cs typeface="Times New Roman"/>
                        </a:rPr>
                        <a:t> required to execute the instruction ADD (R3) , R1</a:t>
                      </a:r>
                      <a:endParaRPr lang="en-US" sz="20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Museo 300" pitchFamily="50" charset="0"/>
                          <a:ea typeface="Calibri"/>
                          <a:cs typeface="Times New Roman"/>
                        </a:rPr>
                        <a:t>7</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1000"/>
                        </a:spcAft>
                      </a:pPr>
                      <a:r>
                        <a:rPr lang="en-US" sz="1800" b="0" dirty="0">
                          <a:latin typeface="Museo 300" pitchFamily="50" charset="0"/>
                          <a:ea typeface="Calibri"/>
                          <a:cs typeface="Times New Roman"/>
                        </a:rPr>
                        <a:t>C205.5</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Museo 300" pitchFamily="50" charset="0"/>
                          <a:ea typeface="Calibri"/>
                          <a:cs typeface="Times New Roman"/>
                        </a:rPr>
                        <a:t>L2</a:t>
                      </a: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72</a:t>
            </a:fld>
            <a:endParaRPr lang="en-US" dirty="0"/>
          </a:p>
        </p:txBody>
      </p:sp>
      <p:sp>
        <p:nvSpPr>
          <p:cNvPr id="5" name="Title 1"/>
          <p:cNvSpPr>
            <a:spLocks noGrp="1"/>
          </p:cNvSpPr>
          <p:nvPr>
            <p:ph type="title"/>
          </p:nvPr>
        </p:nvSpPr>
        <p:spPr>
          <a:xfrm>
            <a:off x="1765798" y="1"/>
            <a:ext cx="10515600" cy="685800"/>
          </a:xfrm>
        </p:spPr>
        <p:txBody>
          <a:bodyPr/>
          <a:lstStyle/>
          <a:p>
            <a:r>
              <a:rPr lang="en-US" dirty="0"/>
              <a:t>University paper questions</a:t>
            </a:r>
          </a:p>
        </p:txBody>
      </p:sp>
      <p:graphicFrame>
        <p:nvGraphicFramePr>
          <p:cNvPr id="6" name="Table 5"/>
          <p:cNvGraphicFramePr>
            <a:graphicFrameLocks noGrp="1"/>
          </p:cNvGraphicFramePr>
          <p:nvPr/>
        </p:nvGraphicFramePr>
        <p:xfrm>
          <a:off x="304800" y="1219200"/>
          <a:ext cx="11583988" cy="2962803"/>
        </p:xfrm>
        <a:graphic>
          <a:graphicData uri="http://schemas.openxmlformats.org/drawingml/2006/table">
            <a:tbl>
              <a:tblPr/>
              <a:tblGrid>
                <a:gridCol w="737832">
                  <a:extLst>
                    <a:ext uri="{9D8B030D-6E8A-4147-A177-3AD203B41FA5}">
                      <a16:colId xmlns:a16="http://schemas.microsoft.com/office/drawing/2014/main" val="20000"/>
                    </a:ext>
                  </a:extLst>
                </a:gridCol>
                <a:gridCol w="7459656">
                  <a:extLst>
                    <a:ext uri="{9D8B030D-6E8A-4147-A177-3AD203B41FA5}">
                      <a16:colId xmlns:a16="http://schemas.microsoft.com/office/drawing/2014/main" val="20001"/>
                    </a:ext>
                  </a:extLst>
                </a:gridCol>
                <a:gridCol w="1128310">
                  <a:extLst>
                    <a:ext uri="{9D8B030D-6E8A-4147-A177-3AD203B41FA5}">
                      <a16:colId xmlns:a16="http://schemas.microsoft.com/office/drawing/2014/main" val="20002"/>
                    </a:ext>
                  </a:extLst>
                </a:gridCol>
                <a:gridCol w="1023831">
                  <a:extLst>
                    <a:ext uri="{9D8B030D-6E8A-4147-A177-3AD203B41FA5}">
                      <a16:colId xmlns:a16="http://schemas.microsoft.com/office/drawing/2014/main" val="20003"/>
                    </a:ext>
                  </a:extLst>
                </a:gridCol>
                <a:gridCol w="1234359">
                  <a:extLst>
                    <a:ext uri="{9D8B030D-6E8A-4147-A177-3AD203B41FA5}">
                      <a16:colId xmlns:a16="http://schemas.microsoft.com/office/drawing/2014/main" val="20004"/>
                    </a:ext>
                  </a:extLst>
                </a:gridCol>
              </a:tblGrid>
              <a:tr h="840105">
                <a:tc>
                  <a:txBody>
                    <a:bodyPr/>
                    <a:lstStyle/>
                    <a:p>
                      <a:pPr marL="0" marR="0" algn="ctr">
                        <a:lnSpc>
                          <a:spcPct val="115000"/>
                        </a:lnSpc>
                        <a:spcBef>
                          <a:spcPts val="0"/>
                        </a:spcBef>
                        <a:spcAft>
                          <a:spcPts val="0"/>
                        </a:spcAft>
                      </a:pPr>
                      <a:r>
                        <a:rPr lang="en-US" sz="1800" b="1" dirty="0">
                          <a:latin typeface="Museo 300" pitchFamily="50" charset="0"/>
                          <a:ea typeface="Calibri"/>
                          <a:cs typeface="Times New Roman"/>
                        </a:rPr>
                        <a:t>Q. No.</a:t>
                      </a:r>
                      <a:endParaRPr lang="en-US" sz="18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b="1" u="sng" dirty="0">
                          <a:latin typeface="Museo 300" pitchFamily="50" charset="0"/>
                          <a:ea typeface="Calibri"/>
                          <a:cs typeface="Times New Roman"/>
                        </a:rPr>
                        <a:t>MODULE- 5</a:t>
                      </a:r>
                      <a:endParaRPr lang="en-US" sz="18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b="1">
                          <a:latin typeface="Museo 300" pitchFamily="50" charset="0"/>
                          <a:ea typeface="Calibri"/>
                          <a:cs typeface="Times New Roman"/>
                        </a:rPr>
                        <a:t>MARKS</a:t>
                      </a:r>
                      <a:endParaRPr lang="en-US" sz="180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b="1" dirty="0">
                          <a:solidFill>
                            <a:srgbClr val="000000"/>
                          </a:solidFill>
                          <a:latin typeface="Museo 300" pitchFamily="50" charset="0"/>
                          <a:ea typeface="Calibri"/>
                          <a:cs typeface="Times New Roman"/>
                        </a:rPr>
                        <a:t>CO Code</a:t>
                      </a:r>
                      <a:endParaRPr lang="en-US" sz="18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b="1" dirty="0">
                          <a:latin typeface="Museo 300" pitchFamily="50" charset="0"/>
                          <a:ea typeface="Calibri"/>
                          <a:cs typeface="Times New Roman"/>
                        </a:rPr>
                        <a:t>Learning</a:t>
                      </a:r>
                      <a:endParaRPr lang="en-US" sz="1800" dirty="0">
                        <a:latin typeface="Museo 300" pitchFamily="50" charset="0"/>
                        <a:ea typeface="Calibri"/>
                        <a:cs typeface="Times New Roman"/>
                      </a:endParaRPr>
                    </a:p>
                    <a:p>
                      <a:pPr marL="0" marR="0" algn="ctr">
                        <a:lnSpc>
                          <a:spcPct val="115000"/>
                        </a:lnSpc>
                        <a:spcBef>
                          <a:spcPts val="0"/>
                        </a:spcBef>
                        <a:spcAft>
                          <a:spcPts val="0"/>
                        </a:spcAft>
                      </a:pPr>
                      <a:r>
                        <a:rPr lang="en-US" sz="1800" b="1" dirty="0">
                          <a:latin typeface="Museo 300" pitchFamily="50" charset="0"/>
                          <a:ea typeface="Calibri"/>
                          <a:cs typeface="Times New Roman"/>
                        </a:rPr>
                        <a:t>Level</a:t>
                      </a:r>
                      <a:endParaRPr lang="en-US" sz="18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0"/>
                  </a:ext>
                </a:extLst>
              </a:tr>
              <a:tr h="1085606">
                <a:tc>
                  <a:txBody>
                    <a:bodyPr/>
                    <a:lstStyle/>
                    <a:p>
                      <a:pPr marL="0" marR="0" algn="ctr">
                        <a:lnSpc>
                          <a:spcPct val="115000"/>
                        </a:lnSpc>
                        <a:spcBef>
                          <a:spcPts val="0"/>
                        </a:spcBef>
                        <a:spcAft>
                          <a:spcPts val="0"/>
                        </a:spcAft>
                      </a:pPr>
                      <a:r>
                        <a:rPr lang="en-US" sz="1800" b="0" dirty="0">
                          <a:latin typeface="Museo 300" pitchFamily="50" charset="0"/>
                          <a:ea typeface="Calibri"/>
                          <a:cs typeface="Times New Roman"/>
                        </a:rPr>
                        <a:t>4</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just">
                        <a:lnSpc>
                          <a:spcPct val="115000"/>
                        </a:lnSpc>
                        <a:spcBef>
                          <a:spcPts val="0"/>
                        </a:spcBef>
                        <a:spcAft>
                          <a:spcPts val="0"/>
                        </a:spcAft>
                      </a:pPr>
                      <a:r>
                        <a:rPr lang="en-US" sz="2000" dirty="0">
                          <a:latin typeface="Museo 300" pitchFamily="50" charset="0"/>
                          <a:ea typeface="Calibri"/>
                          <a:cs typeface="Times New Roman"/>
                        </a:rPr>
                        <a:t>With block diagram explain </a:t>
                      </a:r>
                      <a:r>
                        <a:rPr lang="en-US" sz="2000" dirty="0" err="1">
                          <a:latin typeface="Museo 300" pitchFamily="50" charset="0"/>
                          <a:ea typeface="Calibri"/>
                          <a:cs typeface="Times New Roman"/>
                        </a:rPr>
                        <a:t>microprogrammed</a:t>
                      </a:r>
                      <a:r>
                        <a:rPr lang="en-US" sz="2000" dirty="0">
                          <a:latin typeface="Museo 300" pitchFamily="50" charset="0"/>
                          <a:ea typeface="Calibri"/>
                          <a:cs typeface="Times New Roman"/>
                        </a:rPr>
                        <a:t> control unit. Also write</a:t>
                      </a:r>
                      <a:r>
                        <a:rPr lang="en-US" sz="2000" baseline="0" dirty="0">
                          <a:latin typeface="Museo 300" pitchFamily="50" charset="0"/>
                          <a:ea typeface="Calibri"/>
                          <a:cs typeface="Times New Roman"/>
                        </a:rPr>
                        <a:t> actions to execute ADD(R3), R1 </a:t>
                      </a:r>
                      <a:r>
                        <a:rPr lang="en-US" sz="2000" baseline="0" dirty="0" err="1">
                          <a:latin typeface="Museo 300" pitchFamily="50" charset="0"/>
                          <a:ea typeface="Calibri"/>
                          <a:cs typeface="Times New Roman"/>
                        </a:rPr>
                        <a:t>instuction</a:t>
                      </a:r>
                      <a:endParaRPr lang="en-US" sz="20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Museo 300" pitchFamily="50" charset="0"/>
                          <a:ea typeface="Calibri"/>
                          <a:cs typeface="Times New Roman"/>
                        </a:rPr>
                        <a:t>10</a:t>
                      </a: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1000"/>
                        </a:spcAft>
                      </a:pPr>
                      <a:r>
                        <a:rPr lang="en-US" sz="1800" b="0" dirty="0">
                          <a:latin typeface="Museo 300" pitchFamily="50" charset="0"/>
                          <a:ea typeface="Calibri"/>
                          <a:cs typeface="Times New Roman"/>
                        </a:rPr>
                        <a:t>C205.5</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Museo 300" pitchFamily="50" charset="0"/>
                          <a:ea typeface="Calibri"/>
                          <a:cs typeface="Times New Roman"/>
                        </a:rPr>
                        <a:t>L3</a:t>
                      </a: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1"/>
                  </a:ext>
                </a:extLst>
              </a:tr>
              <a:tr h="1037092">
                <a:tc>
                  <a:txBody>
                    <a:bodyPr/>
                    <a:lstStyle/>
                    <a:p>
                      <a:pPr marL="0" marR="0" algn="ctr">
                        <a:lnSpc>
                          <a:spcPct val="115000"/>
                        </a:lnSpc>
                        <a:spcBef>
                          <a:spcPts val="0"/>
                        </a:spcBef>
                        <a:spcAft>
                          <a:spcPts val="0"/>
                        </a:spcAft>
                      </a:pPr>
                      <a:r>
                        <a:rPr lang="en-US" sz="1800" b="0" dirty="0">
                          <a:latin typeface="Museo 300" pitchFamily="50" charset="0"/>
                          <a:ea typeface="Calibri"/>
                          <a:cs typeface="Times New Roman"/>
                        </a:rPr>
                        <a:t>5</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tab pos="228600" algn="l"/>
                        </a:tabLst>
                        <a:defRPr/>
                      </a:pPr>
                      <a:r>
                        <a:rPr lang="en-US" sz="2000" dirty="0">
                          <a:latin typeface="Museo 300" pitchFamily="50" charset="0"/>
                          <a:ea typeface="Calibri"/>
                          <a:cs typeface="Times New Roman"/>
                        </a:rPr>
                        <a:t>Describe</a:t>
                      </a:r>
                      <a:r>
                        <a:rPr lang="en-US" sz="2000" baseline="0" dirty="0">
                          <a:latin typeface="Museo 300" pitchFamily="50" charset="0"/>
                          <a:ea typeface="Calibri"/>
                          <a:cs typeface="Times New Roman"/>
                        </a:rPr>
                        <a:t> the sequence of control signals to be generated to fetch an instruction from memory in a single bus organization.</a:t>
                      </a:r>
                      <a:endParaRPr lang="en-US" sz="2000" dirty="0">
                        <a:latin typeface="Museo 300" pitchFamily="50" charset="0"/>
                        <a:ea typeface="Calibri"/>
                        <a:cs typeface="Times New Roman"/>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Museo 300" pitchFamily="50" charset="0"/>
                          <a:ea typeface="Calibri"/>
                          <a:cs typeface="Times New Roman"/>
                        </a:rPr>
                        <a:t>10</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1000"/>
                        </a:spcAft>
                        <a:buClrTx/>
                        <a:buSzTx/>
                        <a:buFontTx/>
                        <a:buNone/>
                        <a:tabLst/>
                        <a:defRPr/>
                      </a:pPr>
                      <a:r>
                        <a:rPr lang="en-US" sz="1800" b="0" dirty="0">
                          <a:latin typeface="Museo 300" pitchFamily="50" charset="0"/>
                          <a:ea typeface="Calibri"/>
                          <a:cs typeface="Times New Roman"/>
                        </a:rPr>
                        <a:t>C205.5</a:t>
                      </a:r>
                    </a:p>
                    <a:p>
                      <a:pPr marL="0" marR="0" algn="ctr">
                        <a:lnSpc>
                          <a:spcPct val="115000"/>
                        </a:lnSpc>
                        <a:spcBef>
                          <a:spcPts val="0"/>
                        </a:spcBef>
                        <a:spcAft>
                          <a:spcPts val="1000"/>
                        </a:spcAft>
                      </a:pPr>
                      <a:endParaRPr lang="en-US" sz="1800" b="0" dirty="0">
                        <a:latin typeface="Museo 300" pitchFamily="50" charset="0"/>
                        <a:ea typeface="Calibri"/>
                        <a:cs typeface="Times New Roman"/>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Museo 300" pitchFamily="50" charset="0"/>
                          <a:ea typeface="Calibri"/>
                          <a:cs typeface="Times New Roman"/>
                        </a:rPr>
                        <a:t>L2</a:t>
                      </a: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Box 6"/>
          <p:cNvSpPr txBox="1"/>
          <p:nvPr/>
        </p:nvSpPr>
        <p:spPr>
          <a:xfrm>
            <a:off x="10058400" y="5562600"/>
            <a:ext cx="1676400" cy="261610"/>
          </a:xfrm>
          <a:prstGeom prst="rect">
            <a:avLst/>
          </a:prstGeom>
          <a:noFill/>
        </p:spPr>
        <p:txBody>
          <a:bodyPr wrap="square" rtlCol="0">
            <a:spAutoFit/>
          </a:bodyPr>
          <a:lstStyle/>
          <a:p>
            <a:r>
              <a:rPr lang="en-US" sz="1100" dirty="0">
                <a:solidFill>
                  <a:schemeClr val="accent1"/>
                </a:solidFill>
                <a:latin typeface="Museo 300" pitchFamily="50" charset="0"/>
              </a:rPr>
              <a:t>www.vtu.ac.in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a:t>
            </a:r>
          </a:p>
        </p:txBody>
      </p:sp>
      <p:sp>
        <p:nvSpPr>
          <p:cNvPr id="3" name="Content Placeholder 2"/>
          <p:cNvSpPr>
            <a:spLocks noGrp="1"/>
          </p:cNvSpPr>
          <p:nvPr>
            <p:ph idx="1"/>
          </p:nvPr>
        </p:nvSpPr>
        <p:spPr/>
        <p:txBody>
          <a:bodyPr/>
          <a:lstStyle/>
          <a:p>
            <a:pPr>
              <a:lnSpc>
                <a:spcPct val="150000"/>
              </a:lnSpc>
            </a:pPr>
            <a:r>
              <a:rPr lang="en-US" dirty="0"/>
              <a:t>Study different hardwired control unit design methods.</a:t>
            </a:r>
          </a:p>
          <a:p>
            <a:pPr>
              <a:lnSpc>
                <a:spcPct val="150000"/>
              </a:lnSpc>
            </a:pPr>
            <a:endParaRPr lang="en-US" dirty="0"/>
          </a:p>
          <a:p>
            <a:pPr>
              <a:lnSpc>
                <a:spcPct val="150000"/>
              </a:lnSpc>
            </a:pPr>
            <a:r>
              <a:rPr lang="en-US" dirty="0"/>
              <a:t>For multiple bus organization, write control sequence to execute the instruction</a:t>
            </a:r>
          </a:p>
          <a:p>
            <a:pPr>
              <a:lnSpc>
                <a:spcPct val="150000"/>
              </a:lnSpc>
              <a:buNone/>
            </a:pPr>
            <a:r>
              <a:rPr lang="en-US" dirty="0"/>
              <a:t>    SUB</a:t>
            </a:r>
            <a:r>
              <a:rPr lang="en-US" spc="-5" dirty="0">
                <a:solidFill>
                  <a:srgbClr val="FF0000"/>
                </a:solidFill>
                <a:cs typeface="Arial"/>
              </a:rPr>
              <a:t> </a:t>
            </a:r>
            <a:r>
              <a:rPr lang="en-US" dirty="0">
                <a:solidFill>
                  <a:schemeClr val="tx1"/>
                </a:solidFill>
                <a:cs typeface="Arial"/>
              </a:rPr>
              <a:t>R4, R5,</a:t>
            </a:r>
            <a:r>
              <a:rPr lang="en-US" spc="-20" dirty="0">
                <a:solidFill>
                  <a:schemeClr val="tx1"/>
                </a:solidFill>
                <a:cs typeface="Arial"/>
              </a:rPr>
              <a:t> </a:t>
            </a:r>
            <a:r>
              <a:rPr lang="en-US" spc="-5" dirty="0">
                <a:solidFill>
                  <a:schemeClr val="tx1"/>
                </a:solidFill>
                <a:cs typeface="Arial"/>
              </a:rPr>
              <a:t>R6</a:t>
            </a:r>
            <a:r>
              <a:rPr lang="en-US" dirty="0">
                <a:solidFill>
                  <a:schemeClr val="tx1"/>
                </a:solidFill>
              </a:rPr>
              <a:t> </a:t>
            </a:r>
          </a:p>
          <a:p>
            <a:endParaRPr lang="en-US" dirty="0"/>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73</a:t>
            </a:fld>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09999" y="2895599"/>
            <a:ext cx="7259561" cy="2829147"/>
          </a:xfrm>
        </p:spPr>
        <p:txBody>
          <a:bodyPr>
            <a:normAutofit/>
          </a:bodyPr>
          <a:lstStyle/>
          <a:p>
            <a:pPr>
              <a:buNone/>
            </a:pPr>
            <a:r>
              <a:rPr lang="en-US" sz="4800" dirty="0">
                <a:solidFill>
                  <a:srgbClr val="FF0000"/>
                </a:solidFill>
              </a:rPr>
              <a:t>Thank You</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74</a:t>
            </a:fld>
            <a:endParaRPr lang="en-US" dirty="0"/>
          </a:p>
        </p:txBody>
      </p:sp>
    </p:spTree>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3808</TotalTime>
  <Words>5078</Words>
  <Application>Microsoft Office PowerPoint</Application>
  <PresentationFormat>Widescreen</PresentationFormat>
  <Paragraphs>667</Paragraphs>
  <Slides>74</Slides>
  <Notes>2</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74</vt:i4>
      </vt:variant>
    </vt:vector>
  </HeadingPairs>
  <TitlesOfParts>
    <vt:vector size="85" baseType="lpstr">
      <vt:lpstr>Arial</vt:lpstr>
      <vt:lpstr>Calibri</vt:lpstr>
      <vt:lpstr>Calibri Light</vt:lpstr>
      <vt:lpstr>Carlito</vt:lpstr>
      <vt:lpstr>Museo 300</vt:lpstr>
      <vt:lpstr>Times New Roman</vt:lpstr>
      <vt:lpstr>Wingdings</vt:lpstr>
      <vt:lpstr>1_Office Theme</vt:lpstr>
      <vt:lpstr>Office Theme</vt:lpstr>
      <vt:lpstr>5_Office Theme</vt:lpstr>
      <vt:lpstr>3_Office Theme</vt:lpstr>
      <vt:lpstr>PowerPoint Presentation</vt:lpstr>
      <vt:lpstr>Syllabus for Course </vt:lpstr>
      <vt:lpstr>Module 5 Structure</vt:lpstr>
      <vt:lpstr>Reference Books</vt:lpstr>
      <vt:lpstr>PowerPoint Presentation</vt:lpstr>
      <vt:lpstr>PowerPoint Presentation</vt:lpstr>
      <vt:lpstr>Recalling Concepts</vt:lpstr>
      <vt:lpstr>Fundamental Concepts</vt:lpstr>
      <vt:lpstr>Steps in Executing an  Instruction</vt:lpstr>
      <vt:lpstr>Processor Organization</vt:lpstr>
      <vt:lpstr>Processor Organization continue….</vt:lpstr>
      <vt:lpstr>Processor Organization continue....</vt:lpstr>
      <vt:lpstr>Sequence of Steps in  Executing an Instruction</vt:lpstr>
      <vt:lpstr>Register Transfers</vt:lpstr>
      <vt:lpstr>Register Transfers continue..</vt:lpstr>
      <vt:lpstr>Register Transfers..</vt:lpstr>
      <vt:lpstr>Register Transfers Continue..</vt:lpstr>
      <vt:lpstr>Register Transfers..</vt:lpstr>
      <vt:lpstr>Register Transfers continue..</vt:lpstr>
      <vt:lpstr>D- Flip flop</vt:lpstr>
      <vt:lpstr>Multiplexer</vt:lpstr>
      <vt:lpstr>Tri state Buffer</vt:lpstr>
      <vt:lpstr>Input And Output Gating For One Register Bit.</vt:lpstr>
      <vt:lpstr>Performing an Arithmetic or  Logic Operation</vt:lpstr>
      <vt:lpstr>Performing an Arithmetic or  Logic Operation continue..</vt:lpstr>
      <vt:lpstr>Fetching a Word from  Memory</vt:lpstr>
      <vt:lpstr>Fetching a Word from  Memory continue..</vt:lpstr>
      <vt:lpstr>MDR Connection</vt:lpstr>
      <vt:lpstr>Fetching a Word from  Memory..</vt:lpstr>
      <vt:lpstr>Fetching a Word from  Memory..</vt:lpstr>
      <vt:lpstr>Fetching a Word from  Memory..</vt:lpstr>
      <vt:lpstr>Fetching a Word from  Memory..</vt:lpstr>
      <vt:lpstr>Fetching a Word from  Memory..</vt:lpstr>
      <vt:lpstr>PowerPoint Presentation</vt:lpstr>
      <vt:lpstr>Storing a Word in Memory</vt:lpstr>
      <vt:lpstr>Execution of a Complete  Instruction</vt:lpstr>
      <vt:lpstr>Execution of a Complete  Instruction..</vt:lpstr>
      <vt:lpstr>Execution of a Complete  Instruction..</vt:lpstr>
      <vt:lpstr>Execution of Branch  Instructions</vt:lpstr>
      <vt:lpstr>Execution of Branch  Instructions..</vt:lpstr>
      <vt:lpstr>Execution of Branch  Instructions..</vt:lpstr>
      <vt:lpstr>Execution of Branch  Instructions..</vt:lpstr>
      <vt:lpstr>Execution of Branch  Instructions..</vt:lpstr>
      <vt:lpstr>PowerPoint Presentation</vt:lpstr>
      <vt:lpstr>PowerPoint Presentation</vt:lpstr>
      <vt:lpstr>PowerPoint Presentation</vt:lpstr>
      <vt:lpstr>PowerPoint Presentation</vt:lpstr>
      <vt:lpstr>PowerPoint Presentation</vt:lpstr>
      <vt:lpstr>Pipelining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NPTEL Links  </vt:lpstr>
      <vt:lpstr>NPTEL Links</vt:lpstr>
      <vt:lpstr>Innovative content</vt:lpstr>
      <vt:lpstr>FDP content</vt:lpstr>
      <vt:lpstr>Self Assessment Question</vt:lpstr>
      <vt:lpstr>Quiz questions</vt:lpstr>
      <vt:lpstr>Quiz questions</vt:lpstr>
      <vt:lpstr>Quiz questions</vt:lpstr>
      <vt:lpstr>Quiz questions</vt:lpstr>
      <vt:lpstr>Quiz questions</vt:lpstr>
      <vt:lpstr>University paper questions</vt:lpstr>
      <vt:lpstr>University paper questions</vt:lpstr>
      <vt:lpstr>Case Study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infosys</dc:creator>
  <cp:lastModifiedBy>Pitambar Sahoo</cp:lastModifiedBy>
  <cp:revision>903</cp:revision>
  <dcterms:created xsi:type="dcterms:W3CDTF">2014-08-08T05:56:00Z</dcterms:created>
  <dcterms:modified xsi:type="dcterms:W3CDTF">2024-03-05T17:31:41Z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1033-11.2.0.9169</vt:lpwstr>
  </property>
</Properties>
</file>